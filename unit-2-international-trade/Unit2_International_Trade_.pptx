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79" r:id="rId2"/>
    <p:sldId id="256" r:id="rId3"/>
    <p:sldId id="257" r:id="rId4"/>
    <p:sldId id="258" r:id="rId5"/>
    <p:sldId id="259" r:id="rId6"/>
    <p:sldId id="260" r:id="rId7"/>
    <p:sldId id="280" r:id="rId8"/>
    <p:sldId id="261" r:id="rId9"/>
    <p:sldId id="262" r:id="rId10"/>
    <p:sldId id="263" r:id="rId11"/>
    <p:sldId id="264" r:id="rId12"/>
    <p:sldId id="265" r:id="rId13"/>
    <p:sldId id="266" r:id="rId14"/>
    <p:sldId id="281"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6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46905B-8BF2-41CE-AC94-8A25D9703DCB}"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A7352EAA-571B-4743-BFAC-C90FE0381262}">
      <dgm:prSet/>
      <dgm:spPr/>
      <dgm:t>
        <a:bodyPr/>
        <a:lstStyle/>
        <a:p>
          <a:r>
            <a:rPr lang="en-US"/>
            <a:t>Topics Covered:</a:t>
          </a:r>
        </a:p>
      </dgm:t>
    </dgm:pt>
    <dgm:pt modelId="{50ECB3A2-5259-480D-A750-6007C634238B}" type="parTrans" cxnId="{A1C9B854-009D-44EC-A3E1-75075484C3A6}">
      <dgm:prSet/>
      <dgm:spPr/>
      <dgm:t>
        <a:bodyPr/>
        <a:lstStyle/>
        <a:p>
          <a:endParaRPr lang="en-US"/>
        </a:p>
      </dgm:t>
    </dgm:pt>
    <dgm:pt modelId="{F962F0C6-BE76-402E-B0FE-14746E14CE1E}" type="sibTrans" cxnId="{A1C9B854-009D-44EC-A3E1-75075484C3A6}">
      <dgm:prSet/>
      <dgm:spPr/>
      <dgm:t>
        <a:bodyPr/>
        <a:lstStyle/>
        <a:p>
          <a:endParaRPr lang="en-US"/>
        </a:p>
      </dgm:t>
    </dgm:pt>
    <dgm:pt modelId="{C9629F32-1F3F-4C66-834F-4444C3C1260E}">
      <dgm:prSet/>
      <dgm:spPr/>
      <dgm:t>
        <a:bodyPr/>
        <a:lstStyle/>
        <a:p>
          <a:r>
            <a:rPr lang="en-US"/>
            <a:t>International Trade</a:t>
          </a:r>
        </a:p>
      </dgm:t>
    </dgm:pt>
    <dgm:pt modelId="{EF71AC6E-6260-4544-A678-C90EBC13288E}" type="parTrans" cxnId="{4758C6DA-DEBE-472B-8273-4E0C0E440103}">
      <dgm:prSet/>
      <dgm:spPr/>
      <dgm:t>
        <a:bodyPr/>
        <a:lstStyle/>
        <a:p>
          <a:endParaRPr lang="en-US"/>
        </a:p>
      </dgm:t>
    </dgm:pt>
    <dgm:pt modelId="{DF935717-E0FE-4BC7-B50C-CE7D156947FD}" type="sibTrans" cxnId="{4758C6DA-DEBE-472B-8273-4E0C0E440103}">
      <dgm:prSet/>
      <dgm:spPr/>
      <dgm:t>
        <a:bodyPr/>
        <a:lstStyle/>
        <a:p>
          <a:endParaRPr lang="en-US"/>
        </a:p>
      </dgm:t>
    </dgm:pt>
    <dgm:pt modelId="{F25E7E31-67DF-4DE5-9CB6-5CD99EF96EC6}">
      <dgm:prSet/>
      <dgm:spPr/>
      <dgm:t>
        <a:bodyPr/>
        <a:lstStyle/>
        <a:p>
          <a:r>
            <a:rPr lang="en-US"/>
            <a:t>International Trade Theory</a:t>
          </a:r>
        </a:p>
      </dgm:t>
    </dgm:pt>
    <dgm:pt modelId="{84DF4109-0B66-4BF6-A082-D8660319F06E}" type="parTrans" cxnId="{0BDD15DA-BC11-481F-A842-552987AFADA8}">
      <dgm:prSet/>
      <dgm:spPr/>
      <dgm:t>
        <a:bodyPr/>
        <a:lstStyle/>
        <a:p>
          <a:endParaRPr lang="en-US"/>
        </a:p>
      </dgm:t>
    </dgm:pt>
    <dgm:pt modelId="{A5B3C5B5-075A-4BD1-ABB0-38ED9DEB832F}" type="sibTrans" cxnId="{0BDD15DA-BC11-481F-A842-552987AFADA8}">
      <dgm:prSet/>
      <dgm:spPr/>
      <dgm:t>
        <a:bodyPr/>
        <a:lstStyle/>
        <a:p>
          <a:endParaRPr lang="en-US"/>
        </a:p>
      </dgm:t>
    </dgm:pt>
    <dgm:pt modelId="{8F9D7B38-D074-413D-873D-432BE71BE968}">
      <dgm:prSet/>
      <dgm:spPr/>
      <dgm:t>
        <a:bodyPr/>
        <a:lstStyle/>
        <a:p>
          <a:r>
            <a:rPr lang="en-US"/>
            <a:t>Mercantilism</a:t>
          </a:r>
        </a:p>
      </dgm:t>
    </dgm:pt>
    <dgm:pt modelId="{82B7DADA-80C9-4679-8D0B-72623DE3CB7C}" type="parTrans" cxnId="{4896B4E3-01D3-49E9-991E-A60C4887D108}">
      <dgm:prSet/>
      <dgm:spPr/>
      <dgm:t>
        <a:bodyPr/>
        <a:lstStyle/>
        <a:p>
          <a:endParaRPr lang="en-US"/>
        </a:p>
      </dgm:t>
    </dgm:pt>
    <dgm:pt modelId="{0899851F-D49F-4334-8977-2049A2388D98}" type="sibTrans" cxnId="{4896B4E3-01D3-49E9-991E-A60C4887D108}">
      <dgm:prSet/>
      <dgm:spPr/>
      <dgm:t>
        <a:bodyPr/>
        <a:lstStyle/>
        <a:p>
          <a:endParaRPr lang="en-US"/>
        </a:p>
      </dgm:t>
    </dgm:pt>
    <dgm:pt modelId="{2E2CA839-4FC1-45CE-A726-33DF69F0D41F}">
      <dgm:prSet/>
      <dgm:spPr/>
      <dgm:t>
        <a:bodyPr/>
        <a:lstStyle/>
        <a:p>
          <a:r>
            <a:rPr lang="en-US"/>
            <a:t>Theory of Absolute Advantage</a:t>
          </a:r>
        </a:p>
      </dgm:t>
    </dgm:pt>
    <dgm:pt modelId="{FFD20997-75E7-4854-974A-783AFD1BE54B}" type="parTrans" cxnId="{295E4563-69AB-4994-AD38-14FE98A60228}">
      <dgm:prSet/>
      <dgm:spPr/>
      <dgm:t>
        <a:bodyPr/>
        <a:lstStyle/>
        <a:p>
          <a:endParaRPr lang="en-US"/>
        </a:p>
      </dgm:t>
    </dgm:pt>
    <dgm:pt modelId="{7C74857B-416B-4E81-9097-D333F00FA4AD}" type="sibTrans" cxnId="{295E4563-69AB-4994-AD38-14FE98A60228}">
      <dgm:prSet/>
      <dgm:spPr/>
      <dgm:t>
        <a:bodyPr/>
        <a:lstStyle/>
        <a:p>
          <a:endParaRPr lang="en-US"/>
        </a:p>
      </dgm:t>
    </dgm:pt>
    <dgm:pt modelId="{ACD7B4A1-A02D-48A8-BF56-4181F4F68F37}">
      <dgm:prSet/>
      <dgm:spPr/>
      <dgm:t>
        <a:bodyPr/>
        <a:lstStyle/>
        <a:p>
          <a:r>
            <a:rPr lang="en-US"/>
            <a:t>Theory of Comparative Advantage</a:t>
          </a:r>
        </a:p>
      </dgm:t>
    </dgm:pt>
    <dgm:pt modelId="{EEB28DF3-6D57-4276-9734-CBE3312CC50F}" type="parTrans" cxnId="{C1012BC8-395E-4989-9791-04B908045466}">
      <dgm:prSet/>
      <dgm:spPr/>
      <dgm:t>
        <a:bodyPr/>
        <a:lstStyle/>
        <a:p>
          <a:endParaRPr lang="en-US"/>
        </a:p>
      </dgm:t>
    </dgm:pt>
    <dgm:pt modelId="{FD5199FB-A4D1-4BCD-B89A-49B132AA0A76}" type="sibTrans" cxnId="{C1012BC8-395E-4989-9791-04B908045466}">
      <dgm:prSet/>
      <dgm:spPr/>
      <dgm:t>
        <a:bodyPr/>
        <a:lstStyle/>
        <a:p>
          <a:endParaRPr lang="en-US"/>
        </a:p>
      </dgm:t>
    </dgm:pt>
    <dgm:pt modelId="{246323BC-611C-41BA-A72D-ACC259B35A80}">
      <dgm:prSet/>
      <dgm:spPr/>
      <dgm:t>
        <a:bodyPr/>
        <a:lstStyle/>
        <a:p>
          <a:r>
            <a:rPr lang="en-US"/>
            <a:t>Factor Mobility Theory</a:t>
          </a:r>
        </a:p>
      </dgm:t>
    </dgm:pt>
    <dgm:pt modelId="{9C284EA0-864A-443B-9962-12BD766A373B}" type="parTrans" cxnId="{5D4D608C-AC93-470C-9AF0-F03F19D1351D}">
      <dgm:prSet/>
      <dgm:spPr/>
      <dgm:t>
        <a:bodyPr/>
        <a:lstStyle/>
        <a:p>
          <a:endParaRPr lang="en-US"/>
        </a:p>
      </dgm:t>
    </dgm:pt>
    <dgm:pt modelId="{24471F3E-D1FC-4B40-8375-46F02495A461}" type="sibTrans" cxnId="{5D4D608C-AC93-470C-9AF0-F03F19D1351D}">
      <dgm:prSet/>
      <dgm:spPr/>
      <dgm:t>
        <a:bodyPr/>
        <a:lstStyle/>
        <a:p>
          <a:endParaRPr lang="en-US"/>
        </a:p>
      </dgm:t>
    </dgm:pt>
    <dgm:pt modelId="{3F208144-99E3-47F4-AD08-E312D32DC8DD}">
      <dgm:prSet/>
      <dgm:spPr/>
      <dgm:t>
        <a:bodyPr/>
        <a:lstStyle/>
        <a:p>
          <a:r>
            <a:rPr lang="en-US"/>
            <a:t>Regional Economic Integration</a:t>
          </a:r>
        </a:p>
      </dgm:t>
    </dgm:pt>
    <dgm:pt modelId="{F80B8268-1B20-434C-A595-73A8AEB7D203}" type="parTrans" cxnId="{CF77EA63-A65D-45C4-AFD0-BD6FAFBE4F6D}">
      <dgm:prSet/>
      <dgm:spPr/>
      <dgm:t>
        <a:bodyPr/>
        <a:lstStyle/>
        <a:p>
          <a:endParaRPr lang="en-US"/>
        </a:p>
      </dgm:t>
    </dgm:pt>
    <dgm:pt modelId="{E907A1E6-007F-473D-B4C7-FE487000E55F}" type="sibTrans" cxnId="{CF77EA63-A65D-45C4-AFD0-BD6FAFBE4F6D}">
      <dgm:prSet/>
      <dgm:spPr/>
      <dgm:t>
        <a:bodyPr/>
        <a:lstStyle/>
        <a:p>
          <a:endParaRPr lang="en-US"/>
        </a:p>
      </dgm:t>
    </dgm:pt>
    <dgm:pt modelId="{DD43DD4B-863F-4611-B223-9CC25E9903FE}">
      <dgm:prSet/>
      <dgm:spPr/>
      <dgm:t>
        <a:bodyPr/>
        <a:lstStyle/>
        <a:p>
          <a:r>
            <a:rPr lang="en-US"/>
            <a:t>WTO</a:t>
          </a:r>
        </a:p>
      </dgm:t>
    </dgm:pt>
    <dgm:pt modelId="{5A23A071-5394-4D2E-923A-6FC430DE52F0}" type="parTrans" cxnId="{0CE578C1-49B1-483A-9135-508AF514C9FE}">
      <dgm:prSet/>
      <dgm:spPr/>
      <dgm:t>
        <a:bodyPr/>
        <a:lstStyle/>
        <a:p>
          <a:endParaRPr lang="en-US"/>
        </a:p>
      </dgm:t>
    </dgm:pt>
    <dgm:pt modelId="{38D9B4FB-1B57-47E2-9944-E16C635737AF}" type="sibTrans" cxnId="{0CE578C1-49B1-483A-9135-508AF514C9FE}">
      <dgm:prSet/>
      <dgm:spPr/>
      <dgm:t>
        <a:bodyPr/>
        <a:lstStyle/>
        <a:p>
          <a:endParaRPr lang="en-US"/>
        </a:p>
      </dgm:t>
    </dgm:pt>
    <dgm:pt modelId="{82722743-D812-4783-B311-EF074FE6455E}">
      <dgm:prSet/>
      <dgm:spPr/>
      <dgm:t>
        <a:bodyPr/>
        <a:lstStyle/>
        <a:p>
          <a:r>
            <a:rPr lang="en-US"/>
            <a:t>European Union</a:t>
          </a:r>
        </a:p>
      </dgm:t>
    </dgm:pt>
    <dgm:pt modelId="{1E43F4A6-0B9A-45A9-A2DE-FFAA525778D1}" type="parTrans" cxnId="{0F13EDCB-0312-40F0-94AA-EDDCE093C982}">
      <dgm:prSet/>
      <dgm:spPr/>
      <dgm:t>
        <a:bodyPr/>
        <a:lstStyle/>
        <a:p>
          <a:endParaRPr lang="en-US"/>
        </a:p>
      </dgm:t>
    </dgm:pt>
    <dgm:pt modelId="{CC928BBA-A2B1-44F0-A717-7CCA8F83C7CE}" type="sibTrans" cxnId="{0F13EDCB-0312-40F0-94AA-EDDCE093C982}">
      <dgm:prSet/>
      <dgm:spPr/>
      <dgm:t>
        <a:bodyPr/>
        <a:lstStyle/>
        <a:p>
          <a:endParaRPr lang="en-US"/>
        </a:p>
      </dgm:t>
    </dgm:pt>
    <dgm:pt modelId="{C138C876-AD36-421D-985C-F0B611258B47}" type="pres">
      <dgm:prSet presAssocID="{6B46905B-8BF2-41CE-AC94-8A25D9703DCB}" presName="vert0" presStyleCnt="0">
        <dgm:presLayoutVars>
          <dgm:dir/>
          <dgm:animOne val="branch"/>
          <dgm:animLvl val="lvl"/>
        </dgm:presLayoutVars>
      </dgm:prSet>
      <dgm:spPr/>
    </dgm:pt>
    <dgm:pt modelId="{70653755-7D31-42BF-9856-FFECAEC36DDF}" type="pres">
      <dgm:prSet presAssocID="{A7352EAA-571B-4743-BFAC-C90FE0381262}" presName="thickLine" presStyleLbl="alignNode1" presStyleIdx="0" presStyleCnt="10"/>
      <dgm:spPr/>
    </dgm:pt>
    <dgm:pt modelId="{01E92D8F-0B56-46A9-B6C6-9921E89FD077}" type="pres">
      <dgm:prSet presAssocID="{A7352EAA-571B-4743-BFAC-C90FE0381262}" presName="horz1" presStyleCnt="0"/>
      <dgm:spPr/>
    </dgm:pt>
    <dgm:pt modelId="{F824C6BE-7785-41FE-8413-14101D04B0F0}" type="pres">
      <dgm:prSet presAssocID="{A7352EAA-571B-4743-BFAC-C90FE0381262}" presName="tx1" presStyleLbl="revTx" presStyleIdx="0" presStyleCnt="10"/>
      <dgm:spPr/>
    </dgm:pt>
    <dgm:pt modelId="{4B893681-A627-41EA-A29E-4F9AC652CDEA}" type="pres">
      <dgm:prSet presAssocID="{A7352EAA-571B-4743-BFAC-C90FE0381262}" presName="vert1" presStyleCnt="0"/>
      <dgm:spPr/>
    </dgm:pt>
    <dgm:pt modelId="{A62E4E29-9BBA-41C6-A125-5A9CB1FADE02}" type="pres">
      <dgm:prSet presAssocID="{C9629F32-1F3F-4C66-834F-4444C3C1260E}" presName="thickLine" presStyleLbl="alignNode1" presStyleIdx="1" presStyleCnt="10"/>
      <dgm:spPr/>
    </dgm:pt>
    <dgm:pt modelId="{46C7CCA4-D9FA-49C8-9691-20169189EFA6}" type="pres">
      <dgm:prSet presAssocID="{C9629F32-1F3F-4C66-834F-4444C3C1260E}" presName="horz1" presStyleCnt="0"/>
      <dgm:spPr/>
    </dgm:pt>
    <dgm:pt modelId="{D6A8677D-9B09-46F5-AF74-80AE4861C91C}" type="pres">
      <dgm:prSet presAssocID="{C9629F32-1F3F-4C66-834F-4444C3C1260E}" presName="tx1" presStyleLbl="revTx" presStyleIdx="1" presStyleCnt="10"/>
      <dgm:spPr/>
    </dgm:pt>
    <dgm:pt modelId="{08A5CEB5-26CF-4413-A43E-93EF8E78DEBF}" type="pres">
      <dgm:prSet presAssocID="{C9629F32-1F3F-4C66-834F-4444C3C1260E}" presName="vert1" presStyleCnt="0"/>
      <dgm:spPr/>
    </dgm:pt>
    <dgm:pt modelId="{27439D5D-EF93-475D-ACD2-1AF00F5D914B}" type="pres">
      <dgm:prSet presAssocID="{F25E7E31-67DF-4DE5-9CB6-5CD99EF96EC6}" presName="thickLine" presStyleLbl="alignNode1" presStyleIdx="2" presStyleCnt="10"/>
      <dgm:spPr/>
    </dgm:pt>
    <dgm:pt modelId="{8EDA8FC2-2A52-4BA5-920E-C695FAF4943A}" type="pres">
      <dgm:prSet presAssocID="{F25E7E31-67DF-4DE5-9CB6-5CD99EF96EC6}" presName="horz1" presStyleCnt="0"/>
      <dgm:spPr/>
    </dgm:pt>
    <dgm:pt modelId="{69679B86-A94A-4CA4-A3DE-85AF321A37E5}" type="pres">
      <dgm:prSet presAssocID="{F25E7E31-67DF-4DE5-9CB6-5CD99EF96EC6}" presName="tx1" presStyleLbl="revTx" presStyleIdx="2" presStyleCnt="10"/>
      <dgm:spPr/>
    </dgm:pt>
    <dgm:pt modelId="{EFA005F9-F9B8-447F-A095-EBDF6AB6DE84}" type="pres">
      <dgm:prSet presAssocID="{F25E7E31-67DF-4DE5-9CB6-5CD99EF96EC6}" presName="vert1" presStyleCnt="0"/>
      <dgm:spPr/>
    </dgm:pt>
    <dgm:pt modelId="{CB942BFD-9B40-4FE4-9BE8-BD33DB52D9FB}" type="pres">
      <dgm:prSet presAssocID="{8F9D7B38-D074-413D-873D-432BE71BE968}" presName="thickLine" presStyleLbl="alignNode1" presStyleIdx="3" presStyleCnt="10"/>
      <dgm:spPr/>
    </dgm:pt>
    <dgm:pt modelId="{CC593329-F601-456E-8892-30B8D53731F9}" type="pres">
      <dgm:prSet presAssocID="{8F9D7B38-D074-413D-873D-432BE71BE968}" presName="horz1" presStyleCnt="0"/>
      <dgm:spPr/>
    </dgm:pt>
    <dgm:pt modelId="{B66443E8-7108-42AE-961D-3B3747A674D7}" type="pres">
      <dgm:prSet presAssocID="{8F9D7B38-D074-413D-873D-432BE71BE968}" presName="tx1" presStyleLbl="revTx" presStyleIdx="3" presStyleCnt="10"/>
      <dgm:spPr/>
    </dgm:pt>
    <dgm:pt modelId="{E773B4C2-CB9D-498B-B199-6396051B2B9D}" type="pres">
      <dgm:prSet presAssocID="{8F9D7B38-D074-413D-873D-432BE71BE968}" presName="vert1" presStyleCnt="0"/>
      <dgm:spPr/>
    </dgm:pt>
    <dgm:pt modelId="{799E312A-E3BA-4AE7-944B-BC8D91C49DF5}" type="pres">
      <dgm:prSet presAssocID="{2E2CA839-4FC1-45CE-A726-33DF69F0D41F}" presName="thickLine" presStyleLbl="alignNode1" presStyleIdx="4" presStyleCnt="10"/>
      <dgm:spPr/>
    </dgm:pt>
    <dgm:pt modelId="{DE15ADBD-FF08-4780-8451-FC08E5975100}" type="pres">
      <dgm:prSet presAssocID="{2E2CA839-4FC1-45CE-A726-33DF69F0D41F}" presName="horz1" presStyleCnt="0"/>
      <dgm:spPr/>
    </dgm:pt>
    <dgm:pt modelId="{6839697F-5838-486E-9DDB-C27BF63240D6}" type="pres">
      <dgm:prSet presAssocID="{2E2CA839-4FC1-45CE-A726-33DF69F0D41F}" presName="tx1" presStyleLbl="revTx" presStyleIdx="4" presStyleCnt="10"/>
      <dgm:spPr/>
    </dgm:pt>
    <dgm:pt modelId="{0BD3F7B7-C319-45BC-8C5F-7231C62ABE7C}" type="pres">
      <dgm:prSet presAssocID="{2E2CA839-4FC1-45CE-A726-33DF69F0D41F}" presName="vert1" presStyleCnt="0"/>
      <dgm:spPr/>
    </dgm:pt>
    <dgm:pt modelId="{C63D0EB0-D05C-4B98-834B-0F3A2E0B561D}" type="pres">
      <dgm:prSet presAssocID="{ACD7B4A1-A02D-48A8-BF56-4181F4F68F37}" presName="thickLine" presStyleLbl="alignNode1" presStyleIdx="5" presStyleCnt="10"/>
      <dgm:spPr/>
    </dgm:pt>
    <dgm:pt modelId="{07689481-74DA-4F9A-8A9C-EF539C726E1A}" type="pres">
      <dgm:prSet presAssocID="{ACD7B4A1-A02D-48A8-BF56-4181F4F68F37}" presName="horz1" presStyleCnt="0"/>
      <dgm:spPr/>
    </dgm:pt>
    <dgm:pt modelId="{3EAA591E-4684-4CF9-9F72-4BFE42B25F75}" type="pres">
      <dgm:prSet presAssocID="{ACD7B4A1-A02D-48A8-BF56-4181F4F68F37}" presName="tx1" presStyleLbl="revTx" presStyleIdx="5" presStyleCnt="10"/>
      <dgm:spPr/>
    </dgm:pt>
    <dgm:pt modelId="{25DC46D5-76D0-497E-AD5C-0BA856AEEF52}" type="pres">
      <dgm:prSet presAssocID="{ACD7B4A1-A02D-48A8-BF56-4181F4F68F37}" presName="vert1" presStyleCnt="0"/>
      <dgm:spPr/>
    </dgm:pt>
    <dgm:pt modelId="{DC46702D-202E-42D7-8384-2190238484BF}" type="pres">
      <dgm:prSet presAssocID="{246323BC-611C-41BA-A72D-ACC259B35A80}" presName="thickLine" presStyleLbl="alignNode1" presStyleIdx="6" presStyleCnt="10"/>
      <dgm:spPr/>
    </dgm:pt>
    <dgm:pt modelId="{20487E4B-E86E-4D31-AB42-9EDB922793A7}" type="pres">
      <dgm:prSet presAssocID="{246323BC-611C-41BA-A72D-ACC259B35A80}" presName="horz1" presStyleCnt="0"/>
      <dgm:spPr/>
    </dgm:pt>
    <dgm:pt modelId="{EF974988-DC86-4E3A-B9A7-14C89710507C}" type="pres">
      <dgm:prSet presAssocID="{246323BC-611C-41BA-A72D-ACC259B35A80}" presName="tx1" presStyleLbl="revTx" presStyleIdx="6" presStyleCnt="10"/>
      <dgm:spPr/>
    </dgm:pt>
    <dgm:pt modelId="{5912802E-701F-4539-9DDB-EDD546E928B4}" type="pres">
      <dgm:prSet presAssocID="{246323BC-611C-41BA-A72D-ACC259B35A80}" presName="vert1" presStyleCnt="0"/>
      <dgm:spPr/>
    </dgm:pt>
    <dgm:pt modelId="{DBAC126A-C928-4670-9194-A111C093E1DB}" type="pres">
      <dgm:prSet presAssocID="{3F208144-99E3-47F4-AD08-E312D32DC8DD}" presName="thickLine" presStyleLbl="alignNode1" presStyleIdx="7" presStyleCnt="10"/>
      <dgm:spPr/>
    </dgm:pt>
    <dgm:pt modelId="{BF71B090-A348-4B63-A8C6-58F56CA33605}" type="pres">
      <dgm:prSet presAssocID="{3F208144-99E3-47F4-AD08-E312D32DC8DD}" presName="horz1" presStyleCnt="0"/>
      <dgm:spPr/>
    </dgm:pt>
    <dgm:pt modelId="{6DA51EA0-6054-4CC4-BEE7-32192BE8D1DD}" type="pres">
      <dgm:prSet presAssocID="{3F208144-99E3-47F4-AD08-E312D32DC8DD}" presName="tx1" presStyleLbl="revTx" presStyleIdx="7" presStyleCnt="10"/>
      <dgm:spPr/>
    </dgm:pt>
    <dgm:pt modelId="{90C4B5BA-8D67-48FA-8FEB-C1308E3ED81E}" type="pres">
      <dgm:prSet presAssocID="{3F208144-99E3-47F4-AD08-E312D32DC8DD}" presName="vert1" presStyleCnt="0"/>
      <dgm:spPr/>
    </dgm:pt>
    <dgm:pt modelId="{4924592D-0E63-4F28-ADBF-0F455B05047C}" type="pres">
      <dgm:prSet presAssocID="{DD43DD4B-863F-4611-B223-9CC25E9903FE}" presName="thickLine" presStyleLbl="alignNode1" presStyleIdx="8" presStyleCnt="10"/>
      <dgm:spPr/>
    </dgm:pt>
    <dgm:pt modelId="{A5017B77-7089-4883-8C2B-970D643B68B5}" type="pres">
      <dgm:prSet presAssocID="{DD43DD4B-863F-4611-B223-9CC25E9903FE}" presName="horz1" presStyleCnt="0"/>
      <dgm:spPr/>
    </dgm:pt>
    <dgm:pt modelId="{01FCD4D4-7E43-4305-BEEE-810F57CE8B8B}" type="pres">
      <dgm:prSet presAssocID="{DD43DD4B-863F-4611-B223-9CC25E9903FE}" presName="tx1" presStyleLbl="revTx" presStyleIdx="8" presStyleCnt="10"/>
      <dgm:spPr/>
    </dgm:pt>
    <dgm:pt modelId="{624408B7-F825-4BE5-BAB6-F1D8C087DBC5}" type="pres">
      <dgm:prSet presAssocID="{DD43DD4B-863F-4611-B223-9CC25E9903FE}" presName="vert1" presStyleCnt="0"/>
      <dgm:spPr/>
    </dgm:pt>
    <dgm:pt modelId="{5D6F1B35-CEB0-486F-BDAB-4F6AB2BF7AD6}" type="pres">
      <dgm:prSet presAssocID="{82722743-D812-4783-B311-EF074FE6455E}" presName="thickLine" presStyleLbl="alignNode1" presStyleIdx="9" presStyleCnt="10"/>
      <dgm:spPr/>
    </dgm:pt>
    <dgm:pt modelId="{F251D094-27FA-4C18-BFC0-089AE973158D}" type="pres">
      <dgm:prSet presAssocID="{82722743-D812-4783-B311-EF074FE6455E}" presName="horz1" presStyleCnt="0"/>
      <dgm:spPr/>
    </dgm:pt>
    <dgm:pt modelId="{1F299AFE-776B-42C1-A88D-FC02ED06E8B4}" type="pres">
      <dgm:prSet presAssocID="{82722743-D812-4783-B311-EF074FE6455E}" presName="tx1" presStyleLbl="revTx" presStyleIdx="9" presStyleCnt="10"/>
      <dgm:spPr/>
    </dgm:pt>
    <dgm:pt modelId="{CFE8E801-69EB-4EA5-8296-4D1B9DEC77EE}" type="pres">
      <dgm:prSet presAssocID="{82722743-D812-4783-B311-EF074FE6455E}" presName="vert1" presStyleCnt="0"/>
      <dgm:spPr/>
    </dgm:pt>
  </dgm:ptLst>
  <dgm:cxnLst>
    <dgm:cxn modelId="{295E4563-69AB-4994-AD38-14FE98A60228}" srcId="{6B46905B-8BF2-41CE-AC94-8A25D9703DCB}" destId="{2E2CA839-4FC1-45CE-A726-33DF69F0D41F}" srcOrd="4" destOrd="0" parTransId="{FFD20997-75E7-4854-974A-783AFD1BE54B}" sibTransId="{7C74857B-416B-4E81-9097-D333F00FA4AD}"/>
    <dgm:cxn modelId="{CF77EA63-A65D-45C4-AFD0-BD6FAFBE4F6D}" srcId="{6B46905B-8BF2-41CE-AC94-8A25D9703DCB}" destId="{3F208144-99E3-47F4-AD08-E312D32DC8DD}" srcOrd="7" destOrd="0" parTransId="{F80B8268-1B20-434C-A595-73A8AEB7D203}" sibTransId="{E907A1E6-007F-473D-B4C7-FE487000E55F}"/>
    <dgm:cxn modelId="{CC3D5A48-1A86-4847-8978-E5C3E4F4C74F}" type="presOf" srcId="{2E2CA839-4FC1-45CE-A726-33DF69F0D41F}" destId="{6839697F-5838-486E-9DDB-C27BF63240D6}" srcOrd="0" destOrd="0" presId="urn:microsoft.com/office/officeart/2008/layout/LinedList"/>
    <dgm:cxn modelId="{C4F2426E-C73A-4E7D-BE91-D4DEFB2AFAF0}" type="presOf" srcId="{F25E7E31-67DF-4DE5-9CB6-5CD99EF96EC6}" destId="{69679B86-A94A-4CA4-A3DE-85AF321A37E5}" srcOrd="0" destOrd="0" presId="urn:microsoft.com/office/officeart/2008/layout/LinedList"/>
    <dgm:cxn modelId="{A1C9B854-009D-44EC-A3E1-75075484C3A6}" srcId="{6B46905B-8BF2-41CE-AC94-8A25D9703DCB}" destId="{A7352EAA-571B-4743-BFAC-C90FE0381262}" srcOrd="0" destOrd="0" parTransId="{50ECB3A2-5259-480D-A750-6007C634238B}" sibTransId="{F962F0C6-BE76-402E-B0FE-14746E14CE1E}"/>
    <dgm:cxn modelId="{A7A84056-45B0-4CC2-8A29-1401576BEA47}" type="presOf" srcId="{82722743-D812-4783-B311-EF074FE6455E}" destId="{1F299AFE-776B-42C1-A88D-FC02ED06E8B4}" srcOrd="0" destOrd="0" presId="urn:microsoft.com/office/officeart/2008/layout/LinedList"/>
    <dgm:cxn modelId="{B0813D82-529E-44F5-89D6-90929F6DAF15}" type="presOf" srcId="{246323BC-611C-41BA-A72D-ACC259B35A80}" destId="{EF974988-DC86-4E3A-B9A7-14C89710507C}" srcOrd="0" destOrd="0" presId="urn:microsoft.com/office/officeart/2008/layout/LinedList"/>
    <dgm:cxn modelId="{5D4D608C-AC93-470C-9AF0-F03F19D1351D}" srcId="{6B46905B-8BF2-41CE-AC94-8A25D9703DCB}" destId="{246323BC-611C-41BA-A72D-ACC259B35A80}" srcOrd="6" destOrd="0" parTransId="{9C284EA0-864A-443B-9962-12BD766A373B}" sibTransId="{24471F3E-D1FC-4B40-8375-46F02495A461}"/>
    <dgm:cxn modelId="{041B4AB0-5743-45FC-8A9E-6E58F67D2F19}" type="presOf" srcId="{6B46905B-8BF2-41CE-AC94-8A25D9703DCB}" destId="{C138C876-AD36-421D-985C-F0B611258B47}" srcOrd="0" destOrd="0" presId="urn:microsoft.com/office/officeart/2008/layout/LinedList"/>
    <dgm:cxn modelId="{184E33B2-5466-4262-AB89-CA989FE90BD0}" type="presOf" srcId="{DD43DD4B-863F-4611-B223-9CC25E9903FE}" destId="{01FCD4D4-7E43-4305-BEEE-810F57CE8B8B}" srcOrd="0" destOrd="0" presId="urn:microsoft.com/office/officeart/2008/layout/LinedList"/>
    <dgm:cxn modelId="{EB8331BB-AD8F-400D-B370-D5BCE0B9799F}" type="presOf" srcId="{ACD7B4A1-A02D-48A8-BF56-4181F4F68F37}" destId="{3EAA591E-4684-4CF9-9F72-4BFE42B25F75}" srcOrd="0" destOrd="0" presId="urn:microsoft.com/office/officeart/2008/layout/LinedList"/>
    <dgm:cxn modelId="{0CE578C1-49B1-483A-9135-508AF514C9FE}" srcId="{6B46905B-8BF2-41CE-AC94-8A25D9703DCB}" destId="{DD43DD4B-863F-4611-B223-9CC25E9903FE}" srcOrd="8" destOrd="0" parTransId="{5A23A071-5394-4D2E-923A-6FC430DE52F0}" sibTransId="{38D9B4FB-1B57-47E2-9944-E16C635737AF}"/>
    <dgm:cxn modelId="{C1012BC8-395E-4989-9791-04B908045466}" srcId="{6B46905B-8BF2-41CE-AC94-8A25D9703DCB}" destId="{ACD7B4A1-A02D-48A8-BF56-4181F4F68F37}" srcOrd="5" destOrd="0" parTransId="{EEB28DF3-6D57-4276-9734-CBE3312CC50F}" sibTransId="{FD5199FB-A4D1-4BCD-B89A-49B132AA0A76}"/>
    <dgm:cxn modelId="{0F13EDCB-0312-40F0-94AA-EDDCE093C982}" srcId="{6B46905B-8BF2-41CE-AC94-8A25D9703DCB}" destId="{82722743-D812-4783-B311-EF074FE6455E}" srcOrd="9" destOrd="0" parTransId="{1E43F4A6-0B9A-45A9-A2DE-FFAA525778D1}" sibTransId="{CC928BBA-A2B1-44F0-A717-7CCA8F83C7CE}"/>
    <dgm:cxn modelId="{0BDD15DA-BC11-481F-A842-552987AFADA8}" srcId="{6B46905B-8BF2-41CE-AC94-8A25D9703DCB}" destId="{F25E7E31-67DF-4DE5-9CB6-5CD99EF96EC6}" srcOrd="2" destOrd="0" parTransId="{84DF4109-0B66-4BF6-A082-D8660319F06E}" sibTransId="{A5B3C5B5-075A-4BD1-ABB0-38ED9DEB832F}"/>
    <dgm:cxn modelId="{4758C6DA-DEBE-472B-8273-4E0C0E440103}" srcId="{6B46905B-8BF2-41CE-AC94-8A25D9703DCB}" destId="{C9629F32-1F3F-4C66-834F-4444C3C1260E}" srcOrd="1" destOrd="0" parTransId="{EF71AC6E-6260-4544-A678-C90EBC13288E}" sibTransId="{DF935717-E0FE-4BC7-B50C-CE7D156947FD}"/>
    <dgm:cxn modelId="{D2BF77DF-5A20-43B8-9EF3-2468223B46E6}" type="presOf" srcId="{C9629F32-1F3F-4C66-834F-4444C3C1260E}" destId="{D6A8677D-9B09-46F5-AF74-80AE4861C91C}" srcOrd="0" destOrd="0" presId="urn:microsoft.com/office/officeart/2008/layout/LinedList"/>
    <dgm:cxn modelId="{4896B4E3-01D3-49E9-991E-A60C4887D108}" srcId="{6B46905B-8BF2-41CE-AC94-8A25D9703DCB}" destId="{8F9D7B38-D074-413D-873D-432BE71BE968}" srcOrd="3" destOrd="0" parTransId="{82B7DADA-80C9-4679-8D0B-72623DE3CB7C}" sibTransId="{0899851F-D49F-4334-8977-2049A2388D98}"/>
    <dgm:cxn modelId="{A3C174F0-B65A-478F-A28C-539E4134CD6C}" type="presOf" srcId="{3F208144-99E3-47F4-AD08-E312D32DC8DD}" destId="{6DA51EA0-6054-4CC4-BEE7-32192BE8D1DD}" srcOrd="0" destOrd="0" presId="urn:microsoft.com/office/officeart/2008/layout/LinedList"/>
    <dgm:cxn modelId="{714CA0F0-C492-4609-AB33-F85B3313F7D7}" type="presOf" srcId="{A7352EAA-571B-4743-BFAC-C90FE0381262}" destId="{F824C6BE-7785-41FE-8413-14101D04B0F0}" srcOrd="0" destOrd="0" presId="urn:microsoft.com/office/officeart/2008/layout/LinedList"/>
    <dgm:cxn modelId="{5CD865F1-2A3F-4131-9BAB-DBBAE3033F96}" type="presOf" srcId="{8F9D7B38-D074-413D-873D-432BE71BE968}" destId="{B66443E8-7108-42AE-961D-3B3747A674D7}" srcOrd="0" destOrd="0" presId="urn:microsoft.com/office/officeart/2008/layout/LinedList"/>
    <dgm:cxn modelId="{AE4846D7-4B05-42B5-9086-A54D1D32DC91}" type="presParOf" srcId="{C138C876-AD36-421D-985C-F0B611258B47}" destId="{70653755-7D31-42BF-9856-FFECAEC36DDF}" srcOrd="0" destOrd="0" presId="urn:microsoft.com/office/officeart/2008/layout/LinedList"/>
    <dgm:cxn modelId="{F9C19681-C45E-44C2-937C-79D54A0EE6F8}" type="presParOf" srcId="{C138C876-AD36-421D-985C-F0B611258B47}" destId="{01E92D8F-0B56-46A9-B6C6-9921E89FD077}" srcOrd="1" destOrd="0" presId="urn:microsoft.com/office/officeart/2008/layout/LinedList"/>
    <dgm:cxn modelId="{2DB8FB4E-A7D0-47FC-AF88-5EB92D159BFB}" type="presParOf" srcId="{01E92D8F-0B56-46A9-B6C6-9921E89FD077}" destId="{F824C6BE-7785-41FE-8413-14101D04B0F0}" srcOrd="0" destOrd="0" presId="urn:microsoft.com/office/officeart/2008/layout/LinedList"/>
    <dgm:cxn modelId="{B5E8DA68-E826-4075-A25B-8A0F0D7AF16A}" type="presParOf" srcId="{01E92D8F-0B56-46A9-B6C6-9921E89FD077}" destId="{4B893681-A627-41EA-A29E-4F9AC652CDEA}" srcOrd="1" destOrd="0" presId="urn:microsoft.com/office/officeart/2008/layout/LinedList"/>
    <dgm:cxn modelId="{108849E9-7B1A-43ED-BFD0-3BFCCDA29C64}" type="presParOf" srcId="{C138C876-AD36-421D-985C-F0B611258B47}" destId="{A62E4E29-9BBA-41C6-A125-5A9CB1FADE02}" srcOrd="2" destOrd="0" presId="urn:microsoft.com/office/officeart/2008/layout/LinedList"/>
    <dgm:cxn modelId="{C2A96C9F-B1F7-401A-BB15-5308DAB18287}" type="presParOf" srcId="{C138C876-AD36-421D-985C-F0B611258B47}" destId="{46C7CCA4-D9FA-49C8-9691-20169189EFA6}" srcOrd="3" destOrd="0" presId="urn:microsoft.com/office/officeart/2008/layout/LinedList"/>
    <dgm:cxn modelId="{542D8B13-0AF7-4436-BAD7-618A5A64C91A}" type="presParOf" srcId="{46C7CCA4-D9FA-49C8-9691-20169189EFA6}" destId="{D6A8677D-9B09-46F5-AF74-80AE4861C91C}" srcOrd="0" destOrd="0" presId="urn:microsoft.com/office/officeart/2008/layout/LinedList"/>
    <dgm:cxn modelId="{A1F10E87-0683-4308-BA68-63A1B84D0BD0}" type="presParOf" srcId="{46C7CCA4-D9FA-49C8-9691-20169189EFA6}" destId="{08A5CEB5-26CF-4413-A43E-93EF8E78DEBF}" srcOrd="1" destOrd="0" presId="urn:microsoft.com/office/officeart/2008/layout/LinedList"/>
    <dgm:cxn modelId="{9777AC29-A66C-46A2-9950-E14FFCA26FFD}" type="presParOf" srcId="{C138C876-AD36-421D-985C-F0B611258B47}" destId="{27439D5D-EF93-475D-ACD2-1AF00F5D914B}" srcOrd="4" destOrd="0" presId="urn:microsoft.com/office/officeart/2008/layout/LinedList"/>
    <dgm:cxn modelId="{233668DD-D9B3-4100-842C-31248F934B22}" type="presParOf" srcId="{C138C876-AD36-421D-985C-F0B611258B47}" destId="{8EDA8FC2-2A52-4BA5-920E-C695FAF4943A}" srcOrd="5" destOrd="0" presId="urn:microsoft.com/office/officeart/2008/layout/LinedList"/>
    <dgm:cxn modelId="{F0267845-132C-489F-A511-ED8ABF4E12AA}" type="presParOf" srcId="{8EDA8FC2-2A52-4BA5-920E-C695FAF4943A}" destId="{69679B86-A94A-4CA4-A3DE-85AF321A37E5}" srcOrd="0" destOrd="0" presId="urn:microsoft.com/office/officeart/2008/layout/LinedList"/>
    <dgm:cxn modelId="{9D546AC5-DE0D-4350-9D9F-D9D9CCE635D7}" type="presParOf" srcId="{8EDA8FC2-2A52-4BA5-920E-C695FAF4943A}" destId="{EFA005F9-F9B8-447F-A095-EBDF6AB6DE84}" srcOrd="1" destOrd="0" presId="urn:microsoft.com/office/officeart/2008/layout/LinedList"/>
    <dgm:cxn modelId="{11DC8D92-33F8-4D68-80AA-153832F05DA9}" type="presParOf" srcId="{C138C876-AD36-421D-985C-F0B611258B47}" destId="{CB942BFD-9B40-4FE4-9BE8-BD33DB52D9FB}" srcOrd="6" destOrd="0" presId="urn:microsoft.com/office/officeart/2008/layout/LinedList"/>
    <dgm:cxn modelId="{24626E4C-A6B2-4CFB-A693-038612CFBCC8}" type="presParOf" srcId="{C138C876-AD36-421D-985C-F0B611258B47}" destId="{CC593329-F601-456E-8892-30B8D53731F9}" srcOrd="7" destOrd="0" presId="urn:microsoft.com/office/officeart/2008/layout/LinedList"/>
    <dgm:cxn modelId="{3C1EE8E7-0AA8-43A7-9A13-4B801AB843C5}" type="presParOf" srcId="{CC593329-F601-456E-8892-30B8D53731F9}" destId="{B66443E8-7108-42AE-961D-3B3747A674D7}" srcOrd="0" destOrd="0" presId="urn:microsoft.com/office/officeart/2008/layout/LinedList"/>
    <dgm:cxn modelId="{238AAFE1-D567-4835-87F8-E4035E8A17AF}" type="presParOf" srcId="{CC593329-F601-456E-8892-30B8D53731F9}" destId="{E773B4C2-CB9D-498B-B199-6396051B2B9D}" srcOrd="1" destOrd="0" presId="urn:microsoft.com/office/officeart/2008/layout/LinedList"/>
    <dgm:cxn modelId="{ECACCA71-1B02-4148-82C2-8B07E881A9E9}" type="presParOf" srcId="{C138C876-AD36-421D-985C-F0B611258B47}" destId="{799E312A-E3BA-4AE7-944B-BC8D91C49DF5}" srcOrd="8" destOrd="0" presId="urn:microsoft.com/office/officeart/2008/layout/LinedList"/>
    <dgm:cxn modelId="{3CD2FA0A-BC4A-4821-A805-8D556F8F80D1}" type="presParOf" srcId="{C138C876-AD36-421D-985C-F0B611258B47}" destId="{DE15ADBD-FF08-4780-8451-FC08E5975100}" srcOrd="9" destOrd="0" presId="urn:microsoft.com/office/officeart/2008/layout/LinedList"/>
    <dgm:cxn modelId="{1C4CF574-34A6-4EB5-AAFA-A7A54287311B}" type="presParOf" srcId="{DE15ADBD-FF08-4780-8451-FC08E5975100}" destId="{6839697F-5838-486E-9DDB-C27BF63240D6}" srcOrd="0" destOrd="0" presId="urn:microsoft.com/office/officeart/2008/layout/LinedList"/>
    <dgm:cxn modelId="{3C35F655-3744-46EC-A73A-09C81CC58475}" type="presParOf" srcId="{DE15ADBD-FF08-4780-8451-FC08E5975100}" destId="{0BD3F7B7-C319-45BC-8C5F-7231C62ABE7C}" srcOrd="1" destOrd="0" presId="urn:microsoft.com/office/officeart/2008/layout/LinedList"/>
    <dgm:cxn modelId="{878D8192-1F55-44C1-9316-EC51A61A1375}" type="presParOf" srcId="{C138C876-AD36-421D-985C-F0B611258B47}" destId="{C63D0EB0-D05C-4B98-834B-0F3A2E0B561D}" srcOrd="10" destOrd="0" presId="urn:microsoft.com/office/officeart/2008/layout/LinedList"/>
    <dgm:cxn modelId="{C62C7F49-46A4-4BA1-84CD-9AB9E13B4C16}" type="presParOf" srcId="{C138C876-AD36-421D-985C-F0B611258B47}" destId="{07689481-74DA-4F9A-8A9C-EF539C726E1A}" srcOrd="11" destOrd="0" presId="urn:microsoft.com/office/officeart/2008/layout/LinedList"/>
    <dgm:cxn modelId="{8BDCECE2-CE89-4A1C-8D86-F75C507A5F6F}" type="presParOf" srcId="{07689481-74DA-4F9A-8A9C-EF539C726E1A}" destId="{3EAA591E-4684-4CF9-9F72-4BFE42B25F75}" srcOrd="0" destOrd="0" presId="urn:microsoft.com/office/officeart/2008/layout/LinedList"/>
    <dgm:cxn modelId="{C6C2AC37-A569-4F86-8EE9-212535AE0881}" type="presParOf" srcId="{07689481-74DA-4F9A-8A9C-EF539C726E1A}" destId="{25DC46D5-76D0-497E-AD5C-0BA856AEEF52}" srcOrd="1" destOrd="0" presId="urn:microsoft.com/office/officeart/2008/layout/LinedList"/>
    <dgm:cxn modelId="{D6A77A5E-39A5-4F8C-9DE6-A9C4DABF3ABF}" type="presParOf" srcId="{C138C876-AD36-421D-985C-F0B611258B47}" destId="{DC46702D-202E-42D7-8384-2190238484BF}" srcOrd="12" destOrd="0" presId="urn:microsoft.com/office/officeart/2008/layout/LinedList"/>
    <dgm:cxn modelId="{D79E7B4D-855E-4449-9F61-EFA959EA4CF9}" type="presParOf" srcId="{C138C876-AD36-421D-985C-F0B611258B47}" destId="{20487E4B-E86E-4D31-AB42-9EDB922793A7}" srcOrd="13" destOrd="0" presId="urn:microsoft.com/office/officeart/2008/layout/LinedList"/>
    <dgm:cxn modelId="{AC3EEEAA-EF54-460D-9442-DAB5E71D886D}" type="presParOf" srcId="{20487E4B-E86E-4D31-AB42-9EDB922793A7}" destId="{EF974988-DC86-4E3A-B9A7-14C89710507C}" srcOrd="0" destOrd="0" presId="urn:microsoft.com/office/officeart/2008/layout/LinedList"/>
    <dgm:cxn modelId="{C169E939-F89B-4B23-97E9-B2D920AC06B9}" type="presParOf" srcId="{20487E4B-E86E-4D31-AB42-9EDB922793A7}" destId="{5912802E-701F-4539-9DDB-EDD546E928B4}" srcOrd="1" destOrd="0" presId="urn:microsoft.com/office/officeart/2008/layout/LinedList"/>
    <dgm:cxn modelId="{5F7BC378-4764-484A-8F3D-AB98363BD7A3}" type="presParOf" srcId="{C138C876-AD36-421D-985C-F0B611258B47}" destId="{DBAC126A-C928-4670-9194-A111C093E1DB}" srcOrd="14" destOrd="0" presId="urn:microsoft.com/office/officeart/2008/layout/LinedList"/>
    <dgm:cxn modelId="{4F1BF36B-B2C4-4112-B446-20A951FA8E4B}" type="presParOf" srcId="{C138C876-AD36-421D-985C-F0B611258B47}" destId="{BF71B090-A348-4B63-A8C6-58F56CA33605}" srcOrd="15" destOrd="0" presId="urn:microsoft.com/office/officeart/2008/layout/LinedList"/>
    <dgm:cxn modelId="{CE49878E-C208-4B36-ABA6-2F403B18DB06}" type="presParOf" srcId="{BF71B090-A348-4B63-A8C6-58F56CA33605}" destId="{6DA51EA0-6054-4CC4-BEE7-32192BE8D1DD}" srcOrd="0" destOrd="0" presId="urn:microsoft.com/office/officeart/2008/layout/LinedList"/>
    <dgm:cxn modelId="{3184F561-CEBF-483F-9B39-93F7E79B3C65}" type="presParOf" srcId="{BF71B090-A348-4B63-A8C6-58F56CA33605}" destId="{90C4B5BA-8D67-48FA-8FEB-C1308E3ED81E}" srcOrd="1" destOrd="0" presId="urn:microsoft.com/office/officeart/2008/layout/LinedList"/>
    <dgm:cxn modelId="{B50C2276-A940-48A5-9DAD-D64456DCECF8}" type="presParOf" srcId="{C138C876-AD36-421D-985C-F0B611258B47}" destId="{4924592D-0E63-4F28-ADBF-0F455B05047C}" srcOrd="16" destOrd="0" presId="urn:microsoft.com/office/officeart/2008/layout/LinedList"/>
    <dgm:cxn modelId="{F406A604-E5A3-418D-89C9-2A01ACF826EE}" type="presParOf" srcId="{C138C876-AD36-421D-985C-F0B611258B47}" destId="{A5017B77-7089-4883-8C2B-970D643B68B5}" srcOrd="17" destOrd="0" presId="urn:microsoft.com/office/officeart/2008/layout/LinedList"/>
    <dgm:cxn modelId="{E6EA89CD-9B3C-4DD8-A338-92EE797FDFEA}" type="presParOf" srcId="{A5017B77-7089-4883-8C2B-970D643B68B5}" destId="{01FCD4D4-7E43-4305-BEEE-810F57CE8B8B}" srcOrd="0" destOrd="0" presId="urn:microsoft.com/office/officeart/2008/layout/LinedList"/>
    <dgm:cxn modelId="{ABCD9C9D-B711-415E-BA3B-28D4F3ABC13C}" type="presParOf" srcId="{A5017B77-7089-4883-8C2B-970D643B68B5}" destId="{624408B7-F825-4BE5-BAB6-F1D8C087DBC5}" srcOrd="1" destOrd="0" presId="urn:microsoft.com/office/officeart/2008/layout/LinedList"/>
    <dgm:cxn modelId="{34470A76-0FA3-4D81-8859-67148A4A4598}" type="presParOf" srcId="{C138C876-AD36-421D-985C-F0B611258B47}" destId="{5D6F1B35-CEB0-486F-BDAB-4F6AB2BF7AD6}" srcOrd="18" destOrd="0" presId="urn:microsoft.com/office/officeart/2008/layout/LinedList"/>
    <dgm:cxn modelId="{075F80E6-4226-4813-982F-22AB73806A6D}" type="presParOf" srcId="{C138C876-AD36-421D-985C-F0B611258B47}" destId="{F251D094-27FA-4C18-BFC0-089AE973158D}" srcOrd="19" destOrd="0" presId="urn:microsoft.com/office/officeart/2008/layout/LinedList"/>
    <dgm:cxn modelId="{3E633C1D-48AE-4B9F-AFDC-8F2FC1449F41}" type="presParOf" srcId="{F251D094-27FA-4C18-BFC0-089AE973158D}" destId="{1F299AFE-776B-42C1-A88D-FC02ED06E8B4}" srcOrd="0" destOrd="0" presId="urn:microsoft.com/office/officeart/2008/layout/LinedList"/>
    <dgm:cxn modelId="{227F3579-C8E7-497D-A541-662B5CA97EE4}" type="presParOf" srcId="{F251D094-27FA-4C18-BFC0-089AE973158D}" destId="{CFE8E801-69EB-4EA5-8296-4D1B9DEC77E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5C0854-EA7A-4065-9109-C42ECFE5D17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98E087E-0922-48DC-BBA1-E7DCD75E49F3}">
      <dgm:prSet/>
      <dgm:spPr/>
      <dgm:t>
        <a:bodyPr/>
        <a:lstStyle/>
        <a:p>
          <a:r>
            <a:rPr lang="en-US" b="1"/>
            <a:t>Mercantilism</a:t>
          </a:r>
          <a:r>
            <a:rPr lang="en-US"/>
            <a:t> – An early theory suggesting that countries should export more than they import to accumulate wealth.</a:t>
          </a:r>
        </a:p>
      </dgm:t>
    </dgm:pt>
    <dgm:pt modelId="{A4C9D194-C8DB-45C7-B417-3CA1492C88FF}" type="parTrans" cxnId="{0D5347AB-18A3-4A5E-9BBC-B7F0710196CF}">
      <dgm:prSet/>
      <dgm:spPr/>
      <dgm:t>
        <a:bodyPr/>
        <a:lstStyle/>
        <a:p>
          <a:endParaRPr lang="en-US"/>
        </a:p>
      </dgm:t>
    </dgm:pt>
    <dgm:pt modelId="{28524E7C-B2BA-4A1B-ADD3-D590CBFFEE1F}" type="sibTrans" cxnId="{0D5347AB-18A3-4A5E-9BBC-B7F0710196CF}">
      <dgm:prSet/>
      <dgm:spPr/>
      <dgm:t>
        <a:bodyPr/>
        <a:lstStyle/>
        <a:p>
          <a:endParaRPr lang="en-US"/>
        </a:p>
      </dgm:t>
    </dgm:pt>
    <dgm:pt modelId="{0F9FB9C6-CEEC-4844-AB27-42F657BBC5D6}">
      <dgm:prSet/>
      <dgm:spPr/>
      <dgm:t>
        <a:bodyPr/>
        <a:lstStyle/>
        <a:p>
          <a:r>
            <a:rPr lang="en-US" b="1"/>
            <a:t>Theory of Absolute Advantage</a:t>
          </a:r>
          <a:r>
            <a:rPr lang="en-US"/>
            <a:t> – Proposed by Adam Smith, stating that countries should specialize in goods they can produce more efficiently than others.</a:t>
          </a:r>
        </a:p>
      </dgm:t>
    </dgm:pt>
    <dgm:pt modelId="{0673CF29-359E-4D3A-A4F0-977AD1069748}" type="parTrans" cxnId="{52FD1FF9-A496-41B9-AD3F-13BF427355D2}">
      <dgm:prSet/>
      <dgm:spPr/>
      <dgm:t>
        <a:bodyPr/>
        <a:lstStyle/>
        <a:p>
          <a:endParaRPr lang="en-US"/>
        </a:p>
      </dgm:t>
    </dgm:pt>
    <dgm:pt modelId="{587E5C79-78BE-4001-B88F-F7648FF46F42}" type="sibTrans" cxnId="{52FD1FF9-A496-41B9-AD3F-13BF427355D2}">
      <dgm:prSet/>
      <dgm:spPr/>
      <dgm:t>
        <a:bodyPr/>
        <a:lstStyle/>
        <a:p>
          <a:endParaRPr lang="en-US"/>
        </a:p>
      </dgm:t>
    </dgm:pt>
    <dgm:pt modelId="{2A0EDC67-47C5-4BAA-97F5-5DFA106B65A9}">
      <dgm:prSet/>
      <dgm:spPr/>
      <dgm:t>
        <a:bodyPr/>
        <a:lstStyle/>
        <a:p>
          <a:r>
            <a:rPr lang="en-US" b="1"/>
            <a:t>Theory of Comparative Advantage</a:t>
          </a:r>
          <a:r>
            <a:rPr lang="en-US"/>
            <a:t> – Developed by David Ricardo, explaining that countries should specialize in goods with the lowest opportunity cost.</a:t>
          </a:r>
        </a:p>
      </dgm:t>
    </dgm:pt>
    <dgm:pt modelId="{A8D4E11C-79B1-4019-BC2A-686F549A20F7}" type="parTrans" cxnId="{D870F826-90CA-40E1-9693-91BB63CDC422}">
      <dgm:prSet/>
      <dgm:spPr/>
      <dgm:t>
        <a:bodyPr/>
        <a:lstStyle/>
        <a:p>
          <a:endParaRPr lang="en-US"/>
        </a:p>
      </dgm:t>
    </dgm:pt>
    <dgm:pt modelId="{2CA89AF1-81BB-4CB2-9D97-D365668F9564}" type="sibTrans" cxnId="{D870F826-90CA-40E1-9693-91BB63CDC422}">
      <dgm:prSet/>
      <dgm:spPr/>
      <dgm:t>
        <a:bodyPr/>
        <a:lstStyle/>
        <a:p>
          <a:endParaRPr lang="en-US"/>
        </a:p>
      </dgm:t>
    </dgm:pt>
    <dgm:pt modelId="{9CE8EC01-B9A6-4C6D-8490-FB9030B3A572}">
      <dgm:prSet/>
      <dgm:spPr/>
      <dgm:t>
        <a:bodyPr/>
        <a:lstStyle/>
        <a:p>
          <a:r>
            <a:rPr lang="en-US" b="1"/>
            <a:t>Factor Mobility Theory</a:t>
          </a:r>
          <a:r>
            <a:rPr lang="en-US"/>
            <a:t> – Explains how the movement of labor, capital, and technology across countries influences international trade.</a:t>
          </a:r>
        </a:p>
      </dgm:t>
    </dgm:pt>
    <dgm:pt modelId="{3D294E8F-C76A-4D23-A53A-6F00F884774D}" type="parTrans" cxnId="{350B62D1-5689-4F32-BC3C-58F46993400A}">
      <dgm:prSet/>
      <dgm:spPr/>
      <dgm:t>
        <a:bodyPr/>
        <a:lstStyle/>
        <a:p>
          <a:endParaRPr lang="en-US"/>
        </a:p>
      </dgm:t>
    </dgm:pt>
    <dgm:pt modelId="{DE1F52A5-C9EB-4D97-8ABB-49BC93947096}" type="sibTrans" cxnId="{350B62D1-5689-4F32-BC3C-58F46993400A}">
      <dgm:prSet/>
      <dgm:spPr/>
      <dgm:t>
        <a:bodyPr/>
        <a:lstStyle/>
        <a:p>
          <a:endParaRPr lang="en-US"/>
        </a:p>
      </dgm:t>
    </dgm:pt>
    <dgm:pt modelId="{6C44C58F-FCB2-4A8B-94F7-5D361E7D4A4C}">
      <dgm:prSet/>
      <dgm:spPr/>
      <dgm:t>
        <a:bodyPr/>
        <a:lstStyle/>
        <a:p>
          <a:r>
            <a:rPr lang="en-US" b="1"/>
            <a:t>Example:</a:t>
          </a:r>
          <a:br>
            <a:rPr lang="en-US"/>
          </a:br>
          <a:r>
            <a:rPr lang="en-US"/>
            <a:t>Countries with advanced technology may export high-tech products, while countries with abundant natural resources may export raw materials.</a:t>
          </a:r>
        </a:p>
      </dgm:t>
    </dgm:pt>
    <dgm:pt modelId="{FDC961BB-C368-4126-AF8D-73FF508377A6}" type="parTrans" cxnId="{0D1E7C6D-C849-4FFC-AD33-8AA936D68BEE}">
      <dgm:prSet/>
      <dgm:spPr/>
      <dgm:t>
        <a:bodyPr/>
        <a:lstStyle/>
        <a:p>
          <a:endParaRPr lang="en-US"/>
        </a:p>
      </dgm:t>
    </dgm:pt>
    <dgm:pt modelId="{31763CC5-3DBA-40E9-A95F-FA06D870199D}" type="sibTrans" cxnId="{0D1E7C6D-C849-4FFC-AD33-8AA936D68BEE}">
      <dgm:prSet/>
      <dgm:spPr/>
      <dgm:t>
        <a:bodyPr/>
        <a:lstStyle/>
        <a:p>
          <a:endParaRPr lang="en-US"/>
        </a:p>
      </dgm:t>
    </dgm:pt>
    <dgm:pt modelId="{32DC495E-D07D-4603-8926-7934F6C83C48}">
      <dgm:prSet/>
      <dgm:spPr/>
      <dgm:t>
        <a:bodyPr/>
        <a:lstStyle/>
        <a:p>
          <a:r>
            <a:rPr lang="en-US" b="1"/>
            <a:t>Main International Trade Theories:</a:t>
          </a:r>
          <a:endParaRPr lang="en-US"/>
        </a:p>
      </dgm:t>
    </dgm:pt>
    <dgm:pt modelId="{0989B8C8-0C56-498D-B24E-E303C9683C68}" type="sibTrans" cxnId="{D2A42474-1AAC-4CFC-9632-730CF2EFDBC7}">
      <dgm:prSet/>
      <dgm:spPr/>
      <dgm:t>
        <a:bodyPr/>
        <a:lstStyle/>
        <a:p>
          <a:endParaRPr lang="en-US"/>
        </a:p>
      </dgm:t>
    </dgm:pt>
    <dgm:pt modelId="{312FE334-BE62-434B-8B25-6A162669C172}" type="parTrans" cxnId="{D2A42474-1AAC-4CFC-9632-730CF2EFDBC7}">
      <dgm:prSet/>
      <dgm:spPr/>
      <dgm:t>
        <a:bodyPr/>
        <a:lstStyle/>
        <a:p>
          <a:endParaRPr lang="en-US"/>
        </a:p>
      </dgm:t>
    </dgm:pt>
    <dgm:pt modelId="{12C20D4D-46C8-4678-A71D-DE9EFE74B01E}" type="pres">
      <dgm:prSet presAssocID="{185C0854-EA7A-4065-9109-C42ECFE5D17D}" presName="linear" presStyleCnt="0">
        <dgm:presLayoutVars>
          <dgm:animLvl val="lvl"/>
          <dgm:resizeHandles val="exact"/>
        </dgm:presLayoutVars>
      </dgm:prSet>
      <dgm:spPr/>
    </dgm:pt>
    <dgm:pt modelId="{1646337B-7F0F-4C4B-9A5E-36A423502C44}" type="pres">
      <dgm:prSet presAssocID="{32DC495E-D07D-4603-8926-7934F6C83C48}" presName="parentText" presStyleLbl="node1" presStyleIdx="0" presStyleCnt="6">
        <dgm:presLayoutVars>
          <dgm:chMax val="0"/>
          <dgm:bulletEnabled val="1"/>
        </dgm:presLayoutVars>
      </dgm:prSet>
      <dgm:spPr/>
    </dgm:pt>
    <dgm:pt modelId="{F82251A2-E074-4A7C-BB99-BCD4F5438D75}" type="pres">
      <dgm:prSet presAssocID="{0989B8C8-0C56-498D-B24E-E303C9683C68}" presName="spacer" presStyleCnt="0"/>
      <dgm:spPr/>
    </dgm:pt>
    <dgm:pt modelId="{44AF4117-1D2D-4106-8A60-C7798D36BFCC}" type="pres">
      <dgm:prSet presAssocID="{298E087E-0922-48DC-BBA1-E7DCD75E49F3}" presName="parentText" presStyleLbl="node1" presStyleIdx="1" presStyleCnt="6">
        <dgm:presLayoutVars>
          <dgm:chMax val="0"/>
          <dgm:bulletEnabled val="1"/>
        </dgm:presLayoutVars>
      </dgm:prSet>
      <dgm:spPr/>
    </dgm:pt>
    <dgm:pt modelId="{83108F4A-EAD5-4A10-985F-E115F09D3BF3}" type="pres">
      <dgm:prSet presAssocID="{28524E7C-B2BA-4A1B-ADD3-D590CBFFEE1F}" presName="spacer" presStyleCnt="0"/>
      <dgm:spPr/>
    </dgm:pt>
    <dgm:pt modelId="{2EFAD99E-F998-4BE5-B09B-6E95540CDC54}" type="pres">
      <dgm:prSet presAssocID="{0F9FB9C6-CEEC-4844-AB27-42F657BBC5D6}" presName="parentText" presStyleLbl="node1" presStyleIdx="2" presStyleCnt="6">
        <dgm:presLayoutVars>
          <dgm:chMax val="0"/>
          <dgm:bulletEnabled val="1"/>
        </dgm:presLayoutVars>
      </dgm:prSet>
      <dgm:spPr/>
    </dgm:pt>
    <dgm:pt modelId="{66D3EFD1-C221-43DE-BC42-2CE9F6ECE4B9}" type="pres">
      <dgm:prSet presAssocID="{587E5C79-78BE-4001-B88F-F7648FF46F42}" presName="spacer" presStyleCnt="0"/>
      <dgm:spPr/>
    </dgm:pt>
    <dgm:pt modelId="{7AE0F382-3883-447D-89F7-14C46F202F5F}" type="pres">
      <dgm:prSet presAssocID="{2A0EDC67-47C5-4BAA-97F5-5DFA106B65A9}" presName="parentText" presStyleLbl="node1" presStyleIdx="3" presStyleCnt="6">
        <dgm:presLayoutVars>
          <dgm:chMax val="0"/>
          <dgm:bulletEnabled val="1"/>
        </dgm:presLayoutVars>
      </dgm:prSet>
      <dgm:spPr/>
    </dgm:pt>
    <dgm:pt modelId="{35B103E2-C9EF-4042-8FCC-3B5AB9CA655A}" type="pres">
      <dgm:prSet presAssocID="{2CA89AF1-81BB-4CB2-9D97-D365668F9564}" presName="spacer" presStyleCnt="0"/>
      <dgm:spPr/>
    </dgm:pt>
    <dgm:pt modelId="{AFB4377A-CBE6-4B55-8BD4-B81CC3105208}" type="pres">
      <dgm:prSet presAssocID="{9CE8EC01-B9A6-4C6D-8490-FB9030B3A572}" presName="parentText" presStyleLbl="node1" presStyleIdx="4" presStyleCnt="6">
        <dgm:presLayoutVars>
          <dgm:chMax val="0"/>
          <dgm:bulletEnabled val="1"/>
        </dgm:presLayoutVars>
      </dgm:prSet>
      <dgm:spPr/>
    </dgm:pt>
    <dgm:pt modelId="{E7E02103-FD39-4AB2-B849-863B529FB8A0}" type="pres">
      <dgm:prSet presAssocID="{DE1F52A5-C9EB-4D97-8ABB-49BC93947096}" presName="spacer" presStyleCnt="0"/>
      <dgm:spPr/>
    </dgm:pt>
    <dgm:pt modelId="{5892596C-4E1F-4305-AE28-DB917BD0CF5D}" type="pres">
      <dgm:prSet presAssocID="{6C44C58F-FCB2-4A8B-94F7-5D361E7D4A4C}" presName="parentText" presStyleLbl="node1" presStyleIdx="5" presStyleCnt="6">
        <dgm:presLayoutVars>
          <dgm:chMax val="0"/>
          <dgm:bulletEnabled val="1"/>
        </dgm:presLayoutVars>
      </dgm:prSet>
      <dgm:spPr/>
    </dgm:pt>
  </dgm:ptLst>
  <dgm:cxnLst>
    <dgm:cxn modelId="{8E975D0B-E53E-4561-B4D6-0BEC49855EFF}" type="presOf" srcId="{9CE8EC01-B9A6-4C6D-8490-FB9030B3A572}" destId="{AFB4377A-CBE6-4B55-8BD4-B81CC3105208}" srcOrd="0" destOrd="0" presId="urn:microsoft.com/office/officeart/2005/8/layout/vList2"/>
    <dgm:cxn modelId="{D870F826-90CA-40E1-9693-91BB63CDC422}" srcId="{185C0854-EA7A-4065-9109-C42ECFE5D17D}" destId="{2A0EDC67-47C5-4BAA-97F5-5DFA106B65A9}" srcOrd="3" destOrd="0" parTransId="{A8D4E11C-79B1-4019-BC2A-686F549A20F7}" sibTransId="{2CA89AF1-81BB-4CB2-9D97-D365668F9564}"/>
    <dgm:cxn modelId="{D4825435-0DEA-4F81-BB4A-C1E19F2924EC}" type="presOf" srcId="{32DC495E-D07D-4603-8926-7934F6C83C48}" destId="{1646337B-7F0F-4C4B-9A5E-36A423502C44}" srcOrd="0" destOrd="0" presId="urn:microsoft.com/office/officeart/2005/8/layout/vList2"/>
    <dgm:cxn modelId="{AE0A6143-3C66-4DE6-A59F-905AC67CCE9F}" type="presOf" srcId="{185C0854-EA7A-4065-9109-C42ECFE5D17D}" destId="{12C20D4D-46C8-4678-A71D-DE9EFE74B01E}" srcOrd="0" destOrd="0" presId="urn:microsoft.com/office/officeart/2005/8/layout/vList2"/>
    <dgm:cxn modelId="{2EF76843-29CE-4244-B978-EE59A2CD97A8}" type="presOf" srcId="{6C44C58F-FCB2-4A8B-94F7-5D361E7D4A4C}" destId="{5892596C-4E1F-4305-AE28-DB917BD0CF5D}" srcOrd="0" destOrd="0" presId="urn:microsoft.com/office/officeart/2005/8/layout/vList2"/>
    <dgm:cxn modelId="{0D1E7C6D-C849-4FFC-AD33-8AA936D68BEE}" srcId="{185C0854-EA7A-4065-9109-C42ECFE5D17D}" destId="{6C44C58F-FCB2-4A8B-94F7-5D361E7D4A4C}" srcOrd="5" destOrd="0" parTransId="{FDC961BB-C368-4126-AF8D-73FF508377A6}" sibTransId="{31763CC5-3DBA-40E9-A95F-FA06D870199D}"/>
    <dgm:cxn modelId="{D2A42474-1AAC-4CFC-9632-730CF2EFDBC7}" srcId="{185C0854-EA7A-4065-9109-C42ECFE5D17D}" destId="{32DC495E-D07D-4603-8926-7934F6C83C48}" srcOrd="0" destOrd="0" parTransId="{312FE334-BE62-434B-8B25-6A162669C172}" sibTransId="{0989B8C8-0C56-498D-B24E-E303C9683C68}"/>
    <dgm:cxn modelId="{9131388D-5AD5-4BAF-884A-CE0A32D57939}" type="presOf" srcId="{2A0EDC67-47C5-4BAA-97F5-5DFA106B65A9}" destId="{7AE0F382-3883-447D-89F7-14C46F202F5F}" srcOrd="0" destOrd="0" presId="urn:microsoft.com/office/officeart/2005/8/layout/vList2"/>
    <dgm:cxn modelId="{DA78F5AA-5AE3-4AFC-926C-A92C8E027547}" type="presOf" srcId="{0F9FB9C6-CEEC-4844-AB27-42F657BBC5D6}" destId="{2EFAD99E-F998-4BE5-B09B-6E95540CDC54}" srcOrd="0" destOrd="0" presId="urn:microsoft.com/office/officeart/2005/8/layout/vList2"/>
    <dgm:cxn modelId="{0D5347AB-18A3-4A5E-9BBC-B7F0710196CF}" srcId="{185C0854-EA7A-4065-9109-C42ECFE5D17D}" destId="{298E087E-0922-48DC-BBA1-E7DCD75E49F3}" srcOrd="1" destOrd="0" parTransId="{A4C9D194-C8DB-45C7-B417-3CA1492C88FF}" sibTransId="{28524E7C-B2BA-4A1B-ADD3-D590CBFFEE1F}"/>
    <dgm:cxn modelId="{350B62D1-5689-4F32-BC3C-58F46993400A}" srcId="{185C0854-EA7A-4065-9109-C42ECFE5D17D}" destId="{9CE8EC01-B9A6-4C6D-8490-FB9030B3A572}" srcOrd="4" destOrd="0" parTransId="{3D294E8F-C76A-4D23-A53A-6F00F884774D}" sibTransId="{DE1F52A5-C9EB-4D97-8ABB-49BC93947096}"/>
    <dgm:cxn modelId="{4E49D4D5-BCC8-4148-B505-49494C62111D}" type="presOf" srcId="{298E087E-0922-48DC-BBA1-E7DCD75E49F3}" destId="{44AF4117-1D2D-4106-8A60-C7798D36BFCC}" srcOrd="0" destOrd="0" presId="urn:microsoft.com/office/officeart/2005/8/layout/vList2"/>
    <dgm:cxn modelId="{52FD1FF9-A496-41B9-AD3F-13BF427355D2}" srcId="{185C0854-EA7A-4065-9109-C42ECFE5D17D}" destId="{0F9FB9C6-CEEC-4844-AB27-42F657BBC5D6}" srcOrd="2" destOrd="0" parTransId="{0673CF29-359E-4D3A-A4F0-977AD1069748}" sibTransId="{587E5C79-78BE-4001-B88F-F7648FF46F42}"/>
    <dgm:cxn modelId="{92024079-827B-4AB1-A460-61A24A8C12D5}" type="presParOf" srcId="{12C20D4D-46C8-4678-A71D-DE9EFE74B01E}" destId="{1646337B-7F0F-4C4B-9A5E-36A423502C44}" srcOrd="0" destOrd="0" presId="urn:microsoft.com/office/officeart/2005/8/layout/vList2"/>
    <dgm:cxn modelId="{57D4EB7C-9CBF-4619-8BAD-75778A18AD30}" type="presParOf" srcId="{12C20D4D-46C8-4678-A71D-DE9EFE74B01E}" destId="{F82251A2-E074-4A7C-BB99-BCD4F5438D75}" srcOrd="1" destOrd="0" presId="urn:microsoft.com/office/officeart/2005/8/layout/vList2"/>
    <dgm:cxn modelId="{8294134C-EE56-465B-9FC2-E330B41903BA}" type="presParOf" srcId="{12C20D4D-46C8-4678-A71D-DE9EFE74B01E}" destId="{44AF4117-1D2D-4106-8A60-C7798D36BFCC}" srcOrd="2" destOrd="0" presId="urn:microsoft.com/office/officeart/2005/8/layout/vList2"/>
    <dgm:cxn modelId="{5DD2AE58-D97C-4F31-A860-0E5824B94AAE}" type="presParOf" srcId="{12C20D4D-46C8-4678-A71D-DE9EFE74B01E}" destId="{83108F4A-EAD5-4A10-985F-E115F09D3BF3}" srcOrd="3" destOrd="0" presId="urn:microsoft.com/office/officeart/2005/8/layout/vList2"/>
    <dgm:cxn modelId="{20DAE821-B5EC-4035-9AAB-D1CC5953BE4E}" type="presParOf" srcId="{12C20D4D-46C8-4678-A71D-DE9EFE74B01E}" destId="{2EFAD99E-F998-4BE5-B09B-6E95540CDC54}" srcOrd="4" destOrd="0" presId="urn:microsoft.com/office/officeart/2005/8/layout/vList2"/>
    <dgm:cxn modelId="{69D21AEC-76E3-4D60-9AEB-CFF845F1D71B}" type="presParOf" srcId="{12C20D4D-46C8-4678-A71D-DE9EFE74B01E}" destId="{66D3EFD1-C221-43DE-BC42-2CE9F6ECE4B9}" srcOrd="5" destOrd="0" presId="urn:microsoft.com/office/officeart/2005/8/layout/vList2"/>
    <dgm:cxn modelId="{6AFDCB2C-27DA-4B3C-B59E-57F505500FC1}" type="presParOf" srcId="{12C20D4D-46C8-4678-A71D-DE9EFE74B01E}" destId="{7AE0F382-3883-447D-89F7-14C46F202F5F}" srcOrd="6" destOrd="0" presId="urn:microsoft.com/office/officeart/2005/8/layout/vList2"/>
    <dgm:cxn modelId="{CFD6D0B3-8287-40C3-A2F5-61F106EBFB82}" type="presParOf" srcId="{12C20D4D-46C8-4678-A71D-DE9EFE74B01E}" destId="{35B103E2-C9EF-4042-8FCC-3B5AB9CA655A}" srcOrd="7" destOrd="0" presId="urn:microsoft.com/office/officeart/2005/8/layout/vList2"/>
    <dgm:cxn modelId="{9A139216-AFC7-4732-A53A-DDB9D7586819}" type="presParOf" srcId="{12C20D4D-46C8-4678-A71D-DE9EFE74B01E}" destId="{AFB4377A-CBE6-4B55-8BD4-B81CC3105208}" srcOrd="8" destOrd="0" presId="urn:microsoft.com/office/officeart/2005/8/layout/vList2"/>
    <dgm:cxn modelId="{10EAB24C-53CF-4342-92F2-A5AB2A1DB031}" type="presParOf" srcId="{12C20D4D-46C8-4678-A71D-DE9EFE74B01E}" destId="{E7E02103-FD39-4AB2-B849-863B529FB8A0}" srcOrd="9" destOrd="0" presId="urn:microsoft.com/office/officeart/2005/8/layout/vList2"/>
    <dgm:cxn modelId="{36187883-DC49-4830-A923-479BA9386AC7}" type="presParOf" srcId="{12C20D4D-46C8-4678-A71D-DE9EFE74B01E}" destId="{5892596C-4E1F-4305-AE28-DB917BD0CF5D}"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475477-AC8D-4C66-96EA-632C7A91ED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BA67F0D-A6FB-4CA5-AE0C-503322D73139}">
      <dgm:prSet/>
      <dgm:spPr/>
      <dgm:t>
        <a:bodyPr/>
        <a:lstStyle/>
        <a:p>
          <a:r>
            <a:rPr lang="en-US" b="1" dirty="0"/>
            <a:t>Free Trade Area (FTA)</a:t>
          </a:r>
          <a:br>
            <a:rPr lang="en-US" dirty="0"/>
          </a:br>
          <a:r>
            <a:rPr lang="en-US" dirty="0"/>
            <a:t>In a free trade area, member countries remove tariffs and trade barriers among themselves but maintain their own trade policies with non-member countries. This allows free trade within the region while each country controls its external trade independently.</a:t>
          </a:r>
          <a:br>
            <a:rPr lang="en-US" dirty="0"/>
          </a:br>
          <a:r>
            <a:rPr lang="en-US" b="1" dirty="0"/>
            <a:t>Example:</a:t>
          </a:r>
          <a:r>
            <a:rPr lang="en-US" dirty="0"/>
            <a:t> The </a:t>
          </a:r>
          <a:r>
            <a:rPr lang="en-US" b="1" dirty="0"/>
            <a:t>North American Free Trade Agreement (NAFTA)</a:t>
          </a:r>
          <a:r>
            <a:rPr lang="en-US" dirty="0"/>
            <a:t> between the United States, Canada, and Mexico.</a:t>
          </a:r>
        </a:p>
      </dgm:t>
    </dgm:pt>
    <dgm:pt modelId="{DCD1AA9B-97B3-45E1-8B4C-01E93357B108}" type="parTrans" cxnId="{EBE5F1DA-49A0-4618-B730-91D0DCDA1205}">
      <dgm:prSet/>
      <dgm:spPr/>
      <dgm:t>
        <a:bodyPr/>
        <a:lstStyle/>
        <a:p>
          <a:endParaRPr lang="en-US"/>
        </a:p>
      </dgm:t>
    </dgm:pt>
    <dgm:pt modelId="{67C3A3CD-D34B-445B-AC9E-6FB2F83C1C5B}" type="sibTrans" cxnId="{EBE5F1DA-49A0-4618-B730-91D0DCDA1205}">
      <dgm:prSet/>
      <dgm:spPr/>
      <dgm:t>
        <a:bodyPr/>
        <a:lstStyle/>
        <a:p>
          <a:endParaRPr lang="en-US"/>
        </a:p>
      </dgm:t>
    </dgm:pt>
    <dgm:pt modelId="{813A19B0-3CCD-4B1D-B076-D2FC25D302AC}">
      <dgm:prSet/>
      <dgm:spPr/>
      <dgm:t>
        <a:bodyPr/>
        <a:lstStyle/>
        <a:p>
          <a:r>
            <a:rPr lang="en-US" b="1"/>
            <a:t>Customs Union</a:t>
          </a:r>
          <a:br>
            <a:rPr lang="en-US"/>
          </a:br>
          <a:r>
            <a:rPr lang="en-US"/>
            <a:t>A customs union not only removes trade barriers among member countries but also establishes a </a:t>
          </a:r>
          <a:r>
            <a:rPr lang="en-US" b="1"/>
            <a:t>common external tariff</a:t>
          </a:r>
          <a:r>
            <a:rPr lang="en-US"/>
            <a:t> for goods imported from non-member countries. This means all members follow the same trade policies toward other countries.</a:t>
          </a:r>
          <a:br>
            <a:rPr lang="en-US"/>
          </a:br>
          <a:r>
            <a:rPr lang="en-US" b="1"/>
            <a:t>Example:</a:t>
          </a:r>
          <a:r>
            <a:rPr lang="en-US"/>
            <a:t> The </a:t>
          </a:r>
          <a:r>
            <a:rPr lang="en-US" b="1"/>
            <a:t>Southern African Customs Union (SACU)</a:t>
          </a:r>
          <a:r>
            <a:rPr lang="en-US"/>
            <a:t>.</a:t>
          </a:r>
        </a:p>
      </dgm:t>
    </dgm:pt>
    <dgm:pt modelId="{B969D3F0-03A1-4C5A-8F96-201686080CD6}" type="parTrans" cxnId="{77C44FDF-94B6-4BDA-AC8F-647B7866D8D1}">
      <dgm:prSet/>
      <dgm:spPr/>
      <dgm:t>
        <a:bodyPr/>
        <a:lstStyle/>
        <a:p>
          <a:endParaRPr lang="en-US"/>
        </a:p>
      </dgm:t>
    </dgm:pt>
    <dgm:pt modelId="{7ACD9D4C-3CD3-415F-AD26-47C4B004DC64}" type="sibTrans" cxnId="{77C44FDF-94B6-4BDA-AC8F-647B7866D8D1}">
      <dgm:prSet/>
      <dgm:spPr/>
      <dgm:t>
        <a:bodyPr/>
        <a:lstStyle/>
        <a:p>
          <a:endParaRPr lang="en-US"/>
        </a:p>
      </dgm:t>
    </dgm:pt>
    <dgm:pt modelId="{2367D440-0E88-4D46-9832-22A4BD0BEE76}">
      <dgm:prSet/>
      <dgm:spPr/>
      <dgm:t>
        <a:bodyPr/>
        <a:lstStyle/>
        <a:p>
          <a:r>
            <a:rPr lang="en-US" b="1"/>
            <a:t>Common Market</a:t>
          </a:r>
          <a:br>
            <a:rPr lang="en-US"/>
          </a:br>
          <a:r>
            <a:rPr lang="en-US"/>
            <a:t>A common market allows free movement of </a:t>
          </a:r>
          <a:r>
            <a:rPr lang="en-US" b="1"/>
            <a:t>goods, services, capital, and labor</a:t>
          </a:r>
          <a:r>
            <a:rPr lang="en-US"/>
            <a:t> among member countries. In addition to removing trade barriers, workers and investments can move freely across member states.</a:t>
          </a:r>
          <a:br>
            <a:rPr lang="en-US"/>
          </a:br>
          <a:r>
            <a:rPr lang="en-US" b="1"/>
            <a:t>Example:</a:t>
          </a:r>
          <a:r>
            <a:rPr lang="en-US"/>
            <a:t> The </a:t>
          </a:r>
          <a:r>
            <a:rPr lang="en-US" b="1"/>
            <a:t>European Union (EU)</a:t>
          </a:r>
          <a:r>
            <a:rPr lang="en-US"/>
            <a:t> initially operated as a common market.</a:t>
          </a:r>
        </a:p>
      </dgm:t>
    </dgm:pt>
    <dgm:pt modelId="{1D867C12-9EEC-4662-8010-AD8BF0B11043}" type="parTrans" cxnId="{DC792BF5-1859-4D33-9354-2105DA111516}">
      <dgm:prSet/>
      <dgm:spPr/>
      <dgm:t>
        <a:bodyPr/>
        <a:lstStyle/>
        <a:p>
          <a:endParaRPr lang="en-US"/>
        </a:p>
      </dgm:t>
    </dgm:pt>
    <dgm:pt modelId="{CBDB38C6-D8A0-4735-8683-E7DBF99200E3}" type="sibTrans" cxnId="{DC792BF5-1859-4D33-9354-2105DA111516}">
      <dgm:prSet/>
      <dgm:spPr/>
      <dgm:t>
        <a:bodyPr/>
        <a:lstStyle/>
        <a:p>
          <a:endParaRPr lang="en-US"/>
        </a:p>
      </dgm:t>
    </dgm:pt>
    <dgm:pt modelId="{DBE68A62-D8FE-4721-90CC-1D91A1A29E60}">
      <dgm:prSet/>
      <dgm:spPr/>
      <dgm:t>
        <a:bodyPr/>
        <a:lstStyle/>
        <a:p>
          <a:r>
            <a:rPr lang="en-US" b="1"/>
            <a:t>Economic Union</a:t>
          </a:r>
          <a:br>
            <a:rPr lang="en-US"/>
          </a:br>
          <a:r>
            <a:rPr lang="en-US"/>
            <a:t>In an economic union, member countries not only allow free movement of goods, services, capital, and labor but also coordinate their economic policies such as taxation, monetary policies, and regulations.</a:t>
          </a:r>
          <a:br>
            <a:rPr lang="en-US"/>
          </a:br>
          <a:r>
            <a:rPr lang="en-US" b="1"/>
            <a:t>Example:</a:t>
          </a:r>
          <a:r>
            <a:rPr lang="en-US"/>
            <a:t> The </a:t>
          </a:r>
          <a:r>
            <a:rPr lang="en-US" b="1"/>
            <a:t>European Union</a:t>
          </a:r>
          <a:r>
            <a:rPr lang="en-US"/>
            <a:t>, where many countries share common economic policies and currency (Euro).</a:t>
          </a:r>
        </a:p>
      </dgm:t>
    </dgm:pt>
    <dgm:pt modelId="{48DD0A8F-DB15-4C95-BF47-E598DA5AFE4F}" type="parTrans" cxnId="{83DFEBDE-DEE9-4ED7-A9E6-D4411F58C1A5}">
      <dgm:prSet/>
      <dgm:spPr/>
      <dgm:t>
        <a:bodyPr/>
        <a:lstStyle/>
        <a:p>
          <a:endParaRPr lang="en-US"/>
        </a:p>
      </dgm:t>
    </dgm:pt>
    <dgm:pt modelId="{1C8380A0-E5F6-4C9C-B512-620A59D9EC44}" type="sibTrans" cxnId="{83DFEBDE-DEE9-4ED7-A9E6-D4411F58C1A5}">
      <dgm:prSet/>
      <dgm:spPr/>
      <dgm:t>
        <a:bodyPr/>
        <a:lstStyle/>
        <a:p>
          <a:endParaRPr lang="en-US"/>
        </a:p>
      </dgm:t>
    </dgm:pt>
    <dgm:pt modelId="{73F620A1-D4E8-402F-ABD2-33F570387001}">
      <dgm:prSet/>
      <dgm:spPr/>
      <dgm:t>
        <a:bodyPr/>
        <a:lstStyle/>
        <a:p>
          <a:r>
            <a:rPr lang="en-US" b="1"/>
            <a:t>Political Union</a:t>
          </a:r>
          <a:br>
            <a:rPr lang="en-US"/>
          </a:br>
          <a:r>
            <a:rPr lang="en-US"/>
            <a:t>A political union represents the highest level of integration, where member countries combine their political and economic systems under a common government.</a:t>
          </a:r>
          <a:br>
            <a:rPr lang="en-US"/>
          </a:br>
          <a:r>
            <a:rPr lang="en-US" b="1"/>
            <a:t>Example:</a:t>
          </a:r>
          <a:r>
            <a:rPr lang="en-US"/>
            <a:t> The </a:t>
          </a:r>
          <a:r>
            <a:rPr lang="en-US" b="1"/>
            <a:t>United States</a:t>
          </a:r>
          <a:r>
            <a:rPr lang="en-US"/>
            <a:t>, where individual states operate under a single federal government.</a:t>
          </a:r>
        </a:p>
      </dgm:t>
    </dgm:pt>
    <dgm:pt modelId="{31A8DA9B-9CCF-4591-BD3A-B7B9C24CAE5C}" type="parTrans" cxnId="{34F65559-A02B-4470-88F1-8CFDA9E14BFF}">
      <dgm:prSet/>
      <dgm:spPr/>
      <dgm:t>
        <a:bodyPr/>
        <a:lstStyle/>
        <a:p>
          <a:endParaRPr lang="en-US"/>
        </a:p>
      </dgm:t>
    </dgm:pt>
    <dgm:pt modelId="{1A72660B-8034-4703-81A0-C14396EC2B14}" type="sibTrans" cxnId="{34F65559-A02B-4470-88F1-8CFDA9E14BFF}">
      <dgm:prSet/>
      <dgm:spPr/>
      <dgm:t>
        <a:bodyPr/>
        <a:lstStyle/>
        <a:p>
          <a:endParaRPr lang="en-US"/>
        </a:p>
      </dgm:t>
    </dgm:pt>
    <dgm:pt modelId="{3C10293D-4D1E-4518-B1E8-A5CC031ABB33}" type="pres">
      <dgm:prSet presAssocID="{3B475477-AC8D-4C66-96EA-632C7A91ED53}" presName="linear" presStyleCnt="0">
        <dgm:presLayoutVars>
          <dgm:animLvl val="lvl"/>
          <dgm:resizeHandles val="exact"/>
        </dgm:presLayoutVars>
      </dgm:prSet>
      <dgm:spPr/>
    </dgm:pt>
    <dgm:pt modelId="{5A3552A8-9E52-41AD-B0A3-B2D83748D8F6}" type="pres">
      <dgm:prSet presAssocID="{ABA67F0D-A6FB-4CA5-AE0C-503322D73139}" presName="parentText" presStyleLbl="node1" presStyleIdx="0" presStyleCnt="5">
        <dgm:presLayoutVars>
          <dgm:chMax val="0"/>
          <dgm:bulletEnabled val="1"/>
        </dgm:presLayoutVars>
      </dgm:prSet>
      <dgm:spPr/>
    </dgm:pt>
    <dgm:pt modelId="{90F3AA38-3590-42A2-A075-719783820430}" type="pres">
      <dgm:prSet presAssocID="{67C3A3CD-D34B-445B-AC9E-6FB2F83C1C5B}" presName="spacer" presStyleCnt="0"/>
      <dgm:spPr/>
    </dgm:pt>
    <dgm:pt modelId="{9E1657C0-1035-42EC-B7E4-7B16927BCDC3}" type="pres">
      <dgm:prSet presAssocID="{813A19B0-3CCD-4B1D-B076-D2FC25D302AC}" presName="parentText" presStyleLbl="node1" presStyleIdx="1" presStyleCnt="5">
        <dgm:presLayoutVars>
          <dgm:chMax val="0"/>
          <dgm:bulletEnabled val="1"/>
        </dgm:presLayoutVars>
      </dgm:prSet>
      <dgm:spPr/>
    </dgm:pt>
    <dgm:pt modelId="{5EC0FE12-AA2E-420E-A4C6-9D8AD281F9CF}" type="pres">
      <dgm:prSet presAssocID="{7ACD9D4C-3CD3-415F-AD26-47C4B004DC64}" presName="spacer" presStyleCnt="0"/>
      <dgm:spPr/>
    </dgm:pt>
    <dgm:pt modelId="{41053A2C-008E-47A9-91D6-9A6D29D2CB68}" type="pres">
      <dgm:prSet presAssocID="{2367D440-0E88-4D46-9832-22A4BD0BEE76}" presName="parentText" presStyleLbl="node1" presStyleIdx="2" presStyleCnt="5">
        <dgm:presLayoutVars>
          <dgm:chMax val="0"/>
          <dgm:bulletEnabled val="1"/>
        </dgm:presLayoutVars>
      </dgm:prSet>
      <dgm:spPr/>
    </dgm:pt>
    <dgm:pt modelId="{9843BE20-CDCC-411B-BE31-1ED23F13A1F7}" type="pres">
      <dgm:prSet presAssocID="{CBDB38C6-D8A0-4735-8683-E7DBF99200E3}" presName="spacer" presStyleCnt="0"/>
      <dgm:spPr/>
    </dgm:pt>
    <dgm:pt modelId="{428407D8-2A2F-4D0D-B47D-4B92B7B6BA94}" type="pres">
      <dgm:prSet presAssocID="{DBE68A62-D8FE-4721-90CC-1D91A1A29E60}" presName="parentText" presStyleLbl="node1" presStyleIdx="3" presStyleCnt="5">
        <dgm:presLayoutVars>
          <dgm:chMax val="0"/>
          <dgm:bulletEnabled val="1"/>
        </dgm:presLayoutVars>
      </dgm:prSet>
      <dgm:spPr/>
    </dgm:pt>
    <dgm:pt modelId="{658FFB0E-83C8-4D2E-8417-32D003E0E749}" type="pres">
      <dgm:prSet presAssocID="{1C8380A0-E5F6-4C9C-B512-620A59D9EC44}" presName="spacer" presStyleCnt="0"/>
      <dgm:spPr/>
    </dgm:pt>
    <dgm:pt modelId="{C9908362-97B9-4E94-B570-09398DFA1733}" type="pres">
      <dgm:prSet presAssocID="{73F620A1-D4E8-402F-ABD2-33F570387001}" presName="parentText" presStyleLbl="node1" presStyleIdx="4" presStyleCnt="5">
        <dgm:presLayoutVars>
          <dgm:chMax val="0"/>
          <dgm:bulletEnabled val="1"/>
        </dgm:presLayoutVars>
      </dgm:prSet>
      <dgm:spPr/>
    </dgm:pt>
  </dgm:ptLst>
  <dgm:cxnLst>
    <dgm:cxn modelId="{0EB13E08-9CBA-40F9-8D07-0797E462E52B}" type="presOf" srcId="{ABA67F0D-A6FB-4CA5-AE0C-503322D73139}" destId="{5A3552A8-9E52-41AD-B0A3-B2D83748D8F6}" srcOrd="0" destOrd="0" presId="urn:microsoft.com/office/officeart/2005/8/layout/vList2"/>
    <dgm:cxn modelId="{94AA015E-34FC-46B3-9307-BD57F534864C}" type="presOf" srcId="{3B475477-AC8D-4C66-96EA-632C7A91ED53}" destId="{3C10293D-4D1E-4518-B1E8-A5CC031ABB33}" srcOrd="0" destOrd="0" presId="urn:microsoft.com/office/officeart/2005/8/layout/vList2"/>
    <dgm:cxn modelId="{39403761-CE7A-4BC1-BA0B-E58FBAA0CA07}" type="presOf" srcId="{2367D440-0E88-4D46-9832-22A4BD0BEE76}" destId="{41053A2C-008E-47A9-91D6-9A6D29D2CB68}" srcOrd="0" destOrd="0" presId="urn:microsoft.com/office/officeart/2005/8/layout/vList2"/>
    <dgm:cxn modelId="{25DFA854-EC16-4BB0-98CF-0A02878EEF6B}" type="presOf" srcId="{DBE68A62-D8FE-4721-90CC-1D91A1A29E60}" destId="{428407D8-2A2F-4D0D-B47D-4B92B7B6BA94}" srcOrd="0" destOrd="0" presId="urn:microsoft.com/office/officeart/2005/8/layout/vList2"/>
    <dgm:cxn modelId="{34F65559-A02B-4470-88F1-8CFDA9E14BFF}" srcId="{3B475477-AC8D-4C66-96EA-632C7A91ED53}" destId="{73F620A1-D4E8-402F-ABD2-33F570387001}" srcOrd="4" destOrd="0" parTransId="{31A8DA9B-9CCF-4591-BD3A-B7B9C24CAE5C}" sibTransId="{1A72660B-8034-4703-81A0-C14396EC2B14}"/>
    <dgm:cxn modelId="{DD8CE859-250C-4A7C-9A1C-4CE6BB2F748A}" type="presOf" srcId="{813A19B0-3CCD-4B1D-B076-D2FC25D302AC}" destId="{9E1657C0-1035-42EC-B7E4-7B16927BCDC3}" srcOrd="0" destOrd="0" presId="urn:microsoft.com/office/officeart/2005/8/layout/vList2"/>
    <dgm:cxn modelId="{B4E88B87-BBC1-4D0F-8D98-9D6A0BB780E3}" type="presOf" srcId="{73F620A1-D4E8-402F-ABD2-33F570387001}" destId="{C9908362-97B9-4E94-B570-09398DFA1733}" srcOrd="0" destOrd="0" presId="urn:microsoft.com/office/officeart/2005/8/layout/vList2"/>
    <dgm:cxn modelId="{EBE5F1DA-49A0-4618-B730-91D0DCDA1205}" srcId="{3B475477-AC8D-4C66-96EA-632C7A91ED53}" destId="{ABA67F0D-A6FB-4CA5-AE0C-503322D73139}" srcOrd="0" destOrd="0" parTransId="{DCD1AA9B-97B3-45E1-8B4C-01E93357B108}" sibTransId="{67C3A3CD-D34B-445B-AC9E-6FB2F83C1C5B}"/>
    <dgm:cxn modelId="{83DFEBDE-DEE9-4ED7-A9E6-D4411F58C1A5}" srcId="{3B475477-AC8D-4C66-96EA-632C7A91ED53}" destId="{DBE68A62-D8FE-4721-90CC-1D91A1A29E60}" srcOrd="3" destOrd="0" parTransId="{48DD0A8F-DB15-4C95-BF47-E598DA5AFE4F}" sibTransId="{1C8380A0-E5F6-4C9C-B512-620A59D9EC44}"/>
    <dgm:cxn modelId="{77C44FDF-94B6-4BDA-AC8F-647B7866D8D1}" srcId="{3B475477-AC8D-4C66-96EA-632C7A91ED53}" destId="{813A19B0-3CCD-4B1D-B076-D2FC25D302AC}" srcOrd="1" destOrd="0" parTransId="{B969D3F0-03A1-4C5A-8F96-201686080CD6}" sibTransId="{7ACD9D4C-3CD3-415F-AD26-47C4B004DC64}"/>
    <dgm:cxn modelId="{DC792BF5-1859-4D33-9354-2105DA111516}" srcId="{3B475477-AC8D-4C66-96EA-632C7A91ED53}" destId="{2367D440-0E88-4D46-9832-22A4BD0BEE76}" srcOrd="2" destOrd="0" parTransId="{1D867C12-9EEC-4662-8010-AD8BF0B11043}" sibTransId="{CBDB38C6-D8A0-4735-8683-E7DBF99200E3}"/>
    <dgm:cxn modelId="{1E0903CF-6F31-4A79-80E1-884D6E73C1EE}" type="presParOf" srcId="{3C10293D-4D1E-4518-B1E8-A5CC031ABB33}" destId="{5A3552A8-9E52-41AD-B0A3-B2D83748D8F6}" srcOrd="0" destOrd="0" presId="urn:microsoft.com/office/officeart/2005/8/layout/vList2"/>
    <dgm:cxn modelId="{9BD8BB3B-F5B3-44F6-9EE3-9BC110FAF38D}" type="presParOf" srcId="{3C10293D-4D1E-4518-B1E8-A5CC031ABB33}" destId="{90F3AA38-3590-42A2-A075-719783820430}" srcOrd="1" destOrd="0" presId="urn:microsoft.com/office/officeart/2005/8/layout/vList2"/>
    <dgm:cxn modelId="{EB0E2E9C-46C7-4A65-B4AD-3A163655A44A}" type="presParOf" srcId="{3C10293D-4D1E-4518-B1E8-A5CC031ABB33}" destId="{9E1657C0-1035-42EC-B7E4-7B16927BCDC3}" srcOrd="2" destOrd="0" presId="urn:microsoft.com/office/officeart/2005/8/layout/vList2"/>
    <dgm:cxn modelId="{04D99990-1BF1-4FF1-B38B-BB520DBD0CE8}" type="presParOf" srcId="{3C10293D-4D1E-4518-B1E8-A5CC031ABB33}" destId="{5EC0FE12-AA2E-420E-A4C6-9D8AD281F9CF}" srcOrd="3" destOrd="0" presId="urn:microsoft.com/office/officeart/2005/8/layout/vList2"/>
    <dgm:cxn modelId="{00F7AE7B-C096-495C-964C-003C0AD181CD}" type="presParOf" srcId="{3C10293D-4D1E-4518-B1E8-A5CC031ABB33}" destId="{41053A2C-008E-47A9-91D6-9A6D29D2CB68}" srcOrd="4" destOrd="0" presId="urn:microsoft.com/office/officeart/2005/8/layout/vList2"/>
    <dgm:cxn modelId="{5A1FB7D4-B241-4092-927D-8EF6A1FA552A}" type="presParOf" srcId="{3C10293D-4D1E-4518-B1E8-A5CC031ABB33}" destId="{9843BE20-CDCC-411B-BE31-1ED23F13A1F7}" srcOrd="5" destOrd="0" presId="urn:microsoft.com/office/officeart/2005/8/layout/vList2"/>
    <dgm:cxn modelId="{7E51E070-8207-4C37-AE9E-112D06EF7865}" type="presParOf" srcId="{3C10293D-4D1E-4518-B1E8-A5CC031ABB33}" destId="{428407D8-2A2F-4D0D-B47D-4B92B7B6BA94}" srcOrd="6" destOrd="0" presId="urn:microsoft.com/office/officeart/2005/8/layout/vList2"/>
    <dgm:cxn modelId="{4864C705-8A54-4B7B-A692-1EC9D38B58CB}" type="presParOf" srcId="{3C10293D-4D1E-4518-B1E8-A5CC031ABB33}" destId="{658FFB0E-83C8-4D2E-8417-32D003E0E749}" srcOrd="7" destOrd="0" presId="urn:microsoft.com/office/officeart/2005/8/layout/vList2"/>
    <dgm:cxn modelId="{C7931636-0F40-4475-8BF6-3738783184BA}" type="presParOf" srcId="{3C10293D-4D1E-4518-B1E8-A5CC031ABB33}" destId="{C9908362-97B9-4E94-B570-09398DFA173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3B889E-991F-4ED4-BBDD-E3A850CB5DB3}"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63313DF1-7DB5-4C9E-9CC8-C82EBEA578D9}">
      <dgm:prSet custT="1"/>
      <dgm:spPr/>
      <dgm:t>
        <a:bodyPr/>
        <a:lstStyle/>
        <a:p>
          <a:r>
            <a:rPr lang="en-US" sz="1400" b="1" dirty="0"/>
            <a:t>Regulates International Trade Rules</a:t>
          </a:r>
          <a:br>
            <a:rPr lang="en-US" sz="1400" dirty="0"/>
          </a:br>
          <a:r>
            <a:rPr lang="en-US" sz="1400" dirty="0"/>
            <a:t>The WTO establishes and monitors rules that govern international trade among member countries. These rules help ensure fair competition and transparency in global markets.</a:t>
          </a:r>
          <a:br>
            <a:rPr lang="en-US" sz="1400" dirty="0"/>
          </a:br>
          <a:r>
            <a:rPr lang="en-US" sz="1400" b="1" dirty="0"/>
            <a:t>Example:</a:t>
          </a:r>
          <a:r>
            <a:rPr lang="en-US" sz="1400" dirty="0"/>
            <a:t> </a:t>
          </a:r>
          <a:r>
            <a:rPr lang="en-US" sz="1200" dirty="0">
              <a:solidFill>
                <a:srgbClr val="FF0000"/>
              </a:solidFill>
            </a:rPr>
            <a:t>WTO</a:t>
          </a:r>
          <a:r>
            <a:rPr lang="en-US" sz="1400" dirty="0">
              <a:solidFill>
                <a:srgbClr val="FF0000"/>
              </a:solidFill>
            </a:rPr>
            <a:t> agreements regulate tariffs, subsidies, and trade policies between countries.</a:t>
          </a:r>
        </a:p>
      </dgm:t>
    </dgm:pt>
    <dgm:pt modelId="{9DFC6DD3-4081-4189-A936-145EE31534D0}" type="parTrans" cxnId="{B15C9565-8BDE-41AF-AF0D-64FBCD551352}">
      <dgm:prSet/>
      <dgm:spPr/>
      <dgm:t>
        <a:bodyPr/>
        <a:lstStyle/>
        <a:p>
          <a:endParaRPr lang="en-US"/>
        </a:p>
      </dgm:t>
    </dgm:pt>
    <dgm:pt modelId="{177507DC-A38D-4E66-B921-934DF3826476}" type="sibTrans" cxnId="{B15C9565-8BDE-41AF-AF0D-64FBCD551352}">
      <dgm:prSet/>
      <dgm:spPr/>
      <dgm:t>
        <a:bodyPr/>
        <a:lstStyle/>
        <a:p>
          <a:endParaRPr lang="en-US"/>
        </a:p>
      </dgm:t>
    </dgm:pt>
    <dgm:pt modelId="{074F3BFE-7FE9-47DA-AA68-A2EE2AC1F77F}">
      <dgm:prSet/>
      <dgm:spPr/>
      <dgm:t>
        <a:bodyPr/>
        <a:lstStyle/>
        <a:p>
          <a:r>
            <a:rPr lang="en-US" b="1" dirty="0"/>
            <a:t>Settles Trade Disputes</a:t>
          </a:r>
          <a:br>
            <a:rPr lang="en-US" dirty="0"/>
          </a:br>
          <a:r>
            <a:rPr lang="en-US" dirty="0"/>
            <a:t>The WTO provides a dispute settlement system where countries can resolve conflicts related to trade policies or trade barriers in a peaceful and structured manner.</a:t>
          </a:r>
          <a:br>
            <a:rPr lang="en-US" dirty="0"/>
          </a:br>
          <a:r>
            <a:rPr lang="en-US" b="1" dirty="0"/>
            <a:t>Example:</a:t>
          </a:r>
          <a:r>
            <a:rPr lang="en-US" dirty="0"/>
            <a:t> </a:t>
          </a:r>
          <a:r>
            <a:rPr lang="en-US" dirty="0">
              <a:solidFill>
                <a:srgbClr val="FF0000"/>
              </a:solidFill>
            </a:rPr>
            <a:t>If one country accuses another of unfair trade practices, the WTO helps resolve the dispute.</a:t>
          </a:r>
        </a:p>
      </dgm:t>
    </dgm:pt>
    <dgm:pt modelId="{9F030236-6844-4D0A-A6BF-93BF1277F787}" type="parTrans" cxnId="{33857E24-246B-493D-887A-F2FD842BBDD9}">
      <dgm:prSet/>
      <dgm:spPr/>
      <dgm:t>
        <a:bodyPr/>
        <a:lstStyle/>
        <a:p>
          <a:endParaRPr lang="en-US"/>
        </a:p>
      </dgm:t>
    </dgm:pt>
    <dgm:pt modelId="{BB5044B0-FE01-4C9D-8A3B-D0E5FD1AA6AD}" type="sibTrans" cxnId="{33857E24-246B-493D-887A-F2FD842BBDD9}">
      <dgm:prSet/>
      <dgm:spPr/>
      <dgm:t>
        <a:bodyPr/>
        <a:lstStyle/>
        <a:p>
          <a:endParaRPr lang="en-US"/>
        </a:p>
      </dgm:t>
    </dgm:pt>
    <dgm:pt modelId="{A5CF52F6-1A1B-4DAA-8B60-6DEED21FC731}">
      <dgm:prSet custT="1"/>
      <dgm:spPr/>
      <dgm:t>
        <a:bodyPr/>
        <a:lstStyle/>
        <a:p>
          <a:r>
            <a:rPr lang="en-US" sz="1400" b="1" dirty="0"/>
            <a:t>Promotes Free and Fair Trade</a:t>
          </a:r>
          <a:br>
            <a:rPr lang="en-US" sz="1400" dirty="0"/>
          </a:br>
          <a:r>
            <a:rPr lang="en-US" sz="1400" dirty="0"/>
            <a:t>The organization works to reduce trade barriers such as tariffs, quotas, and restrictions to encourage smoother trade between countries.</a:t>
          </a:r>
          <a:br>
            <a:rPr lang="en-US" sz="1400" dirty="0"/>
          </a:br>
          <a:r>
            <a:rPr lang="en-US" sz="1400" b="1" dirty="0"/>
            <a:t>Example:</a:t>
          </a:r>
          <a:r>
            <a:rPr lang="en-US" sz="1400" dirty="0"/>
            <a:t> </a:t>
          </a:r>
          <a:r>
            <a:rPr lang="en-US" sz="1200" dirty="0">
              <a:solidFill>
                <a:srgbClr val="FF0000"/>
              </a:solidFill>
            </a:rPr>
            <a:t>WTO</a:t>
          </a:r>
          <a:r>
            <a:rPr lang="en-US" sz="1400" dirty="0">
              <a:solidFill>
                <a:srgbClr val="FF0000"/>
              </a:solidFill>
            </a:rPr>
            <a:t> negotiations often focus on reducing import duties between member countries.</a:t>
          </a:r>
        </a:p>
      </dgm:t>
    </dgm:pt>
    <dgm:pt modelId="{3817BDC6-7F25-49F3-AA9E-45A2B988D44C}" type="parTrans" cxnId="{3291045D-F38E-4017-8A4D-6DF934B40F68}">
      <dgm:prSet/>
      <dgm:spPr/>
      <dgm:t>
        <a:bodyPr/>
        <a:lstStyle/>
        <a:p>
          <a:endParaRPr lang="en-US"/>
        </a:p>
      </dgm:t>
    </dgm:pt>
    <dgm:pt modelId="{F3C8B224-9FDF-479D-90B9-4680765D268A}" type="sibTrans" cxnId="{3291045D-F38E-4017-8A4D-6DF934B40F68}">
      <dgm:prSet/>
      <dgm:spPr/>
      <dgm:t>
        <a:bodyPr/>
        <a:lstStyle/>
        <a:p>
          <a:endParaRPr lang="en-US"/>
        </a:p>
      </dgm:t>
    </dgm:pt>
    <dgm:pt modelId="{CC3B31B2-2E9F-401B-A5BE-A84BBA63F225}">
      <dgm:prSet/>
      <dgm:spPr/>
      <dgm:t>
        <a:bodyPr/>
        <a:lstStyle/>
        <a:p>
          <a:r>
            <a:rPr lang="en-US" b="1" dirty="0"/>
            <a:t>Monitors Trade Policies of Member Countries</a:t>
          </a:r>
          <a:br>
            <a:rPr lang="en-US" dirty="0"/>
          </a:br>
          <a:r>
            <a:rPr lang="en-US" dirty="0"/>
            <a:t>The WTO regularly reviews and monitors the trade policies of its member countries to ensure transparency and compliance with international trade rules.</a:t>
          </a:r>
        </a:p>
      </dgm:t>
    </dgm:pt>
    <dgm:pt modelId="{141B5E50-6AE0-4E7E-ACCA-C482C3DC538F}" type="parTrans" cxnId="{75098DD4-29C1-481D-A04F-928010BC4154}">
      <dgm:prSet/>
      <dgm:spPr/>
      <dgm:t>
        <a:bodyPr/>
        <a:lstStyle/>
        <a:p>
          <a:endParaRPr lang="en-US"/>
        </a:p>
      </dgm:t>
    </dgm:pt>
    <dgm:pt modelId="{76471E91-88DB-4D9A-A1DA-9BFD547F1A05}" type="sibTrans" cxnId="{75098DD4-29C1-481D-A04F-928010BC4154}">
      <dgm:prSet/>
      <dgm:spPr/>
      <dgm:t>
        <a:bodyPr/>
        <a:lstStyle/>
        <a:p>
          <a:endParaRPr lang="en-US"/>
        </a:p>
      </dgm:t>
    </dgm:pt>
    <dgm:pt modelId="{CF58F2A9-1D24-4569-8DD7-A6FBBD08C6F7}">
      <dgm:prSet/>
      <dgm:spPr/>
      <dgm:t>
        <a:bodyPr/>
        <a:lstStyle/>
        <a:p>
          <a:r>
            <a:rPr lang="en-US" b="1"/>
            <a:t>Provides a Platform for Trade Negotiations</a:t>
          </a:r>
          <a:br>
            <a:rPr lang="en-US"/>
          </a:br>
          <a:r>
            <a:rPr lang="en-US"/>
            <a:t>WTO organizes meetings and negotiations where countries discuss trade agreements and policies to improve global trade cooperation.</a:t>
          </a:r>
        </a:p>
      </dgm:t>
    </dgm:pt>
    <dgm:pt modelId="{73412AE7-F1DE-4382-88B5-48A5095E16C4}" type="parTrans" cxnId="{B8B954DF-A66F-466C-BADE-B2D7A2BC9635}">
      <dgm:prSet/>
      <dgm:spPr/>
      <dgm:t>
        <a:bodyPr/>
        <a:lstStyle/>
        <a:p>
          <a:endParaRPr lang="en-US"/>
        </a:p>
      </dgm:t>
    </dgm:pt>
    <dgm:pt modelId="{212AAEC6-943C-42D7-9C7B-F9F767E03CE9}" type="sibTrans" cxnId="{B8B954DF-A66F-466C-BADE-B2D7A2BC9635}">
      <dgm:prSet/>
      <dgm:spPr/>
      <dgm:t>
        <a:bodyPr/>
        <a:lstStyle/>
        <a:p>
          <a:endParaRPr lang="en-US"/>
        </a:p>
      </dgm:t>
    </dgm:pt>
    <dgm:pt modelId="{9EEBEA73-40B5-495C-840D-CA45CADA5323}">
      <dgm:prSet/>
      <dgm:spPr/>
      <dgm:t>
        <a:bodyPr/>
        <a:lstStyle/>
        <a:p>
          <a:r>
            <a:rPr lang="en-US" b="1"/>
            <a:t>Supports Economic Development</a:t>
          </a:r>
          <a:br>
            <a:rPr lang="en-US"/>
          </a:br>
          <a:r>
            <a:rPr lang="en-US"/>
            <a:t>The WTO helps developing countries participate more effectively in global trade by providing technical assistance and training programs.</a:t>
          </a:r>
        </a:p>
      </dgm:t>
    </dgm:pt>
    <dgm:pt modelId="{83202C3F-FDB6-4B7E-B41A-A55B06610387}" type="parTrans" cxnId="{D4422E30-1687-4720-A1A8-28652BDC087C}">
      <dgm:prSet/>
      <dgm:spPr/>
      <dgm:t>
        <a:bodyPr/>
        <a:lstStyle/>
        <a:p>
          <a:endParaRPr lang="en-US"/>
        </a:p>
      </dgm:t>
    </dgm:pt>
    <dgm:pt modelId="{4EA6A5D1-012A-4974-9027-70A5273B8F3B}" type="sibTrans" cxnId="{D4422E30-1687-4720-A1A8-28652BDC087C}">
      <dgm:prSet/>
      <dgm:spPr/>
      <dgm:t>
        <a:bodyPr/>
        <a:lstStyle/>
        <a:p>
          <a:endParaRPr lang="en-US"/>
        </a:p>
      </dgm:t>
    </dgm:pt>
    <dgm:pt modelId="{D4417C6D-F706-46BE-96A3-03CCF1F20A5D}" type="pres">
      <dgm:prSet presAssocID="{673B889E-991F-4ED4-BBDD-E3A850CB5DB3}" presName="vert0" presStyleCnt="0">
        <dgm:presLayoutVars>
          <dgm:dir/>
          <dgm:animOne val="branch"/>
          <dgm:animLvl val="lvl"/>
        </dgm:presLayoutVars>
      </dgm:prSet>
      <dgm:spPr/>
    </dgm:pt>
    <dgm:pt modelId="{90F704CD-84B2-4878-840C-0E1D1EED9114}" type="pres">
      <dgm:prSet presAssocID="{63313DF1-7DB5-4C9E-9CC8-C82EBEA578D9}" presName="thickLine" presStyleLbl="alignNode1" presStyleIdx="0" presStyleCnt="6"/>
      <dgm:spPr/>
    </dgm:pt>
    <dgm:pt modelId="{824B5B8C-6FB5-4B73-AEA7-57BA3BF843C9}" type="pres">
      <dgm:prSet presAssocID="{63313DF1-7DB5-4C9E-9CC8-C82EBEA578D9}" presName="horz1" presStyleCnt="0"/>
      <dgm:spPr/>
    </dgm:pt>
    <dgm:pt modelId="{253B29DE-D49F-4D87-9DBB-513DE624AA52}" type="pres">
      <dgm:prSet presAssocID="{63313DF1-7DB5-4C9E-9CC8-C82EBEA578D9}" presName="tx1" presStyleLbl="revTx" presStyleIdx="0" presStyleCnt="6"/>
      <dgm:spPr/>
    </dgm:pt>
    <dgm:pt modelId="{5294BB64-C710-4733-9329-F82FD297713D}" type="pres">
      <dgm:prSet presAssocID="{63313DF1-7DB5-4C9E-9CC8-C82EBEA578D9}" presName="vert1" presStyleCnt="0"/>
      <dgm:spPr/>
    </dgm:pt>
    <dgm:pt modelId="{0A68AA39-DD84-4448-81E8-E52B4200EF0D}" type="pres">
      <dgm:prSet presAssocID="{074F3BFE-7FE9-47DA-AA68-A2EE2AC1F77F}" presName="thickLine" presStyleLbl="alignNode1" presStyleIdx="1" presStyleCnt="6"/>
      <dgm:spPr/>
    </dgm:pt>
    <dgm:pt modelId="{4A41499D-D1E6-44FB-9277-BBC32932B195}" type="pres">
      <dgm:prSet presAssocID="{074F3BFE-7FE9-47DA-AA68-A2EE2AC1F77F}" presName="horz1" presStyleCnt="0"/>
      <dgm:spPr/>
    </dgm:pt>
    <dgm:pt modelId="{0A19D58B-6CE1-4B50-8C48-09AF01BBD6E7}" type="pres">
      <dgm:prSet presAssocID="{074F3BFE-7FE9-47DA-AA68-A2EE2AC1F77F}" presName="tx1" presStyleLbl="revTx" presStyleIdx="1" presStyleCnt="6"/>
      <dgm:spPr/>
    </dgm:pt>
    <dgm:pt modelId="{F57E4E7B-DC8B-41DB-8988-50D755E379AA}" type="pres">
      <dgm:prSet presAssocID="{074F3BFE-7FE9-47DA-AA68-A2EE2AC1F77F}" presName="vert1" presStyleCnt="0"/>
      <dgm:spPr/>
    </dgm:pt>
    <dgm:pt modelId="{999C43C1-9314-41C4-80B9-171DD6982201}" type="pres">
      <dgm:prSet presAssocID="{A5CF52F6-1A1B-4DAA-8B60-6DEED21FC731}" presName="thickLine" presStyleLbl="alignNode1" presStyleIdx="2" presStyleCnt="6"/>
      <dgm:spPr/>
    </dgm:pt>
    <dgm:pt modelId="{4C9DF84E-B6C5-40C8-B46D-25109D28C71A}" type="pres">
      <dgm:prSet presAssocID="{A5CF52F6-1A1B-4DAA-8B60-6DEED21FC731}" presName="horz1" presStyleCnt="0"/>
      <dgm:spPr/>
    </dgm:pt>
    <dgm:pt modelId="{4AEDB725-BD1D-4038-8790-D30DF0E23D09}" type="pres">
      <dgm:prSet presAssocID="{A5CF52F6-1A1B-4DAA-8B60-6DEED21FC731}" presName="tx1" presStyleLbl="revTx" presStyleIdx="2" presStyleCnt="6"/>
      <dgm:spPr/>
    </dgm:pt>
    <dgm:pt modelId="{EFBCD8C1-E590-42F8-8E3E-129168D34027}" type="pres">
      <dgm:prSet presAssocID="{A5CF52F6-1A1B-4DAA-8B60-6DEED21FC731}" presName="vert1" presStyleCnt="0"/>
      <dgm:spPr/>
    </dgm:pt>
    <dgm:pt modelId="{CB99E7D9-287F-47E4-817C-1C425644ABCB}" type="pres">
      <dgm:prSet presAssocID="{CC3B31B2-2E9F-401B-A5BE-A84BBA63F225}" presName="thickLine" presStyleLbl="alignNode1" presStyleIdx="3" presStyleCnt="6"/>
      <dgm:spPr/>
    </dgm:pt>
    <dgm:pt modelId="{B260A7DD-F90A-4D29-AEBC-9949E548E820}" type="pres">
      <dgm:prSet presAssocID="{CC3B31B2-2E9F-401B-A5BE-A84BBA63F225}" presName="horz1" presStyleCnt="0"/>
      <dgm:spPr/>
    </dgm:pt>
    <dgm:pt modelId="{562CF745-A19C-4FA5-BEF1-E7CA78DF339A}" type="pres">
      <dgm:prSet presAssocID="{CC3B31B2-2E9F-401B-A5BE-A84BBA63F225}" presName="tx1" presStyleLbl="revTx" presStyleIdx="3" presStyleCnt="6"/>
      <dgm:spPr/>
    </dgm:pt>
    <dgm:pt modelId="{E48A8373-9A86-4208-AD04-B64A1699D362}" type="pres">
      <dgm:prSet presAssocID="{CC3B31B2-2E9F-401B-A5BE-A84BBA63F225}" presName="vert1" presStyleCnt="0"/>
      <dgm:spPr/>
    </dgm:pt>
    <dgm:pt modelId="{9E244E07-30C6-4048-A951-639D8142A427}" type="pres">
      <dgm:prSet presAssocID="{CF58F2A9-1D24-4569-8DD7-A6FBBD08C6F7}" presName="thickLine" presStyleLbl="alignNode1" presStyleIdx="4" presStyleCnt="6"/>
      <dgm:spPr/>
    </dgm:pt>
    <dgm:pt modelId="{3CA5A347-02C6-4258-8715-AC749A4F8475}" type="pres">
      <dgm:prSet presAssocID="{CF58F2A9-1D24-4569-8DD7-A6FBBD08C6F7}" presName="horz1" presStyleCnt="0"/>
      <dgm:spPr/>
    </dgm:pt>
    <dgm:pt modelId="{92CE64B0-FAF5-48B1-B3CD-ECFE4798008D}" type="pres">
      <dgm:prSet presAssocID="{CF58F2A9-1D24-4569-8DD7-A6FBBD08C6F7}" presName="tx1" presStyleLbl="revTx" presStyleIdx="4" presStyleCnt="6"/>
      <dgm:spPr/>
    </dgm:pt>
    <dgm:pt modelId="{DF7D87AA-845C-406E-9F54-ED9023CA36F3}" type="pres">
      <dgm:prSet presAssocID="{CF58F2A9-1D24-4569-8DD7-A6FBBD08C6F7}" presName="vert1" presStyleCnt="0"/>
      <dgm:spPr/>
    </dgm:pt>
    <dgm:pt modelId="{499C0C7B-50F4-4E33-AC08-9D3135AAAD98}" type="pres">
      <dgm:prSet presAssocID="{9EEBEA73-40B5-495C-840D-CA45CADA5323}" presName="thickLine" presStyleLbl="alignNode1" presStyleIdx="5" presStyleCnt="6"/>
      <dgm:spPr/>
    </dgm:pt>
    <dgm:pt modelId="{206FEBD7-AA04-4A13-A007-550515D2020A}" type="pres">
      <dgm:prSet presAssocID="{9EEBEA73-40B5-495C-840D-CA45CADA5323}" presName="horz1" presStyleCnt="0"/>
      <dgm:spPr/>
    </dgm:pt>
    <dgm:pt modelId="{8B09EE00-B0C0-481E-908D-60BCE2AB12EF}" type="pres">
      <dgm:prSet presAssocID="{9EEBEA73-40B5-495C-840D-CA45CADA5323}" presName="tx1" presStyleLbl="revTx" presStyleIdx="5" presStyleCnt="6"/>
      <dgm:spPr/>
    </dgm:pt>
    <dgm:pt modelId="{D567EC15-AB8C-404E-9AA1-B5775CC21526}" type="pres">
      <dgm:prSet presAssocID="{9EEBEA73-40B5-495C-840D-CA45CADA5323}" presName="vert1" presStyleCnt="0"/>
      <dgm:spPr/>
    </dgm:pt>
  </dgm:ptLst>
  <dgm:cxnLst>
    <dgm:cxn modelId="{32A59A04-8348-47FD-B35F-3D1B1B0F17AA}" type="presOf" srcId="{63313DF1-7DB5-4C9E-9CC8-C82EBEA578D9}" destId="{253B29DE-D49F-4D87-9DBB-513DE624AA52}" srcOrd="0" destOrd="0" presId="urn:microsoft.com/office/officeart/2008/layout/LinedList"/>
    <dgm:cxn modelId="{3109500A-9C7F-4D94-A706-6074956FBE8D}" type="presOf" srcId="{CF58F2A9-1D24-4569-8DD7-A6FBBD08C6F7}" destId="{92CE64B0-FAF5-48B1-B3CD-ECFE4798008D}" srcOrd="0" destOrd="0" presId="urn:microsoft.com/office/officeart/2008/layout/LinedList"/>
    <dgm:cxn modelId="{33857E24-246B-493D-887A-F2FD842BBDD9}" srcId="{673B889E-991F-4ED4-BBDD-E3A850CB5DB3}" destId="{074F3BFE-7FE9-47DA-AA68-A2EE2AC1F77F}" srcOrd="1" destOrd="0" parTransId="{9F030236-6844-4D0A-A6BF-93BF1277F787}" sibTransId="{BB5044B0-FE01-4C9D-8A3B-D0E5FD1AA6AD}"/>
    <dgm:cxn modelId="{D4422E30-1687-4720-A1A8-28652BDC087C}" srcId="{673B889E-991F-4ED4-BBDD-E3A850CB5DB3}" destId="{9EEBEA73-40B5-495C-840D-CA45CADA5323}" srcOrd="5" destOrd="0" parTransId="{83202C3F-FDB6-4B7E-B41A-A55B06610387}" sibTransId="{4EA6A5D1-012A-4974-9027-70A5273B8F3B}"/>
    <dgm:cxn modelId="{774CB83C-CD58-4AA6-8798-C328FB62C6F5}" type="presOf" srcId="{074F3BFE-7FE9-47DA-AA68-A2EE2AC1F77F}" destId="{0A19D58B-6CE1-4B50-8C48-09AF01BBD6E7}" srcOrd="0" destOrd="0" presId="urn:microsoft.com/office/officeart/2008/layout/LinedList"/>
    <dgm:cxn modelId="{3291045D-F38E-4017-8A4D-6DF934B40F68}" srcId="{673B889E-991F-4ED4-BBDD-E3A850CB5DB3}" destId="{A5CF52F6-1A1B-4DAA-8B60-6DEED21FC731}" srcOrd="2" destOrd="0" parTransId="{3817BDC6-7F25-49F3-AA9E-45A2B988D44C}" sibTransId="{F3C8B224-9FDF-479D-90B9-4680765D268A}"/>
    <dgm:cxn modelId="{B15C9565-8BDE-41AF-AF0D-64FBCD551352}" srcId="{673B889E-991F-4ED4-BBDD-E3A850CB5DB3}" destId="{63313DF1-7DB5-4C9E-9CC8-C82EBEA578D9}" srcOrd="0" destOrd="0" parTransId="{9DFC6DD3-4081-4189-A936-145EE31534D0}" sibTransId="{177507DC-A38D-4E66-B921-934DF3826476}"/>
    <dgm:cxn modelId="{31F20B7B-9889-41F4-B133-5969F1B6714F}" type="presOf" srcId="{9EEBEA73-40B5-495C-840D-CA45CADA5323}" destId="{8B09EE00-B0C0-481E-908D-60BCE2AB12EF}" srcOrd="0" destOrd="0" presId="urn:microsoft.com/office/officeart/2008/layout/LinedList"/>
    <dgm:cxn modelId="{CD109894-A649-435E-BB67-ABB1C064A00D}" type="presOf" srcId="{CC3B31B2-2E9F-401B-A5BE-A84BBA63F225}" destId="{562CF745-A19C-4FA5-BEF1-E7CA78DF339A}" srcOrd="0" destOrd="0" presId="urn:microsoft.com/office/officeart/2008/layout/LinedList"/>
    <dgm:cxn modelId="{237D64A4-17F7-4A25-AB70-B4A8AA48D574}" type="presOf" srcId="{673B889E-991F-4ED4-BBDD-E3A850CB5DB3}" destId="{D4417C6D-F706-46BE-96A3-03CCF1F20A5D}" srcOrd="0" destOrd="0" presId="urn:microsoft.com/office/officeart/2008/layout/LinedList"/>
    <dgm:cxn modelId="{6340E6C4-0D2C-4FA6-B365-939A0B870B9E}" type="presOf" srcId="{A5CF52F6-1A1B-4DAA-8B60-6DEED21FC731}" destId="{4AEDB725-BD1D-4038-8790-D30DF0E23D09}" srcOrd="0" destOrd="0" presId="urn:microsoft.com/office/officeart/2008/layout/LinedList"/>
    <dgm:cxn modelId="{75098DD4-29C1-481D-A04F-928010BC4154}" srcId="{673B889E-991F-4ED4-BBDD-E3A850CB5DB3}" destId="{CC3B31B2-2E9F-401B-A5BE-A84BBA63F225}" srcOrd="3" destOrd="0" parTransId="{141B5E50-6AE0-4E7E-ACCA-C482C3DC538F}" sibTransId="{76471E91-88DB-4D9A-A1DA-9BFD547F1A05}"/>
    <dgm:cxn modelId="{B8B954DF-A66F-466C-BADE-B2D7A2BC9635}" srcId="{673B889E-991F-4ED4-BBDD-E3A850CB5DB3}" destId="{CF58F2A9-1D24-4569-8DD7-A6FBBD08C6F7}" srcOrd="4" destOrd="0" parTransId="{73412AE7-F1DE-4382-88B5-48A5095E16C4}" sibTransId="{212AAEC6-943C-42D7-9C7B-F9F767E03CE9}"/>
    <dgm:cxn modelId="{3713801D-6E80-4FF1-B150-2BFB71FC3DC8}" type="presParOf" srcId="{D4417C6D-F706-46BE-96A3-03CCF1F20A5D}" destId="{90F704CD-84B2-4878-840C-0E1D1EED9114}" srcOrd="0" destOrd="0" presId="urn:microsoft.com/office/officeart/2008/layout/LinedList"/>
    <dgm:cxn modelId="{475A1261-C387-41F6-9E8D-C059CCC0954F}" type="presParOf" srcId="{D4417C6D-F706-46BE-96A3-03CCF1F20A5D}" destId="{824B5B8C-6FB5-4B73-AEA7-57BA3BF843C9}" srcOrd="1" destOrd="0" presId="urn:microsoft.com/office/officeart/2008/layout/LinedList"/>
    <dgm:cxn modelId="{2E2A109F-5F14-448C-8617-F3F477B6CE99}" type="presParOf" srcId="{824B5B8C-6FB5-4B73-AEA7-57BA3BF843C9}" destId="{253B29DE-D49F-4D87-9DBB-513DE624AA52}" srcOrd="0" destOrd="0" presId="urn:microsoft.com/office/officeart/2008/layout/LinedList"/>
    <dgm:cxn modelId="{2477F224-8595-45B9-92D2-4879A252C499}" type="presParOf" srcId="{824B5B8C-6FB5-4B73-AEA7-57BA3BF843C9}" destId="{5294BB64-C710-4733-9329-F82FD297713D}" srcOrd="1" destOrd="0" presId="urn:microsoft.com/office/officeart/2008/layout/LinedList"/>
    <dgm:cxn modelId="{26E49D5E-C77F-467D-89A0-9B6F62C57BFF}" type="presParOf" srcId="{D4417C6D-F706-46BE-96A3-03CCF1F20A5D}" destId="{0A68AA39-DD84-4448-81E8-E52B4200EF0D}" srcOrd="2" destOrd="0" presId="urn:microsoft.com/office/officeart/2008/layout/LinedList"/>
    <dgm:cxn modelId="{2F9BCAEA-AF8F-4509-99BA-E6C3C62AE47C}" type="presParOf" srcId="{D4417C6D-F706-46BE-96A3-03CCF1F20A5D}" destId="{4A41499D-D1E6-44FB-9277-BBC32932B195}" srcOrd="3" destOrd="0" presId="urn:microsoft.com/office/officeart/2008/layout/LinedList"/>
    <dgm:cxn modelId="{38E0199C-FC47-4698-ABA3-D603AACC949B}" type="presParOf" srcId="{4A41499D-D1E6-44FB-9277-BBC32932B195}" destId="{0A19D58B-6CE1-4B50-8C48-09AF01BBD6E7}" srcOrd="0" destOrd="0" presId="urn:microsoft.com/office/officeart/2008/layout/LinedList"/>
    <dgm:cxn modelId="{87A6F785-2666-49B7-8529-02004158222A}" type="presParOf" srcId="{4A41499D-D1E6-44FB-9277-BBC32932B195}" destId="{F57E4E7B-DC8B-41DB-8988-50D755E379AA}" srcOrd="1" destOrd="0" presId="urn:microsoft.com/office/officeart/2008/layout/LinedList"/>
    <dgm:cxn modelId="{F45D5221-F26D-4D9C-BDD8-F93EEBF214AF}" type="presParOf" srcId="{D4417C6D-F706-46BE-96A3-03CCF1F20A5D}" destId="{999C43C1-9314-41C4-80B9-171DD6982201}" srcOrd="4" destOrd="0" presId="urn:microsoft.com/office/officeart/2008/layout/LinedList"/>
    <dgm:cxn modelId="{776F638E-E2A2-49B4-9641-FEF0A5EC8138}" type="presParOf" srcId="{D4417C6D-F706-46BE-96A3-03CCF1F20A5D}" destId="{4C9DF84E-B6C5-40C8-B46D-25109D28C71A}" srcOrd="5" destOrd="0" presId="urn:microsoft.com/office/officeart/2008/layout/LinedList"/>
    <dgm:cxn modelId="{49A7340B-3BF0-433B-BD8E-DA1C16FBB041}" type="presParOf" srcId="{4C9DF84E-B6C5-40C8-B46D-25109D28C71A}" destId="{4AEDB725-BD1D-4038-8790-D30DF0E23D09}" srcOrd="0" destOrd="0" presId="urn:microsoft.com/office/officeart/2008/layout/LinedList"/>
    <dgm:cxn modelId="{66AD667C-DB6B-4366-8597-AFCCCAE44F55}" type="presParOf" srcId="{4C9DF84E-B6C5-40C8-B46D-25109D28C71A}" destId="{EFBCD8C1-E590-42F8-8E3E-129168D34027}" srcOrd="1" destOrd="0" presId="urn:microsoft.com/office/officeart/2008/layout/LinedList"/>
    <dgm:cxn modelId="{81DF5AF9-036A-4CB8-89FD-F34B631484B3}" type="presParOf" srcId="{D4417C6D-F706-46BE-96A3-03CCF1F20A5D}" destId="{CB99E7D9-287F-47E4-817C-1C425644ABCB}" srcOrd="6" destOrd="0" presId="urn:microsoft.com/office/officeart/2008/layout/LinedList"/>
    <dgm:cxn modelId="{10375E7E-928D-4EDF-9CC4-5AB64F6956E7}" type="presParOf" srcId="{D4417C6D-F706-46BE-96A3-03CCF1F20A5D}" destId="{B260A7DD-F90A-4D29-AEBC-9949E548E820}" srcOrd="7" destOrd="0" presId="urn:microsoft.com/office/officeart/2008/layout/LinedList"/>
    <dgm:cxn modelId="{9FD12396-A309-4CC0-BC39-336F82B16830}" type="presParOf" srcId="{B260A7DD-F90A-4D29-AEBC-9949E548E820}" destId="{562CF745-A19C-4FA5-BEF1-E7CA78DF339A}" srcOrd="0" destOrd="0" presId="urn:microsoft.com/office/officeart/2008/layout/LinedList"/>
    <dgm:cxn modelId="{77ADC3A4-6A06-461D-A30B-06354CCC84A5}" type="presParOf" srcId="{B260A7DD-F90A-4D29-AEBC-9949E548E820}" destId="{E48A8373-9A86-4208-AD04-B64A1699D362}" srcOrd="1" destOrd="0" presId="urn:microsoft.com/office/officeart/2008/layout/LinedList"/>
    <dgm:cxn modelId="{446387BE-C275-4CCE-9F1C-093AB47EB71E}" type="presParOf" srcId="{D4417C6D-F706-46BE-96A3-03CCF1F20A5D}" destId="{9E244E07-30C6-4048-A951-639D8142A427}" srcOrd="8" destOrd="0" presId="urn:microsoft.com/office/officeart/2008/layout/LinedList"/>
    <dgm:cxn modelId="{E3258AC7-CD50-43ED-B984-C8FA088CFE15}" type="presParOf" srcId="{D4417C6D-F706-46BE-96A3-03CCF1F20A5D}" destId="{3CA5A347-02C6-4258-8715-AC749A4F8475}" srcOrd="9" destOrd="0" presId="urn:microsoft.com/office/officeart/2008/layout/LinedList"/>
    <dgm:cxn modelId="{C88F00C5-37F4-4949-8B6E-6C56B761CD9F}" type="presParOf" srcId="{3CA5A347-02C6-4258-8715-AC749A4F8475}" destId="{92CE64B0-FAF5-48B1-B3CD-ECFE4798008D}" srcOrd="0" destOrd="0" presId="urn:microsoft.com/office/officeart/2008/layout/LinedList"/>
    <dgm:cxn modelId="{0B102E1D-7632-48E4-A35E-041B4BD53723}" type="presParOf" srcId="{3CA5A347-02C6-4258-8715-AC749A4F8475}" destId="{DF7D87AA-845C-406E-9F54-ED9023CA36F3}" srcOrd="1" destOrd="0" presId="urn:microsoft.com/office/officeart/2008/layout/LinedList"/>
    <dgm:cxn modelId="{299B661F-22A7-4F21-A6B5-131C4F8CB72A}" type="presParOf" srcId="{D4417C6D-F706-46BE-96A3-03CCF1F20A5D}" destId="{499C0C7B-50F4-4E33-AC08-9D3135AAAD98}" srcOrd="10" destOrd="0" presId="urn:microsoft.com/office/officeart/2008/layout/LinedList"/>
    <dgm:cxn modelId="{040E5906-1CFA-430A-A4C7-C895BD305C82}" type="presParOf" srcId="{D4417C6D-F706-46BE-96A3-03CCF1F20A5D}" destId="{206FEBD7-AA04-4A13-A007-550515D2020A}" srcOrd="11" destOrd="0" presId="urn:microsoft.com/office/officeart/2008/layout/LinedList"/>
    <dgm:cxn modelId="{542E1592-9361-4D36-A338-A5B1B8F7AC74}" type="presParOf" srcId="{206FEBD7-AA04-4A13-A007-550515D2020A}" destId="{8B09EE00-B0C0-481E-908D-60BCE2AB12EF}" srcOrd="0" destOrd="0" presId="urn:microsoft.com/office/officeart/2008/layout/LinedList"/>
    <dgm:cxn modelId="{E2F76B72-3360-406A-8800-243CC893A3DE}" type="presParOf" srcId="{206FEBD7-AA04-4A13-A007-550515D2020A}" destId="{D567EC15-AB8C-404E-9AA1-B5775CC2152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653755-7D31-42BF-9856-FFECAEC36DDF}">
      <dsp:nvSpPr>
        <dsp:cNvPr id="0" name=""/>
        <dsp:cNvSpPr/>
      </dsp:nvSpPr>
      <dsp:spPr>
        <a:xfrm>
          <a:off x="0" y="571"/>
          <a:ext cx="10179050" cy="0"/>
        </a:xfrm>
        <a:prstGeom prst="line">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24C6BE-7785-41FE-8413-14101D04B0F0}">
      <dsp:nvSpPr>
        <dsp:cNvPr id="0" name=""/>
        <dsp:cNvSpPr/>
      </dsp:nvSpPr>
      <dsp:spPr>
        <a:xfrm>
          <a:off x="0" y="571"/>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Topics Covered:</a:t>
          </a:r>
        </a:p>
      </dsp:txBody>
      <dsp:txXfrm>
        <a:off x="0" y="571"/>
        <a:ext cx="10179050" cy="467971"/>
      </dsp:txXfrm>
    </dsp:sp>
    <dsp:sp modelId="{A62E4E29-9BBA-41C6-A125-5A9CB1FADE02}">
      <dsp:nvSpPr>
        <dsp:cNvPr id="0" name=""/>
        <dsp:cNvSpPr/>
      </dsp:nvSpPr>
      <dsp:spPr>
        <a:xfrm>
          <a:off x="0" y="468542"/>
          <a:ext cx="10179050" cy="0"/>
        </a:xfrm>
        <a:prstGeom prst="line">
          <a:avLst/>
        </a:prstGeom>
        <a:solidFill>
          <a:schemeClr val="accent3">
            <a:hueOff val="0"/>
            <a:satOff val="0"/>
            <a:lumOff val="0"/>
            <a:alphaOff val="0"/>
          </a:schemeClr>
        </a:solidFill>
        <a:ln w="12700"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8677D-9B09-46F5-AF74-80AE4861C91C}">
      <dsp:nvSpPr>
        <dsp:cNvPr id="0" name=""/>
        <dsp:cNvSpPr/>
      </dsp:nvSpPr>
      <dsp:spPr>
        <a:xfrm>
          <a:off x="0" y="468542"/>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International Trade</a:t>
          </a:r>
        </a:p>
      </dsp:txBody>
      <dsp:txXfrm>
        <a:off x="0" y="468542"/>
        <a:ext cx="10179050" cy="467971"/>
      </dsp:txXfrm>
    </dsp:sp>
    <dsp:sp modelId="{27439D5D-EF93-475D-ACD2-1AF00F5D914B}">
      <dsp:nvSpPr>
        <dsp:cNvPr id="0" name=""/>
        <dsp:cNvSpPr/>
      </dsp:nvSpPr>
      <dsp:spPr>
        <a:xfrm>
          <a:off x="0" y="936514"/>
          <a:ext cx="10179050" cy="0"/>
        </a:xfrm>
        <a:prstGeom prst="line">
          <a:avLst/>
        </a:prstGeom>
        <a:solidFill>
          <a:schemeClr val="accent4">
            <a:hueOff val="0"/>
            <a:satOff val="0"/>
            <a:lumOff val="0"/>
            <a:alphaOff val="0"/>
          </a:schemeClr>
        </a:solidFill>
        <a:ln w="12700"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679B86-A94A-4CA4-A3DE-85AF321A37E5}">
      <dsp:nvSpPr>
        <dsp:cNvPr id="0" name=""/>
        <dsp:cNvSpPr/>
      </dsp:nvSpPr>
      <dsp:spPr>
        <a:xfrm>
          <a:off x="0" y="936514"/>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International Trade Theory</a:t>
          </a:r>
        </a:p>
      </dsp:txBody>
      <dsp:txXfrm>
        <a:off x="0" y="936514"/>
        <a:ext cx="10179050" cy="467971"/>
      </dsp:txXfrm>
    </dsp:sp>
    <dsp:sp modelId="{CB942BFD-9B40-4FE4-9BE8-BD33DB52D9FB}">
      <dsp:nvSpPr>
        <dsp:cNvPr id="0" name=""/>
        <dsp:cNvSpPr/>
      </dsp:nvSpPr>
      <dsp:spPr>
        <a:xfrm>
          <a:off x="0" y="1404485"/>
          <a:ext cx="10179050" cy="0"/>
        </a:xfrm>
        <a:prstGeom prst="line">
          <a:avLst/>
        </a:prstGeom>
        <a:solidFill>
          <a:schemeClr val="accent5">
            <a:hueOff val="0"/>
            <a:satOff val="0"/>
            <a:lumOff val="0"/>
            <a:alphaOff val="0"/>
          </a:schemeClr>
        </a:solidFill>
        <a:ln w="12700"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6443E8-7108-42AE-961D-3B3747A674D7}">
      <dsp:nvSpPr>
        <dsp:cNvPr id="0" name=""/>
        <dsp:cNvSpPr/>
      </dsp:nvSpPr>
      <dsp:spPr>
        <a:xfrm>
          <a:off x="0" y="1404485"/>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Mercantilism</a:t>
          </a:r>
        </a:p>
      </dsp:txBody>
      <dsp:txXfrm>
        <a:off x="0" y="1404485"/>
        <a:ext cx="10179050" cy="467971"/>
      </dsp:txXfrm>
    </dsp:sp>
    <dsp:sp modelId="{799E312A-E3BA-4AE7-944B-BC8D91C49DF5}">
      <dsp:nvSpPr>
        <dsp:cNvPr id="0" name=""/>
        <dsp:cNvSpPr/>
      </dsp:nvSpPr>
      <dsp:spPr>
        <a:xfrm>
          <a:off x="0" y="1872457"/>
          <a:ext cx="10179050" cy="0"/>
        </a:xfrm>
        <a:prstGeom prst="line">
          <a:avLst/>
        </a:prstGeom>
        <a:solidFill>
          <a:schemeClr val="accent6">
            <a:hueOff val="0"/>
            <a:satOff val="0"/>
            <a:lumOff val="0"/>
            <a:alphaOff val="0"/>
          </a:schemeClr>
        </a:solidFill>
        <a:ln w="12700"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39697F-5838-486E-9DDB-C27BF63240D6}">
      <dsp:nvSpPr>
        <dsp:cNvPr id="0" name=""/>
        <dsp:cNvSpPr/>
      </dsp:nvSpPr>
      <dsp:spPr>
        <a:xfrm>
          <a:off x="0" y="1872457"/>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Theory of Absolute Advantage</a:t>
          </a:r>
        </a:p>
      </dsp:txBody>
      <dsp:txXfrm>
        <a:off x="0" y="1872457"/>
        <a:ext cx="10179050" cy="467971"/>
      </dsp:txXfrm>
    </dsp:sp>
    <dsp:sp modelId="{C63D0EB0-D05C-4B98-834B-0F3A2E0B561D}">
      <dsp:nvSpPr>
        <dsp:cNvPr id="0" name=""/>
        <dsp:cNvSpPr/>
      </dsp:nvSpPr>
      <dsp:spPr>
        <a:xfrm>
          <a:off x="0" y="2340428"/>
          <a:ext cx="10179050" cy="0"/>
        </a:xfrm>
        <a:prstGeom prst="line">
          <a:avLst/>
        </a:prstGeom>
        <a:solidFill>
          <a:schemeClr val="accent2">
            <a:hueOff val="0"/>
            <a:satOff val="0"/>
            <a:lumOff val="0"/>
            <a:alphaOff val="0"/>
          </a:schemeClr>
        </a:solidFill>
        <a:ln w="12700" cap="flat" cmpd="sng" algn="in">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AA591E-4684-4CF9-9F72-4BFE42B25F75}">
      <dsp:nvSpPr>
        <dsp:cNvPr id="0" name=""/>
        <dsp:cNvSpPr/>
      </dsp:nvSpPr>
      <dsp:spPr>
        <a:xfrm>
          <a:off x="0" y="2340428"/>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Theory of Comparative Advantage</a:t>
          </a:r>
        </a:p>
      </dsp:txBody>
      <dsp:txXfrm>
        <a:off x="0" y="2340428"/>
        <a:ext cx="10179050" cy="467971"/>
      </dsp:txXfrm>
    </dsp:sp>
    <dsp:sp modelId="{DC46702D-202E-42D7-8384-2190238484BF}">
      <dsp:nvSpPr>
        <dsp:cNvPr id="0" name=""/>
        <dsp:cNvSpPr/>
      </dsp:nvSpPr>
      <dsp:spPr>
        <a:xfrm>
          <a:off x="0" y="2808399"/>
          <a:ext cx="10179050" cy="0"/>
        </a:xfrm>
        <a:prstGeom prst="line">
          <a:avLst/>
        </a:prstGeom>
        <a:solidFill>
          <a:schemeClr val="accent3">
            <a:hueOff val="0"/>
            <a:satOff val="0"/>
            <a:lumOff val="0"/>
            <a:alphaOff val="0"/>
          </a:schemeClr>
        </a:solidFill>
        <a:ln w="12700" cap="flat" cmpd="sng" algn="in">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974988-DC86-4E3A-B9A7-14C89710507C}">
      <dsp:nvSpPr>
        <dsp:cNvPr id="0" name=""/>
        <dsp:cNvSpPr/>
      </dsp:nvSpPr>
      <dsp:spPr>
        <a:xfrm>
          <a:off x="0" y="2808399"/>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Factor Mobility Theory</a:t>
          </a:r>
        </a:p>
      </dsp:txBody>
      <dsp:txXfrm>
        <a:off x="0" y="2808399"/>
        <a:ext cx="10179050" cy="467971"/>
      </dsp:txXfrm>
    </dsp:sp>
    <dsp:sp modelId="{DBAC126A-C928-4670-9194-A111C093E1DB}">
      <dsp:nvSpPr>
        <dsp:cNvPr id="0" name=""/>
        <dsp:cNvSpPr/>
      </dsp:nvSpPr>
      <dsp:spPr>
        <a:xfrm>
          <a:off x="0" y="3276371"/>
          <a:ext cx="10179050" cy="0"/>
        </a:xfrm>
        <a:prstGeom prst="line">
          <a:avLst/>
        </a:prstGeom>
        <a:solidFill>
          <a:schemeClr val="accent4">
            <a:hueOff val="0"/>
            <a:satOff val="0"/>
            <a:lumOff val="0"/>
            <a:alphaOff val="0"/>
          </a:schemeClr>
        </a:solidFill>
        <a:ln w="12700" cap="flat" cmpd="sng" algn="in">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A51EA0-6054-4CC4-BEE7-32192BE8D1DD}">
      <dsp:nvSpPr>
        <dsp:cNvPr id="0" name=""/>
        <dsp:cNvSpPr/>
      </dsp:nvSpPr>
      <dsp:spPr>
        <a:xfrm>
          <a:off x="0" y="3276371"/>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Regional Economic Integration</a:t>
          </a:r>
        </a:p>
      </dsp:txBody>
      <dsp:txXfrm>
        <a:off x="0" y="3276371"/>
        <a:ext cx="10179050" cy="467971"/>
      </dsp:txXfrm>
    </dsp:sp>
    <dsp:sp modelId="{4924592D-0E63-4F28-ADBF-0F455B05047C}">
      <dsp:nvSpPr>
        <dsp:cNvPr id="0" name=""/>
        <dsp:cNvSpPr/>
      </dsp:nvSpPr>
      <dsp:spPr>
        <a:xfrm>
          <a:off x="0" y="3744342"/>
          <a:ext cx="10179050" cy="0"/>
        </a:xfrm>
        <a:prstGeom prst="line">
          <a:avLst/>
        </a:prstGeom>
        <a:solidFill>
          <a:schemeClr val="accent5">
            <a:hueOff val="0"/>
            <a:satOff val="0"/>
            <a:lumOff val="0"/>
            <a:alphaOff val="0"/>
          </a:schemeClr>
        </a:solidFill>
        <a:ln w="12700"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FCD4D4-7E43-4305-BEEE-810F57CE8B8B}">
      <dsp:nvSpPr>
        <dsp:cNvPr id="0" name=""/>
        <dsp:cNvSpPr/>
      </dsp:nvSpPr>
      <dsp:spPr>
        <a:xfrm>
          <a:off x="0" y="3744342"/>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WTO</a:t>
          </a:r>
        </a:p>
      </dsp:txBody>
      <dsp:txXfrm>
        <a:off x="0" y="3744342"/>
        <a:ext cx="10179050" cy="467971"/>
      </dsp:txXfrm>
    </dsp:sp>
    <dsp:sp modelId="{5D6F1B35-CEB0-486F-BDAB-4F6AB2BF7AD6}">
      <dsp:nvSpPr>
        <dsp:cNvPr id="0" name=""/>
        <dsp:cNvSpPr/>
      </dsp:nvSpPr>
      <dsp:spPr>
        <a:xfrm>
          <a:off x="0" y="4212314"/>
          <a:ext cx="10179050" cy="0"/>
        </a:xfrm>
        <a:prstGeom prst="line">
          <a:avLst/>
        </a:prstGeom>
        <a:solidFill>
          <a:schemeClr val="accent6">
            <a:hueOff val="0"/>
            <a:satOff val="0"/>
            <a:lumOff val="0"/>
            <a:alphaOff val="0"/>
          </a:schemeClr>
        </a:solidFill>
        <a:ln w="12700" cap="flat" cmpd="sng" algn="in">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299AFE-776B-42C1-A88D-FC02ED06E8B4}">
      <dsp:nvSpPr>
        <dsp:cNvPr id="0" name=""/>
        <dsp:cNvSpPr/>
      </dsp:nvSpPr>
      <dsp:spPr>
        <a:xfrm>
          <a:off x="0" y="4212314"/>
          <a:ext cx="10179050" cy="467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European Union</a:t>
          </a:r>
        </a:p>
      </dsp:txBody>
      <dsp:txXfrm>
        <a:off x="0" y="4212314"/>
        <a:ext cx="10179050" cy="467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46337B-7F0F-4C4B-9A5E-36A423502C44}">
      <dsp:nvSpPr>
        <dsp:cNvPr id="0" name=""/>
        <dsp:cNvSpPr/>
      </dsp:nvSpPr>
      <dsp:spPr>
        <a:xfrm>
          <a:off x="0" y="217149"/>
          <a:ext cx="7154712" cy="962507"/>
        </a:xfrm>
        <a:prstGeom prst="roundRect">
          <a:avLst/>
        </a:prstGeom>
        <a:solidFill>
          <a:schemeClr val="accent5">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Main International Trade Theories:</a:t>
          </a:r>
          <a:endParaRPr lang="en-US" sz="1800" kern="1200"/>
        </a:p>
      </dsp:txBody>
      <dsp:txXfrm>
        <a:off x="46986" y="264135"/>
        <a:ext cx="7060740" cy="868535"/>
      </dsp:txXfrm>
    </dsp:sp>
    <dsp:sp modelId="{44AF4117-1D2D-4106-8A60-C7798D36BFCC}">
      <dsp:nvSpPr>
        <dsp:cNvPr id="0" name=""/>
        <dsp:cNvSpPr/>
      </dsp:nvSpPr>
      <dsp:spPr>
        <a:xfrm>
          <a:off x="0" y="1231496"/>
          <a:ext cx="7154712" cy="962507"/>
        </a:xfrm>
        <a:prstGeom prst="roundRect">
          <a:avLst/>
        </a:prstGeom>
        <a:solidFill>
          <a:schemeClr val="accent5">
            <a:hueOff val="3822936"/>
            <a:satOff val="-8167"/>
            <a:lumOff val="-3412"/>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Mercantilism</a:t>
          </a:r>
          <a:r>
            <a:rPr lang="en-US" sz="1800" kern="1200"/>
            <a:t> – An early theory suggesting that countries should export more than they import to accumulate wealth.</a:t>
          </a:r>
        </a:p>
      </dsp:txBody>
      <dsp:txXfrm>
        <a:off x="46986" y="1278482"/>
        <a:ext cx="7060740" cy="868535"/>
      </dsp:txXfrm>
    </dsp:sp>
    <dsp:sp modelId="{2EFAD99E-F998-4BE5-B09B-6E95540CDC54}">
      <dsp:nvSpPr>
        <dsp:cNvPr id="0" name=""/>
        <dsp:cNvSpPr/>
      </dsp:nvSpPr>
      <dsp:spPr>
        <a:xfrm>
          <a:off x="0" y="2245844"/>
          <a:ext cx="7154712" cy="962507"/>
        </a:xfrm>
        <a:prstGeom prst="roundRect">
          <a:avLst/>
        </a:prstGeom>
        <a:solidFill>
          <a:schemeClr val="accent5">
            <a:hueOff val="7645872"/>
            <a:satOff val="-16335"/>
            <a:lumOff val="-6824"/>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Theory of Absolute Advantage</a:t>
          </a:r>
          <a:r>
            <a:rPr lang="en-US" sz="1800" kern="1200"/>
            <a:t> – Proposed by Adam Smith, stating that countries should specialize in goods they can produce more efficiently than others.</a:t>
          </a:r>
        </a:p>
      </dsp:txBody>
      <dsp:txXfrm>
        <a:off x="46986" y="2292830"/>
        <a:ext cx="7060740" cy="868535"/>
      </dsp:txXfrm>
    </dsp:sp>
    <dsp:sp modelId="{7AE0F382-3883-447D-89F7-14C46F202F5F}">
      <dsp:nvSpPr>
        <dsp:cNvPr id="0" name=""/>
        <dsp:cNvSpPr/>
      </dsp:nvSpPr>
      <dsp:spPr>
        <a:xfrm>
          <a:off x="0" y="3260192"/>
          <a:ext cx="7154712" cy="962507"/>
        </a:xfrm>
        <a:prstGeom prst="roundRect">
          <a:avLst/>
        </a:prstGeom>
        <a:solidFill>
          <a:schemeClr val="accent5">
            <a:hueOff val="11468808"/>
            <a:satOff val="-24502"/>
            <a:lumOff val="-10235"/>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Theory of Comparative Advantage</a:t>
          </a:r>
          <a:r>
            <a:rPr lang="en-US" sz="1800" kern="1200"/>
            <a:t> – Developed by David Ricardo, explaining that countries should specialize in goods with the lowest opportunity cost.</a:t>
          </a:r>
        </a:p>
      </dsp:txBody>
      <dsp:txXfrm>
        <a:off x="46986" y="3307178"/>
        <a:ext cx="7060740" cy="868535"/>
      </dsp:txXfrm>
    </dsp:sp>
    <dsp:sp modelId="{AFB4377A-CBE6-4B55-8BD4-B81CC3105208}">
      <dsp:nvSpPr>
        <dsp:cNvPr id="0" name=""/>
        <dsp:cNvSpPr/>
      </dsp:nvSpPr>
      <dsp:spPr>
        <a:xfrm>
          <a:off x="0" y="4274540"/>
          <a:ext cx="7154712" cy="962507"/>
        </a:xfrm>
        <a:prstGeom prst="roundRect">
          <a:avLst/>
        </a:prstGeom>
        <a:solidFill>
          <a:schemeClr val="accent5">
            <a:hueOff val="15291745"/>
            <a:satOff val="-32670"/>
            <a:lumOff val="-13647"/>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Factor Mobility Theory</a:t>
          </a:r>
          <a:r>
            <a:rPr lang="en-US" sz="1800" kern="1200"/>
            <a:t> – Explains how the movement of labor, capital, and technology across countries influences international trade.</a:t>
          </a:r>
        </a:p>
      </dsp:txBody>
      <dsp:txXfrm>
        <a:off x="46986" y="4321526"/>
        <a:ext cx="7060740" cy="868535"/>
      </dsp:txXfrm>
    </dsp:sp>
    <dsp:sp modelId="{5892596C-4E1F-4305-AE28-DB917BD0CF5D}">
      <dsp:nvSpPr>
        <dsp:cNvPr id="0" name=""/>
        <dsp:cNvSpPr/>
      </dsp:nvSpPr>
      <dsp:spPr>
        <a:xfrm>
          <a:off x="0" y="5288888"/>
          <a:ext cx="7154712" cy="962507"/>
        </a:xfrm>
        <a:prstGeom prst="roundRect">
          <a:avLst/>
        </a:prstGeom>
        <a:solidFill>
          <a:schemeClr val="accent5">
            <a:hueOff val="19114680"/>
            <a:satOff val="-40837"/>
            <a:lumOff val="-17059"/>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Example:</a:t>
          </a:r>
          <a:br>
            <a:rPr lang="en-US" sz="1800" kern="1200"/>
          </a:br>
          <a:r>
            <a:rPr lang="en-US" sz="1800" kern="1200"/>
            <a:t>Countries with advanced technology may export high-tech products, while countries with abundant natural resources may export raw materials.</a:t>
          </a:r>
        </a:p>
      </dsp:txBody>
      <dsp:txXfrm>
        <a:off x="46986" y="5335874"/>
        <a:ext cx="7060740" cy="868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552A8-9E52-41AD-B0A3-B2D83748D8F6}">
      <dsp:nvSpPr>
        <dsp:cNvPr id="0" name=""/>
        <dsp:cNvSpPr/>
      </dsp:nvSpPr>
      <dsp:spPr>
        <a:xfrm>
          <a:off x="0" y="60957"/>
          <a:ext cx="10595295" cy="95004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Free Trade Area (FTA)</a:t>
          </a:r>
          <a:br>
            <a:rPr lang="en-US" sz="1400" kern="1200" dirty="0"/>
          </a:br>
          <a:r>
            <a:rPr lang="en-US" sz="1400" kern="1200" dirty="0"/>
            <a:t>In a free trade area, member countries remove tariffs and trade barriers among themselves but maintain their own trade policies with non-member countries. This allows free trade within the region while each country controls its external trade independently.</a:t>
          </a:r>
          <a:br>
            <a:rPr lang="en-US" sz="1400" kern="1200" dirty="0"/>
          </a:br>
          <a:r>
            <a:rPr lang="en-US" sz="1400" b="1" kern="1200" dirty="0"/>
            <a:t>Example:</a:t>
          </a:r>
          <a:r>
            <a:rPr lang="en-US" sz="1400" kern="1200" dirty="0"/>
            <a:t> The </a:t>
          </a:r>
          <a:r>
            <a:rPr lang="en-US" sz="1400" b="1" kern="1200" dirty="0"/>
            <a:t>North American Free Trade Agreement (NAFTA)</a:t>
          </a:r>
          <a:r>
            <a:rPr lang="en-US" sz="1400" kern="1200" dirty="0"/>
            <a:t> between the United States, Canada, and Mexico.</a:t>
          </a:r>
        </a:p>
      </dsp:txBody>
      <dsp:txXfrm>
        <a:off x="46377" y="107334"/>
        <a:ext cx="10502541" cy="857286"/>
      </dsp:txXfrm>
    </dsp:sp>
    <dsp:sp modelId="{9E1657C0-1035-42EC-B7E4-7B16927BCDC3}">
      <dsp:nvSpPr>
        <dsp:cNvPr id="0" name=""/>
        <dsp:cNvSpPr/>
      </dsp:nvSpPr>
      <dsp:spPr>
        <a:xfrm>
          <a:off x="0" y="1051317"/>
          <a:ext cx="10595295" cy="95004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Customs Union</a:t>
          </a:r>
          <a:br>
            <a:rPr lang="en-US" sz="1400" kern="1200"/>
          </a:br>
          <a:r>
            <a:rPr lang="en-US" sz="1400" kern="1200"/>
            <a:t>A customs union not only removes trade barriers among member countries but also establishes a </a:t>
          </a:r>
          <a:r>
            <a:rPr lang="en-US" sz="1400" b="1" kern="1200"/>
            <a:t>common external tariff</a:t>
          </a:r>
          <a:r>
            <a:rPr lang="en-US" sz="1400" kern="1200"/>
            <a:t> for goods imported from non-member countries. This means all members follow the same trade policies toward other countries.</a:t>
          </a:r>
          <a:br>
            <a:rPr lang="en-US" sz="1400" kern="1200"/>
          </a:br>
          <a:r>
            <a:rPr lang="en-US" sz="1400" b="1" kern="1200"/>
            <a:t>Example:</a:t>
          </a:r>
          <a:r>
            <a:rPr lang="en-US" sz="1400" kern="1200"/>
            <a:t> The </a:t>
          </a:r>
          <a:r>
            <a:rPr lang="en-US" sz="1400" b="1" kern="1200"/>
            <a:t>Southern African Customs Union (SACU)</a:t>
          </a:r>
          <a:r>
            <a:rPr lang="en-US" sz="1400" kern="1200"/>
            <a:t>.</a:t>
          </a:r>
        </a:p>
      </dsp:txBody>
      <dsp:txXfrm>
        <a:off x="46377" y="1097694"/>
        <a:ext cx="10502541" cy="857286"/>
      </dsp:txXfrm>
    </dsp:sp>
    <dsp:sp modelId="{41053A2C-008E-47A9-91D6-9A6D29D2CB68}">
      <dsp:nvSpPr>
        <dsp:cNvPr id="0" name=""/>
        <dsp:cNvSpPr/>
      </dsp:nvSpPr>
      <dsp:spPr>
        <a:xfrm>
          <a:off x="0" y="2041677"/>
          <a:ext cx="10595295" cy="95004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Common Market</a:t>
          </a:r>
          <a:br>
            <a:rPr lang="en-US" sz="1400" kern="1200"/>
          </a:br>
          <a:r>
            <a:rPr lang="en-US" sz="1400" kern="1200"/>
            <a:t>A common market allows free movement of </a:t>
          </a:r>
          <a:r>
            <a:rPr lang="en-US" sz="1400" b="1" kern="1200"/>
            <a:t>goods, services, capital, and labor</a:t>
          </a:r>
          <a:r>
            <a:rPr lang="en-US" sz="1400" kern="1200"/>
            <a:t> among member countries. In addition to removing trade barriers, workers and investments can move freely across member states.</a:t>
          </a:r>
          <a:br>
            <a:rPr lang="en-US" sz="1400" kern="1200"/>
          </a:br>
          <a:r>
            <a:rPr lang="en-US" sz="1400" b="1" kern="1200"/>
            <a:t>Example:</a:t>
          </a:r>
          <a:r>
            <a:rPr lang="en-US" sz="1400" kern="1200"/>
            <a:t> The </a:t>
          </a:r>
          <a:r>
            <a:rPr lang="en-US" sz="1400" b="1" kern="1200"/>
            <a:t>European Union (EU)</a:t>
          </a:r>
          <a:r>
            <a:rPr lang="en-US" sz="1400" kern="1200"/>
            <a:t> initially operated as a common market.</a:t>
          </a:r>
        </a:p>
      </dsp:txBody>
      <dsp:txXfrm>
        <a:off x="46377" y="2088054"/>
        <a:ext cx="10502541" cy="857286"/>
      </dsp:txXfrm>
    </dsp:sp>
    <dsp:sp modelId="{428407D8-2A2F-4D0D-B47D-4B92B7B6BA94}">
      <dsp:nvSpPr>
        <dsp:cNvPr id="0" name=""/>
        <dsp:cNvSpPr/>
      </dsp:nvSpPr>
      <dsp:spPr>
        <a:xfrm>
          <a:off x="0" y="3032037"/>
          <a:ext cx="10595295" cy="95004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Economic Union</a:t>
          </a:r>
          <a:br>
            <a:rPr lang="en-US" sz="1400" kern="1200"/>
          </a:br>
          <a:r>
            <a:rPr lang="en-US" sz="1400" kern="1200"/>
            <a:t>In an economic union, member countries not only allow free movement of goods, services, capital, and labor but also coordinate their economic policies such as taxation, monetary policies, and regulations.</a:t>
          </a:r>
          <a:br>
            <a:rPr lang="en-US" sz="1400" kern="1200"/>
          </a:br>
          <a:r>
            <a:rPr lang="en-US" sz="1400" b="1" kern="1200"/>
            <a:t>Example:</a:t>
          </a:r>
          <a:r>
            <a:rPr lang="en-US" sz="1400" kern="1200"/>
            <a:t> The </a:t>
          </a:r>
          <a:r>
            <a:rPr lang="en-US" sz="1400" b="1" kern="1200"/>
            <a:t>European Union</a:t>
          </a:r>
          <a:r>
            <a:rPr lang="en-US" sz="1400" kern="1200"/>
            <a:t>, where many countries share common economic policies and currency (Euro).</a:t>
          </a:r>
        </a:p>
      </dsp:txBody>
      <dsp:txXfrm>
        <a:off x="46377" y="3078414"/>
        <a:ext cx="10502541" cy="857286"/>
      </dsp:txXfrm>
    </dsp:sp>
    <dsp:sp modelId="{C9908362-97B9-4E94-B570-09398DFA1733}">
      <dsp:nvSpPr>
        <dsp:cNvPr id="0" name=""/>
        <dsp:cNvSpPr/>
      </dsp:nvSpPr>
      <dsp:spPr>
        <a:xfrm>
          <a:off x="0" y="4022397"/>
          <a:ext cx="10595295" cy="950040"/>
        </a:xfrm>
        <a:prstGeom prst="round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Political Union</a:t>
          </a:r>
          <a:br>
            <a:rPr lang="en-US" sz="1400" kern="1200"/>
          </a:br>
          <a:r>
            <a:rPr lang="en-US" sz="1400" kern="1200"/>
            <a:t>A political union represents the highest level of integration, where member countries combine their political and economic systems under a common government.</a:t>
          </a:r>
          <a:br>
            <a:rPr lang="en-US" sz="1400" kern="1200"/>
          </a:br>
          <a:r>
            <a:rPr lang="en-US" sz="1400" b="1" kern="1200"/>
            <a:t>Example:</a:t>
          </a:r>
          <a:r>
            <a:rPr lang="en-US" sz="1400" kern="1200"/>
            <a:t> The </a:t>
          </a:r>
          <a:r>
            <a:rPr lang="en-US" sz="1400" b="1" kern="1200"/>
            <a:t>United States</a:t>
          </a:r>
          <a:r>
            <a:rPr lang="en-US" sz="1400" kern="1200"/>
            <a:t>, where individual states operate under a single federal government.</a:t>
          </a:r>
        </a:p>
      </dsp:txBody>
      <dsp:txXfrm>
        <a:off x="46377" y="4068774"/>
        <a:ext cx="10502541" cy="8572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F704CD-84B2-4878-840C-0E1D1EED9114}">
      <dsp:nvSpPr>
        <dsp:cNvPr id="0" name=""/>
        <dsp:cNvSpPr/>
      </dsp:nvSpPr>
      <dsp:spPr>
        <a:xfrm>
          <a:off x="0" y="2546"/>
          <a:ext cx="10526485" cy="0"/>
        </a:xfrm>
        <a:prstGeom prst="line">
          <a:avLst/>
        </a:prstGeom>
        <a:solidFill>
          <a:schemeClr val="accent5">
            <a:hueOff val="0"/>
            <a:satOff val="0"/>
            <a:lumOff val="0"/>
            <a:alphaOff val="0"/>
          </a:schemeClr>
        </a:solidFill>
        <a:ln w="12700"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3B29DE-D49F-4D87-9DBB-513DE624AA52}">
      <dsp:nvSpPr>
        <dsp:cNvPr id="0" name=""/>
        <dsp:cNvSpPr/>
      </dsp:nvSpPr>
      <dsp:spPr>
        <a:xfrm>
          <a:off x="0" y="2546"/>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Regulates International Trade Rules</a:t>
          </a:r>
          <a:br>
            <a:rPr lang="en-US" sz="1400" kern="1200" dirty="0"/>
          </a:br>
          <a:r>
            <a:rPr lang="en-US" sz="1400" kern="1200" dirty="0"/>
            <a:t>The WTO establishes and monitors rules that govern international trade among member countries. These rules help ensure fair competition and transparency in global markets.</a:t>
          </a:r>
          <a:br>
            <a:rPr lang="en-US" sz="1400" kern="1200" dirty="0"/>
          </a:br>
          <a:r>
            <a:rPr lang="en-US" sz="1400" b="1" kern="1200" dirty="0"/>
            <a:t>Example:</a:t>
          </a:r>
          <a:r>
            <a:rPr lang="en-US" sz="1400" kern="1200" dirty="0"/>
            <a:t> </a:t>
          </a:r>
          <a:r>
            <a:rPr lang="en-US" sz="1200" kern="1200" dirty="0">
              <a:solidFill>
                <a:srgbClr val="FF0000"/>
              </a:solidFill>
            </a:rPr>
            <a:t>WTO</a:t>
          </a:r>
          <a:r>
            <a:rPr lang="en-US" sz="1400" kern="1200" dirty="0">
              <a:solidFill>
                <a:srgbClr val="FF0000"/>
              </a:solidFill>
            </a:rPr>
            <a:t> agreements regulate tariffs, subsidies, and trade policies between countries.</a:t>
          </a:r>
        </a:p>
      </dsp:txBody>
      <dsp:txXfrm>
        <a:off x="0" y="2546"/>
        <a:ext cx="10526485" cy="868194"/>
      </dsp:txXfrm>
    </dsp:sp>
    <dsp:sp modelId="{0A68AA39-DD84-4448-81E8-E52B4200EF0D}">
      <dsp:nvSpPr>
        <dsp:cNvPr id="0" name=""/>
        <dsp:cNvSpPr/>
      </dsp:nvSpPr>
      <dsp:spPr>
        <a:xfrm>
          <a:off x="0" y="870740"/>
          <a:ext cx="10526485" cy="0"/>
        </a:xfrm>
        <a:prstGeom prst="line">
          <a:avLst/>
        </a:prstGeom>
        <a:solidFill>
          <a:schemeClr val="accent5">
            <a:hueOff val="3822936"/>
            <a:satOff val="-8167"/>
            <a:lumOff val="-3412"/>
            <a:alphaOff val="0"/>
          </a:schemeClr>
        </a:solidFill>
        <a:ln w="12700" cap="flat" cmpd="sng" algn="in">
          <a:solidFill>
            <a:schemeClr val="accent5">
              <a:hueOff val="3822936"/>
              <a:satOff val="-8167"/>
              <a:lumOff val="-341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19D58B-6CE1-4B50-8C48-09AF01BBD6E7}">
      <dsp:nvSpPr>
        <dsp:cNvPr id="0" name=""/>
        <dsp:cNvSpPr/>
      </dsp:nvSpPr>
      <dsp:spPr>
        <a:xfrm>
          <a:off x="0" y="870740"/>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Settles Trade Disputes</a:t>
          </a:r>
          <a:br>
            <a:rPr lang="en-US" sz="1400" kern="1200" dirty="0"/>
          </a:br>
          <a:r>
            <a:rPr lang="en-US" sz="1400" kern="1200" dirty="0"/>
            <a:t>The WTO provides a dispute settlement system where countries can resolve conflicts related to trade policies or trade barriers in a peaceful and structured manner.</a:t>
          </a:r>
          <a:br>
            <a:rPr lang="en-US" sz="1400" kern="1200" dirty="0"/>
          </a:br>
          <a:r>
            <a:rPr lang="en-US" sz="1400" b="1" kern="1200" dirty="0"/>
            <a:t>Example:</a:t>
          </a:r>
          <a:r>
            <a:rPr lang="en-US" sz="1400" kern="1200" dirty="0"/>
            <a:t> </a:t>
          </a:r>
          <a:r>
            <a:rPr lang="en-US" sz="1400" kern="1200" dirty="0">
              <a:solidFill>
                <a:srgbClr val="FF0000"/>
              </a:solidFill>
            </a:rPr>
            <a:t>If one country accuses another of unfair trade practices, the WTO helps resolve the dispute.</a:t>
          </a:r>
        </a:p>
      </dsp:txBody>
      <dsp:txXfrm>
        <a:off x="0" y="870740"/>
        <a:ext cx="10526485" cy="868194"/>
      </dsp:txXfrm>
    </dsp:sp>
    <dsp:sp modelId="{999C43C1-9314-41C4-80B9-171DD6982201}">
      <dsp:nvSpPr>
        <dsp:cNvPr id="0" name=""/>
        <dsp:cNvSpPr/>
      </dsp:nvSpPr>
      <dsp:spPr>
        <a:xfrm>
          <a:off x="0" y="1738934"/>
          <a:ext cx="10526485" cy="0"/>
        </a:xfrm>
        <a:prstGeom prst="line">
          <a:avLst/>
        </a:prstGeom>
        <a:solidFill>
          <a:schemeClr val="accent5">
            <a:hueOff val="7645872"/>
            <a:satOff val="-16335"/>
            <a:lumOff val="-6824"/>
            <a:alphaOff val="0"/>
          </a:schemeClr>
        </a:solidFill>
        <a:ln w="12700" cap="flat" cmpd="sng" algn="in">
          <a:solidFill>
            <a:schemeClr val="accent5">
              <a:hueOff val="7645872"/>
              <a:satOff val="-16335"/>
              <a:lumOff val="-68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EDB725-BD1D-4038-8790-D30DF0E23D09}">
      <dsp:nvSpPr>
        <dsp:cNvPr id="0" name=""/>
        <dsp:cNvSpPr/>
      </dsp:nvSpPr>
      <dsp:spPr>
        <a:xfrm>
          <a:off x="0" y="1738934"/>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Promotes Free and Fair Trade</a:t>
          </a:r>
          <a:br>
            <a:rPr lang="en-US" sz="1400" kern="1200" dirty="0"/>
          </a:br>
          <a:r>
            <a:rPr lang="en-US" sz="1400" kern="1200" dirty="0"/>
            <a:t>The organization works to reduce trade barriers such as tariffs, quotas, and restrictions to encourage smoother trade between countries.</a:t>
          </a:r>
          <a:br>
            <a:rPr lang="en-US" sz="1400" kern="1200" dirty="0"/>
          </a:br>
          <a:r>
            <a:rPr lang="en-US" sz="1400" b="1" kern="1200" dirty="0"/>
            <a:t>Example:</a:t>
          </a:r>
          <a:r>
            <a:rPr lang="en-US" sz="1400" kern="1200" dirty="0"/>
            <a:t> </a:t>
          </a:r>
          <a:r>
            <a:rPr lang="en-US" sz="1200" kern="1200" dirty="0">
              <a:solidFill>
                <a:srgbClr val="FF0000"/>
              </a:solidFill>
            </a:rPr>
            <a:t>WTO</a:t>
          </a:r>
          <a:r>
            <a:rPr lang="en-US" sz="1400" kern="1200" dirty="0">
              <a:solidFill>
                <a:srgbClr val="FF0000"/>
              </a:solidFill>
            </a:rPr>
            <a:t> negotiations often focus on reducing import duties between member countries.</a:t>
          </a:r>
        </a:p>
      </dsp:txBody>
      <dsp:txXfrm>
        <a:off x="0" y="1738934"/>
        <a:ext cx="10526485" cy="868194"/>
      </dsp:txXfrm>
    </dsp:sp>
    <dsp:sp modelId="{CB99E7D9-287F-47E4-817C-1C425644ABCB}">
      <dsp:nvSpPr>
        <dsp:cNvPr id="0" name=""/>
        <dsp:cNvSpPr/>
      </dsp:nvSpPr>
      <dsp:spPr>
        <a:xfrm>
          <a:off x="0" y="2607129"/>
          <a:ext cx="10526485" cy="0"/>
        </a:xfrm>
        <a:prstGeom prst="line">
          <a:avLst/>
        </a:prstGeom>
        <a:solidFill>
          <a:schemeClr val="accent5">
            <a:hueOff val="11468808"/>
            <a:satOff val="-24502"/>
            <a:lumOff val="-10235"/>
            <a:alphaOff val="0"/>
          </a:schemeClr>
        </a:solidFill>
        <a:ln w="12700" cap="flat" cmpd="sng" algn="in">
          <a:solidFill>
            <a:schemeClr val="accent5">
              <a:hueOff val="11468808"/>
              <a:satOff val="-24502"/>
              <a:lumOff val="-1023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2CF745-A19C-4FA5-BEF1-E7CA78DF339A}">
      <dsp:nvSpPr>
        <dsp:cNvPr id="0" name=""/>
        <dsp:cNvSpPr/>
      </dsp:nvSpPr>
      <dsp:spPr>
        <a:xfrm>
          <a:off x="0" y="2607129"/>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Monitors Trade Policies of Member Countries</a:t>
          </a:r>
          <a:br>
            <a:rPr lang="en-US" sz="1400" kern="1200" dirty="0"/>
          </a:br>
          <a:r>
            <a:rPr lang="en-US" sz="1400" kern="1200" dirty="0"/>
            <a:t>The WTO regularly reviews and monitors the trade policies of its member countries to ensure transparency and compliance with international trade rules.</a:t>
          </a:r>
        </a:p>
      </dsp:txBody>
      <dsp:txXfrm>
        <a:off x="0" y="2607129"/>
        <a:ext cx="10526485" cy="868194"/>
      </dsp:txXfrm>
    </dsp:sp>
    <dsp:sp modelId="{9E244E07-30C6-4048-A951-639D8142A427}">
      <dsp:nvSpPr>
        <dsp:cNvPr id="0" name=""/>
        <dsp:cNvSpPr/>
      </dsp:nvSpPr>
      <dsp:spPr>
        <a:xfrm>
          <a:off x="0" y="3475323"/>
          <a:ext cx="10526485" cy="0"/>
        </a:xfrm>
        <a:prstGeom prst="line">
          <a:avLst/>
        </a:prstGeom>
        <a:solidFill>
          <a:schemeClr val="accent5">
            <a:hueOff val="15291745"/>
            <a:satOff val="-32670"/>
            <a:lumOff val="-13647"/>
            <a:alphaOff val="0"/>
          </a:schemeClr>
        </a:solidFill>
        <a:ln w="12700" cap="flat" cmpd="sng" algn="in">
          <a:solidFill>
            <a:schemeClr val="accent5">
              <a:hueOff val="15291745"/>
              <a:satOff val="-32670"/>
              <a:lumOff val="-1364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CE64B0-FAF5-48B1-B3CD-ECFE4798008D}">
      <dsp:nvSpPr>
        <dsp:cNvPr id="0" name=""/>
        <dsp:cNvSpPr/>
      </dsp:nvSpPr>
      <dsp:spPr>
        <a:xfrm>
          <a:off x="0" y="3475323"/>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Provides a Platform for Trade Negotiations</a:t>
          </a:r>
          <a:br>
            <a:rPr lang="en-US" sz="1400" kern="1200"/>
          </a:br>
          <a:r>
            <a:rPr lang="en-US" sz="1400" kern="1200"/>
            <a:t>WTO organizes meetings and negotiations where countries discuss trade agreements and policies to improve global trade cooperation.</a:t>
          </a:r>
        </a:p>
      </dsp:txBody>
      <dsp:txXfrm>
        <a:off x="0" y="3475323"/>
        <a:ext cx="10526485" cy="868194"/>
      </dsp:txXfrm>
    </dsp:sp>
    <dsp:sp modelId="{499C0C7B-50F4-4E33-AC08-9D3135AAAD98}">
      <dsp:nvSpPr>
        <dsp:cNvPr id="0" name=""/>
        <dsp:cNvSpPr/>
      </dsp:nvSpPr>
      <dsp:spPr>
        <a:xfrm>
          <a:off x="0" y="4343517"/>
          <a:ext cx="10526485" cy="0"/>
        </a:xfrm>
        <a:prstGeom prst="line">
          <a:avLst/>
        </a:prstGeom>
        <a:solidFill>
          <a:schemeClr val="accent5">
            <a:hueOff val="19114680"/>
            <a:satOff val="-40837"/>
            <a:lumOff val="-17059"/>
            <a:alphaOff val="0"/>
          </a:schemeClr>
        </a:solidFill>
        <a:ln w="12700" cap="flat" cmpd="sng" algn="in">
          <a:solidFill>
            <a:schemeClr val="accent5">
              <a:hueOff val="19114680"/>
              <a:satOff val="-40837"/>
              <a:lumOff val="-1705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09EE00-B0C0-481E-908D-60BCE2AB12EF}">
      <dsp:nvSpPr>
        <dsp:cNvPr id="0" name=""/>
        <dsp:cNvSpPr/>
      </dsp:nvSpPr>
      <dsp:spPr>
        <a:xfrm>
          <a:off x="0" y="4343517"/>
          <a:ext cx="10526485" cy="86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Supports Economic Development</a:t>
          </a:r>
          <a:br>
            <a:rPr lang="en-US" sz="1400" kern="1200"/>
          </a:br>
          <a:r>
            <a:rPr lang="en-US" sz="1400" kern="1200"/>
            <a:t>The WTO helps developing countries participate more effectively in global trade by providing technical assistance and training programs.</a:t>
          </a:r>
        </a:p>
      </dsp:txBody>
      <dsp:txXfrm>
        <a:off x="0" y="4343517"/>
        <a:ext cx="10526485" cy="86819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BDA38-34AF-4FC0-87A3-10369E8CB66C}"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F8F3E-0F41-40F6-8FAD-32E322C761B5}" type="slidenum">
              <a:rPr lang="en-IN" smtClean="0"/>
              <a:t>‹#›</a:t>
            </a:fld>
            <a:endParaRPr lang="en-IN"/>
          </a:p>
        </p:txBody>
      </p:sp>
    </p:spTree>
    <p:extLst>
      <p:ext uri="{BB962C8B-B14F-4D97-AF65-F5344CB8AC3E}">
        <p14:creationId xmlns:p14="http://schemas.microsoft.com/office/powerpoint/2010/main" val="224640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DE4FF9A-E454-4385-B4E4-019DE8F729A5}" type="datetimeFigureOut">
              <a:rPr lang="en-IN" smtClean="0"/>
              <a:t>10-03-2026</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153E1B1-FEAA-4899-B5AA-D79678913DFF}"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50677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172209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DE4FF9A-E454-4385-B4E4-019DE8F729A5}" type="datetimeFigureOut">
              <a:rPr lang="en-IN" smtClean="0"/>
              <a:t>10-03-2026</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153E1B1-FEAA-4899-B5AA-D79678913DFF}"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en-IN"/>
            </a:p>
          </p:txBody>
        </p:sp>
      </p:grpSp>
    </p:spTree>
    <p:extLst>
      <p:ext uri="{BB962C8B-B14F-4D97-AF65-F5344CB8AC3E}">
        <p14:creationId xmlns:p14="http://schemas.microsoft.com/office/powerpoint/2010/main" val="30681574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E4FF9A-E454-4385-B4E4-019DE8F729A5}"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76189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E4FF9A-E454-4385-B4E4-019DE8F729A5}" type="datetimeFigureOut">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205223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E4FF9A-E454-4385-B4E4-019DE8F729A5}"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904758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E4FF9A-E454-4385-B4E4-019DE8F729A5}" type="datetimeFigureOut">
              <a:rPr lang="en-IN" smtClean="0"/>
              <a:t>10-03-2026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54462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DE4FF9A-E454-4385-B4E4-019DE8F729A5}" type="datetimeFigureOut">
              <a:rPr lang="en-IN" smtClean="0"/>
              <a:t>10-03-2026</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5153E1B1-FEAA-4899-B5AA-D79678913DFF}"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03521219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6DE4FF9A-E454-4385-B4E4-019DE8F729A5}" type="datetimeFigureOut">
              <a:rPr lang="en-IN" smtClean="0"/>
              <a:t>10-03-2026</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94418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163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413380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DE4FF9A-E454-4385-B4E4-019DE8F729A5}" type="datetimeFigureOut">
              <a:rPr lang="en-IN" smtClean="0"/>
              <a:t>10-03-2026</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153E1B1-FEAA-4899-B5AA-D79678913DFF}"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176060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5DEDD7-7B31-4EF1-B7C7-5AEE3208C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34C51-2D4C-C230-DABB-B8D02413B552}"/>
              </a:ext>
            </a:extLst>
          </p:cNvPr>
          <p:cNvSpPr>
            <a:spLocks noGrp="1"/>
          </p:cNvSpPr>
          <p:nvPr>
            <p:ph type="ctrTitle"/>
          </p:nvPr>
        </p:nvSpPr>
        <p:spPr>
          <a:xfrm>
            <a:off x="644849" y="954923"/>
            <a:ext cx="5875694" cy="4504620"/>
          </a:xfrm>
        </p:spPr>
        <p:txBody>
          <a:bodyPr>
            <a:normAutofit/>
          </a:bodyPr>
          <a:lstStyle/>
          <a:p>
            <a:r>
              <a:rPr lang="en-IN" sz="5300"/>
              <a:t>International Trade</a:t>
            </a:r>
          </a:p>
        </p:txBody>
      </p:sp>
      <p:sp>
        <p:nvSpPr>
          <p:cNvPr id="3" name="Subtitle 2">
            <a:extLst>
              <a:ext uri="{FF2B5EF4-FFF2-40B4-BE49-F238E27FC236}">
                <a16:creationId xmlns:a16="http://schemas.microsoft.com/office/drawing/2014/main" id="{81F46732-EE7E-7A69-0807-94F7873DC2CE}"/>
              </a:ext>
            </a:extLst>
          </p:cNvPr>
          <p:cNvSpPr>
            <a:spLocks noGrp="1"/>
          </p:cNvSpPr>
          <p:nvPr>
            <p:ph type="subTitle" idx="1"/>
          </p:nvPr>
        </p:nvSpPr>
        <p:spPr>
          <a:xfrm>
            <a:off x="643157" y="5572664"/>
            <a:ext cx="5877385" cy="841803"/>
          </a:xfrm>
        </p:spPr>
        <p:txBody>
          <a:bodyPr>
            <a:normAutofit/>
          </a:bodyPr>
          <a:lstStyle/>
          <a:p>
            <a:r>
              <a:rPr lang="en-IN">
                <a:solidFill>
                  <a:schemeClr val="bg2"/>
                </a:solidFill>
              </a:rPr>
              <a:t>UNIT 2</a:t>
            </a:r>
          </a:p>
        </p:txBody>
      </p:sp>
      <p:sp>
        <p:nvSpPr>
          <p:cNvPr id="11" name="Freeform: Shape 10">
            <a:extLst>
              <a:ext uri="{FF2B5EF4-FFF2-40B4-BE49-F238E27FC236}">
                <a16:creationId xmlns:a16="http://schemas.microsoft.com/office/drawing/2014/main" id="{3242CC7A-3D6E-47A4-B9D1-860978459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4" y="0"/>
            <a:ext cx="5282519" cy="6858000"/>
          </a:xfrm>
          <a:custGeom>
            <a:avLst/>
            <a:gdLst>
              <a:gd name="connsiteX0" fmla="*/ 189795 w 5282519"/>
              <a:gd name="connsiteY0" fmla="*/ 0 h 6858000"/>
              <a:gd name="connsiteX1" fmla="*/ 5282519 w 5282519"/>
              <a:gd name="connsiteY1" fmla="*/ 0 h 6858000"/>
              <a:gd name="connsiteX2" fmla="*/ 5282519 w 5282519"/>
              <a:gd name="connsiteY2" fmla="*/ 6858000 h 6858000"/>
              <a:gd name="connsiteX3" fmla="*/ 189795 w 5282519"/>
              <a:gd name="connsiteY3" fmla="*/ 6858000 h 6858000"/>
              <a:gd name="connsiteX4" fmla="*/ 184756 w 5282519"/>
              <a:gd name="connsiteY4" fmla="*/ 6791325 h 6858000"/>
              <a:gd name="connsiteX5" fmla="*/ 176358 w 5282519"/>
              <a:gd name="connsiteY5" fmla="*/ 6735762 h 6858000"/>
              <a:gd name="connsiteX6" fmla="*/ 166281 w 5282519"/>
              <a:gd name="connsiteY6" fmla="*/ 6683375 h 6858000"/>
              <a:gd name="connsiteX7" fmla="*/ 149485 w 5282519"/>
              <a:gd name="connsiteY7" fmla="*/ 6640512 h 6858000"/>
              <a:gd name="connsiteX8" fmla="*/ 132689 w 5282519"/>
              <a:gd name="connsiteY8" fmla="*/ 6597650 h 6858000"/>
              <a:gd name="connsiteX9" fmla="*/ 112534 w 5282519"/>
              <a:gd name="connsiteY9" fmla="*/ 6561137 h 6858000"/>
              <a:gd name="connsiteX10" fmla="*/ 92379 w 5282519"/>
              <a:gd name="connsiteY10" fmla="*/ 6523037 h 6858000"/>
              <a:gd name="connsiteX11" fmla="*/ 73903 w 5282519"/>
              <a:gd name="connsiteY11" fmla="*/ 6488112 h 6858000"/>
              <a:gd name="connsiteX12" fmla="*/ 55427 w 5282519"/>
              <a:gd name="connsiteY12" fmla="*/ 6448425 h 6858000"/>
              <a:gd name="connsiteX13" fmla="*/ 38632 w 5282519"/>
              <a:gd name="connsiteY13" fmla="*/ 6407150 h 6858000"/>
              <a:gd name="connsiteX14" fmla="*/ 23515 w 5282519"/>
              <a:gd name="connsiteY14" fmla="*/ 6361112 h 6858000"/>
              <a:gd name="connsiteX15" fmla="*/ 11758 w 5282519"/>
              <a:gd name="connsiteY15" fmla="*/ 6311900 h 6858000"/>
              <a:gd name="connsiteX16" fmla="*/ 3359 w 5282519"/>
              <a:gd name="connsiteY16" fmla="*/ 6251575 h 6858000"/>
              <a:gd name="connsiteX17" fmla="*/ 0 w 5282519"/>
              <a:gd name="connsiteY17" fmla="*/ 6183312 h 6858000"/>
              <a:gd name="connsiteX18" fmla="*/ 3359 w 5282519"/>
              <a:gd name="connsiteY18" fmla="*/ 6113462 h 6858000"/>
              <a:gd name="connsiteX19" fmla="*/ 11758 w 5282519"/>
              <a:gd name="connsiteY19" fmla="*/ 6056312 h 6858000"/>
              <a:gd name="connsiteX20" fmla="*/ 23515 w 5282519"/>
              <a:gd name="connsiteY20" fmla="*/ 6003925 h 6858000"/>
              <a:gd name="connsiteX21" fmla="*/ 38632 w 5282519"/>
              <a:gd name="connsiteY21" fmla="*/ 5956300 h 6858000"/>
              <a:gd name="connsiteX22" fmla="*/ 55427 w 5282519"/>
              <a:gd name="connsiteY22" fmla="*/ 5915025 h 6858000"/>
              <a:gd name="connsiteX23" fmla="*/ 75583 w 5282519"/>
              <a:gd name="connsiteY23" fmla="*/ 5876925 h 6858000"/>
              <a:gd name="connsiteX24" fmla="*/ 95738 w 5282519"/>
              <a:gd name="connsiteY24" fmla="*/ 5840412 h 6858000"/>
              <a:gd name="connsiteX25" fmla="*/ 115893 w 5282519"/>
              <a:gd name="connsiteY25" fmla="*/ 5802312 h 6858000"/>
              <a:gd name="connsiteX26" fmla="*/ 134368 w 5282519"/>
              <a:gd name="connsiteY26" fmla="*/ 5762625 h 6858000"/>
              <a:gd name="connsiteX27" fmla="*/ 152844 w 5282519"/>
              <a:gd name="connsiteY27" fmla="*/ 5721350 h 6858000"/>
              <a:gd name="connsiteX28" fmla="*/ 167960 w 5282519"/>
              <a:gd name="connsiteY28" fmla="*/ 5675312 h 6858000"/>
              <a:gd name="connsiteX29" fmla="*/ 178038 w 5282519"/>
              <a:gd name="connsiteY29" fmla="*/ 5622925 h 6858000"/>
              <a:gd name="connsiteX30" fmla="*/ 188115 w 5282519"/>
              <a:gd name="connsiteY30" fmla="*/ 5562600 h 6858000"/>
              <a:gd name="connsiteX31" fmla="*/ 189795 w 5282519"/>
              <a:gd name="connsiteY31" fmla="*/ 5494337 h 6858000"/>
              <a:gd name="connsiteX32" fmla="*/ 188115 w 5282519"/>
              <a:gd name="connsiteY32" fmla="*/ 5426075 h 6858000"/>
              <a:gd name="connsiteX33" fmla="*/ 178038 w 5282519"/>
              <a:gd name="connsiteY33" fmla="*/ 5365750 h 6858000"/>
              <a:gd name="connsiteX34" fmla="*/ 167960 w 5282519"/>
              <a:gd name="connsiteY34" fmla="*/ 5313362 h 6858000"/>
              <a:gd name="connsiteX35" fmla="*/ 152844 w 5282519"/>
              <a:gd name="connsiteY35" fmla="*/ 5268912 h 6858000"/>
              <a:gd name="connsiteX36" fmla="*/ 134368 w 5282519"/>
              <a:gd name="connsiteY36" fmla="*/ 5226050 h 6858000"/>
              <a:gd name="connsiteX37" fmla="*/ 115893 w 5282519"/>
              <a:gd name="connsiteY37" fmla="*/ 5186362 h 6858000"/>
              <a:gd name="connsiteX38" fmla="*/ 95738 w 5282519"/>
              <a:gd name="connsiteY38" fmla="*/ 5149850 h 6858000"/>
              <a:gd name="connsiteX39" fmla="*/ 75583 w 5282519"/>
              <a:gd name="connsiteY39" fmla="*/ 5114925 h 6858000"/>
              <a:gd name="connsiteX40" fmla="*/ 55427 w 5282519"/>
              <a:gd name="connsiteY40" fmla="*/ 5075237 h 6858000"/>
              <a:gd name="connsiteX41" fmla="*/ 38632 w 5282519"/>
              <a:gd name="connsiteY41" fmla="*/ 5033962 h 6858000"/>
              <a:gd name="connsiteX42" fmla="*/ 23515 w 5282519"/>
              <a:gd name="connsiteY42" fmla="*/ 4987925 h 6858000"/>
              <a:gd name="connsiteX43" fmla="*/ 11758 w 5282519"/>
              <a:gd name="connsiteY43" fmla="*/ 4935537 h 6858000"/>
              <a:gd name="connsiteX44" fmla="*/ 3359 w 5282519"/>
              <a:gd name="connsiteY44" fmla="*/ 4875212 h 6858000"/>
              <a:gd name="connsiteX45" fmla="*/ 0 w 5282519"/>
              <a:gd name="connsiteY45" fmla="*/ 4806950 h 6858000"/>
              <a:gd name="connsiteX46" fmla="*/ 3359 w 5282519"/>
              <a:gd name="connsiteY46" fmla="*/ 4738687 h 6858000"/>
              <a:gd name="connsiteX47" fmla="*/ 11758 w 5282519"/>
              <a:gd name="connsiteY47" fmla="*/ 4678362 h 6858000"/>
              <a:gd name="connsiteX48" fmla="*/ 23515 w 5282519"/>
              <a:gd name="connsiteY48" fmla="*/ 4625975 h 6858000"/>
              <a:gd name="connsiteX49" fmla="*/ 38632 w 5282519"/>
              <a:gd name="connsiteY49" fmla="*/ 4579937 h 6858000"/>
              <a:gd name="connsiteX50" fmla="*/ 55427 w 5282519"/>
              <a:gd name="connsiteY50" fmla="*/ 4537075 h 6858000"/>
              <a:gd name="connsiteX51" fmla="*/ 75583 w 5282519"/>
              <a:gd name="connsiteY51" fmla="*/ 4498975 h 6858000"/>
              <a:gd name="connsiteX52" fmla="*/ 115893 w 5282519"/>
              <a:gd name="connsiteY52" fmla="*/ 4424362 h 6858000"/>
              <a:gd name="connsiteX53" fmla="*/ 134368 w 5282519"/>
              <a:gd name="connsiteY53" fmla="*/ 4386262 h 6858000"/>
              <a:gd name="connsiteX54" fmla="*/ 152844 w 5282519"/>
              <a:gd name="connsiteY54" fmla="*/ 4343400 h 6858000"/>
              <a:gd name="connsiteX55" fmla="*/ 167960 w 5282519"/>
              <a:gd name="connsiteY55" fmla="*/ 4297362 h 6858000"/>
              <a:gd name="connsiteX56" fmla="*/ 178038 w 5282519"/>
              <a:gd name="connsiteY56" fmla="*/ 4244975 h 6858000"/>
              <a:gd name="connsiteX57" fmla="*/ 188115 w 5282519"/>
              <a:gd name="connsiteY57" fmla="*/ 4186237 h 6858000"/>
              <a:gd name="connsiteX58" fmla="*/ 189795 w 5282519"/>
              <a:gd name="connsiteY58" fmla="*/ 4116387 h 6858000"/>
              <a:gd name="connsiteX59" fmla="*/ 188115 w 5282519"/>
              <a:gd name="connsiteY59" fmla="*/ 4048125 h 6858000"/>
              <a:gd name="connsiteX60" fmla="*/ 178038 w 5282519"/>
              <a:gd name="connsiteY60" fmla="*/ 3987800 h 6858000"/>
              <a:gd name="connsiteX61" fmla="*/ 167960 w 5282519"/>
              <a:gd name="connsiteY61" fmla="*/ 3935412 h 6858000"/>
              <a:gd name="connsiteX62" fmla="*/ 152844 w 5282519"/>
              <a:gd name="connsiteY62" fmla="*/ 3890962 h 6858000"/>
              <a:gd name="connsiteX63" fmla="*/ 134368 w 5282519"/>
              <a:gd name="connsiteY63" fmla="*/ 3848100 h 6858000"/>
              <a:gd name="connsiteX64" fmla="*/ 115893 w 5282519"/>
              <a:gd name="connsiteY64" fmla="*/ 3811587 h 6858000"/>
              <a:gd name="connsiteX65" fmla="*/ 75583 w 5282519"/>
              <a:gd name="connsiteY65" fmla="*/ 3736975 h 6858000"/>
              <a:gd name="connsiteX66" fmla="*/ 55427 w 5282519"/>
              <a:gd name="connsiteY66" fmla="*/ 3697287 h 6858000"/>
              <a:gd name="connsiteX67" fmla="*/ 38632 w 5282519"/>
              <a:gd name="connsiteY67" fmla="*/ 3656012 h 6858000"/>
              <a:gd name="connsiteX68" fmla="*/ 23515 w 5282519"/>
              <a:gd name="connsiteY68" fmla="*/ 3609975 h 6858000"/>
              <a:gd name="connsiteX69" fmla="*/ 11758 w 5282519"/>
              <a:gd name="connsiteY69" fmla="*/ 3557587 h 6858000"/>
              <a:gd name="connsiteX70" fmla="*/ 3359 w 5282519"/>
              <a:gd name="connsiteY70" fmla="*/ 3497262 h 6858000"/>
              <a:gd name="connsiteX71" fmla="*/ 0 w 5282519"/>
              <a:gd name="connsiteY71" fmla="*/ 3427412 h 6858000"/>
              <a:gd name="connsiteX72" fmla="*/ 3359 w 5282519"/>
              <a:gd name="connsiteY72" fmla="*/ 3360737 h 6858000"/>
              <a:gd name="connsiteX73" fmla="*/ 11758 w 5282519"/>
              <a:gd name="connsiteY73" fmla="*/ 3300412 h 6858000"/>
              <a:gd name="connsiteX74" fmla="*/ 23515 w 5282519"/>
              <a:gd name="connsiteY74" fmla="*/ 3248025 h 6858000"/>
              <a:gd name="connsiteX75" fmla="*/ 38632 w 5282519"/>
              <a:gd name="connsiteY75" fmla="*/ 3201987 h 6858000"/>
              <a:gd name="connsiteX76" fmla="*/ 55427 w 5282519"/>
              <a:gd name="connsiteY76" fmla="*/ 3160712 h 6858000"/>
              <a:gd name="connsiteX77" fmla="*/ 75583 w 5282519"/>
              <a:gd name="connsiteY77" fmla="*/ 3121025 h 6858000"/>
              <a:gd name="connsiteX78" fmla="*/ 95738 w 5282519"/>
              <a:gd name="connsiteY78" fmla="*/ 3084512 h 6858000"/>
              <a:gd name="connsiteX79" fmla="*/ 115893 w 5282519"/>
              <a:gd name="connsiteY79" fmla="*/ 3046412 h 6858000"/>
              <a:gd name="connsiteX80" fmla="*/ 134368 w 5282519"/>
              <a:gd name="connsiteY80" fmla="*/ 3009900 h 6858000"/>
              <a:gd name="connsiteX81" fmla="*/ 152844 w 5282519"/>
              <a:gd name="connsiteY81" fmla="*/ 2967037 h 6858000"/>
              <a:gd name="connsiteX82" fmla="*/ 167960 w 5282519"/>
              <a:gd name="connsiteY82" fmla="*/ 2922587 h 6858000"/>
              <a:gd name="connsiteX83" fmla="*/ 178038 w 5282519"/>
              <a:gd name="connsiteY83" fmla="*/ 2868612 h 6858000"/>
              <a:gd name="connsiteX84" fmla="*/ 188115 w 5282519"/>
              <a:gd name="connsiteY84" fmla="*/ 2809875 h 6858000"/>
              <a:gd name="connsiteX85" fmla="*/ 189795 w 5282519"/>
              <a:gd name="connsiteY85" fmla="*/ 2741612 h 6858000"/>
              <a:gd name="connsiteX86" fmla="*/ 188115 w 5282519"/>
              <a:gd name="connsiteY86" fmla="*/ 2671762 h 6858000"/>
              <a:gd name="connsiteX87" fmla="*/ 178038 w 5282519"/>
              <a:gd name="connsiteY87" fmla="*/ 2613025 h 6858000"/>
              <a:gd name="connsiteX88" fmla="*/ 167960 w 5282519"/>
              <a:gd name="connsiteY88" fmla="*/ 2560637 h 6858000"/>
              <a:gd name="connsiteX89" fmla="*/ 152844 w 5282519"/>
              <a:gd name="connsiteY89" fmla="*/ 2513012 h 6858000"/>
              <a:gd name="connsiteX90" fmla="*/ 134368 w 5282519"/>
              <a:gd name="connsiteY90" fmla="*/ 2471737 h 6858000"/>
              <a:gd name="connsiteX91" fmla="*/ 115893 w 5282519"/>
              <a:gd name="connsiteY91" fmla="*/ 2433637 h 6858000"/>
              <a:gd name="connsiteX92" fmla="*/ 95738 w 5282519"/>
              <a:gd name="connsiteY92" fmla="*/ 2395537 h 6858000"/>
              <a:gd name="connsiteX93" fmla="*/ 75583 w 5282519"/>
              <a:gd name="connsiteY93" fmla="*/ 2359025 h 6858000"/>
              <a:gd name="connsiteX94" fmla="*/ 55427 w 5282519"/>
              <a:gd name="connsiteY94" fmla="*/ 2319337 h 6858000"/>
              <a:gd name="connsiteX95" fmla="*/ 38632 w 5282519"/>
              <a:gd name="connsiteY95" fmla="*/ 2278062 h 6858000"/>
              <a:gd name="connsiteX96" fmla="*/ 23515 w 5282519"/>
              <a:gd name="connsiteY96" fmla="*/ 2232025 h 6858000"/>
              <a:gd name="connsiteX97" fmla="*/ 11758 w 5282519"/>
              <a:gd name="connsiteY97" fmla="*/ 2179637 h 6858000"/>
              <a:gd name="connsiteX98" fmla="*/ 3359 w 5282519"/>
              <a:gd name="connsiteY98" fmla="*/ 2119312 h 6858000"/>
              <a:gd name="connsiteX99" fmla="*/ 0 w 5282519"/>
              <a:gd name="connsiteY99" fmla="*/ 2051050 h 6858000"/>
              <a:gd name="connsiteX100" fmla="*/ 3359 w 5282519"/>
              <a:gd name="connsiteY100" fmla="*/ 1982787 h 6858000"/>
              <a:gd name="connsiteX101" fmla="*/ 11758 w 5282519"/>
              <a:gd name="connsiteY101" fmla="*/ 1922462 h 6858000"/>
              <a:gd name="connsiteX102" fmla="*/ 23515 w 5282519"/>
              <a:gd name="connsiteY102" fmla="*/ 1870075 h 6858000"/>
              <a:gd name="connsiteX103" fmla="*/ 38632 w 5282519"/>
              <a:gd name="connsiteY103" fmla="*/ 1824037 h 6858000"/>
              <a:gd name="connsiteX104" fmla="*/ 55427 w 5282519"/>
              <a:gd name="connsiteY104" fmla="*/ 1782762 h 6858000"/>
              <a:gd name="connsiteX105" fmla="*/ 75583 w 5282519"/>
              <a:gd name="connsiteY105" fmla="*/ 1743075 h 6858000"/>
              <a:gd name="connsiteX106" fmla="*/ 95738 w 5282519"/>
              <a:gd name="connsiteY106" fmla="*/ 1708150 h 6858000"/>
              <a:gd name="connsiteX107" fmla="*/ 115893 w 5282519"/>
              <a:gd name="connsiteY107" fmla="*/ 1671637 h 6858000"/>
              <a:gd name="connsiteX108" fmla="*/ 134368 w 5282519"/>
              <a:gd name="connsiteY108" fmla="*/ 1631950 h 6858000"/>
              <a:gd name="connsiteX109" fmla="*/ 152844 w 5282519"/>
              <a:gd name="connsiteY109" fmla="*/ 1589087 h 6858000"/>
              <a:gd name="connsiteX110" fmla="*/ 167960 w 5282519"/>
              <a:gd name="connsiteY110" fmla="*/ 1544637 h 6858000"/>
              <a:gd name="connsiteX111" fmla="*/ 178038 w 5282519"/>
              <a:gd name="connsiteY111" fmla="*/ 1492250 h 6858000"/>
              <a:gd name="connsiteX112" fmla="*/ 188115 w 5282519"/>
              <a:gd name="connsiteY112" fmla="*/ 1431925 h 6858000"/>
              <a:gd name="connsiteX113" fmla="*/ 189795 w 5282519"/>
              <a:gd name="connsiteY113" fmla="*/ 1363662 h 6858000"/>
              <a:gd name="connsiteX114" fmla="*/ 188115 w 5282519"/>
              <a:gd name="connsiteY114" fmla="*/ 1295400 h 6858000"/>
              <a:gd name="connsiteX115" fmla="*/ 178038 w 5282519"/>
              <a:gd name="connsiteY115" fmla="*/ 1235075 h 6858000"/>
              <a:gd name="connsiteX116" fmla="*/ 167960 w 5282519"/>
              <a:gd name="connsiteY116" fmla="*/ 1182687 h 6858000"/>
              <a:gd name="connsiteX117" fmla="*/ 152844 w 5282519"/>
              <a:gd name="connsiteY117" fmla="*/ 1136650 h 6858000"/>
              <a:gd name="connsiteX118" fmla="*/ 134368 w 5282519"/>
              <a:gd name="connsiteY118" fmla="*/ 1095375 h 6858000"/>
              <a:gd name="connsiteX119" fmla="*/ 115893 w 5282519"/>
              <a:gd name="connsiteY119" fmla="*/ 1055687 h 6858000"/>
              <a:gd name="connsiteX120" fmla="*/ 95738 w 5282519"/>
              <a:gd name="connsiteY120" fmla="*/ 1017587 h 6858000"/>
              <a:gd name="connsiteX121" fmla="*/ 75583 w 5282519"/>
              <a:gd name="connsiteY121" fmla="*/ 981075 h 6858000"/>
              <a:gd name="connsiteX122" fmla="*/ 55427 w 5282519"/>
              <a:gd name="connsiteY122" fmla="*/ 942975 h 6858000"/>
              <a:gd name="connsiteX123" fmla="*/ 38632 w 5282519"/>
              <a:gd name="connsiteY123" fmla="*/ 901700 h 6858000"/>
              <a:gd name="connsiteX124" fmla="*/ 23515 w 5282519"/>
              <a:gd name="connsiteY124" fmla="*/ 854075 h 6858000"/>
              <a:gd name="connsiteX125" fmla="*/ 11758 w 5282519"/>
              <a:gd name="connsiteY125" fmla="*/ 801687 h 6858000"/>
              <a:gd name="connsiteX126" fmla="*/ 3359 w 5282519"/>
              <a:gd name="connsiteY126" fmla="*/ 744537 h 6858000"/>
              <a:gd name="connsiteX127" fmla="*/ 0 w 5282519"/>
              <a:gd name="connsiteY127" fmla="*/ 673100 h 6858000"/>
              <a:gd name="connsiteX128" fmla="*/ 3359 w 5282519"/>
              <a:gd name="connsiteY128" fmla="*/ 606425 h 6858000"/>
              <a:gd name="connsiteX129" fmla="*/ 11758 w 5282519"/>
              <a:gd name="connsiteY129" fmla="*/ 546100 h 6858000"/>
              <a:gd name="connsiteX130" fmla="*/ 23515 w 5282519"/>
              <a:gd name="connsiteY130" fmla="*/ 496887 h 6858000"/>
              <a:gd name="connsiteX131" fmla="*/ 38632 w 5282519"/>
              <a:gd name="connsiteY131" fmla="*/ 450850 h 6858000"/>
              <a:gd name="connsiteX132" fmla="*/ 55427 w 5282519"/>
              <a:gd name="connsiteY132" fmla="*/ 409575 h 6858000"/>
              <a:gd name="connsiteX133" fmla="*/ 73903 w 5282519"/>
              <a:gd name="connsiteY133" fmla="*/ 369887 h 6858000"/>
              <a:gd name="connsiteX134" fmla="*/ 92379 w 5282519"/>
              <a:gd name="connsiteY134" fmla="*/ 334962 h 6858000"/>
              <a:gd name="connsiteX135" fmla="*/ 112534 w 5282519"/>
              <a:gd name="connsiteY135" fmla="*/ 296862 h 6858000"/>
              <a:gd name="connsiteX136" fmla="*/ 132689 w 5282519"/>
              <a:gd name="connsiteY136" fmla="*/ 260350 h 6858000"/>
              <a:gd name="connsiteX137" fmla="*/ 149485 w 5282519"/>
              <a:gd name="connsiteY137" fmla="*/ 217487 h 6858000"/>
              <a:gd name="connsiteX138" fmla="*/ 166281 w 5282519"/>
              <a:gd name="connsiteY138" fmla="*/ 174625 h 6858000"/>
              <a:gd name="connsiteX139" fmla="*/ 176358 w 5282519"/>
              <a:gd name="connsiteY139" fmla="*/ 122237 h 6858000"/>
              <a:gd name="connsiteX140" fmla="*/ 184756 w 5282519"/>
              <a:gd name="connsiteY140"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World map with flight paths">
            <a:extLst>
              <a:ext uri="{FF2B5EF4-FFF2-40B4-BE49-F238E27FC236}">
                <a16:creationId xmlns:a16="http://schemas.microsoft.com/office/drawing/2014/main" id="{BE11BF3F-9FEB-07A4-DFC1-2C1A0B45E610}"/>
              </a:ext>
            </a:extLst>
          </p:cNvPr>
          <p:cNvPicPr>
            <a:picLocks noChangeAspect="1"/>
          </p:cNvPicPr>
          <p:nvPr/>
        </p:nvPicPr>
        <p:blipFill>
          <a:blip r:embed="rId2"/>
          <a:srcRect l="19992" r="27437" b="1"/>
          <a:stretch>
            <a:fillRect/>
          </a:stretch>
        </p:blipFill>
        <p:spPr>
          <a:xfrm>
            <a:off x="6909481" y="10"/>
            <a:ext cx="5282519" cy="6857990"/>
          </a:xfrm>
          <a:custGeom>
            <a:avLst/>
            <a:gdLst/>
            <a:ahLst/>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p:spPr>
      </p:pic>
    </p:spTree>
    <p:extLst>
      <p:ext uri="{BB962C8B-B14F-4D97-AF65-F5344CB8AC3E}">
        <p14:creationId xmlns:p14="http://schemas.microsoft.com/office/powerpoint/2010/main" val="379953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492132"/>
          </a:xfrm>
        </p:spPr>
        <p:txBody>
          <a:bodyPr anchor="ctr">
            <a:normAutofit/>
          </a:bodyPr>
          <a:lstStyle/>
          <a:p>
            <a:r>
              <a:rPr dirty="0"/>
              <a:t>International Trade – Unit 2</a:t>
            </a:r>
          </a:p>
        </p:txBody>
      </p:sp>
      <p:graphicFrame>
        <p:nvGraphicFramePr>
          <p:cNvPr id="5" name="Content Placeholder 2">
            <a:extLst>
              <a:ext uri="{FF2B5EF4-FFF2-40B4-BE49-F238E27FC236}">
                <a16:creationId xmlns:a16="http://schemas.microsoft.com/office/drawing/2014/main" id="{8ACCE45E-AE9E-6D2E-6BB8-D58D24FFCEA5}"/>
              </a:ext>
            </a:extLst>
          </p:cNvPr>
          <p:cNvGraphicFramePr>
            <a:graphicFrameLocks noGrp="1"/>
          </p:cNvGraphicFramePr>
          <p:nvPr>
            <p:ph idx="1"/>
            <p:extLst>
              <p:ext uri="{D42A27DB-BD31-4B8C-83A1-F6EECF244321}">
                <p14:modId xmlns:p14="http://schemas.microsoft.com/office/powerpoint/2010/main" val="234706588"/>
              </p:ext>
            </p:extLst>
          </p:nvPr>
        </p:nvGraphicFramePr>
        <p:xfrm>
          <a:off x="1250950" y="1556657"/>
          <a:ext cx="10179050" cy="46808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dirty="0"/>
              <a:t>Introduction to International Trade</a:t>
            </a:r>
          </a:p>
        </p:txBody>
      </p:sp>
      <p:sp>
        <p:nvSpPr>
          <p:cNvPr id="13" name="Rectangle 12">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765051" y="2443140"/>
            <a:ext cx="6306309" cy="3930227"/>
          </a:xfrm>
        </p:spPr>
        <p:txBody>
          <a:bodyPr>
            <a:normAutofit/>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International trade refers to the exchange of goods and services between different countries. It enables nations to access products that are not available domestically or that can be produced more efficiently in other countries.</a:t>
            </a:r>
          </a:p>
          <a:p>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Times New Roman" panose="02020603050405020304" pitchFamily="18" charset="0"/>
                <a:cs typeface="Times New Roman" panose="02020603050405020304" pitchFamily="18" charset="0"/>
              </a:rPr>
              <a:t>International trade helps improve economic growth and promotes cooperation among nations.</a:t>
            </a:r>
          </a:p>
          <a:p>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Times New Roman" panose="02020603050405020304" pitchFamily="18" charset="0"/>
                <a:cs typeface="Times New Roman" panose="02020603050405020304" pitchFamily="18" charset="0"/>
              </a:rPr>
              <a:t>Example: </a:t>
            </a:r>
            <a:r>
              <a:rPr lang="en-US" dirty="0">
                <a:solidFill>
                  <a:srgbClr val="FF0000"/>
                </a:solidFill>
                <a:latin typeface="Times New Roman" panose="02020603050405020304" pitchFamily="18" charset="0"/>
                <a:cs typeface="Times New Roman" panose="02020603050405020304" pitchFamily="18" charset="0"/>
              </a:rPr>
              <a:t>India exporting textiles and importing crude oil.</a:t>
            </a:r>
          </a:p>
        </p:txBody>
      </p:sp>
      <p:pic>
        <p:nvPicPr>
          <p:cNvPr id="4" name="Picture 3">
            <a:extLst>
              <a:ext uri="{FF2B5EF4-FFF2-40B4-BE49-F238E27FC236}">
                <a16:creationId xmlns:a16="http://schemas.microsoft.com/office/drawing/2014/main" id="{C6941DAA-6EE9-ABB2-C819-D5C2C3F1D81F}"/>
              </a:ext>
            </a:extLst>
          </p:cNvPr>
          <p:cNvPicPr>
            <a:picLocks noChangeAspect="1"/>
          </p:cNvPicPr>
          <p:nvPr/>
        </p:nvPicPr>
        <p:blipFill>
          <a:blip r:embed="rId2"/>
          <a:stretch>
            <a:fillRect/>
          </a:stretch>
        </p:blipFill>
        <p:spPr>
          <a:xfrm>
            <a:off x="7743039" y="2443140"/>
            <a:ext cx="4181491" cy="22789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dirty="0"/>
              <a:t>Meaning of International Trade</a:t>
            </a:r>
          </a:p>
        </p:txBody>
      </p:sp>
      <p:sp>
        <p:nvSpPr>
          <p:cNvPr id="17" name="Rectangle 16">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Content Placeholder 2">
            <a:extLst>
              <a:ext uri="{FF2B5EF4-FFF2-40B4-BE49-F238E27FC236}">
                <a16:creationId xmlns:a16="http://schemas.microsoft.com/office/drawing/2014/main" id="{2CD718C7-EA68-AFA8-989A-67C2FCFEFB88}"/>
              </a:ext>
            </a:extLst>
          </p:cNvPr>
          <p:cNvSpPr>
            <a:spLocks noGrp="1"/>
          </p:cNvSpPr>
          <p:nvPr>
            <p:ph idx="1"/>
          </p:nvPr>
        </p:nvSpPr>
        <p:spPr>
          <a:xfrm>
            <a:off x="373375" y="2123100"/>
            <a:ext cx="6811198" cy="4479831"/>
          </a:xfrm>
        </p:spPr>
        <p:txBody>
          <a:bodyPr>
            <a:normAutofit fontScale="92500"/>
          </a:bodyPr>
          <a:lstStyle/>
          <a:p>
            <a:pPr marL="0" indent="0">
              <a:lnSpc>
                <a:spcPct val="100000"/>
              </a:lnSpc>
              <a:buNone/>
            </a:pPr>
            <a:r>
              <a:rPr lang="en-US" sz="1800" b="1" dirty="0">
                <a:solidFill>
                  <a:schemeClr val="tx1"/>
                </a:solidFill>
                <a:latin typeface="Times New Roman" panose="02020603050405020304" pitchFamily="18" charset="0"/>
                <a:cs typeface="Times New Roman" panose="02020603050405020304" pitchFamily="18" charset="0"/>
              </a:rPr>
              <a:t>International trade</a:t>
            </a:r>
            <a:r>
              <a:rPr lang="en-US" sz="1800" dirty="0">
                <a:solidFill>
                  <a:schemeClr val="tx1"/>
                </a:solidFill>
                <a:latin typeface="Times New Roman" panose="02020603050405020304" pitchFamily="18" charset="0"/>
                <a:cs typeface="Times New Roman" panose="02020603050405020304" pitchFamily="18" charset="0"/>
              </a:rPr>
              <a:t> refers to the exchange of goods, services, and capital between different countries. It involves the buying and selling of products across national borders through activities such as exports and imports. Countries participate in international trade to obtain goods that they cannot produce efficiently or to sell products in which they have a production advantage.</a:t>
            </a:r>
          </a:p>
          <a:p>
            <a:pPr marL="0" indent="0">
              <a:lnSpc>
                <a:spcPct val="100000"/>
              </a:lnSpc>
              <a:buNone/>
            </a:pPr>
            <a:r>
              <a:rPr lang="en-US" sz="1800" dirty="0">
                <a:solidFill>
                  <a:schemeClr val="tx1"/>
                </a:solidFill>
                <a:latin typeface="Times New Roman" panose="02020603050405020304" pitchFamily="18" charset="0"/>
                <a:cs typeface="Times New Roman" panose="02020603050405020304" pitchFamily="18" charset="0"/>
              </a:rPr>
              <a:t>International trade allows countries to specialize in producing goods and services based on their resources, technology, and skills. By trading with other nations, countries can improve economic growth, increase productivity, and provide consumers with a wider variety of products. It also strengthens economic relationships and cooperation among countries.</a:t>
            </a:r>
          </a:p>
          <a:p>
            <a:pPr marL="0" indent="0">
              <a:lnSpc>
                <a:spcPct val="100000"/>
              </a:lnSpc>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nSpc>
                <a:spcPct val="100000"/>
              </a:lnSpc>
              <a:buNone/>
            </a:pPr>
            <a:r>
              <a:rPr lang="en-US" sz="1800" b="1" dirty="0">
                <a:solidFill>
                  <a:schemeClr val="tx1"/>
                </a:solidFill>
                <a:latin typeface="Times New Roman" panose="02020603050405020304" pitchFamily="18" charset="0"/>
                <a:cs typeface="Times New Roman" panose="02020603050405020304" pitchFamily="18" charset="0"/>
              </a:rPr>
              <a:t>Example: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rgbClr val="FF0000"/>
                </a:solidFill>
                <a:latin typeface="Times New Roman" panose="02020603050405020304" pitchFamily="18" charset="0"/>
                <a:cs typeface="Times New Roman" panose="02020603050405020304" pitchFamily="18" charset="0"/>
              </a:rPr>
              <a:t>India exporting software services to the United States and importing crude oil from Middle Eastern countries is an example of international trade.</a:t>
            </a:r>
          </a:p>
          <a:p>
            <a:pPr>
              <a:lnSpc>
                <a:spcPct val="100000"/>
              </a:lnSpc>
            </a:pP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6ABB6C8C-0860-0BFC-CF4F-1A5DB4E8E1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84573" y="2123100"/>
            <a:ext cx="4735284" cy="351594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492132"/>
          </a:xfrm>
        </p:spPr>
        <p:txBody>
          <a:bodyPr>
            <a:normAutofit/>
          </a:bodyPr>
          <a:lstStyle/>
          <a:p>
            <a:r>
              <a:rPr dirty="0"/>
              <a:t>Importance of International Trade</a:t>
            </a:r>
          </a:p>
        </p:txBody>
      </p:sp>
      <p:pic>
        <p:nvPicPr>
          <p:cNvPr id="8" name="Graphic 7" descr="Business Growth">
            <a:extLst>
              <a:ext uri="{FF2B5EF4-FFF2-40B4-BE49-F238E27FC236}">
                <a16:creationId xmlns:a16="http://schemas.microsoft.com/office/drawing/2014/main" id="{07F0A2A5-45ED-BD90-3A10-128DE0E522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7662" y="2286001"/>
            <a:ext cx="2960017" cy="2960017"/>
          </a:xfrm>
          <a:prstGeom prst="rect">
            <a:avLst/>
          </a:prstGeom>
        </p:spPr>
      </p:pic>
      <p:sp>
        <p:nvSpPr>
          <p:cNvPr id="4" name="Rectangle 1">
            <a:extLst>
              <a:ext uri="{FF2B5EF4-FFF2-40B4-BE49-F238E27FC236}">
                <a16:creationId xmlns:a16="http://schemas.microsoft.com/office/drawing/2014/main" id="{739B7854-3213-AD7D-8BF1-19B5F7914C0A}"/>
              </a:ext>
            </a:extLst>
          </p:cNvPr>
          <p:cNvSpPr>
            <a:spLocks noGrp="1" noChangeArrowheads="1"/>
          </p:cNvSpPr>
          <p:nvPr>
            <p:ph idx="1"/>
          </p:nvPr>
        </p:nvSpPr>
        <p:spPr bwMode="auto">
          <a:xfrm>
            <a:off x="4667679" y="1280160"/>
            <a:ext cx="6838748" cy="519545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Expansion of Markets</a:t>
            </a:r>
            <a:r>
              <a:rPr kumimoji="0" lang="en-US" altLang="en-US" sz="1600" b="0" i="0" u="none" strike="noStrike" cap="none" normalizeH="0" baseline="0" dirty="0">
                <a:ln>
                  <a:noFill/>
                </a:ln>
                <a:effectLst/>
                <a:latin typeface="Arial" panose="020B0604020202020204" pitchFamily="34" charset="0"/>
              </a:rPr>
              <a:t> – Businesses can sell their products in international markets, increasing sales and growth opportunities.</a:t>
            </a:r>
          </a:p>
          <a:p>
            <a:pPr marL="0" marR="0" lvl="0" indent="0" defTabSz="914400" rtl="0" eaLnBrk="0" fontAlgn="base" latinLnBrk="0" hangingPunct="0">
              <a:lnSpc>
                <a:spcPct val="100000"/>
              </a:lnSpc>
              <a:spcBef>
                <a:spcPct val="0"/>
              </a:spcBef>
              <a:spcAft>
                <a:spcPts val="600"/>
              </a:spcAft>
              <a:buClrTx/>
              <a:buSzTx/>
              <a:buNone/>
              <a:tabLst/>
            </a:pPr>
            <a:br>
              <a:rPr kumimoji="0" lang="en-US" altLang="en-US" sz="1600" b="0" i="0" u="none" strike="noStrike" cap="none" normalizeH="0" baseline="0" dirty="0">
                <a:ln>
                  <a:noFill/>
                </a:ln>
                <a:effectLst/>
                <a:latin typeface="Arial" panose="020B0604020202020204" pitchFamily="34" charset="0"/>
              </a:rPr>
            </a:br>
            <a:r>
              <a:rPr kumimoji="0" lang="en-US" altLang="en-US" sz="1600" b="1" i="0" u="none" strike="noStrike" cap="none" normalizeH="0" baseline="0" dirty="0">
                <a:ln>
                  <a:noFill/>
                </a:ln>
                <a:effectLst/>
                <a:latin typeface="Arial" panose="020B0604020202020204" pitchFamily="34" charset="0"/>
              </a:rPr>
              <a:t>Efficient Use of Resources</a:t>
            </a:r>
            <a:r>
              <a:rPr kumimoji="0" lang="en-US" altLang="en-US" sz="1600" b="0" i="0" u="none" strike="noStrike" cap="none" normalizeH="0" baseline="0" dirty="0">
                <a:ln>
                  <a:noFill/>
                </a:ln>
                <a:effectLst/>
                <a:latin typeface="Arial" panose="020B0604020202020204" pitchFamily="34" charset="0"/>
              </a:rPr>
              <a:t> – Countries specialize in producing goods where they have advantages, improving productivity.</a:t>
            </a:r>
          </a:p>
          <a:p>
            <a:pPr marL="0" marR="0" lvl="0" indent="0" defTabSz="914400" rtl="0" eaLnBrk="0" fontAlgn="base" latinLnBrk="0" hangingPunct="0">
              <a:lnSpc>
                <a:spcPct val="100000"/>
              </a:lnSpc>
              <a:spcBef>
                <a:spcPct val="0"/>
              </a:spcBef>
              <a:spcAft>
                <a:spcPts val="600"/>
              </a:spcAft>
              <a:buClrTx/>
              <a:buSzTx/>
              <a:buNone/>
              <a:tabLst/>
            </a:pPr>
            <a:br>
              <a:rPr kumimoji="0" lang="en-US" altLang="en-US" sz="1600" b="0" i="0" u="none" strike="noStrike" cap="none" normalizeH="0" baseline="0" dirty="0">
                <a:ln>
                  <a:noFill/>
                </a:ln>
                <a:effectLst/>
                <a:latin typeface="Arial" panose="020B0604020202020204" pitchFamily="34" charset="0"/>
              </a:rPr>
            </a:br>
            <a:r>
              <a:rPr kumimoji="0" lang="en-US" altLang="en-US" sz="1600" b="1" i="0" u="none" strike="noStrike" cap="none" normalizeH="0" baseline="0" dirty="0">
                <a:ln>
                  <a:noFill/>
                </a:ln>
                <a:effectLst/>
                <a:latin typeface="Arial" panose="020B0604020202020204" pitchFamily="34" charset="0"/>
              </a:rPr>
              <a:t>Economic Growth</a:t>
            </a:r>
            <a:r>
              <a:rPr kumimoji="0" lang="en-US" altLang="en-US" sz="1600" b="0" i="0" u="none" strike="noStrike" cap="none" normalizeH="0" baseline="0" dirty="0">
                <a:ln>
                  <a:noFill/>
                </a:ln>
                <a:effectLst/>
                <a:latin typeface="Arial" panose="020B0604020202020204" pitchFamily="34" charset="0"/>
              </a:rPr>
              <a:t> – International trade contributes to national income, employment opportunities, and overall economic development.</a:t>
            </a:r>
          </a:p>
          <a:p>
            <a:pPr marL="0" marR="0" lvl="0" indent="0" defTabSz="914400" rtl="0" eaLnBrk="0" fontAlgn="base" latinLnBrk="0" hangingPunct="0">
              <a:lnSpc>
                <a:spcPct val="100000"/>
              </a:lnSpc>
              <a:spcBef>
                <a:spcPct val="0"/>
              </a:spcBef>
              <a:spcAft>
                <a:spcPts val="600"/>
              </a:spcAft>
              <a:buClrTx/>
              <a:buSz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Access to Technology and Innovation</a:t>
            </a:r>
            <a:r>
              <a:rPr kumimoji="0" lang="en-US" altLang="en-US" sz="1600" b="0" i="0" u="none" strike="noStrike" cap="none" normalizeH="0" baseline="0" dirty="0">
                <a:ln>
                  <a:noFill/>
                </a:ln>
                <a:effectLst/>
                <a:latin typeface="Arial" panose="020B0604020202020204" pitchFamily="34" charset="0"/>
              </a:rPr>
              <a:t> – Countries gain access to modern technology and advanced production techniques through international trade.</a:t>
            </a:r>
          </a:p>
          <a:p>
            <a:pPr marL="0" marR="0" lvl="0" indent="0" defTabSz="914400" rtl="0" eaLnBrk="0" fontAlgn="base" latinLnBrk="0" hangingPunct="0">
              <a:lnSpc>
                <a:spcPct val="100000"/>
              </a:lnSpc>
              <a:spcBef>
                <a:spcPct val="0"/>
              </a:spcBef>
              <a:spcAft>
                <a:spcPts val="600"/>
              </a:spcAft>
              <a:buClrTx/>
              <a:buSzTx/>
              <a:buFontTx/>
              <a:buChar char="•"/>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Improved Product Variety for Consumers</a:t>
            </a:r>
            <a:r>
              <a:rPr kumimoji="0" lang="en-US" altLang="en-US" sz="1600" b="0" i="0" u="none" strike="noStrike" cap="none" normalizeH="0" baseline="0" dirty="0">
                <a:ln>
                  <a:noFill/>
                </a:ln>
                <a:effectLst/>
                <a:latin typeface="Arial" panose="020B0604020202020204" pitchFamily="34" charset="0"/>
              </a:rPr>
              <a:t> – Consumers can access a wide range of goods from different countries.</a:t>
            </a:r>
          </a:p>
          <a:p>
            <a:pPr marL="0" marR="0" lvl="0" indent="0" defTabSz="914400" rtl="0" eaLnBrk="0" fontAlgn="base" latinLnBrk="0" hangingPunct="0">
              <a:lnSpc>
                <a:spcPct val="100000"/>
              </a:lnSpc>
              <a:spcBef>
                <a:spcPct val="0"/>
              </a:spcBef>
              <a:spcAft>
                <a:spcPts val="600"/>
              </a:spcAft>
              <a:buClrTx/>
              <a:buSzTx/>
              <a:buFontTx/>
              <a:buChar char="•"/>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Strengthening International Relations</a:t>
            </a:r>
            <a:r>
              <a:rPr kumimoji="0" lang="en-US" altLang="en-US" sz="1600" b="0" i="0" u="none" strike="noStrike" cap="none" normalizeH="0" baseline="0" dirty="0">
                <a:ln>
                  <a:noFill/>
                </a:ln>
                <a:effectLst/>
                <a:latin typeface="Arial" panose="020B0604020202020204" pitchFamily="34" charset="0"/>
              </a:rPr>
              <a:t> – Trade encourages cooperation and stronger economic relationships between nations.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996" y="382385"/>
            <a:ext cx="10668004" cy="1113295"/>
          </a:xfrm>
        </p:spPr>
        <p:txBody>
          <a:bodyPr anchor="b">
            <a:normAutofit/>
          </a:bodyPr>
          <a:lstStyle/>
          <a:p>
            <a:pPr algn="ctr"/>
            <a:r>
              <a:rPr dirty="0"/>
              <a:t>International Trade Theory</a:t>
            </a:r>
            <a:endParaRPr lang="en-IN" dirty="0"/>
          </a:p>
        </p:txBody>
      </p:sp>
      <p:sp>
        <p:nvSpPr>
          <p:cNvPr id="3" name="Content Placeholder 2"/>
          <p:cNvSpPr>
            <a:spLocks noGrp="1"/>
          </p:cNvSpPr>
          <p:nvPr>
            <p:ph idx="1"/>
          </p:nvPr>
        </p:nvSpPr>
        <p:spPr>
          <a:xfrm>
            <a:off x="761996" y="1785257"/>
            <a:ext cx="10668004" cy="3720394"/>
          </a:xfrm>
        </p:spPr>
        <p:txBody>
          <a:bodyPr>
            <a:normAutofit/>
          </a:bodyPr>
          <a:lstStyle/>
          <a:p>
            <a:pPr>
              <a:lnSpc>
                <a:spcPct val="100000"/>
              </a:lnSpc>
            </a:pPr>
            <a:r>
              <a:rPr lang="en-US" sz="1900" b="1" dirty="0">
                <a:latin typeface="Times New Roman" panose="02020603050405020304" pitchFamily="18" charset="0"/>
                <a:cs typeface="Times New Roman" panose="02020603050405020304" pitchFamily="18" charset="0"/>
              </a:rPr>
              <a:t>International trade theory</a:t>
            </a:r>
            <a:r>
              <a:rPr lang="en-US" sz="1900" dirty="0">
                <a:latin typeface="Times New Roman" panose="02020603050405020304" pitchFamily="18" charset="0"/>
                <a:cs typeface="Times New Roman" panose="02020603050405020304" pitchFamily="18" charset="0"/>
              </a:rPr>
              <a:t> refers to the set of economic ideas and principles that explain why countries engage in trade with each other and how they benefit from it. These theories analyze how differences in resources, labor, technology, and productivity influence the production and exchange of goods and services between nations. International trade theory helps economists, governments, and businesses understand global trade patterns and develop strategies for participating in international markets.</a:t>
            </a:r>
          </a:p>
          <a:p>
            <a:pPr marL="0" indent="0">
              <a:lnSpc>
                <a:spcPct val="100000"/>
              </a:lnSpc>
              <a:buNone/>
            </a:pPr>
            <a:endParaRPr lang="en-US" sz="1900" dirty="0">
              <a:latin typeface="Times New Roman" panose="02020603050405020304" pitchFamily="18" charset="0"/>
              <a:cs typeface="Times New Roman" panose="02020603050405020304" pitchFamily="18" charset="0"/>
            </a:endParaRPr>
          </a:p>
          <a:p>
            <a:pPr>
              <a:lnSpc>
                <a:spcPct val="100000"/>
              </a:lnSpc>
            </a:pPr>
            <a:r>
              <a:rPr lang="en-US" sz="1900" dirty="0">
                <a:latin typeface="Times New Roman" panose="02020603050405020304" pitchFamily="18" charset="0"/>
                <a:cs typeface="Times New Roman" panose="02020603050405020304" pitchFamily="18" charset="0"/>
              </a:rPr>
              <a:t>International trade theories also emphasize the concept of </a:t>
            </a:r>
            <a:r>
              <a:rPr lang="en-US" sz="1900" b="1" dirty="0">
                <a:latin typeface="Times New Roman" panose="02020603050405020304" pitchFamily="18" charset="0"/>
                <a:cs typeface="Times New Roman" panose="02020603050405020304" pitchFamily="18" charset="0"/>
              </a:rPr>
              <a:t>specialization</a:t>
            </a:r>
            <a:r>
              <a:rPr lang="en-US" sz="1900" dirty="0">
                <a:latin typeface="Times New Roman" panose="02020603050405020304" pitchFamily="18" charset="0"/>
                <a:cs typeface="Times New Roman" panose="02020603050405020304" pitchFamily="18" charset="0"/>
              </a:rPr>
              <a:t>, where countries focus on producing goods that they can produce more efficiently than others. By specializing and trading with other nations, countries can improve productivity, reduce production costs, and increase the availability of goods and services in global markets. These theories provide the foundation for understanding modern international trade practices and policies.</a:t>
            </a:r>
          </a:p>
          <a:p>
            <a:pPr>
              <a:lnSpc>
                <a:spcPct val="100000"/>
              </a:lnSpc>
            </a:pPr>
            <a:endParaRPr lang="en-US" sz="19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9341C5E-2393-2E95-7B5D-E50A590BA86F}"/>
              </a:ext>
            </a:extLst>
          </p:cNvPr>
          <p:cNvGraphicFramePr>
            <a:graphicFrameLocks noGrp="1"/>
          </p:cNvGraphicFramePr>
          <p:nvPr>
            <p:ph idx="1"/>
            <p:extLst>
              <p:ext uri="{D42A27DB-BD31-4B8C-83A1-F6EECF244321}">
                <p14:modId xmlns:p14="http://schemas.microsoft.com/office/powerpoint/2010/main" val="1656578506"/>
              </p:ext>
            </p:extLst>
          </p:nvPr>
        </p:nvGraphicFramePr>
        <p:xfrm>
          <a:off x="2653431" y="194727"/>
          <a:ext cx="7154712" cy="6468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8550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dirty="0"/>
              <a:t>Mercantilism</a:t>
            </a:r>
          </a:p>
        </p:txBody>
      </p:sp>
      <p:sp>
        <p:nvSpPr>
          <p:cNvPr id="20" name="Rectangle 19">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377807" y="1463886"/>
            <a:ext cx="6716856" cy="5132857"/>
          </a:xfrm>
        </p:spPr>
        <p:txBody>
          <a:bodyPr>
            <a:normAutofit/>
          </a:bodyPr>
          <a:lstStyle/>
          <a:p>
            <a:pPr>
              <a:lnSpc>
                <a:spcPct val="100000"/>
              </a:lnSpc>
            </a:pPr>
            <a:r>
              <a:rPr lang="en-US" sz="1600" b="1" dirty="0">
                <a:solidFill>
                  <a:schemeClr val="tx1"/>
                </a:solidFill>
                <a:latin typeface="Times New Roman" panose="02020603050405020304" pitchFamily="18" charset="0"/>
                <a:cs typeface="Times New Roman" panose="02020603050405020304" pitchFamily="18" charset="0"/>
              </a:rPr>
              <a:t>Mercantilism</a:t>
            </a:r>
            <a:r>
              <a:rPr lang="en-US" sz="1600" dirty="0">
                <a:solidFill>
                  <a:schemeClr val="tx1"/>
                </a:solidFill>
                <a:latin typeface="Times New Roman" panose="02020603050405020304" pitchFamily="18" charset="0"/>
                <a:cs typeface="Times New Roman" panose="02020603050405020304" pitchFamily="18" charset="0"/>
              </a:rPr>
              <a:t> is one of the earliest international trade theories that developed in Europe during the 16th and 17th centuries. According to this theory, the wealth and power of a nation were measured by the amount of precious metals such as gold and silver it possessed. Mercantilist thinkers believed that a country should export more goods than it imports so that it can accumulate wealth from other nations. To achieve this, governments encouraged exports and restricted imports through tariffs, quotas, and strict trade regulations.</a:t>
            </a:r>
          </a:p>
          <a:p>
            <a:pPr>
              <a:lnSpc>
                <a:spcPct val="100000"/>
              </a:lnSpc>
            </a:pPr>
            <a:r>
              <a:rPr lang="en-US" sz="1600" dirty="0">
                <a:solidFill>
                  <a:schemeClr val="tx1"/>
                </a:solidFill>
                <a:latin typeface="Times New Roman" panose="02020603050405020304" pitchFamily="18" charset="0"/>
                <a:cs typeface="Times New Roman" panose="02020603050405020304" pitchFamily="18" charset="0"/>
              </a:rPr>
              <a:t>Under mercantilism, governments played an important role in controlling international trade to maintain a favorable balance of trade. Countries focused on developing strong manufacturing industries and expanding colonies to obtain raw materials. Colonies were often used as sources of raw materials and markets for finished goods produced by the colonizing country.</a:t>
            </a:r>
          </a:p>
          <a:p>
            <a:pPr>
              <a:lnSpc>
                <a:spcPct val="100000"/>
              </a:lnSpc>
            </a:pPr>
            <a:r>
              <a:rPr lang="en-US" sz="1600" b="1" dirty="0">
                <a:solidFill>
                  <a:schemeClr val="tx1"/>
                </a:solidFill>
                <a:latin typeface="Times New Roman" panose="02020603050405020304" pitchFamily="18" charset="0"/>
                <a:cs typeface="Times New Roman" panose="02020603050405020304" pitchFamily="18" charset="0"/>
              </a:rPr>
              <a:t>Example:</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During the colonial period, </a:t>
            </a:r>
            <a:r>
              <a:rPr lang="en-US" sz="1600" b="1" dirty="0">
                <a:solidFill>
                  <a:srgbClr val="FF0000"/>
                </a:solidFill>
                <a:latin typeface="Times New Roman" panose="02020603050405020304" pitchFamily="18" charset="0"/>
                <a:cs typeface="Times New Roman" panose="02020603050405020304" pitchFamily="18" charset="0"/>
              </a:rPr>
              <a:t>Britain followed mercantilist policies</a:t>
            </a:r>
            <a:r>
              <a:rPr lang="en-US" sz="1600" dirty="0">
                <a:solidFill>
                  <a:srgbClr val="FF0000"/>
                </a:solidFill>
                <a:latin typeface="Times New Roman" panose="02020603050405020304" pitchFamily="18" charset="0"/>
                <a:cs typeface="Times New Roman" panose="02020603050405020304" pitchFamily="18" charset="0"/>
              </a:rPr>
              <a:t> by importing raw materials such as cotton and spices from its colonies like India and exporting finished goods such as textiles back to those colonies. This helped Britain accumulate wealth and strengthen its economy.</a:t>
            </a:r>
          </a:p>
          <a:p>
            <a:pPr>
              <a:lnSpc>
                <a:spcPct val="100000"/>
              </a:lnSpc>
            </a:pP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B86E4A5-5993-F504-9AB4-9FB26F92A32F}"/>
              </a:ext>
            </a:extLst>
          </p:cNvPr>
          <p:cNvPicPr>
            <a:picLocks noChangeAspect="1"/>
          </p:cNvPicPr>
          <p:nvPr/>
        </p:nvPicPr>
        <p:blipFill>
          <a:blip r:embed="rId2"/>
          <a:stretch>
            <a:fillRect/>
          </a:stretch>
        </p:blipFill>
        <p:spPr>
          <a:xfrm>
            <a:off x="7663543" y="1292228"/>
            <a:ext cx="4263682" cy="44880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33912" y="128219"/>
            <a:ext cx="8534400" cy="978329"/>
          </a:xfrm>
        </p:spPr>
        <p:txBody>
          <a:bodyPr anchor="b">
            <a:normAutofit/>
          </a:bodyPr>
          <a:lstStyle/>
          <a:p>
            <a:pPr algn="ctr"/>
            <a:r>
              <a:rPr lang="en-IN" sz="4400" dirty="0"/>
              <a:t>Limitations of Mercantilism</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txBody>
          <a:bodyPr/>
          <a:lstStyle/>
          <a:p>
            <a:endParaRPr lang="en-IN"/>
          </a:p>
        </p:txBody>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2474752" y="1234767"/>
            <a:ext cx="9328558" cy="5375758"/>
          </a:xfrm>
        </p:spPr>
        <p:txBody>
          <a:bodyPr>
            <a:normAutofit fontScale="92500"/>
          </a:bodyPr>
          <a:lstStyle/>
          <a:p>
            <a:pPr>
              <a:lnSpc>
                <a:spcPct val="100000"/>
              </a:lnSpc>
            </a:pPr>
            <a:r>
              <a:rPr lang="en-US" sz="1400" b="1" dirty="0">
                <a:latin typeface="Times New Roman" panose="02020603050405020304" pitchFamily="18" charset="0"/>
                <a:cs typeface="Times New Roman" panose="02020603050405020304" pitchFamily="18" charset="0"/>
              </a:rPr>
              <a:t>Encourages Trade Restrictions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Mercantilism promotes high tariffs, quotas, and strict trade policies to reduce imports and increase exports. These restrictions limit free trade and reduce the benefits countries could gain from open international markets.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In the colonial period, Britain imposed heavy taxes on imported goods to protect its domestic industries and encourage local production</a:t>
            </a:r>
            <a:r>
              <a:rPr lang="en-US" sz="1400" dirty="0">
                <a:latin typeface="Times New Roman" panose="02020603050405020304" pitchFamily="18" charset="0"/>
                <a:cs typeface="Times New Roman" panose="02020603050405020304" pitchFamily="18" charset="0"/>
              </a:rPr>
              <a:t>.</a:t>
            </a:r>
          </a:p>
          <a:p>
            <a:pPr>
              <a:lnSpc>
                <a:spcPct val="100000"/>
              </a:lnSpc>
            </a:pPr>
            <a:r>
              <a:rPr lang="en-US" sz="1400" b="1" dirty="0">
                <a:latin typeface="Times New Roman" panose="02020603050405020304" pitchFamily="18" charset="0"/>
                <a:cs typeface="Times New Roman" panose="02020603050405020304" pitchFamily="18" charset="0"/>
              </a:rPr>
              <a:t>Creates Conflicts Between Countries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Since mercantilism encourages countries to export more and import less, nations compete with each other to control trade routes, markets, and resources. This often leads to economic and political conflicts between countries.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European colonial powers such as Britain, France, and Spain competed for control over colonies and global trade routes.</a:t>
            </a:r>
          </a:p>
          <a:p>
            <a:pPr>
              <a:lnSpc>
                <a:spcPct val="100000"/>
              </a:lnSpc>
            </a:pPr>
            <a:r>
              <a:rPr lang="en-US" sz="1400" b="1" dirty="0">
                <a:latin typeface="Times New Roman" panose="02020603050405020304" pitchFamily="18" charset="0"/>
                <a:cs typeface="Times New Roman" panose="02020603050405020304" pitchFamily="18" charset="0"/>
              </a:rPr>
              <a:t>Ignores Mutual Benefits of Trade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Mercantilism assumes that one country’s gain is another country’s loss, meaning trade is viewed as a zero-sum game. However, modern trade theories show that international trade can benefit all participating countries through specialization and cooperation.</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b="1" dirty="0">
                <a:solidFill>
                  <a:srgbClr val="FF0000"/>
                </a:solidFill>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 When two countries trade goods such as machinery and agricultural products, both countries benefit from better resource utilization</a:t>
            </a:r>
            <a:r>
              <a:rPr lang="en-US" sz="1400" dirty="0">
                <a:latin typeface="Times New Roman" panose="02020603050405020304" pitchFamily="18" charset="0"/>
                <a:cs typeface="Times New Roman" panose="02020603050405020304" pitchFamily="18" charset="0"/>
              </a:rPr>
              <a:t>.</a:t>
            </a:r>
          </a:p>
          <a:p>
            <a:pPr>
              <a:lnSpc>
                <a:spcPct val="100000"/>
              </a:lnSpc>
            </a:pPr>
            <a:r>
              <a:rPr lang="en-US" sz="1400" b="1" dirty="0">
                <a:latin typeface="Times New Roman" panose="02020603050405020304" pitchFamily="18" charset="0"/>
                <a:cs typeface="Times New Roman" panose="02020603050405020304" pitchFamily="18" charset="0"/>
              </a:rPr>
              <a:t>Focuses Only on Precious Metals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Mercantilism considers national wealth mainly in terms of gold and silver reserves. It ignores other important factors such as technological development, productivity, and human resources that contribute to economic growth.</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Spain accumulated large amounts of gold and silver from its colonies in the Americas, but it did not invest enough in developing industries, which eventually weakened its economy</a:t>
            </a:r>
            <a:r>
              <a:rPr lang="en-US" sz="1400" dirty="0">
                <a:latin typeface="Times New Roman" panose="02020603050405020304" pitchFamily="18" charset="0"/>
                <a:cs typeface="Times New Roman" panose="02020603050405020304" pitchFamily="18" charset="0"/>
              </a:rPr>
              <a:t>.</a:t>
            </a:r>
          </a:p>
          <a:p>
            <a:pPr>
              <a:lnSpc>
                <a:spcPct val="100000"/>
              </a:lnSpc>
            </a:pPr>
            <a:r>
              <a:rPr lang="en-US" sz="1400" b="1" dirty="0">
                <a:latin typeface="Times New Roman" panose="02020603050405020304" pitchFamily="18" charset="0"/>
                <a:cs typeface="Times New Roman" panose="02020603050405020304" pitchFamily="18" charset="0"/>
              </a:rPr>
              <a:t>Limits Economic Growth</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By restricting imports and limiting competition, mercantilism can slow innovation and reduce efficiency in production. This can negatively affect long-term economic development.</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Countries that restrict foreign products may prevent domestic industries from improving their quality and competitiveness.</a:t>
            </a:r>
          </a:p>
          <a:p>
            <a:pPr>
              <a:lnSpc>
                <a:spcPct val="10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5727" y="382385"/>
            <a:ext cx="6335338" cy="727958"/>
          </a:xfrm>
        </p:spPr>
        <p:txBody>
          <a:bodyPr>
            <a:noAutofit/>
          </a:bodyPr>
          <a:lstStyle/>
          <a:p>
            <a:r>
              <a:rPr sz="4400" dirty="0"/>
              <a:t>Theory of Absolute Advantage</a:t>
            </a:r>
          </a:p>
        </p:txBody>
      </p:sp>
      <p:pic>
        <p:nvPicPr>
          <p:cNvPr id="5" name="Picture 4" descr="Open book">
            <a:extLst>
              <a:ext uri="{FF2B5EF4-FFF2-40B4-BE49-F238E27FC236}">
                <a16:creationId xmlns:a16="http://schemas.microsoft.com/office/drawing/2014/main" id="{7E741B69-984C-453C-2389-FBCF752EBCEC}"/>
              </a:ext>
            </a:extLst>
          </p:cNvPr>
          <p:cNvPicPr>
            <a:picLocks noChangeAspect="1"/>
          </p:cNvPicPr>
          <p:nvPr/>
        </p:nvPicPr>
        <p:blipFill>
          <a:blip r:embed="rId2"/>
          <a:srcRect l="29276" r="30583"/>
          <a:stretch>
            <a:fillRect/>
          </a:stretch>
        </p:blipFill>
        <p:spPr>
          <a:xfrm>
            <a:off x="688434" y="-9525"/>
            <a:ext cx="4129822" cy="6867525"/>
          </a:xfrm>
          <a:prstGeom prst="rect">
            <a:avLst/>
          </a:prstGeom>
        </p:spPr>
      </p:pic>
      <p:sp>
        <p:nvSpPr>
          <p:cNvPr id="9" name="Freeform 6">
            <a:extLst>
              <a:ext uri="{FF2B5EF4-FFF2-40B4-BE49-F238E27FC236}">
                <a16:creationId xmlns:a16="http://schemas.microsoft.com/office/drawing/2014/main" id="{5402222E-F041-43A0-81BC-1B3F2EF76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3" name="Content Placeholder 2"/>
          <p:cNvSpPr>
            <a:spLocks noGrp="1"/>
          </p:cNvSpPr>
          <p:nvPr>
            <p:ph idx="1"/>
          </p:nvPr>
        </p:nvSpPr>
        <p:spPr>
          <a:xfrm>
            <a:off x="5065024" y="1707672"/>
            <a:ext cx="6596743" cy="4767943"/>
          </a:xfrm>
        </p:spPr>
        <p:txBody>
          <a:bodyPr>
            <a:normAutofit lnSpcReduction="10000"/>
          </a:bodyPr>
          <a:lstStyle/>
          <a:p>
            <a:pPr>
              <a:lnSpc>
                <a:spcPct val="10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Theory of Absolute Advantage</a:t>
            </a:r>
            <a:r>
              <a:rPr lang="en-US" sz="1600" dirty="0">
                <a:latin typeface="Times New Roman" panose="02020603050405020304" pitchFamily="18" charset="0"/>
                <a:cs typeface="Times New Roman" panose="02020603050405020304" pitchFamily="18" charset="0"/>
              </a:rPr>
              <a:t> was developed by the economist Adam Smith in 1776 in his famous book </a:t>
            </a:r>
            <a:r>
              <a:rPr lang="en-US" sz="1600" i="1" dirty="0">
                <a:latin typeface="Times New Roman" panose="02020603050405020304" pitchFamily="18" charset="0"/>
                <a:cs typeface="Times New Roman" panose="02020603050405020304" pitchFamily="18" charset="0"/>
              </a:rPr>
              <a:t>The Wealth of Nations</a:t>
            </a:r>
            <a:r>
              <a:rPr lang="en-US" sz="1600" dirty="0">
                <a:latin typeface="Times New Roman" panose="02020603050405020304" pitchFamily="18" charset="0"/>
                <a:cs typeface="Times New Roman" panose="02020603050405020304" pitchFamily="18" charset="0"/>
              </a:rPr>
              <a:t>. According to this theory, a country has an absolute advantage when it can produce a good more efficiently than another country using fewer resources or less labor. The theory suggests that countries should specialize in producing goods in which they have absolute advantage and trade with other countries for goods they cannot produce as efficiently.</a:t>
            </a:r>
          </a:p>
          <a:p>
            <a:pPr>
              <a:lnSpc>
                <a:spcPct val="100000"/>
              </a:lnSpc>
            </a:pPr>
            <a:r>
              <a:rPr lang="en-US" sz="1600" dirty="0">
                <a:latin typeface="Times New Roman" panose="02020603050405020304" pitchFamily="18" charset="0"/>
                <a:cs typeface="Times New Roman" panose="02020603050405020304" pitchFamily="18" charset="0"/>
              </a:rPr>
              <a:t>By specializing in the production of goods where they are most efficient, countries can increase overall production and benefit from international trade. This specialization allows countries to use their resources more effectively, reduce production costs, and improve economic growth. When countries trade with each other based on their absolute advantages, both countries can enjoy higher output and better access to goods.</a:t>
            </a:r>
          </a:p>
          <a:p>
            <a:pPr marL="0" indent="0">
              <a:lnSpc>
                <a:spcPct val="100000"/>
              </a:lnSpc>
              <a:buNone/>
            </a:pPr>
            <a:endParaRPr lang="en-US" sz="1600" dirty="0">
              <a:latin typeface="Times New Roman" panose="02020603050405020304" pitchFamily="18" charset="0"/>
              <a:cs typeface="Times New Roman" panose="02020603050405020304" pitchFamily="18" charset="0"/>
            </a:endParaRPr>
          </a:p>
          <a:p>
            <a:pPr>
              <a:lnSpc>
                <a:spcPct val="100000"/>
              </a:lnSpc>
            </a:pPr>
            <a:r>
              <a:rPr lang="en-US" sz="1600" b="1" dirty="0">
                <a:latin typeface="Times New Roman" panose="02020603050405020304" pitchFamily="18" charset="0"/>
                <a:cs typeface="Times New Roman" panose="02020603050405020304" pitchFamily="18" charset="0"/>
              </a:rPr>
              <a:t>Example:</a:t>
            </a:r>
            <a:br>
              <a:rPr lang="en-US" sz="1600" dirty="0">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Suppose </a:t>
            </a:r>
            <a:r>
              <a:rPr lang="en-US" sz="1600" b="1" dirty="0">
                <a:solidFill>
                  <a:srgbClr val="FF0000"/>
                </a:solidFill>
                <a:latin typeface="Times New Roman" panose="02020603050405020304" pitchFamily="18" charset="0"/>
                <a:cs typeface="Times New Roman" panose="02020603050405020304" pitchFamily="18" charset="0"/>
              </a:rPr>
              <a:t>Country A</a:t>
            </a:r>
            <a:r>
              <a:rPr lang="en-US" sz="1600" dirty="0">
                <a:solidFill>
                  <a:srgbClr val="FF0000"/>
                </a:solidFill>
                <a:latin typeface="Times New Roman" panose="02020603050405020304" pitchFamily="18" charset="0"/>
                <a:cs typeface="Times New Roman" panose="02020603050405020304" pitchFamily="18" charset="0"/>
              </a:rPr>
              <a:t> can produce 10 units of wheat with the same resources that </a:t>
            </a:r>
            <a:r>
              <a:rPr lang="en-US" sz="1600" b="1" dirty="0">
                <a:solidFill>
                  <a:srgbClr val="FF0000"/>
                </a:solidFill>
                <a:latin typeface="Times New Roman" panose="02020603050405020304" pitchFamily="18" charset="0"/>
                <a:cs typeface="Times New Roman" panose="02020603050405020304" pitchFamily="18" charset="0"/>
              </a:rPr>
              <a:t>Country B</a:t>
            </a:r>
            <a:r>
              <a:rPr lang="en-US" sz="1600" dirty="0">
                <a:solidFill>
                  <a:srgbClr val="FF0000"/>
                </a:solidFill>
                <a:latin typeface="Times New Roman" panose="02020603050405020304" pitchFamily="18" charset="0"/>
                <a:cs typeface="Times New Roman" panose="02020603050405020304" pitchFamily="18" charset="0"/>
              </a:rPr>
              <a:t> uses to produce only 5 units of wheat. Country A has an </a:t>
            </a:r>
            <a:r>
              <a:rPr lang="en-US" sz="1600" b="1" dirty="0">
                <a:solidFill>
                  <a:srgbClr val="FF0000"/>
                </a:solidFill>
                <a:latin typeface="Times New Roman" panose="02020603050405020304" pitchFamily="18" charset="0"/>
                <a:cs typeface="Times New Roman" panose="02020603050405020304" pitchFamily="18" charset="0"/>
              </a:rPr>
              <a:t>absolute advantage</a:t>
            </a:r>
            <a:r>
              <a:rPr lang="en-US" sz="1600" dirty="0">
                <a:solidFill>
                  <a:srgbClr val="FF0000"/>
                </a:solidFill>
                <a:latin typeface="Times New Roman" panose="02020603050405020304" pitchFamily="18" charset="0"/>
                <a:cs typeface="Times New Roman" panose="02020603050405020304" pitchFamily="18" charset="0"/>
              </a:rPr>
              <a:t> in wheat production. If Country B can produce cloth more efficiently than Country A, both countries can specialize in their respective products and trade with each other to benefit mutually.</a:t>
            </a:r>
          </a:p>
          <a:p>
            <a:pPr>
              <a:lnSpc>
                <a:spcPct val="100000"/>
              </a:lnSpc>
            </a:pPr>
            <a:endParaRPr lang="en-US" sz="16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B80D28A2-8EA4-4EF0-9056-3BDAA7290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492132"/>
          </a:xfrm>
        </p:spPr>
        <p:txBody>
          <a:bodyPr>
            <a:normAutofit/>
          </a:bodyPr>
          <a:lstStyle/>
          <a:p>
            <a:r>
              <a:rPr lang="en-IN" dirty="0"/>
              <a:t>Advantages of Absolute Advantage</a:t>
            </a:r>
          </a:p>
        </p:txBody>
      </p:sp>
      <p:pic>
        <p:nvPicPr>
          <p:cNvPr id="5123" name="Picture 3">
            <a:extLst>
              <a:ext uri="{FF2B5EF4-FFF2-40B4-BE49-F238E27FC236}">
                <a16:creationId xmlns:a16="http://schemas.microsoft.com/office/drawing/2014/main" id="{8F6F41F5-FB6B-91A2-5791-B04763FA3A8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65054" y="2490882"/>
            <a:ext cx="3871985" cy="29039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49D1F20D-8F40-0A19-A614-58A123A11AEA}"/>
              </a:ext>
            </a:extLst>
          </p:cNvPr>
          <p:cNvSpPr>
            <a:spLocks noGrp="1" noChangeArrowheads="1"/>
          </p:cNvSpPr>
          <p:nvPr>
            <p:ph idx="1"/>
          </p:nvPr>
        </p:nvSpPr>
        <p:spPr bwMode="auto">
          <a:xfrm>
            <a:off x="4971263" y="1166170"/>
            <a:ext cx="6865603" cy="55534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 Encourages Specialization</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Countries specialize in producing goods that they can produce more efficiently than other countries. This specialization allows them to focus on industries where they have the best skills, resources, or technology.</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Brazil has favorable climate and land for coffee production, so it specializes in producing and exporting coffee to other countries.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 Improves Productivity</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When countries focus on producing specific goods where they are most efficient, productivity increases because resources and labor are used more effectively.</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Germany specializes in manufacturing automobiles such as BMW and Mercedes-Benz due to its advanced technology and skilled workforce.</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 Increases Global Production</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Specialization based on absolute advantage increases the total production of goods globally because each country produces goods efficiently.</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China produces electronics efficiently while Saudi Arabia produces oil efficiently, increasing global production of both goods.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 Promotes International Trade</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Countries trade the goods they specialize in with other countries, which improves economic cooperation and expands international markets.</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Japan exports automobiles and electronic products while importing raw materials from other countries.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 Better Utilization of Resources</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Countries use their natural resources, labor, and technology more efficiently when they produce goods where they have an advantage.</a:t>
            </a:r>
            <a:b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2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2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Saudi Arabia uses its large oil reserves to produce and export petroleum products while importing machinery and food from other countries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492132"/>
          </a:xfrm>
        </p:spPr>
        <p:txBody>
          <a:bodyPr>
            <a:normAutofit/>
          </a:bodyPr>
          <a:lstStyle/>
          <a:p>
            <a:r>
              <a:rPr lang="en-IN"/>
              <a:t>Theory of Comparative Advantage</a:t>
            </a:r>
          </a:p>
        </p:txBody>
      </p:sp>
      <p:pic>
        <p:nvPicPr>
          <p:cNvPr id="7" name="Graphic 6" descr="Business Growth">
            <a:extLst>
              <a:ext uri="{FF2B5EF4-FFF2-40B4-BE49-F238E27FC236}">
                <a16:creationId xmlns:a16="http://schemas.microsoft.com/office/drawing/2014/main" id="{397F1C81-220B-69BC-B6F6-D5C2D00DF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7662" y="2471057"/>
            <a:ext cx="2774961" cy="2774961"/>
          </a:xfrm>
          <a:prstGeom prst="rect">
            <a:avLst/>
          </a:prstGeom>
        </p:spPr>
      </p:pic>
      <p:sp>
        <p:nvSpPr>
          <p:cNvPr id="3" name="Content Placeholder 2"/>
          <p:cNvSpPr>
            <a:spLocks noGrp="1"/>
          </p:cNvSpPr>
          <p:nvPr>
            <p:ph idx="1"/>
          </p:nvPr>
        </p:nvSpPr>
        <p:spPr>
          <a:xfrm>
            <a:off x="4767944" y="1426029"/>
            <a:ext cx="6879770" cy="5138057"/>
          </a:xfrm>
        </p:spPr>
        <p:txBody>
          <a:bodyPr>
            <a:normAutofit lnSpcReduction="10000"/>
          </a:bodyPr>
          <a:lstStyle/>
          <a:p>
            <a:pPr>
              <a:lnSpc>
                <a:spcPct val="10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Theory of Comparative Advantage</a:t>
            </a:r>
            <a:r>
              <a:rPr lang="en-US" sz="1600" dirty="0">
                <a:latin typeface="Times New Roman" panose="02020603050405020304" pitchFamily="18" charset="0"/>
                <a:cs typeface="Times New Roman" panose="02020603050405020304" pitchFamily="18" charset="0"/>
              </a:rPr>
              <a:t> was developed by David Ricardo in the early 19th century. According to this theory, countries should specialize in producing goods in which they have the </a:t>
            </a:r>
            <a:r>
              <a:rPr lang="en-US" sz="1600" b="1" dirty="0">
                <a:latin typeface="Times New Roman" panose="02020603050405020304" pitchFamily="18" charset="0"/>
                <a:cs typeface="Times New Roman" panose="02020603050405020304" pitchFamily="18" charset="0"/>
              </a:rPr>
              <a:t>lowest opportunity cost</a:t>
            </a:r>
            <a:r>
              <a:rPr lang="en-US" sz="1600" dirty="0">
                <a:latin typeface="Times New Roman" panose="02020603050405020304" pitchFamily="18" charset="0"/>
                <a:cs typeface="Times New Roman" panose="02020603050405020304" pitchFamily="18" charset="0"/>
              </a:rPr>
              <a:t>, even if they are not the most efficient producers. This means that a country can benefit from international trade by focusing on goods that it can produce relatively more efficiently compared to other goods.</a:t>
            </a:r>
          </a:p>
          <a:p>
            <a:pPr>
              <a:lnSpc>
                <a:spcPct val="100000"/>
              </a:lnSpc>
            </a:pPr>
            <a:r>
              <a:rPr lang="en-US" sz="1600" dirty="0">
                <a:latin typeface="Times New Roman" panose="02020603050405020304" pitchFamily="18" charset="0"/>
                <a:cs typeface="Times New Roman" panose="02020603050405020304" pitchFamily="18" charset="0"/>
              </a:rPr>
              <a:t>The theory explains that international trade can benefit all countries involved because each nation can specialize in producing goods where it has a comparative advantage and import other goods from countries that can produce them more efficiently. By doing so, countries can increase total production, reduce costs, and improve economic welfare. The theory of comparative advantage is considered one of the most important principles in international trade because it demonstrates that </a:t>
            </a:r>
            <a:r>
              <a:rPr lang="en-US" sz="1600" b="1" dirty="0">
                <a:latin typeface="Times New Roman" panose="02020603050405020304" pitchFamily="18" charset="0"/>
                <a:cs typeface="Times New Roman" panose="02020603050405020304" pitchFamily="18" charset="0"/>
              </a:rPr>
              <a:t>mutual benefits from trade are possible even when one country is more productive in all goods</a:t>
            </a:r>
            <a:r>
              <a:rPr lang="en-US" sz="1600" dirty="0">
                <a:latin typeface="Times New Roman" panose="02020603050405020304" pitchFamily="18" charset="0"/>
                <a:cs typeface="Times New Roman" panose="02020603050405020304" pitchFamily="18" charset="0"/>
              </a:rPr>
              <a:t>.</a:t>
            </a:r>
          </a:p>
          <a:p>
            <a:pPr>
              <a:lnSpc>
                <a:spcPct val="100000"/>
              </a:lnSpc>
            </a:pPr>
            <a:r>
              <a:rPr lang="en-US" sz="1600" b="1" dirty="0">
                <a:latin typeface="Times New Roman" panose="02020603050405020304" pitchFamily="18" charset="0"/>
                <a:cs typeface="Times New Roman" panose="02020603050405020304" pitchFamily="18" charset="0"/>
              </a:rPr>
              <a:t>Example:</a:t>
            </a:r>
            <a:br>
              <a:rPr lang="en-US" sz="1600" dirty="0">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Suppose </a:t>
            </a:r>
            <a:r>
              <a:rPr lang="en-US" sz="1600" b="1" dirty="0">
                <a:solidFill>
                  <a:srgbClr val="FF0000"/>
                </a:solidFill>
                <a:latin typeface="Times New Roman" panose="02020603050405020304" pitchFamily="18" charset="0"/>
                <a:cs typeface="Times New Roman" panose="02020603050405020304" pitchFamily="18" charset="0"/>
              </a:rPr>
              <a:t>Country A</a:t>
            </a:r>
            <a:r>
              <a:rPr lang="en-US" sz="1600" dirty="0">
                <a:solidFill>
                  <a:srgbClr val="FF0000"/>
                </a:solidFill>
                <a:latin typeface="Times New Roman" panose="02020603050405020304" pitchFamily="18" charset="0"/>
                <a:cs typeface="Times New Roman" panose="02020603050405020304" pitchFamily="18" charset="0"/>
              </a:rPr>
              <a:t> is more efficient than </a:t>
            </a:r>
            <a:r>
              <a:rPr lang="en-US" sz="1600" b="1" dirty="0">
                <a:solidFill>
                  <a:srgbClr val="FF0000"/>
                </a:solidFill>
                <a:latin typeface="Times New Roman" panose="02020603050405020304" pitchFamily="18" charset="0"/>
                <a:cs typeface="Times New Roman" panose="02020603050405020304" pitchFamily="18" charset="0"/>
              </a:rPr>
              <a:t>Country B</a:t>
            </a:r>
            <a:r>
              <a:rPr lang="en-US" sz="1600" dirty="0">
                <a:solidFill>
                  <a:srgbClr val="FF0000"/>
                </a:solidFill>
                <a:latin typeface="Times New Roman" panose="02020603050405020304" pitchFamily="18" charset="0"/>
                <a:cs typeface="Times New Roman" panose="02020603050405020304" pitchFamily="18" charset="0"/>
              </a:rPr>
              <a:t> in producing both wheat and cloth. However, if Country A sacrifices fewer resources to produce wheat compared to cloth, it has a comparative advantage in wheat production. Country B may have a comparative advantage in cloth production because it sacrifices fewer resources to produce cloth than wheat. By specializing and trading these goods, both countries can benefit from international trade</a:t>
            </a:r>
          </a:p>
          <a:p>
            <a:pPr>
              <a:lnSpc>
                <a:spcPct val="100000"/>
              </a:lnSpc>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6907"/>
          </a:xfrm>
        </p:spPr>
        <p:txBody>
          <a:bodyPr>
            <a:normAutofit/>
          </a:bodyPr>
          <a:lstStyle/>
          <a:p>
            <a:r>
              <a:rPr sz="4400" dirty="0"/>
              <a:t>Benefits of Comparative Advantage</a:t>
            </a:r>
          </a:p>
        </p:txBody>
      </p:sp>
      <p:sp>
        <p:nvSpPr>
          <p:cNvPr id="3" name="Content Placeholder 2"/>
          <p:cNvSpPr>
            <a:spLocks noGrp="1"/>
          </p:cNvSpPr>
          <p:nvPr>
            <p:ph idx="1"/>
          </p:nvPr>
        </p:nvSpPr>
        <p:spPr>
          <a:xfrm>
            <a:off x="1167788" y="1149292"/>
            <a:ext cx="10178322" cy="5469622"/>
          </a:xfrm>
        </p:spPr>
        <p:txBody>
          <a:bodyPr>
            <a:normAutofit fontScale="92500" lnSpcReduction="20000"/>
          </a:bodyPr>
          <a:lstStyle/>
          <a:p>
            <a:r>
              <a:rPr lang="en-US" sz="1900" dirty="0">
                <a:latin typeface="Times New Roman" panose="02020603050405020304" pitchFamily="18" charset="0"/>
                <a:cs typeface="Times New Roman" panose="02020603050405020304" pitchFamily="18" charset="0"/>
              </a:rPr>
              <a:t>The </a:t>
            </a:r>
            <a:r>
              <a:rPr lang="en-US" sz="1900" b="1" dirty="0">
                <a:latin typeface="Times New Roman" panose="02020603050405020304" pitchFamily="18" charset="0"/>
                <a:cs typeface="Times New Roman" panose="02020603050405020304" pitchFamily="18" charset="0"/>
              </a:rPr>
              <a:t>Theory of Comparative Advantage</a:t>
            </a:r>
            <a:r>
              <a:rPr lang="en-US" sz="1900" dirty="0">
                <a:latin typeface="Times New Roman" panose="02020603050405020304" pitchFamily="18" charset="0"/>
                <a:cs typeface="Times New Roman" panose="02020603050405020304" pitchFamily="18" charset="0"/>
              </a:rPr>
              <a:t>, developed by David Ricardo, explains that countries can benefit from international trade by specializing in producing goods in which they have the lowest opportunity cost. By focusing on these goods and trading with other countries, nations can increase production efficiency and gain access to a wider variety of products.</a:t>
            </a:r>
          </a:p>
          <a:p>
            <a:r>
              <a:rPr lang="en-US" sz="1600" b="1" dirty="0">
                <a:latin typeface="Times New Roman" panose="02020603050405020304" pitchFamily="18" charset="0"/>
                <a:cs typeface="Times New Roman" panose="02020603050405020304" pitchFamily="18" charset="0"/>
              </a:rPr>
              <a:t>Efficient Use of Resources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Countries use their resources such as labor, capital, and natural resources more efficiently by producing goods where they have comparative advantage.</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India specializes in IT and software services because it has a large skilled workforce.</a:t>
            </a:r>
          </a:p>
          <a:p>
            <a:r>
              <a:rPr lang="en-US" sz="1600" b="1" dirty="0">
                <a:latin typeface="Times New Roman" panose="02020603050405020304" pitchFamily="18" charset="0"/>
                <a:cs typeface="Times New Roman" panose="02020603050405020304" pitchFamily="18" charset="0"/>
              </a:rPr>
              <a:t>Increased Global Production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When countries specialize based on comparative advantage, the total production of goods and services increases globally.</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b="1" dirty="0">
                <a:solidFill>
                  <a:srgbClr val="FF0000"/>
                </a:solidFill>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 China focuses on manufacturing electronics while Saudi Arabia focuses on oil production.</a:t>
            </a:r>
          </a:p>
          <a:p>
            <a:r>
              <a:rPr lang="en-US" sz="1600" b="1" dirty="0">
                <a:latin typeface="Times New Roman" panose="02020603050405020304" pitchFamily="18" charset="0"/>
                <a:cs typeface="Times New Roman" panose="02020603050405020304" pitchFamily="18" charset="0"/>
              </a:rPr>
              <a:t>Lower Production Costs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Specialization allows countries to produce goods at lower costs, which reduces prices for consumers and increases competitiveness in global markets.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b="1" dirty="0">
                <a:solidFill>
                  <a:srgbClr val="FF0000"/>
                </a:solidFill>
                <a:latin typeface="Times New Roman" panose="02020603050405020304" pitchFamily="18" charset="0"/>
                <a:cs typeface="Times New Roman" panose="02020603050405020304" pitchFamily="18" charset="0"/>
              </a:rPr>
              <a:t>:</a:t>
            </a:r>
            <a:r>
              <a:rPr lang="en-US" sz="1600" dirty="0">
                <a:solidFill>
                  <a:srgbClr val="FF0000"/>
                </a:solidFill>
                <a:latin typeface="Times New Roman" panose="02020603050405020304" pitchFamily="18" charset="0"/>
                <a:cs typeface="Times New Roman" panose="02020603050405020304" pitchFamily="18" charset="0"/>
              </a:rPr>
              <a:t> Vietnam produces textiles at lower costs due to cheaper labor.</a:t>
            </a:r>
          </a:p>
          <a:p>
            <a:r>
              <a:rPr lang="en-US" sz="1600" b="1" dirty="0">
                <a:latin typeface="Times New Roman" panose="02020603050405020304" pitchFamily="18" charset="0"/>
                <a:cs typeface="Times New Roman" panose="02020603050405020304" pitchFamily="18" charset="0"/>
              </a:rPr>
              <a:t>Expansion of International Trade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Countries trade specialized goods with each other, increasing global trade and strengthening economic cooperation.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Japan exports automobiles and imports natural resources from other countries.</a:t>
            </a:r>
          </a:p>
          <a:p>
            <a:r>
              <a:rPr lang="en-US" sz="1600" b="1" dirty="0">
                <a:latin typeface="Times New Roman" panose="02020603050405020304" pitchFamily="18" charset="0"/>
                <a:cs typeface="Times New Roman" panose="02020603050405020304" pitchFamily="18" charset="0"/>
              </a:rPr>
              <a:t>Improved Standard of Living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International trade based on comparative advantage increases economic growth and provides consumers with more product choices.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Consumers can buy electronics, cars, and clothing from different countries at competitive prices.</a:t>
            </a:r>
          </a:p>
          <a:p>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55"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3A6D9F50-80CC-1BE4-8CFC-1B22D786FBFB}"/>
              </a:ext>
            </a:extLst>
          </p:cNvPr>
          <p:cNvSpPr>
            <a:spLocks noGrp="1"/>
          </p:cNvSpPr>
          <p:nvPr>
            <p:ph type="title"/>
          </p:nvPr>
        </p:nvSpPr>
        <p:spPr>
          <a:xfrm>
            <a:off x="754144" y="484631"/>
            <a:ext cx="6340519" cy="1638469"/>
          </a:xfrm>
        </p:spPr>
        <p:txBody>
          <a:bodyPr>
            <a:normAutofit/>
          </a:bodyPr>
          <a:lstStyle/>
          <a:p>
            <a:r>
              <a:rPr lang="en-IN" sz="3600"/>
              <a:t>DIFFERENT BETWEEN Absolute Advantage &amp; Comparative Advantage</a:t>
            </a:r>
          </a:p>
        </p:txBody>
      </p:sp>
      <p:sp>
        <p:nvSpPr>
          <p:cNvPr id="6157" name="Rectangle 6156">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6146" name="Picture 2">
            <a:extLst>
              <a:ext uri="{FF2B5EF4-FFF2-40B4-BE49-F238E27FC236}">
                <a16:creationId xmlns:a16="http://schemas.microsoft.com/office/drawing/2014/main" id="{03261EB5-A855-8957-D051-C8667F3AAC4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12457" y="484632"/>
            <a:ext cx="3533241" cy="588873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42019A9C-60B1-953B-8BEC-39B6F518E08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13657" y="2291433"/>
            <a:ext cx="6869747" cy="3816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525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79A3102B-6D36-3AB6-F926-5C916898D4C7}"/>
              </a:ext>
            </a:extLst>
          </p:cNvPr>
          <p:cNvPicPr>
            <a:picLocks noChangeAspect="1"/>
          </p:cNvPicPr>
          <p:nvPr/>
        </p:nvPicPr>
        <p:blipFill>
          <a:blip r:embed="rId2"/>
          <a:srcRect l="37739" r="22453"/>
          <a:stretch>
            <a:fillRect/>
          </a:stretch>
        </p:blipFill>
        <p:spPr>
          <a:xfrm>
            <a:off x="7338646" y="10"/>
            <a:ext cx="4853354" cy="6857990"/>
          </a:xfrm>
          <a:prstGeom prst="rect">
            <a:avLst/>
          </a:prstGeom>
        </p:spPr>
      </p:pic>
      <p:sp>
        <p:nvSpPr>
          <p:cNvPr id="9"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title"/>
          </p:nvPr>
        </p:nvSpPr>
        <p:spPr>
          <a:xfrm>
            <a:off x="765051" y="382385"/>
            <a:ext cx="6015897" cy="1492132"/>
          </a:xfrm>
        </p:spPr>
        <p:txBody>
          <a:bodyPr>
            <a:normAutofit/>
          </a:bodyPr>
          <a:lstStyle/>
          <a:p>
            <a:r>
              <a:rPr dirty="0"/>
              <a:t>Factor Mobility Theory</a:t>
            </a:r>
          </a:p>
        </p:txBody>
      </p:sp>
      <p:sp>
        <p:nvSpPr>
          <p:cNvPr id="11" name="Rectangle 10">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544287" y="1874517"/>
            <a:ext cx="6542314" cy="4733112"/>
          </a:xfrm>
        </p:spPr>
        <p:txBody>
          <a:bodyPr>
            <a:normAutofit/>
          </a:bodyPr>
          <a:lstStyle/>
          <a:p>
            <a:pPr>
              <a:lnSpc>
                <a:spcPct val="100000"/>
              </a:lnSpc>
            </a:pPr>
            <a:r>
              <a:rPr lang="en-US" sz="1400" b="1" dirty="0">
                <a:latin typeface="Times New Roman" panose="02020603050405020304" pitchFamily="18" charset="0"/>
                <a:cs typeface="Times New Roman" panose="02020603050405020304" pitchFamily="18" charset="0"/>
              </a:rPr>
              <a:t>Factor Mobility Theory</a:t>
            </a:r>
            <a:r>
              <a:rPr lang="en-US" sz="1400" dirty="0">
                <a:latin typeface="Times New Roman" panose="02020603050405020304" pitchFamily="18" charset="0"/>
                <a:cs typeface="Times New Roman" panose="02020603050405020304" pitchFamily="18" charset="0"/>
              </a:rPr>
              <a:t> explains how the movement of factors of production such as </a:t>
            </a:r>
            <a:r>
              <a:rPr lang="en-US" sz="1400" b="1" dirty="0">
                <a:latin typeface="Times New Roman" panose="02020603050405020304" pitchFamily="18" charset="0"/>
                <a:cs typeface="Times New Roman" panose="02020603050405020304" pitchFamily="18" charset="0"/>
              </a:rPr>
              <a:t>labor, capital, technology, and entrepreneurship</a:t>
            </a:r>
            <a:r>
              <a:rPr lang="en-US" sz="1400" dirty="0">
                <a:latin typeface="Times New Roman" panose="02020603050405020304" pitchFamily="18" charset="0"/>
                <a:cs typeface="Times New Roman" panose="02020603050405020304" pitchFamily="18" charset="0"/>
              </a:rPr>
              <a:t> between countries influences international trade and global business activities. According to this theory, when these factors move freely across national borders, businesses can locate production where resources are available at lower cost or higher efficiency. This movement helps improve productivity and allows countries to benefit from global economic integration.</a:t>
            </a:r>
          </a:p>
          <a:p>
            <a:pPr>
              <a:lnSpc>
                <a:spcPct val="100000"/>
              </a:lnSpc>
            </a:pPr>
            <a:r>
              <a:rPr lang="en-US" sz="1400" dirty="0">
                <a:latin typeface="Times New Roman" panose="02020603050405020304" pitchFamily="18" charset="0"/>
                <a:cs typeface="Times New Roman" panose="02020603050405020304" pitchFamily="18" charset="0"/>
              </a:rPr>
              <a:t>Factor mobility occurs when workers migrate to other countries for better job opportunities, companies invest capital in foreign markets, or technology is transferred across borders. This movement helps countries utilize resources more effectively and encourages economic development. However, factor mobility can also create challenges such as labor migration issues and unequal economic development between countries.</a:t>
            </a:r>
          </a:p>
          <a:p>
            <a:pPr marL="0" indent="0">
              <a:lnSpc>
                <a:spcPct val="100000"/>
              </a:lnSpc>
              <a:buNone/>
            </a:pPr>
            <a:endParaRPr lang="en-US" sz="1400" dirty="0">
              <a:latin typeface="Times New Roman" panose="02020603050405020304" pitchFamily="18" charset="0"/>
              <a:cs typeface="Times New Roman" panose="02020603050405020304" pitchFamily="18" charset="0"/>
            </a:endParaRPr>
          </a:p>
          <a:p>
            <a:pPr>
              <a:lnSpc>
                <a:spcPct val="100000"/>
              </a:lnSpc>
            </a:pPr>
            <a:r>
              <a:rPr lang="en-US" sz="1400" b="1" dirty="0">
                <a:latin typeface="Times New Roman" panose="02020603050405020304" pitchFamily="18" charset="0"/>
                <a:cs typeface="Times New Roman" panose="02020603050405020304" pitchFamily="18" charset="0"/>
              </a:rPr>
              <a:t>Example:</a:t>
            </a:r>
            <a:br>
              <a:rPr lang="en-US" sz="1400" dirty="0">
                <a:latin typeface="Times New Roman" panose="02020603050405020304" pitchFamily="18" charset="0"/>
                <a:cs typeface="Times New Roman" panose="02020603050405020304" pitchFamily="18" charset="0"/>
              </a:rPr>
            </a:br>
            <a:r>
              <a:rPr lang="en-US" sz="1400" dirty="0">
                <a:solidFill>
                  <a:srgbClr val="FF0000"/>
                </a:solidFill>
                <a:latin typeface="Times New Roman" panose="02020603050405020304" pitchFamily="18" charset="0"/>
                <a:cs typeface="Times New Roman" panose="02020603050405020304" pitchFamily="18" charset="0"/>
              </a:rPr>
              <a:t>Many multinational companies establish manufacturing plants in countries where labor costs are lower. For instance, companies like Apple manufacture many of their products in China because of the availability of skilled labor and lower production costs. This is an example of capital and technology moving across countries to improve production efficiency.</a:t>
            </a:r>
          </a:p>
          <a:p>
            <a:pPr>
              <a:lnSpc>
                <a:spcPct val="10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p:cNvSpPr>
            <a:spLocks noGrp="1"/>
          </p:cNvSpPr>
          <p:nvPr>
            <p:ph type="title"/>
          </p:nvPr>
        </p:nvSpPr>
        <p:spPr>
          <a:xfrm>
            <a:off x="754144" y="484631"/>
            <a:ext cx="6340519" cy="1638469"/>
          </a:xfrm>
        </p:spPr>
        <p:txBody>
          <a:bodyPr>
            <a:normAutofit/>
          </a:bodyPr>
          <a:lstStyle/>
          <a:p>
            <a:r>
              <a:rPr dirty="0"/>
              <a:t>Regional Economic Integration</a:t>
            </a:r>
          </a:p>
        </p:txBody>
      </p:sp>
      <p:sp>
        <p:nvSpPr>
          <p:cNvPr id="15" name="Rectangle 14">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4DD1D7D7-BFDA-40E8-3B71-47564C05829C}"/>
              </a:ext>
            </a:extLst>
          </p:cNvPr>
          <p:cNvSpPr>
            <a:spLocks noGrp="1" noChangeArrowheads="1"/>
          </p:cNvSpPr>
          <p:nvPr>
            <p:ph idx="1"/>
          </p:nvPr>
        </p:nvSpPr>
        <p:spPr bwMode="auto">
          <a:xfrm>
            <a:off x="484632" y="2134371"/>
            <a:ext cx="6765253" cy="446275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Economic Integration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refers to an agreement among countries within a particular geographic region to reduce or eliminate trade barriers such as tariffs, quotas, and restrictions in order to promote economic cooperation and increase trade among member countries. The main objective of regional economic integration is to create a larger market where goods, services, capital, and sometimes labor can move more freely between countries.</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economic integration helps improve economic growth by increasing trade opportunities, encouraging foreign investment, and strengthening economic relationships between member countries. By working together, countries can benefit from shared resources, improved market access, and better economic stability.</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European Union (EU)</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well-known example of regional economic integration. Member countries such as Germany, France, and Italy allow free movement of goods, services, capital, and people among themselves, which increases trade and economic cooperation within the region.</a:t>
            </a:r>
          </a:p>
          <a:p>
            <a:pPr marL="0" marR="0" lvl="0" indent="0" defTabSz="914400" rtl="0" eaLnBrk="0" fontAlgn="base" latinLnBrk="0" hangingPunct="0">
              <a:lnSpc>
                <a:spcPct val="100000"/>
              </a:lnSpc>
              <a:spcBef>
                <a:spcPct val="0"/>
              </a:spcBef>
              <a:spcAft>
                <a:spcPts val="600"/>
              </a:spcAft>
              <a:buClrTx/>
              <a:buSzTx/>
              <a:buFontTx/>
              <a:buNone/>
              <a:tabLst/>
            </a:pP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Graphic 7" descr="Handshake">
            <a:extLst>
              <a:ext uri="{FF2B5EF4-FFF2-40B4-BE49-F238E27FC236}">
                <a16:creationId xmlns:a16="http://schemas.microsoft.com/office/drawing/2014/main" id="{1CE0B033-124D-F0E8-0CC3-1431BF7828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50787" y="1600709"/>
            <a:ext cx="3656581" cy="365658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900" y="272642"/>
            <a:ext cx="10178322" cy="1492132"/>
          </a:xfrm>
        </p:spPr>
        <p:txBody>
          <a:bodyPr>
            <a:normAutofit/>
          </a:bodyPr>
          <a:lstStyle/>
          <a:p>
            <a:r>
              <a:rPr sz="4400" dirty="0"/>
              <a:t>Types of Regional Economic Integration</a:t>
            </a:r>
          </a:p>
        </p:txBody>
      </p:sp>
      <p:graphicFrame>
        <p:nvGraphicFramePr>
          <p:cNvPr id="5" name="Content Placeholder 2">
            <a:extLst>
              <a:ext uri="{FF2B5EF4-FFF2-40B4-BE49-F238E27FC236}">
                <a16:creationId xmlns:a16="http://schemas.microsoft.com/office/drawing/2014/main" id="{4E93974F-FE6C-29DE-A96D-72CB6B8BA770}"/>
              </a:ext>
            </a:extLst>
          </p:cNvPr>
          <p:cNvGraphicFramePr>
            <a:graphicFrameLocks noGrp="1"/>
          </p:cNvGraphicFramePr>
          <p:nvPr>
            <p:ph idx="1"/>
            <p:extLst>
              <p:ext uri="{D42A27DB-BD31-4B8C-83A1-F6EECF244321}">
                <p14:modId xmlns:p14="http://schemas.microsoft.com/office/powerpoint/2010/main" val="2956634287"/>
              </p:ext>
            </p:extLst>
          </p:nvPr>
        </p:nvGraphicFramePr>
        <p:xfrm>
          <a:off x="1031846" y="1551963"/>
          <a:ext cx="10595295" cy="5033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982" y="125879"/>
            <a:ext cx="10570033" cy="851265"/>
          </a:xfrm>
        </p:spPr>
        <p:txBody>
          <a:bodyPr anchor="b">
            <a:normAutofit/>
          </a:bodyPr>
          <a:lstStyle/>
          <a:p>
            <a:pPr algn="ctr"/>
            <a:r>
              <a:rPr lang="en-US" sz="4000" dirty="0"/>
              <a:t>Benefits of Regional Economic Integration</a:t>
            </a:r>
          </a:p>
        </p:txBody>
      </p:sp>
      <p:sp>
        <p:nvSpPr>
          <p:cNvPr id="4" name="Rectangle 1">
            <a:extLst>
              <a:ext uri="{FF2B5EF4-FFF2-40B4-BE49-F238E27FC236}">
                <a16:creationId xmlns:a16="http://schemas.microsoft.com/office/drawing/2014/main" id="{267B21E2-28FC-8C96-234F-04D12A5D1B17}"/>
              </a:ext>
            </a:extLst>
          </p:cNvPr>
          <p:cNvSpPr>
            <a:spLocks noGrp="1" noChangeArrowheads="1"/>
          </p:cNvSpPr>
          <p:nvPr>
            <p:ph idx="1"/>
          </p:nvPr>
        </p:nvSpPr>
        <p:spPr bwMode="auto">
          <a:xfrm>
            <a:off x="810982" y="1103023"/>
            <a:ext cx="10929260" cy="449721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Increase in Trade</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Regional economic integration removes trade barriers such as tariffs and quotas between member countries, making it easier for them to trade with each other.</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1" i="0" u="none" strike="noStrike" cap="none" normalizeH="0" baseline="0" dirty="0">
                <a:ln>
                  <a:noFill/>
                </a:ln>
                <a:solidFill>
                  <a:srgbClr val="FF0000"/>
                </a:solidFill>
                <a:effectLst/>
                <a:latin typeface="Arial" panose="020B0604020202020204" pitchFamily="34" charset="0"/>
              </a:rPr>
              <a:t>:</a:t>
            </a:r>
            <a:r>
              <a:rPr kumimoji="0" lang="en-US" altLang="en-US" sz="1400" b="0" i="0" u="none" strike="noStrike" cap="none" normalizeH="0" baseline="0" dirty="0">
                <a:ln>
                  <a:noFill/>
                </a:ln>
                <a:solidFill>
                  <a:srgbClr val="FF0000"/>
                </a:solidFill>
                <a:effectLst/>
                <a:latin typeface="Arial" panose="020B0604020202020204" pitchFamily="34" charset="0"/>
              </a:rPr>
              <a:t> Countries in the European Union trade goods freely without paying tariffs.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Economic Growth and Development</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Increased trade and investment opportunities help member countries grow economically and improve their industries and infrastructure.</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Developing countries in regional trade agreements attract more foreign investment.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Larger Market Access</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Businesses gain access to a larger market with more consumers, which helps increase production and sales.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Companies within the European Union can sell products across all member countries</a:t>
            </a:r>
            <a:r>
              <a:rPr kumimoji="0" lang="en-US" altLang="en-US" sz="14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Improved Resource Utilization</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Countries can specialize in producing goods and services where they have advantages and trade with other member countries for other products.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1" i="0" u="none" strike="noStrike" cap="none" normalizeH="0" baseline="0" dirty="0">
                <a:ln>
                  <a:noFill/>
                </a:ln>
                <a:solidFill>
                  <a:srgbClr val="FF0000"/>
                </a:solidFill>
                <a:effectLst/>
                <a:latin typeface="Arial" panose="020B0604020202020204" pitchFamily="34" charset="0"/>
              </a:rPr>
              <a:t>:</a:t>
            </a:r>
            <a:r>
              <a:rPr kumimoji="0" lang="en-US" altLang="en-US" sz="1400" b="0" i="0" u="none" strike="noStrike" cap="none" normalizeH="0" baseline="0" dirty="0">
                <a:ln>
                  <a:noFill/>
                </a:ln>
                <a:solidFill>
                  <a:srgbClr val="FF0000"/>
                </a:solidFill>
                <a:effectLst/>
                <a:latin typeface="Arial" panose="020B0604020202020204" pitchFamily="34" charset="0"/>
              </a:rPr>
              <a:t> Agricultural countries export food products while importing industrial goods.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Increased Competition and Efficiency</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Free trade among member countries encourages competition, which helps businesses improve quality, innovation, and efficiency.</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Companies improve their products to compete in regional markets.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Stronger Political and Economic Cooperation</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Regional integration strengthens relationships among countries and promotes peace and cooperation.</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rPr>
              <a:t>The European Union encourages cooperation among European nations.</a:t>
            </a:r>
          </a:p>
        </p:txBody>
      </p:sp>
      <p:sp>
        <p:nvSpPr>
          <p:cNvPr id="11" name="Freeform: Shape 10">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5727" y="382385"/>
            <a:ext cx="6307839" cy="1000101"/>
          </a:xfrm>
        </p:spPr>
        <p:txBody>
          <a:bodyPr>
            <a:normAutofit fontScale="90000"/>
          </a:bodyPr>
          <a:lstStyle/>
          <a:p>
            <a:r>
              <a:rPr dirty="0"/>
              <a:t>World Trade Organization (WTO)</a:t>
            </a:r>
          </a:p>
        </p:txBody>
      </p:sp>
      <p:pic>
        <p:nvPicPr>
          <p:cNvPr id="5" name="Picture 4" descr="Digital financial graphs in 3D">
            <a:extLst>
              <a:ext uri="{FF2B5EF4-FFF2-40B4-BE49-F238E27FC236}">
                <a16:creationId xmlns:a16="http://schemas.microsoft.com/office/drawing/2014/main" id="{F78BD032-4DEF-4C48-F8C3-A0EA5D7422AE}"/>
              </a:ext>
            </a:extLst>
          </p:cNvPr>
          <p:cNvPicPr>
            <a:picLocks noChangeAspect="1"/>
          </p:cNvPicPr>
          <p:nvPr/>
        </p:nvPicPr>
        <p:blipFill>
          <a:blip r:embed="rId2"/>
          <a:srcRect l="41627" r="11617"/>
          <a:stretch>
            <a:fillRect/>
          </a:stretch>
        </p:blipFill>
        <p:spPr>
          <a:xfrm>
            <a:off x="688434" y="-9525"/>
            <a:ext cx="4129822" cy="6867525"/>
          </a:xfrm>
          <a:prstGeom prst="rect">
            <a:avLst/>
          </a:prstGeom>
        </p:spPr>
      </p:pic>
      <p:sp>
        <p:nvSpPr>
          <p:cNvPr id="9" name="Freeform 6">
            <a:extLst>
              <a:ext uri="{FF2B5EF4-FFF2-40B4-BE49-F238E27FC236}">
                <a16:creationId xmlns:a16="http://schemas.microsoft.com/office/drawing/2014/main" id="{5402222E-F041-43A0-81BC-1B3F2EF76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3" name="Content Placeholder 2"/>
          <p:cNvSpPr>
            <a:spLocks noGrp="1"/>
          </p:cNvSpPr>
          <p:nvPr>
            <p:ph idx="1"/>
          </p:nvPr>
        </p:nvSpPr>
        <p:spPr>
          <a:xfrm>
            <a:off x="4996543" y="1883229"/>
            <a:ext cx="6770914" cy="4702628"/>
          </a:xfrm>
        </p:spPr>
        <p:txBody>
          <a:bodyPr>
            <a:normAutofit/>
          </a:bodyPr>
          <a:lstStyle/>
          <a:p>
            <a:pPr>
              <a:lnSpc>
                <a:spcPct val="10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World Trade Organization (WTO)</a:t>
            </a:r>
            <a:r>
              <a:rPr lang="en-US" sz="1600" dirty="0">
                <a:latin typeface="Times New Roman" panose="02020603050405020304" pitchFamily="18" charset="0"/>
                <a:cs typeface="Times New Roman" panose="02020603050405020304" pitchFamily="18" charset="0"/>
              </a:rPr>
              <a:t> is an international organization that regulates and supervises global trade between countries. It was established in </a:t>
            </a:r>
            <a:r>
              <a:rPr lang="en-US" sz="1600" b="1" dirty="0">
                <a:latin typeface="Times New Roman" panose="02020603050405020304" pitchFamily="18" charset="0"/>
                <a:cs typeface="Times New Roman" panose="02020603050405020304" pitchFamily="18" charset="0"/>
              </a:rPr>
              <a:t>1995</a:t>
            </a:r>
            <a:r>
              <a:rPr lang="en-US" sz="1600" dirty="0">
                <a:latin typeface="Times New Roman" panose="02020603050405020304" pitchFamily="18" charset="0"/>
                <a:cs typeface="Times New Roman" panose="02020603050405020304" pitchFamily="18" charset="0"/>
              </a:rPr>
              <a:t> to promote free and fair trade across the world. The WTO replaced the </a:t>
            </a:r>
            <a:r>
              <a:rPr lang="en-US" sz="1600" b="1" dirty="0">
                <a:latin typeface="Times New Roman" panose="02020603050405020304" pitchFamily="18" charset="0"/>
                <a:cs typeface="Times New Roman" panose="02020603050405020304" pitchFamily="18" charset="0"/>
              </a:rPr>
              <a:t>General Agreement on Tariffs and Trade (GATT)</a:t>
            </a:r>
            <a:r>
              <a:rPr lang="en-US" sz="1600" dirty="0">
                <a:latin typeface="Times New Roman" panose="02020603050405020304" pitchFamily="18" charset="0"/>
                <a:cs typeface="Times New Roman" panose="02020603050405020304" pitchFamily="18" charset="0"/>
              </a:rPr>
              <a:t> and works to ensure that international trade flows smoothly, predictably, and freely between nations. The organization provides a platform where member countries can negotiate trade agreements and resolve trade disputes.</a:t>
            </a:r>
          </a:p>
          <a:p>
            <a:pPr>
              <a:lnSpc>
                <a:spcPct val="100000"/>
              </a:lnSpc>
            </a:pPr>
            <a:r>
              <a:rPr lang="en-US" sz="1600" dirty="0">
                <a:latin typeface="Times New Roman" panose="02020603050405020304" pitchFamily="18" charset="0"/>
                <a:cs typeface="Times New Roman" panose="02020603050405020304" pitchFamily="18" charset="0"/>
              </a:rPr>
              <a:t>The main objective of the WTO is to reduce trade barriers such as tariffs, quotas, and other restrictions so that countries can trade more easily with each other. The WTO also monitors trade policies, promotes transparency in trade practices, and encourages economic cooperation among nations. By creating a stable and predictable global trading system, the WTO helps countries expand trade, improve economic growth, and strengthen international economic relationships.</a:t>
            </a:r>
          </a:p>
          <a:p>
            <a:pPr>
              <a:lnSpc>
                <a:spcPct val="100000"/>
              </a:lnSpc>
            </a:pPr>
            <a:r>
              <a:rPr lang="en-US" sz="1600" b="1" dirty="0">
                <a:latin typeface="Times New Roman" panose="02020603050405020304" pitchFamily="18" charset="0"/>
                <a:cs typeface="Times New Roman" panose="02020603050405020304" pitchFamily="18" charset="0"/>
              </a:rPr>
              <a:t>Example: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If two countries have a trade dispute regarding import tariffs or trade restrictions, the WTO provides a dispute settlement mechanism to resolve the issue according to international trade rules.</a:t>
            </a:r>
          </a:p>
          <a:p>
            <a:pPr>
              <a:lnSpc>
                <a:spcPct val="100000"/>
              </a:lnSpc>
            </a:pPr>
            <a:endParaRPr lang="en-US" sz="16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B80D28A2-8EA4-4EF0-9056-3BDAA7290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8095" y="97183"/>
            <a:ext cx="10178322" cy="1492132"/>
          </a:xfrm>
        </p:spPr>
        <p:txBody>
          <a:bodyPr anchor="ctr">
            <a:normAutofit/>
          </a:bodyPr>
          <a:lstStyle/>
          <a:p>
            <a:r>
              <a:rPr lang="en-IN" dirty="0"/>
              <a:t>Functions of WTO</a:t>
            </a:r>
          </a:p>
        </p:txBody>
      </p:sp>
      <p:graphicFrame>
        <p:nvGraphicFramePr>
          <p:cNvPr id="5" name="Content Placeholder 2">
            <a:extLst>
              <a:ext uri="{FF2B5EF4-FFF2-40B4-BE49-F238E27FC236}">
                <a16:creationId xmlns:a16="http://schemas.microsoft.com/office/drawing/2014/main" id="{2EC2DDB9-1923-6536-EA0F-9B91A4339EDE}"/>
              </a:ext>
            </a:extLst>
          </p:cNvPr>
          <p:cNvGraphicFramePr>
            <a:graphicFrameLocks noGrp="1"/>
          </p:cNvGraphicFramePr>
          <p:nvPr>
            <p:ph idx="1"/>
            <p:extLst>
              <p:ext uri="{D42A27DB-BD31-4B8C-83A1-F6EECF244321}">
                <p14:modId xmlns:p14="http://schemas.microsoft.com/office/powerpoint/2010/main" val="3698415070"/>
              </p:ext>
            </p:extLst>
          </p:nvPr>
        </p:nvGraphicFramePr>
        <p:xfrm>
          <a:off x="1088571" y="1415143"/>
          <a:ext cx="10526485" cy="5214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European Union (EU)</a:t>
            </a:r>
          </a:p>
        </p:txBody>
      </p:sp>
      <p:sp>
        <p:nvSpPr>
          <p:cNvPr id="3" name="Content Placeholder 2"/>
          <p:cNvSpPr>
            <a:spLocks noGrp="1"/>
          </p:cNvSpPr>
          <p:nvPr>
            <p:ph idx="1"/>
          </p:nvPr>
        </p:nvSpPr>
        <p:spPr>
          <a:xfrm>
            <a:off x="1090569" y="1392573"/>
            <a:ext cx="10578517" cy="5225654"/>
          </a:xfrm>
        </p:spPr>
        <p:txBody>
          <a:bodyPr>
            <a:normAutofit lnSpcReduction="10000"/>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European Union (EU)</a:t>
            </a:r>
            <a:r>
              <a:rPr lang="en-US" dirty="0">
                <a:latin typeface="Times New Roman" panose="02020603050405020304" pitchFamily="18" charset="0"/>
                <a:cs typeface="Times New Roman" panose="02020603050405020304" pitchFamily="18" charset="0"/>
              </a:rPr>
              <a:t> is a political and economic union of countries located mainly in Europe. It was created to promote economic cooperation, free trade, and political stability among European nations. The European Union allows the </a:t>
            </a:r>
            <a:r>
              <a:rPr lang="en-US" b="1" dirty="0">
                <a:latin typeface="Times New Roman" panose="02020603050405020304" pitchFamily="18" charset="0"/>
                <a:cs typeface="Times New Roman" panose="02020603050405020304" pitchFamily="18" charset="0"/>
              </a:rPr>
              <a:t>free movement of goods, services, capital, and people</a:t>
            </a:r>
            <a:r>
              <a:rPr lang="en-US" dirty="0">
                <a:latin typeface="Times New Roman" panose="02020603050405020304" pitchFamily="18" charset="0"/>
                <a:cs typeface="Times New Roman" panose="02020603050405020304" pitchFamily="18" charset="0"/>
              </a:rPr>
              <a:t> among its member countries, which helps strengthen economic integration and improve trade within the region. The EU also works to create common policies in areas such as trade, agriculture, transportation, and environmental protection.</a:t>
            </a:r>
          </a:p>
          <a:p>
            <a:r>
              <a:rPr lang="en-US" dirty="0">
                <a:latin typeface="Times New Roman" panose="02020603050405020304" pitchFamily="18" charset="0"/>
                <a:cs typeface="Times New Roman" panose="02020603050405020304" pitchFamily="18" charset="0"/>
              </a:rPr>
              <a:t>The European Union was established to improve economic development and cooperation after World War II. By forming a single market, member countries can trade more easily without tariffs or restrictions. Many EU countries also share a common currency known as the </a:t>
            </a:r>
            <a:r>
              <a:rPr lang="en-US" b="1" dirty="0">
                <a:latin typeface="Times New Roman" panose="02020603050405020304" pitchFamily="18" charset="0"/>
                <a:cs typeface="Times New Roman" panose="02020603050405020304" pitchFamily="18" charset="0"/>
              </a:rPr>
              <a:t>Euro</a:t>
            </a:r>
            <a:r>
              <a:rPr lang="en-US" dirty="0">
                <a:latin typeface="Times New Roman" panose="02020603050405020304" pitchFamily="18" charset="0"/>
                <a:cs typeface="Times New Roman" panose="02020603050405020304" pitchFamily="18" charset="0"/>
              </a:rPr>
              <a:t>, which further simplifies trade and financial transactions within the region.</a:t>
            </a:r>
          </a:p>
          <a:p>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Countries such as </a:t>
            </a:r>
            <a:r>
              <a:rPr lang="en-US" b="1" dirty="0">
                <a:solidFill>
                  <a:srgbClr val="FF0000"/>
                </a:solidFill>
                <a:latin typeface="Times New Roman" panose="02020603050405020304" pitchFamily="18" charset="0"/>
                <a:cs typeface="Times New Roman" panose="02020603050405020304" pitchFamily="18" charset="0"/>
              </a:rPr>
              <a:t>Germany, France, Italy, Spain, and the Netherlands</a:t>
            </a:r>
            <a:r>
              <a:rPr lang="en-US" dirty="0">
                <a:solidFill>
                  <a:srgbClr val="FF0000"/>
                </a:solidFill>
                <a:latin typeface="Times New Roman" panose="02020603050405020304" pitchFamily="18" charset="0"/>
                <a:cs typeface="Times New Roman" panose="02020603050405020304" pitchFamily="18" charset="0"/>
              </a:rPr>
              <a:t> are members of the European Union. A company in Germany can easily export products to France or Italy without facing trade barriers, which encourages business growth and economic cooperation among member nations.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492132"/>
          </a:xfrm>
        </p:spPr>
        <p:txBody>
          <a:bodyPr>
            <a:normAutofit/>
          </a:bodyPr>
          <a:lstStyle/>
          <a:p>
            <a:r>
              <a:rPr dirty="0"/>
              <a:t>Objectives of European Union</a:t>
            </a:r>
          </a:p>
        </p:txBody>
      </p:sp>
      <p:pic>
        <p:nvPicPr>
          <p:cNvPr id="7" name="Graphic 6" descr="Cheers">
            <a:extLst>
              <a:ext uri="{FF2B5EF4-FFF2-40B4-BE49-F238E27FC236}">
                <a16:creationId xmlns:a16="http://schemas.microsoft.com/office/drawing/2014/main" id="{6E1D4B03-6C78-2922-09FE-B1563CB825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0351" y="2340069"/>
            <a:ext cx="2960017" cy="2960017"/>
          </a:xfrm>
          <a:prstGeom prst="rect">
            <a:avLst/>
          </a:prstGeom>
        </p:spPr>
      </p:pic>
      <p:sp>
        <p:nvSpPr>
          <p:cNvPr id="3" name="Content Placeholder 2"/>
          <p:cNvSpPr>
            <a:spLocks noGrp="1"/>
          </p:cNvSpPr>
          <p:nvPr>
            <p:ph idx="1"/>
          </p:nvPr>
        </p:nvSpPr>
        <p:spPr>
          <a:xfrm>
            <a:off x="4202884" y="1266738"/>
            <a:ext cx="7633982" cy="5591262"/>
          </a:xfrm>
        </p:spPr>
        <p:txBody>
          <a:bodyPr>
            <a:normAutofit fontScale="92500" lnSpcReduction="20000"/>
          </a:bodyPr>
          <a:lstStyle/>
          <a:p>
            <a:pPr marL="0" indent="0">
              <a:lnSpc>
                <a:spcPct val="100000"/>
              </a:lnSpc>
              <a:buNone/>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European Union (EU)</a:t>
            </a:r>
            <a:r>
              <a:rPr lang="en-US" sz="1600" dirty="0">
                <a:latin typeface="Times New Roman" panose="02020603050405020304" pitchFamily="18" charset="0"/>
                <a:cs typeface="Times New Roman" panose="02020603050405020304" pitchFamily="18" charset="0"/>
              </a:rPr>
              <a:t> was established to promote economic cooperation, political stability, and social development among European countries. The main objective of the EU is to create a unified market where member countries can trade freely and work together to improve economic growth and living standards. By reducing trade barriers and encouraging cooperation, the EU helps strengthen economic relationships among member nations.</a:t>
            </a:r>
          </a:p>
          <a:p>
            <a:pPr>
              <a:lnSpc>
                <a:spcPct val="100000"/>
              </a:lnSpc>
            </a:pPr>
            <a:r>
              <a:rPr lang="en-US" sz="1600" b="1" dirty="0">
                <a:latin typeface="Times New Roman" panose="02020603050405020304" pitchFamily="18" charset="0"/>
                <a:cs typeface="Times New Roman" panose="02020603050405020304" pitchFamily="18" charset="0"/>
              </a:rPr>
              <a:t>Promote Economic Integration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EU aims to integrate the economies of member countries by creating a single market where goods, services, capital, and labor can move freely.</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Companies in Germany can sell products in France without trade restrictions.</a:t>
            </a:r>
          </a:p>
          <a:p>
            <a:pPr>
              <a:lnSpc>
                <a:spcPct val="100000"/>
              </a:lnSpc>
            </a:pPr>
            <a:r>
              <a:rPr lang="en-US" sz="1600" b="1" dirty="0">
                <a:latin typeface="Times New Roman" panose="02020603050405020304" pitchFamily="18" charset="0"/>
                <a:cs typeface="Times New Roman" panose="02020603050405020304" pitchFamily="18" charset="0"/>
              </a:rPr>
              <a:t>Encourage Free Trade Among Member Countries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EU removes tariffs and trade barriers between member states to increase trade and economic cooperation.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Businesses in Italy can export products to Spain without paying import duties.</a:t>
            </a:r>
          </a:p>
          <a:p>
            <a:pPr>
              <a:lnSpc>
                <a:spcPct val="100000"/>
              </a:lnSpc>
            </a:pPr>
            <a:r>
              <a:rPr lang="en-US" sz="1600" b="1" dirty="0">
                <a:latin typeface="Times New Roman" panose="02020603050405020304" pitchFamily="18" charset="0"/>
                <a:cs typeface="Times New Roman" panose="02020603050405020304" pitchFamily="18" charset="0"/>
              </a:rPr>
              <a:t>Strengthen Political Cooperation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EU encourages member countries to work together on political, social, and economic issues to maintain peace and stability in the region.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EU countries cooperate on policies related to security, environment, and trade.</a:t>
            </a:r>
          </a:p>
          <a:p>
            <a:pPr>
              <a:lnSpc>
                <a:spcPct val="100000"/>
              </a:lnSpc>
            </a:pPr>
            <a:r>
              <a:rPr lang="en-US" sz="1600" b="1" dirty="0">
                <a:latin typeface="Times New Roman" panose="02020603050405020304" pitchFamily="18" charset="0"/>
                <a:cs typeface="Times New Roman" panose="02020603050405020304" pitchFamily="18" charset="0"/>
              </a:rPr>
              <a:t>Improve Economic Growth and Stability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By creating a larger market and promoting investment, the EU helps member countries achieve stronger economic growth and stability.</a:t>
            </a:r>
          </a:p>
          <a:p>
            <a:pPr>
              <a:lnSpc>
                <a:spcPct val="100000"/>
              </a:lnSpc>
            </a:pPr>
            <a:r>
              <a:rPr lang="en-US" sz="1600" b="1" dirty="0">
                <a:latin typeface="Times New Roman" panose="02020603050405020304" pitchFamily="18" charset="0"/>
                <a:cs typeface="Times New Roman" panose="02020603050405020304" pitchFamily="18" charset="0"/>
              </a:rPr>
              <a:t>Promote Social and Regional Development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EU supports the development of less developed regions by providing financial assistance and development programs.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Example:</a:t>
            </a:r>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EU funds help improve infrastructure and education in developing regions of Europe.</a:t>
            </a:r>
          </a:p>
          <a:p>
            <a:pPr>
              <a:lnSpc>
                <a:spcPct val="100000"/>
              </a:lnSpc>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5051" y="382385"/>
            <a:ext cx="6419519" cy="1076301"/>
          </a:xfrm>
        </p:spPr>
        <p:txBody>
          <a:bodyPr>
            <a:normAutofit fontScale="90000"/>
          </a:bodyPr>
          <a:lstStyle/>
          <a:p>
            <a:r>
              <a:rPr lang="en-IN" sz="4700" dirty="0"/>
              <a:t>Example from International Trade</a:t>
            </a:r>
          </a:p>
        </p:txBody>
      </p:sp>
      <p:sp>
        <p:nvSpPr>
          <p:cNvPr id="18" name="Rectangle 17">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283464" y="1730830"/>
            <a:ext cx="6901107" cy="4963884"/>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International trade allows countries to specialize in producing goods and services based on their resources, skills, and technological capabilities. Countries often export products that they can produce efficiently and import goods that are difficult or expensive to produce domestically. This specialization helps improve economic efficiency and benefits both producers and consumers.</a:t>
            </a:r>
          </a:p>
          <a:p>
            <a:pPr>
              <a:lnSpc>
                <a:spcPct val="100000"/>
              </a:lnSpc>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Saudi Arabia has abundant oil resources, so it specializes in producing and exporting petroleum products to many countries around the world. At the same time, it imports machinery, vehicles, and technological equipment from industrialized countries such as Germany and Japan. This exchange of goods demonstrates how countries benefit from international trade by focusing on their strengths and trading with other nations.</a:t>
            </a:r>
          </a:p>
          <a:p>
            <a:pPr>
              <a:lnSpc>
                <a:spcPct val="100000"/>
              </a:lnSpc>
            </a:pPr>
            <a:endParaRPr lang="en-US" dirty="0">
              <a:latin typeface="Times New Roman" panose="02020603050405020304" pitchFamily="18" charset="0"/>
              <a:cs typeface="Times New Roman" panose="02020603050405020304" pitchFamily="18" charset="0"/>
            </a:endParaRPr>
          </a:p>
        </p:txBody>
      </p:sp>
      <p:pic>
        <p:nvPicPr>
          <p:cNvPr id="5" name="Picture 4" descr="Digital financial graphs in 3D">
            <a:extLst>
              <a:ext uri="{FF2B5EF4-FFF2-40B4-BE49-F238E27FC236}">
                <a16:creationId xmlns:a16="http://schemas.microsoft.com/office/drawing/2014/main" id="{9CE82621-4547-FAFB-73DD-8CEA3CC3FC15}"/>
              </a:ext>
            </a:extLst>
          </p:cNvPr>
          <p:cNvPicPr>
            <a:picLocks noChangeAspect="1"/>
          </p:cNvPicPr>
          <p:nvPr/>
        </p:nvPicPr>
        <p:blipFill>
          <a:blip r:embed="rId2"/>
          <a:srcRect l="34996" r="10560" b="-2"/>
          <a:stretch>
            <a:fillRect/>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7" y="382385"/>
            <a:ext cx="10375463" cy="951465"/>
          </a:xfrm>
        </p:spPr>
        <p:txBody>
          <a:bodyPr>
            <a:noAutofit/>
          </a:bodyPr>
          <a:lstStyle/>
          <a:p>
            <a:r>
              <a:rPr lang="en-US" sz="4000" dirty="0"/>
              <a:t>Case Study: China's Growth Through International Trade</a:t>
            </a:r>
            <a:endParaRPr sz="4000" dirty="0"/>
          </a:p>
        </p:txBody>
      </p:sp>
      <p:sp>
        <p:nvSpPr>
          <p:cNvPr id="3" name="Content Placeholder 2"/>
          <p:cNvSpPr>
            <a:spLocks noGrp="1"/>
          </p:cNvSpPr>
          <p:nvPr>
            <p:ph idx="1"/>
          </p:nvPr>
        </p:nvSpPr>
        <p:spPr>
          <a:xfrm>
            <a:off x="973123" y="1719743"/>
            <a:ext cx="10763075" cy="4865615"/>
          </a:xfrm>
        </p:spPr>
        <p:txBody>
          <a:bodyPr>
            <a:normAutofit lnSpcReduction="10000"/>
          </a:bodyPr>
          <a:lstStyle/>
          <a:p>
            <a:r>
              <a:rPr lang="en-US" dirty="0">
                <a:latin typeface="Times New Roman" panose="02020603050405020304" pitchFamily="18" charset="0"/>
                <a:cs typeface="Times New Roman" panose="02020603050405020304" pitchFamily="18" charset="0"/>
              </a:rPr>
              <a:t>China provides one of the most significant examples of how international trade can contribute to economic growth and development. Over the past few decades, China has focused on developing its manufacturing industries and exporting a wide range of products such as electronics, textiles, machinery, and consumer goods to countries around the world. By specializing in manufacturing and utilizing its large labor force, China has become one of the largest exporters in the global market.</a:t>
            </a:r>
          </a:p>
          <a:p>
            <a:r>
              <a:rPr lang="en-US" dirty="0">
                <a:latin typeface="Times New Roman" panose="02020603050405020304" pitchFamily="18" charset="0"/>
                <a:cs typeface="Times New Roman" panose="02020603050405020304" pitchFamily="18" charset="0"/>
              </a:rPr>
              <a:t>China’s participation in international trade organizations, especially the </a:t>
            </a:r>
            <a:r>
              <a:rPr lang="en-US" b="1" dirty="0">
                <a:latin typeface="Times New Roman" panose="02020603050405020304" pitchFamily="18" charset="0"/>
                <a:cs typeface="Times New Roman" panose="02020603050405020304" pitchFamily="18" charset="0"/>
              </a:rPr>
              <a:t>World Trade Organization (WTO)</a:t>
            </a:r>
            <a:r>
              <a:rPr lang="en-US" dirty="0">
                <a:latin typeface="Times New Roman" panose="02020603050405020304" pitchFamily="18" charset="0"/>
                <a:cs typeface="Times New Roman" panose="02020603050405020304" pitchFamily="18" charset="0"/>
              </a:rPr>
              <a:t>, has further strengthened its position in global trade. After joining the WTO in 2001, China reduced many trade barriers and increased its exports to international markets. Many multinational companies also established manufacturing facilities in China due to its skilled labor and relatively low production costs.</a:t>
            </a:r>
          </a:p>
          <a:p>
            <a:r>
              <a:rPr lang="en-US" dirty="0">
                <a:latin typeface="Times New Roman" panose="02020603050405020304" pitchFamily="18" charset="0"/>
                <a:cs typeface="Times New Roman" panose="02020603050405020304" pitchFamily="18" charset="0"/>
              </a:rPr>
              <a:t>As a result, international trade has played a major role in China's economic development, creating millions of jobs, increasing foreign investment, and improving technological capabilities. This case study demonstrates how countries can benefit from international trade by specializing in industries where they have advantages and by participating actively in global trade systems.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5051" y="382385"/>
            <a:ext cx="6015897" cy="1492132"/>
          </a:xfrm>
        </p:spPr>
        <p:txBody>
          <a:bodyPr>
            <a:normAutofit/>
          </a:bodyPr>
          <a:lstStyle/>
          <a:p>
            <a:r>
              <a:rPr dirty="0"/>
              <a:t>Discussion Questions</a:t>
            </a:r>
          </a:p>
        </p:txBody>
      </p:sp>
      <p:sp>
        <p:nvSpPr>
          <p:cNvPr id="12" name="Rectangle 11">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5CD3C6AC-CF8A-D379-6907-E295F2D77CB1}"/>
              </a:ext>
            </a:extLst>
          </p:cNvPr>
          <p:cNvSpPr>
            <a:spLocks noGrp="1" noChangeArrowheads="1"/>
          </p:cNvSpPr>
          <p:nvPr>
            <p:ph idx="1"/>
          </p:nvPr>
        </p:nvSpPr>
        <p:spPr bwMode="auto">
          <a:xfrm>
            <a:off x="685801" y="2256903"/>
            <a:ext cx="6433456" cy="4218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Why did China focus on manufacturing industries to expand its international trade?</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How did joining the World Trade Organization (WTO) help China increase its global trade?</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What role did China's large labor force play in its success in international trade?</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effectLst/>
                <a:latin typeface="Times New Roman" panose="02020603050405020304" pitchFamily="18" charset="0"/>
                <a:cs typeface="Times New Roman" panose="02020603050405020304" pitchFamily="18" charset="0"/>
              </a:rPr>
              <a:t>Why do multinational companies establish manufacturing units in countries like China?</a:t>
            </a:r>
          </a:p>
        </p:txBody>
      </p:sp>
      <p:pic>
        <p:nvPicPr>
          <p:cNvPr id="6" name="Picture 5" descr="Storage crates">
            <a:extLst>
              <a:ext uri="{FF2B5EF4-FFF2-40B4-BE49-F238E27FC236}">
                <a16:creationId xmlns:a16="http://schemas.microsoft.com/office/drawing/2014/main" id="{BE4164CF-6693-46C0-2B15-856C35B06C48}"/>
              </a:ext>
            </a:extLst>
          </p:cNvPr>
          <p:cNvPicPr>
            <a:picLocks noChangeAspect="1"/>
          </p:cNvPicPr>
          <p:nvPr/>
        </p:nvPicPr>
        <p:blipFill>
          <a:blip r:embed="rId2"/>
          <a:srcRect l="25983" r="27452"/>
          <a:stretch>
            <a:fillRect/>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5" name="Rectangle 14">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67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extLst>
              <a:ext uri="{FF2B5EF4-FFF2-40B4-BE49-F238E27FC236}">
                <a16:creationId xmlns:a16="http://schemas.microsoft.com/office/drawing/2014/main" id="{8A70EEAC-A39D-5742-12FA-36A1F1140069}"/>
              </a:ext>
            </a:extLst>
          </p:cNvPr>
          <p:cNvPicPr>
            <a:picLocks noChangeAspect="1"/>
          </p:cNvPicPr>
          <p:nvPr/>
        </p:nvPicPr>
        <p:blipFill>
          <a:blip r:embed="rId2"/>
          <a:stretch>
            <a:fillRect/>
          </a:stretch>
        </p:blipFill>
        <p:spPr>
          <a:xfrm>
            <a:off x="2020747" y="599012"/>
            <a:ext cx="8385146" cy="5659976"/>
          </a:xfrm>
          <a:prstGeom prst="rect">
            <a:avLst/>
          </a:prstGeom>
        </p:spPr>
      </p:pic>
    </p:spTree>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594</TotalTime>
  <Words>4320</Words>
  <Application>Microsoft Office PowerPoint</Application>
  <PresentationFormat>Widescreen</PresentationFormat>
  <Paragraphs>134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Gill Sans MT</vt:lpstr>
      <vt:lpstr>Impact</vt:lpstr>
      <vt:lpstr>Times New Roman</vt:lpstr>
      <vt:lpstr>Badge</vt:lpstr>
      <vt:lpstr>International Trade</vt:lpstr>
      <vt:lpstr>International Trade – Unit 2</vt:lpstr>
      <vt:lpstr>Introduction to International Trade</vt:lpstr>
      <vt:lpstr>Meaning of International Trade</vt:lpstr>
      <vt:lpstr>Importance of International Trade</vt:lpstr>
      <vt:lpstr>International Trade Theory</vt:lpstr>
      <vt:lpstr>PowerPoint Presentation</vt:lpstr>
      <vt:lpstr>Mercantilism</vt:lpstr>
      <vt:lpstr>Limitations of Mercantilism</vt:lpstr>
      <vt:lpstr>Theory of Absolute Advantage</vt:lpstr>
      <vt:lpstr>Advantages of Absolute Advantage</vt:lpstr>
      <vt:lpstr>Theory of Comparative Advantage</vt:lpstr>
      <vt:lpstr>Benefits of Comparative Advantage</vt:lpstr>
      <vt:lpstr>DIFFERENT BETWEEN Absolute Advantage &amp; Comparative Advantage</vt:lpstr>
      <vt:lpstr>Factor Mobility Theory</vt:lpstr>
      <vt:lpstr>Regional Economic Integration</vt:lpstr>
      <vt:lpstr>Types of Regional Economic Integration</vt:lpstr>
      <vt:lpstr>Benefits of Regional Economic Integration</vt:lpstr>
      <vt:lpstr>World Trade Organization (WTO)</vt:lpstr>
      <vt:lpstr>Functions of WTO</vt:lpstr>
      <vt:lpstr>European Union (EU)</vt:lpstr>
      <vt:lpstr>Objectives of European Union</vt:lpstr>
      <vt:lpstr>Example from International Trade</vt:lpstr>
      <vt:lpstr>Case Study: China's Growth Through International Trade</vt:lpstr>
      <vt:lpstr>Discussion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Thakur</dc:creator>
  <cp:lastModifiedBy>Vishwan Bharathan</cp:lastModifiedBy>
  <cp:revision>6</cp:revision>
  <dcterms:created xsi:type="dcterms:W3CDTF">2025-01-14T08:37:19Z</dcterms:created>
  <dcterms:modified xsi:type="dcterms:W3CDTF">2026-03-10T17:39:54Z</dcterms:modified>
</cp:coreProperties>
</file>