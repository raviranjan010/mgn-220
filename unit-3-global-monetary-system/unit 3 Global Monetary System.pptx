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78" r:id="rId2"/>
    <p:sldId id="280" r:id="rId3"/>
    <p:sldId id="256" r:id="rId4"/>
    <p:sldId id="257" r:id="rId5"/>
    <p:sldId id="258" r:id="rId6"/>
    <p:sldId id="281" r:id="rId7"/>
    <p:sldId id="260" r:id="rId8"/>
    <p:sldId id="261" r:id="rId9"/>
    <p:sldId id="282" r:id="rId10"/>
    <p:sldId id="262" r:id="rId11"/>
    <p:sldId id="283" r:id="rId12"/>
    <p:sldId id="263" r:id="rId13"/>
    <p:sldId id="264" r:id="rId14"/>
    <p:sldId id="265" r:id="rId15"/>
    <p:sldId id="284" r:id="rId16"/>
    <p:sldId id="266" r:id="rId17"/>
    <p:sldId id="267" r:id="rId18"/>
    <p:sldId id="268" r:id="rId19"/>
    <p:sldId id="269" r:id="rId20"/>
    <p:sldId id="270" r:id="rId21"/>
    <p:sldId id="274" r:id="rId22"/>
    <p:sldId id="275"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2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F1442A-B36E-40B6-A9CB-D5E561D211B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778BEE5-C9B5-4331-83A7-48A34702D51C}">
      <dgm:prSet/>
      <dgm:spPr/>
      <dgm:t>
        <a:bodyPr/>
        <a:lstStyle/>
        <a:p>
          <a:pPr>
            <a:lnSpc>
              <a:spcPct val="100000"/>
            </a:lnSpc>
          </a:pPr>
          <a:r>
            <a:rPr lang="en-US" dirty="0"/>
            <a:t>his topic helps students understand how the international financial system operates and how global institutions support economic development and financial stability.</a:t>
          </a:r>
        </a:p>
      </dgm:t>
    </dgm:pt>
    <dgm:pt modelId="{301CFFD5-F1D5-4EE6-9302-79F73EA46BA0}" type="parTrans" cxnId="{B692A8EF-E716-4A44-8C8F-896612F51C47}">
      <dgm:prSet/>
      <dgm:spPr/>
      <dgm:t>
        <a:bodyPr/>
        <a:lstStyle/>
        <a:p>
          <a:endParaRPr lang="en-US"/>
        </a:p>
      </dgm:t>
    </dgm:pt>
    <dgm:pt modelId="{B9C87594-FD56-4F5D-A965-9F149335075C}" type="sibTrans" cxnId="{B692A8EF-E716-4A44-8C8F-896612F51C47}">
      <dgm:prSet/>
      <dgm:spPr/>
      <dgm:t>
        <a:bodyPr/>
        <a:lstStyle/>
        <a:p>
          <a:endParaRPr lang="en-US"/>
        </a:p>
      </dgm:t>
    </dgm:pt>
    <dgm:pt modelId="{C40693BE-8843-4473-A90F-691D1240B8EA}">
      <dgm:prSet/>
      <dgm:spPr/>
      <dgm:t>
        <a:bodyPr/>
        <a:lstStyle/>
        <a:p>
          <a:pPr>
            <a:lnSpc>
              <a:spcPct val="100000"/>
            </a:lnSpc>
          </a:pPr>
          <a:r>
            <a:rPr lang="en-US"/>
            <a:t>After studying this topic, students will be able to:</a:t>
          </a:r>
        </a:p>
      </dgm:t>
    </dgm:pt>
    <dgm:pt modelId="{6BDE2277-F8E3-4365-80AF-250AC317FD73}" type="parTrans" cxnId="{19D562C4-5DBC-464C-80B3-0D11CD0613C3}">
      <dgm:prSet/>
      <dgm:spPr/>
      <dgm:t>
        <a:bodyPr/>
        <a:lstStyle/>
        <a:p>
          <a:endParaRPr lang="en-US"/>
        </a:p>
      </dgm:t>
    </dgm:pt>
    <dgm:pt modelId="{4BC884F3-C2E5-4C3A-817E-6DDC92DF299F}" type="sibTrans" cxnId="{19D562C4-5DBC-464C-80B3-0D11CD0613C3}">
      <dgm:prSet/>
      <dgm:spPr/>
      <dgm:t>
        <a:bodyPr/>
        <a:lstStyle/>
        <a:p>
          <a:endParaRPr lang="en-US"/>
        </a:p>
      </dgm:t>
    </dgm:pt>
    <dgm:pt modelId="{36D335C0-D590-42D8-BD99-8F972EB9914A}">
      <dgm:prSet/>
      <dgm:spPr/>
      <dgm:t>
        <a:bodyPr/>
        <a:lstStyle/>
        <a:p>
          <a:pPr>
            <a:lnSpc>
              <a:spcPct val="100000"/>
            </a:lnSpc>
          </a:pPr>
          <a:r>
            <a:rPr lang="en-US"/>
            <a:t>• Explain the concept of the global monetary system</a:t>
          </a:r>
          <a:br>
            <a:rPr lang="en-US"/>
          </a:br>
          <a:r>
            <a:rPr lang="en-US"/>
            <a:t>• Understand the functioning of the foreign exchange market</a:t>
          </a:r>
          <a:br>
            <a:rPr lang="en-US"/>
          </a:br>
          <a:r>
            <a:rPr lang="en-US"/>
            <a:t>• Identify the role of international financial institutions</a:t>
          </a:r>
          <a:br>
            <a:rPr lang="en-US"/>
          </a:br>
          <a:r>
            <a:rPr lang="en-US"/>
            <a:t>• Analyze the importance of IMF, World Bank, and ADB</a:t>
          </a:r>
        </a:p>
      </dgm:t>
    </dgm:pt>
    <dgm:pt modelId="{F5A2724F-FD84-4F0C-ADD0-B06B70C82C60}" type="parTrans" cxnId="{65569F31-079E-45BF-BFCD-A647556AEE89}">
      <dgm:prSet/>
      <dgm:spPr/>
      <dgm:t>
        <a:bodyPr/>
        <a:lstStyle/>
        <a:p>
          <a:endParaRPr lang="en-US"/>
        </a:p>
      </dgm:t>
    </dgm:pt>
    <dgm:pt modelId="{EAA7F8B3-54C8-46C3-B96C-2853736E528A}" type="sibTrans" cxnId="{65569F31-079E-45BF-BFCD-A647556AEE89}">
      <dgm:prSet/>
      <dgm:spPr/>
      <dgm:t>
        <a:bodyPr/>
        <a:lstStyle/>
        <a:p>
          <a:endParaRPr lang="en-US"/>
        </a:p>
      </dgm:t>
    </dgm:pt>
    <dgm:pt modelId="{F0F566D7-D712-488F-93D0-C67F7BD520D0}" type="pres">
      <dgm:prSet presAssocID="{9DF1442A-B36E-40B6-A9CB-D5E561D211B1}" presName="root" presStyleCnt="0">
        <dgm:presLayoutVars>
          <dgm:dir/>
          <dgm:resizeHandles val="exact"/>
        </dgm:presLayoutVars>
      </dgm:prSet>
      <dgm:spPr/>
    </dgm:pt>
    <dgm:pt modelId="{80B12E70-E2A2-4839-BE69-5B456577F80B}" type="pres">
      <dgm:prSet presAssocID="{C778BEE5-C9B5-4331-83A7-48A34702D51C}" presName="compNode" presStyleCnt="0"/>
      <dgm:spPr/>
    </dgm:pt>
    <dgm:pt modelId="{A61E0E58-B8C6-4137-A023-437B6B20E49B}" type="pres">
      <dgm:prSet presAssocID="{C778BEE5-C9B5-4331-83A7-48A34702D51C}" presName="bgRect" presStyleLbl="bgShp" presStyleIdx="0" presStyleCnt="3"/>
      <dgm:spPr/>
    </dgm:pt>
    <dgm:pt modelId="{2BE86830-0E3F-4448-B395-ED839D08C006}" type="pres">
      <dgm:prSet presAssocID="{C778BEE5-C9B5-4331-83A7-48A34702D51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k"/>
        </a:ext>
      </dgm:extLst>
    </dgm:pt>
    <dgm:pt modelId="{8B398182-6C7C-40A7-8456-89079610874B}" type="pres">
      <dgm:prSet presAssocID="{C778BEE5-C9B5-4331-83A7-48A34702D51C}" presName="spaceRect" presStyleCnt="0"/>
      <dgm:spPr/>
    </dgm:pt>
    <dgm:pt modelId="{1F9D7F5A-5C81-4604-BFB8-E1D25D6B6801}" type="pres">
      <dgm:prSet presAssocID="{C778BEE5-C9B5-4331-83A7-48A34702D51C}" presName="parTx" presStyleLbl="revTx" presStyleIdx="0" presStyleCnt="3">
        <dgm:presLayoutVars>
          <dgm:chMax val="0"/>
          <dgm:chPref val="0"/>
        </dgm:presLayoutVars>
      </dgm:prSet>
      <dgm:spPr/>
    </dgm:pt>
    <dgm:pt modelId="{E74CEDFD-EBAE-48B8-BFC8-C33D5B3EAE83}" type="pres">
      <dgm:prSet presAssocID="{B9C87594-FD56-4F5D-A965-9F149335075C}" presName="sibTrans" presStyleCnt="0"/>
      <dgm:spPr/>
    </dgm:pt>
    <dgm:pt modelId="{CAFFB67E-ED87-45A6-A6E6-7903C5D82CD7}" type="pres">
      <dgm:prSet presAssocID="{C40693BE-8843-4473-A90F-691D1240B8EA}" presName="compNode" presStyleCnt="0"/>
      <dgm:spPr/>
    </dgm:pt>
    <dgm:pt modelId="{A0A1BEF2-2C52-45D5-B2CA-99268459A8F8}" type="pres">
      <dgm:prSet presAssocID="{C40693BE-8843-4473-A90F-691D1240B8EA}" presName="bgRect" presStyleLbl="bgShp" presStyleIdx="1" presStyleCnt="3"/>
      <dgm:spPr/>
    </dgm:pt>
    <dgm:pt modelId="{DEBFA682-FB7B-4D36-88A0-AAE9144866C6}" type="pres">
      <dgm:prSet presAssocID="{C40693BE-8843-4473-A90F-691D1240B8E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raduation Cap"/>
        </a:ext>
      </dgm:extLst>
    </dgm:pt>
    <dgm:pt modelId="{29D7CC51-4F01-4111-AE45-5A9717F9BD80}" type="pres">
      <dgm:prSet presAssocID="{C40693BE-8843-4473-A90F-691D1240B8EA}" presName="spaceRect" presStyleCnt="0"/>
      <dgm:spPr/>
    </dgm:pt>
    <dgm:pt modelId="{FCC88B2F-6643-4581-9565-81356A9B1A4D}" type="pres">
      <dgm:prSet presAssocID="{C40693BE-8843-4473-A90F-691D1240B8EA}" presName="parTx" presStyleLbl="revTx" presStyleIdx="1" presStyleCnt="3">
        <dgm:presLayoutVars>
          <dgm:chMax val="0"/>
          <dgm:chPref val="0"/>
        </dgm:presLayoutVars>
      </dgm:prSet>
      <dgm:spPr/>
    </dgm:pt>
    <dgm:pt modelId="{52AAB088-491C-457D-A9F6-AE8E7C45785F}" type="pres">
      <dgm:prSet presAssocID="{4BC884F3-C2E5-4C3A-817E-6DDC92DF299F}" presName="sibTrans" presStyleCnt="0"/>
      <dgm:spPr/>
    </dgm:pt>
    <dgm:pt modelId="{20374CD9-8DB2-4761-BDF8-EF5610D379DA}" type="pres">
      <dgm:prSet presAssocID="{36D335C0-D590-42D8-BD99-8F972EB9914A}" presName="compNode" presStyleCnt="0"/>
      <dgm:spPr/>
    </dgm:pt>
    <dgm:pt modelId="{4857975A-9DDB-4C68-A18B-3C0B759AFB56}" type="pres">
      <dgm:prSet presAssocID="{36D335C0-D590-42D8-BD99-8F972EB9914A}" presName="bgRect" presStyleLbl="bgShp" presStyleIdx="2" presStyleCnt="3"/>
      <dgm:spPr/>
    </dgm:pt>
    <dgm:pt modelId="{3389477A-3501-4DAB-96B6-8BE0F6FF1A1E}" type="pres">
      <dgm:prSet presAssocID="{36D335C0-D590-42D8-BD99-8F972EB991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uble"/>
        </a:ext>
      </dgm:extLst>
    </dgm:pt>
    <dgm:pt modelId="{66C011CE-2949-4C6E-B5B3-3879F5446550}" type="pres">
      <dgm:prSet presAssocID="{36D335C0-D590-42D8-BD99-8F972EB9914A}" presName="spaceRect" presStyleCnt="0"/>
      <dgm:spPr/>
    </dgm:pt>
    <dgm:pt modelId="{9AEECB8E-C842-4485-81AD-67C6870914B2}" type="pres">
      <dgm:prSet presAssocID="{36D335C0-D590-42D8-BD99-8F972EB9914A}" presName="parTx" presStyleLbl="revTx" presStyleIdx="2" presStyleCnt="3">
        <dgm:presLayoutVars>
          <dgm:chMax val="0"/>
          <dgm:chPref val="0"/>
        </dgm:presLayoutVars>
      </dgm:prSet>
      <dgm:spPr/>
    </dgm:pt>
  </dgm:ptLst>
  <dgm:cxnLst>
    <dgm:cxn modelId="{2E904905-B9A7-4636-B221-3CC9437EBE2B}" type="presOf" srcId="{C40693BE-8843-4473-A90F-691D1240B8EA}" destId="{FCC88B2F-6643-4581-9565-81356A9B1A4D}" srcOrd="0" destOrd="0" presId="urn:microsoft.com/office/officeart/2018/2/layout/IconVerticalSolidList"/>
    <dgm:cxn modelId="{65569F31-079E-45BF-BFCD-A647556AEE89}" srcId="{9DF1442A-B36E-40B6-A9CB-D5E561D211B1}" destId="{36D335C0-D590-42D8-BD99-8F972EB9914A}" srcOrd="2" destOrd="0" parTransId="{F5A2724F-FD84-4F0C-ADD0-B06B70C82C60}" sibTransId="{EAA7F8B3-54C8-46C3-B96C-2853736E528A}"/>
    <dgm:cxn modelId="{5F936574-2D97-4F91-B494-5A2BD21B0230}" type="presOf" srcId="{C778BEE5-C9B5-4331-83A7-48A34702D51C}" destId="{1F9D7F5A-5C81-4604-BFB8-E1D25D6B6801}" srcOrd="0" destOrd="0" presId="urn:microsoft.com/office/officeart/2018/2/layout/IconVerticalSolidList"/>
    <dgm:cxn modelId="{B16379A5-BF4D-4A40-9362-68CC642B37E8}" type="presOf" srcId="{9DF1442A-B36E-40B6-A9CB-D5E561D211B1}" destId="{F0F566D7-D712-488F-93D0-C67F7BD520D0}" srcOrd="0" destOrd="0" presId="urn:microsoft.com/office/officeart/2018/2/layout/IconVerticalSolidList"/>
    <dgm:cxn modelId="{19D562C4-5DBC-464C-80B3-0D11CD0613C3}" srcId="{9DF1442A-B36E-40B6-A9CB-D5E561D211B1}" destId="{C40693BE-8843-4473-A90F-691D1240B8EA}" srcOrd="1" destOrd="0" parTransId="{6BDE2277-F8E3-4365-80AF-250AC317FD73}" sibTransId="{4BC884F3-C2E5-4C3A-817E-6DDC92DF299F}"/>
    <dgm:cxn modelId="{099DF1D6-DDB6-4715-A001-ED71427899C6}" type="presOf" srcId="{36D335C0-D590-42D8-BD99-8F972EB9914A}" destId="{9AEECB8E-C842-4485-81AD-67C6870914B2}" srcOrd="0" destOrd="0" presId="urn:microsoft.com/office/officeart/2018/2/layout/IconVerticalSolidList"/>
    <dgm:cxn modelId="{B692A8EF-E716-4A44-8C8F-896612F51C47}" srcId="{9DF1442A-B36E-40B6-A9CB-D5E561D211B1}" destId="{C778BEE5-C9B5-4331-83A7-48A34702D51C}" srcOrd="0" destOrd="0" parTransId="{301CFFD5-F1D5-4EE6-9302-79F73EA46BA0}" sibTransId="{B9C87594-FD56-4F5D-A965-9F149335075C}"/>
    <dgm:cxn modelId="{4E14FB24-299F-4564-BCB1-2C3B32635018}" type="presParOf" srcId="{F0F566D7-D712-488F-93D0-C67F7BD520D0}" destId="{80B12E70-E2A2-4839-BE69-5B456577F80B}" srcOrd="0" destOrd="0" presId="urn:microsoft.com/office/officeart/2018/2/layout/IconVerticalSolidList"/>
    <dgm:cxn modelId="{B28886F3-16CF-4DDD-B02C-138F09BA66AB}" type="presParOf" srcId="{80B12E70-E2A2-4839-BE69-5B456577F80B}" destId="{A61E0E58-B8C6-4137-A023-437B6B20E49B}" srcOrd="0" destOrd="0" presId="urn:microsoft.com/office/officeart/2018/2/layout/IconVerticalSolidList"/>
    <dgm:cxn modelId="{227835EF-5F13-4BD8-941E-BF43B231E326}" type="presParOf" srcId="{80B12E70-E2A2-4839-BE69-5B456577F80B}" destId="{2BE86830-0E3F-4448-B395-ED839D08C006}" srcOrd="1" destOrd="0" presId="urn:microsoft.com/office/officeart/2018/2/layout/IconVerticalSolidList"/>
    <dgm:cxn modelId="{8332907F-CB20-46C0-A9D1-23A6FAEED58A}" type="presParOf" srcId="{80B12E70-E2A2-4839-BE69-5B456577F80B}" destId="{8B398182-6C7C-40A7-8456-89079610874B}" srcOrd="2" destOrd="0" presId="urn:microsoft.com/office/officeart/2018/2/layout/IconVerticalSolidList"/>
    <dgm:cxn modelId="{ED1C3D19-5C8B-4998-A8EE-93FF960D5F00}" type="presParOf" srcId="{80B12E70-E2A2-4839-BE69-5B456577F80B}" destId="{1F9D7F5A-5C81-4604-BFB8-E1D25D6B6801}" srcOrd="3" destOrd="0" presId="urn:microsoft.com/office/officeart/2018/2/layout/IconVerticalSolidList"/>
    <dgm:cxn modelId="{C0739FDC-1E1F-47FB-A389-751C1CDC5CC5}" type="presParOf" srcId="{F0F566D7-D712-488F-93D0-C67F7BD520D0}" destId="{E74CEDFD-EBAE-48B8-BFC8-C33D5B3EAE83}" srcOrd="1" destOrd="0" presId="urn:microsoft.com/office/officeart/2018/2/layout/IconVerticalSolidList"/>
    <dgm:cxn modelId="{A8CDBA99-EF2F-4DB3-A769-B02F85DFC0D6}" type="presParOf" srcId="{F0F566D7-D712-488F-93D0-C67F7BD520D0}" destId="{CAFFB67E-ED87-45A6-A6E6-7903C5D82CD7}" srcOrd="2" destOrd="0" presId="urn:microsoft.com/office/officeart/2018/2/layout/IconVerticalSolidList"/>
    <dgm:cxn modelId="{EDE3195E-ED7F-4559-B3E0-4853533DAE09}" type="presParOf" srcId="{CAFFB67E-ED87-45A6-A6E6-7903C5D82CD7}" destId="{A0A1BEF2-2C52-45D5-B2CA-99268459A8F8}" srcOrd="0" destOrd="0" presId="urn:microsoft.com/office/officeart/2018/2/layout/IconVerticalSolidList"/>
    <dgm:cxn modelId="{25360629-ABEA-4C92-B799-D278D650A4D7}" type="presParOf" srcId="{CAFFB67E-ED87-45A6-A6E6-7903C5D82CD7}" destId="{DEBFA682-FB7B-4D36-88A0-AAE9144866C6}" srcOrd="1" destOrd="0" presId="urn:microsoft.com/office/officeart/2018/2/layout/IconVerticalSolidList"/>
    <dgm:cxn modelId="{FFCFBF31-A2E6-4933-A1F8-C5270C23AE7E}" type="presParOf" srcId="{CAFFB67E-ED87-45A6-A6E6-7903C5D82CD7}" destId="{29D7CC51-4F01-4111-AE45-5A9717F9BD80}" srcOrd="2" destOrd="0" presId="urn:microsoft.com/office/officeart/2018/2/layout/IconVerticalSolidList"/>
    <dgm:cxn modelId="{29898C7E-044C-42BF-B511-531CB6B4915C}" type="presParOf" srcId="{CAFFB67E-ED87-45A6-A6E6-7903C5D82CD7}" destId="{FCC88B2F-6643-4581-9565-81356A9B1A4D}" srcOrd="3" destOrd="0" presId="urn:microsoft.com/office/officeart/2018/2/layout/IconVerticalSolidList"/>
    <dgm:cxn modelId="{FAEA27E6-22F0-4169-B454-7DB152A83437}" type="presParOf" srcId="{F0F566D7-D712-488F-93D0-C67F7BD520D0}" destId="{52AAB088-491C-457D-A9F6-AE8E7C45785F}" srcOrd="3" destOrd="0" presId="urn:microsoft.com/office/officeart/2018/2/layout/IconVerticalSolidList"/>
    <dgm:cxn modelId="{DAC74392-CDF6-4217-9151-311C4C5C92B5}" type="presParOf" srcId="{F0F566D7-D712-488F-93D0-C67F7BD520D0}" destId="{20374CD9-8DB2-4761-BDF8-EF5610D379DA}" srcOrd="4" destOrd="0" presId="urn:microsoft.com/office/officeart/2018/2/layout/IconVerticalSolidList"/>
    <dgm:cxn modelId="{E5EB1424-AB00-462F-A689-929D124A3DC9}" type="presParOf" srcId="{20374CD9-8DB2-4761-BDF8-EF5610D379DA}" destId="{4857975A-9DDB-4C68-A18B-3C0B759AFB56}" srcOrd="0" destOrd="0" presId="urn:microsoft.com/office/officeart/2018/2/layout/IconVerticalSolidList"/>
    <dgm:cxn modelId="{A0C1FC3D-5272-4285-919C-5580F767733F}" type="presParOf" srcId="{20374CD9-8DB2-4761-BDF8-EF5610D379DA}" destId="{3389477A-3501-4DAB-96B6-8BE0F6FF1A1E}" srcOrd="1" destOrd="0" presId="urn:microsoft.com/office/officeart/2018/2/layout/IconVerticalSolidList"/>
    <dgm:cxn modelId="{3D9767B7-1D2C-4088-A4A2-A7D5C87827E0}" type="presParOf" srcId="{20374CD9-8DB2-4761-BDF8-EF5610D379DA}" destId="{66C011CE-2949-4C6E-B5B3-3879F5446550}" srcOrd="2" destOrd="0" presId="urn:microsoft.com/office/officeart/2018/2/layout/IconVerticalSolidList"/>
    <dgm:cxn modelId="{6D8E38A6-C1F3-4CD5-8DE2-5365C5AFAC97}" type="presParOf" srcId="{20374CD9-8DB2-4761-BDF8-EF5610D379DA}" destId="{9AEECB8E-C842-4485-81AD-67C6870914B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903E08-7F07-4641-89F9-66E9C06A9F7B}"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A46292E8-D1D7-4F97-B641-DC7166AE18E3}">
      <dgm:prSet/>
      <dgm:spPr/>
      <dgm:t>
        <a:bodyPr/>
        <a:lstStyle/>
        <a:p>
          <a:r>
            <a:rPr lang="en-US" b="1" i="0" baseline="0" dirty="0"/>
            <a:t>Currency Conversion</a:t>
          </a:r>
          <a:br>
            <a:rPr lang="en-US" b="0" i="0" baseline="0" dirty="0"/>
          </a:br>
          <a:r>
            <a:rPr lang="en-US" b="0" i="0" baseline="0" dirty="0"/>
            <a:t>The foreign exchange market helps convert one country's currency into another country's currency so that international trade and transactions can take place smoothly.</a:t>
          </a:r>
          <a:br>
            <a:rPr lang="en-US" b="0" i="0" baseline="0" dirty="0"/>
          </a:br>
          <a:r>
            <a:rPr lang="en-US" b="1" i="0" baseline="0" dirty="0"/>
            <a:t>Example:</a:t>
          </a:r>
          <a:r>
            <a:rPr lang="en-US" b="0" i="0" baseline="0" dirty="0"/>
            <a:t> </a:t>
          </a:r>
          <a:r>
            <a:rPr lang="en-US" b="0" i="0" baseline="0" dirty="0">
              <a:solidFill>
                <a:schemeClr val="bg1"/>
              </a:solidFill>
            </a:rPr>
            <a:t>An Indian company importing machinery from the United States converts Indian rupees into US dollars to make the payment.</a:t>
          </a:r>
          <a:endParaRPr lang="en-US" dirty="0">
            <a:solidFill>
              <a:schemeClr val="bg1"/>
            </a:solidFill>
          </a:endParaRPr>
        </a:p>
      </dgm:t>
    </dgm:pt>
    <dgm:pt modelId="{AAA3A688-C802-470E-9091-31DFBDBB1780}" type="parTrans" cxnId="{E8272BAE-311A-479D-8F69-81D2C3470CB0}">
      <dgm:prSet/>
      <dgm:spPr/>
      <dgm:t>
        <a:bodyPr/>
        <a:lstStyle/>
        <a:p>
          <a:endParaRPr lang="en-US"/>
        </a:p>
      </dgm:t>
    </dgm:pt>
    <dgm:pt modelId="{69728478-BB49-4F99-BBF4-8402EDCED9BD}" type="sibTrans" cxnId="{E8272BAE-311A-479D-8F69-81D2C3470CB0}">
      <dgm:prSet/>
      <dgm:spPr/>
      <dgm:t>
        <a:bodyPr/>
        <a:lstStyle/>
        <a:p>
          <a:endParaRPr lang="en-US"/>
        </a:p>
      </dgm:t>
    </dgm:pt>
    <dgm:pt modelId="{DB2F7F9B-698A-4821-B265-34A6D28192CC}">
      <dgm:prSet/>
      <dgm:spPr/>
      <dgm:t>
        <a:bodyPr/>
        <a:lstStyle/>
        <a:p>
          <a:r>
            <a:rPr lang="en-US" b="1" i="0" baseline="0"/>
            <a:t>Determination of Exchange Rates</a:t>
          </a:r>
          <a:br>
            <a:rPr lang="en-US" b="0" i="0" baseline="0"/>
          </a:br>
          <a:r>
            <a:rPr lang="en-US" b="0" i="0" baseline="0"/>
            <a:t>The foreign exchange market determines the value of one currency relative to another based on demand and supply in the global market.</a:t>
          </a:r>
          <a:br>
            <a:rPr lang="en-US" b="0" i="0" baseline="0"/>
          </a:br>
          <a:r>
            <a:rPr lang="en-US" b="1" i="0" baseline="0"/>
            <a:t>Example:</a:t>
          </a:r>
          <a:r>
            <a:rPr lang="en-US" b="0" i="0" baseline="0"/>
            <a:t> If the demand for US dollars increases, the value of the dollar rises compared to other currencies.</a:t>
          </a:r>
          <a:endParaRPr lang="en-US"/>
        </a:p>
      </dgm:t>
    </dgm:pt>
    <dgm:pt modelId="{01530B81-B0FA-464A-99F8-826A47576492}" type="parTrans" cxnId="{1FA112A7-FC88-42DF-A07D-9B678CC3E8E6}">
      <dgm:prSet/>
      <dgm:spPr/>
      <dgm:t>
        <a:bodyPr/>
        <a:lstStyle/>
        <a:p>
          <a:endParaRPr lang="en-US"/>
        </a:p>
      </dgm:t>
    </dgm:pt>
    <dgm:pt modelId="{9235E638-97C6-4042-AC63-4DF3DD1118F3}" type="sibTrans" cxnId="{1FA112A7-FC88-42DF-A07D-9B678CC3E8E6}">
      <dgm:prSet/>
      <dgm:spPr/>
      <dgm:t>
        <a:bodyPr/>
        <a:lstStyle/>
        <a:p>
          <a:endParaRPr lang="en-US"/>
        </a:p>
      </dgm:t>
    </dgm:pt>
    <dgm:pt modelId="{2A7D1566-58A2-4929-8F6B-6156EA5DE439}">
      <dgm:prSet/>
      <dgm:spPr/>
      <dgm:t>
        <a:bodyPr/>
        <a:lstStyle/>
        <a:p>
          <a:r>
            <a:rPr lang="en-US" b="1" i="0" baseline="0"/>
            <a:t>Facilitates International Trade and Investment</a:t>
          </a:r>
          <a:br>
            <a:rPr lang="en-US" b="0" i="0" baseline="0"/>
          </a:br>
          <a:r>
            <a:rPr lang="en-US" b="0" i="0" baseline="0"/>
            <a:t>It allows businesses and investors to transfer funds across countries for trade, investment, and other international transactions.</a:t>
          </a:r>
          <a:br>
            <a:rPr lang="en-US" b="0" i="0" baseline="0"/>
          </a:br>
          <a:r>
            <a:rPr lang="en-US" b="1" i="0" baseline="0"/>
            <a:t>Example:</a:t>
          </a:r>
          <a:r>
            <a:rPr lang="en-US" b="0" i="0" baseline="0"/>
            <a:t> A multinational company investing in a factory in another country exchanges its domestic currency into the local currency.</a:t>
          </a:r>
          <a:endParaRPr lang="en-US"/>
        </a:p>
      </dgm:t>
    </dgm:pt>
    <dgm:pt modelId="{86DB9611-CB5D-4830-A5D3-EE9C22828FF6}" type="parTrans" cxnId="{FD4860CD-2080-43DD-B0A5-408D46B9B600}">
      <dgm:prSet/>
      <dgm:spPr/>
      <dgm:t>
        <a:bodyPr/>
        <a:lstStyle/>
        <a:p>
          <a:endParaRPr lang="en-US"/>
        </a:p>
      </dgm:t>
    </dgm:pt>
    <dgm:pt modelId="{0B9915A1-9CA0-457F-B6AD-6D25F020741A}" type="sibTrans" cxnId="{FD4860CD-2080-43DD-B0A5-408D46B9B600}">
      <dgm:prSet/>
      <dgm:spPr/>
      <dgm:t>
        <a:bodyPr/>
        <a:lstStyle/>
        <a:p>
          <a:endParaRPr lang="en-US"/>
        </a:p>
      </dgm:t>
    </dgm:pt>
    <dgm:pt modelId="{E45245EF-0212-4AD1-A427-C2AC2DFC4055}" type="pres">
      <dgm:prSet presAssocID="{AD903E08-7F07-4641-89F9-66E9C06A9F7B}" presName="outerComposite" presStyleCnt="0">
        <dgm:presLayoutVars>
          <dgm:chMax val="5"/>
          <dgm:dir/>
          <dgm:resizeHandles val="exact"/>
        </dgm:presLayoutVars>
      </dgm:prSet>
      <dgm:spPr/>
    </dgm:pt>
    <dgm:pt modelId="{543D0E80-37F6-4E8E-BAC6-BA9850E07A0E}" type="pres">
      <dgm:prSet presAssocID="{AD903E08-7F07-4641-89F9-66E9C06A9F7B}" presName="dummyMaxCanvas" presStyleCnt="0">
        <dgm:presLayoutVars/>
      </dgm:prSet>
      <dgm:spPr/>
    </dgm:pt>
    <dgm:pt modelId="{FAC86173-A972-45C0-8B40-BD6565897666}" type="pres">
      <dgm:prSet presAssocID="{AD903E08-7F07-4641-89F9-66E9C06A9F7B}" presName="ThreeNodes_1" presStyleLbl="node1" presStyleIdx="0" presStyleCnt="3" custLinFactNeighborX="-432">
        <dgm:presLayoutVars>
          <dgm:bulletEnabled val="1"/>
        </dgm:presLayoutVars>
      </dgm:prSet>
      <dgm:spPr/>
    </dgm:pt>
    <dgm:pt modelId="{086F2065-50AF-42D2-8BD1-E984F23FA919}" type="pres">
      <dgm:prSet presAssocID="{AD903E08-7F07-4641-89F9-66E9C06A9F7B}" presName="ThreeNodes_2" presStyleLbl="node1" presStyleIdx="1" presStyleCnt="3">
        <dgm:presLayoutVars>
          <dgm:bulletEnabled val="1"/>
        </dgm:presLayoutVars>
      </dgm:prSet>
      <dgm:spPr/>
    </dgm:pt>
    <dgm:pt modelId="{F1A8CF6E-9DDF-4222-97E3-07DC52015A15}" type="pres">
      <dgm:prSet presAssocID="{AD903E08-7F07-4641-89F9-66E9C06A9F7B}" presName="ThreeNodes_3" presStyleLbl="node1" presStyleIdx="2" presStyleCnt="3">
        <dgm:presLayoutVars>
          <dgm:bulletEnabled val="1"/>
        </dgm:presLayoutVars>
      </dgm:prSet>
      <dgm:spPr/>
    </dgm:pt>
    <dgm:pt modelId="{C7CB66D6-FCA0-4400-BDC0-8242599CB5D5}" type="pres">
      <dgm:prSet presAssocID="{AD903E08-7F07-4641-89F9-66E9C06A9F7B}" presName="ThreeConn_1-2" presStyleLbl="fgAccFollowNode1" presStyleIdx="0" presStyleCnt="2">
        <dgm:presLayoutVars>
          <dgm:bulletEnabled val="1"/>
        </dgm:presLayoutVars>
      </dgm:prSet>
      <dgm:spPr/>
    </dgm:pt>
    <dgm:pt modelId="{ED5CCE0D-654F-453D-B828-0E05A27268E5}" type="pres">
      <dgm:prSet presAssocID="{AD903E08-7F07-4641-89F9-66E9C06A9F7B}" presName="ThreeConn_2-3" presStyleLbl="fgAccFollowNode1" presStyleIdx="1" presStyleCnt="2">
        <dgm:presLayoutVars>
          <dgm:bulletEnabled val="1"/>
        </dgm:presLayoutVars>
      </dgm:prSet>
      <dgm:spPr/>
    </dgm:pt>
    <dgm:pt modelId="{D0CADD22-E25D-4CB5-8C5B-1B980E6DFB1D}" type="pres">
      <dgm:prSet presAssocID="{AD903E08-7F07-4641-89F9-66E9C06A9F7B}" presName="ThreeNodes_1_text" presStyleLbl="node1" presStyleIdx="2" presStyleCnt="3">
        <dgm:presLayoutVars>
          <dgm:bulletEnabled val="1"/>
        </dgm:presLayoutVars>
      </dgm:prSet>
      <dgm:spPr/>
    </dgm:pt>
    <dgm:pt modelId="{8085D52B-C427-4070-8F56-8433A588B37D}" type="pres">
      <dgm:prSet presAssocID="{AD903E08-7F07-4641-89F9-66E9C06A9F7B}" presName="ThreeNodes_2_text" presStyleLbl="node1" presStyleIdx="2" presStyleCnt="3">
        <dgm:presLayoutVars>
          <dgm:bulletEnabled val="1"/>
        </dgm:presLayoutVars>
      </dgm:prSet>
      <dgm:spPr/>
    </dgm:pt>
    <dgm:pt modelId="{D101A73A-0F78-475A-A5F0-3AE8B579D6F4}" type="pres">
      <dgm:prSet presAssocID="{AD903E08-7F07-4641-89F9-66E9C06A9F7B}" presName="ThreeNodes_3_text" presStyleLbl="node1" presStyleIdx="2" presStyleCnt="3">
        <dgm:presLayoutVars>
          <dgm:bulletEnabled val="1"/>
        </dgm:presLayoutVars>
      </dgm:prSet>
      <dgm:spPr/>
    </dgm:pt>
  </dgm:ptLst>
  <dgm:cxnLst>
    <dgm:cxn modelId="{43B82100-2292-4BB2-8B0A-9C2E757CDC10}" type="presOf" srcId="{A46292E8-D1D7-4F97-B641-DC7166AE18E3}" destId="{FAC86173-A972-45C0-8B40-BD6565897666}" srcOrd="0" destOrd="0" presId="urn:microsoft.com/office/officeart/2005/8/layout/vProcess5"/>
    <dgm:cxn modelId="{79DA0728-3900-461B-9CCE-152C72BF5A85}" type="presOf" srcId="{AD903E08-7F07-4641-89F9-66E9C06A9F7B}" destId="{E45245EF-0212-4AD1-A427-C2AC2DFC4055}" srcOrd="0" destOrd="0" presId="urn:microsoft.com/office/officeart/2005/8/layout/vProcess5"/>
    <dgm:cxn modelId="{55D50334-57E0-44F5-B577-2A63F67D31F3}" type="presOf" srcId="{DB2F7F9B-698A-4821-B265-34A6D28192CC}" destId="{086F2065-50AF-42D2-8BD1-E984F23FA919}" srcOrd="0" destOrd="0" presId="urn:microsoft.com/office/officeart/2005/8/layout/vProcess5"/>
    <dgm:cxn modelId="{5CD07E66-DB51-4DD0-AFF7-3AD16865B7C1}" type="presOf" srcId="{9235E638-97C6-4042-AC63-4DF3DD1118F3}" destId="{ED5CCE0D-654F-453D-B828-0E05A27268E5}" srcOrd="0" destOrd="0" presId="urn:microsoft.com/office/officeart/2005/8/layout/vProcess5"/>
    <dgm:cxn modelId="{48DE4652-6555-479E-B8F6-FDBC35FD6CCD}" type="presOf" srcId="{2A7D1566-58A2-4929-8F6B-6156EA5DE439}" destId="{D101A73A-0F78-475A-A5F0-3AE8B579D6F4}" srcOrd="1" destOrd="0" presId="urn:microsoft.com/office/officeart/2005/8/layout/vProcess5"/>
    <dgm:cxn modelId="{1FA112A7-FC88-42DF-A07D-9B678CC3E8E6}" srcId="{AD903E08-7F07-4641-89F9-66E9C06A9F7B}" destId="{DB2F7F9B-698A-4821-B265-34A6D28192CC}" srcOrd="1" destOrd="0" parTransId="{01530B81-B0FA-464A-99F8-826A47576492}" sibTransId="{9235E638-97C6-4042-AC63-4DF3DD1118F3}"/>
    <dgm:cxn modelId="{E8272BAE-311A-479D-8F69-81D2C3470CB0}" srcId="{AD903E08-7F07-4641-89F9-66E9C06A9F7B}" destId="{A46292E8-D1D7-4F97-B641-DC7166AE18E3}" srcOrd="0" destOrd="0" parTransId="{AAA3A688-C802-470E-9091-31DFBDBB1780}" sibTransId="{69728478-BB49-4F99-BBF4-8402EDCED9BD}"/>
    <dgm:cxn modelId="{64C166AE-4CF4-408E-9A21-6FD2830D9F4A}" type="presOf" srcId="{A46292E8-D1D7-4F97-B641-DC7166AE18E3}" destId="{D0CADD22-E25D-4CB5-8C5B-1B980E6DFB1D}" srcOrd="1" destOrd="0" presId="urn:microsoft.com/office/officeart/2005/8/layout/vProcess5"/>
    <dgm:cxn modelId="{FD4860CD-2080-43DD-B0A5-408D46B9B600}" srcId="{AD903E08-7F07-4641-89F9-66E9C06A9F7B}" destId="{2A7D1566-58A2-4929-8F6B-6156EA5DE439}" srcOrd="2" destOrd="0" parTransId="{86DB9611-CB5D-4830-A5D3-EE9C22828FF6}" sibTransId="{0B9915A1-9CA0-457F-B6AD-6D25F020741A}"/>
    <dgm:cxn modelId="{CF12C2D9-4CB2-4BAB-8E6E-1AFE21533577}" type="presOf" srcId="{69728478-BB49-4F99-BBF4-8402EDCED9BD}" destId="{C7CB66D6-FCA0-4400-BDC0-8242599CB5D5}" srcOrd="0" destOrd="0" presId="urn:microsoft.com/office/officeart/2005/8/layout/vProcess5"/>
    <dgm:cxn modelId="{84A7AADB-DEF8-410D-A24D-108A57EDDDA8}" type="presOf" srcId="{2A7D1566-58A2-4929-8F6B-6156EA5DE439}" destId="{F1A8CF6E-9DDF-4222-97E3-07DC52015A15}" srcOrd="0" destOrd="0" presId="urn:microsoft.com/office/officeart/2005/8/layout/vProcess5"/>
    <dgm:cxn modelId="{84583CDC-4F52-4E0E-8BD1-9415032178FD}" type="presOf" srcId="{DB2F7F9B-698A-4821-B265-34A6D28192CC}" destId="{8085D52B-C427-4070-8F56-8433A588B37D}" srcOrd="1" destOrd="0" presId="urn:microsoft.com/office/officeart/2005/8/layout/vProcess5"/>
    <dgm:cxn modelId="{6389862D-5CB9-4CAB-A135-E112BCBB5843}" type="presParOf" srcId="{E45245EF-0212-4AD1-A427-C2AC2DFC4055}" destId="{543D0E80-37F6-4E8E-BAC6-BA9850E07A0E}" srcOrd="0" destOrd="0" presId="urn:microsoft.com/office/officeart/2005/8/layout/vProcess5"/>
    <dgm:cxn modelId="{9DC8F49C-F782-4500-9D54-657D7078375B}" type="presParOf" srcId="{E45245EF-0212-4AD1-A427-C2AC2DFC4055}" destId="{FAC86173-A972-45C0-8B40-BD6565897666}" srcOrd="1" destOrd="0" presId="urn:microsoft.com/office/officeart/2005/8/layout/vProcess5"/>
    <dgm:cxn modelId="{02666C0B-BA17-4713-B976-BFED32B38E9A}" type="presParOf" srcId="{E45245EF-0212-4AD1-A427-C2AC2DFC4055}" destId="{086F2065-50AF-42D2-8BD1-E984F23FA919}" srcOrd="2" destOrd="0" presId="urn:microsoft.com/office/officeart/2005/8/layout/vProcess5"/>
    <dgm:cxn modelId="{9E68A9CA-7FB7-4511-B9D6-17EDACCC415E}" type="presParOf" srcId="{E45245EF-0212-4AD1-A427-C2AC2DFC4055}" destId="{F1A8CF6E-9DDF-4222-97E3-07DC52015A15}" srcOrd="3" destOrd="0" presId="urn:microsoft.com/office/officeart/2005/8/layout/vProcess5"/>
    <dgm:cxn modelId="{4A58B4E9-0C9D-492E-8286-96F07EEE4C2F}" type="presParOf" srcId="{E45245EF-0212-4AD1-A427-C2AC2DFC4055}" destId="{C7CB66D6-FCA0-4400-BDC0-8242599CB5D5}" srcOrd="4" destOrd="0" presId="urn:microsoft.com/office/officeart/2005/8/layout/vProcess5"/>
    <dgm:cxn modelId="{4118B3C0-8D5C-44BE-8752-51DF2552B742}" type="presParOf" srcId="{E45245EF-0212-4AD1-A427-C2AC2DFC4055}" destId="{ED5CCE0D-654F-453D-B828-0E05A27268E5}" srcOrd="5" destOrd="0" presId="urn:microsoft.com/office/officeart/2005/8/layout/vProcess5"/>
    <dgm:cxn modelId="{58CBF45E-4E0A-4F0E-9F40-CE5C09F85400}" type="presParOf" srcId="{E45245EF-0212-4AD1-A427-C2AC2DFC4055}" destId="{D0CADD22-E25D-4CB5-8C5B-1B980E6DFB1D}" srcOrd="6" destOrd="0" presId="urn:microsoft.com/office/officeart/2005/8/layout/vProcess5"/>
    <dgm:cxn modelId="{8A2927D1-5E38-4D8F-A2EC-CD1BB72B139A}" type="presParOf" srcId="{E45245EF-0212-4AD1-A427-C2AC2DFC4055}" destId="{8085D52B-C427-4070-8F56-8433A588B37D}" srcOrd="7" destOrd="0" presId="urn:microsoft.com/office/officeart/2005/8/layout/vProcess5"/>
    <dgm:cxn modelId="{9AF180D1-DD6D-4EDE-94FA-05405C421455}" type="presParOf" srcId="{E45245EF-0212-4AD1-A427-C2AC2DFC4055}" destId="{D101A73A-0F78-475A-A5F0-3AE8B579D6F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4A3E01-C058-4E1C-A78A-B3A127DA82C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5DF5A39E-5FB7-4564-A26D-4301FB31A255}">
      <dgm:prSet/>
      <dgm:spPr/>
      <dgm:t>
        <a:bodyPr/>
        <a:lstStyle/>
        <a:p>
          <a:r>
            <a:rPr lang="en-US" b="1"/>
            <a:t>Provides Liquidity</a:t>
          </a:r>
          <a:br>
            <a:rPr lang="en-US"/>
          </a:br>
          <a:r>
            <a:rPr lang="en-US"/>
            <a:t>The foreign exchange market ensures that currencies can be bought and sold easily at any time, making international financial transactions more efficient.</a:t>
          </a:r>
          <a:br>
            <a:rPr lang="en-US"/>
          </a:br>
          <a:r>
            <a:rPr lang="en-US" b="1"/>
            <a:t>Example:</a:t>
          </a:r>
          <a:r>
            <a:rPr lang="en-US"/>
            <a:t> Banks and financial institutions exchange currencies quickly to support global business operations.</a:t>
          </a:r>
        </a:p>
      </dgm:t>
    </dgm:pt>
    <dgm:pt modelId="{53C3C249-E3C3-4BFF-8D22-92D940469763}" type="parTrans" cxnId="{5CB6A52D-D6E8-405B-BAED-F664D426F743}">
      <dgm:prSet/>
      <dgm:spPr/>
      <dgm:t>
        <a:bodyPr/>
        <a:lstStyle/>
        <a:p>
          <a:endParaRPr lang="en-US"/>
        </a:p>
      </dgm:t>
    </dgm:pt>
    <dgm:pt modelId="{1F39612F-57C5-4688-A402-F4A375E8C1D7}" type="sibTrans" cxnId="{5CB6A52D-D6E8-405B-BAED-F664D426F743}">
      <dgm:prSet/>
      <dgm:spPr/>
      <dgm:t>
        <a:bodyPr/>
        <a:lstStyle/>
        <a:p>
          <a:endParaRPr lang="en-US"/>
        </a:p>
      </dgm:t>
    </dgm:pt>
    <dgm:pt modelId="{1A4587B7-1848-4C97-9E07-5136CD40334E}">
      <dgm:prSet/>
      <dgm:spPr/>
      <dgm:t>
        <a:bodyPr/>
        <a:lstStyle/>
        <a:p>
          <a:r>
            <a:rPr lang="en-US" b="1"/>
            <a:t>Hedging Against Exchange Rate Risk</a:t>
          </a:r>
          <a:br>
            <a:rPr lang="en-US"/>
          </a:br>
          <a:r>
            <a:rPr lang="en-US"/>
            <a:t>The foreign exchange market helps businesses protect themselves from fluctuations in currency values through financial instruments such as forward contracts and options.</a:t>
          </a:r>
          <a:br>
            <a:rPr lang="en-US"/>
          </a:br>
          <a:r>
            <a:rPr lang="en-US" b="1"/>
            <a:t>Example:</a:t>
          </a:r>
          <a:r>
            <a:rPr lang="en-US"/>
            <a:t> An exporter may lock in a future exchange rate to avoid losses if the currency value changes</a:t>
          </a:r>
        </a:p>
      </dgm:t>
    </dgm:pt>
    <dgm:pt modelId="{516A5348-DAD8-40E7-99C8-9721C0D3D57F}" type="parTrans" cxnId="{9B1761C2-CEC5-4504-853D-C84BB4F99921}">
      <dgm:prSet/>
      <dgm:spPr/>
      <dgm:t>
        <a:bodyPr/>
        <a:lstStyle/>
        <a:p>
          <a:endParaRPr lang="en-US"/>
        </a:p>
      </dgm:t>
    </dgm:pt>
    <dgm:pt modelId="{DBA4D55E-28C0-4F03-A0C5-E2B21019BB9D}" type="sibTrans" cxnId="{9B1761C2-CEC5-4504-853D-C84BB4F99921}">
      <dgm:prSet/>
      <dgm:spPr/>
      <dgm:t>
        <a:bodyPr/>
        <a:lstStyle/>
        <a:p>
          <a:endParaRPr lang="en-US"/>
        </a:p>
      </dgm:t>
    </dgm:pt>
    <dgm:pt modelId="{B96C1173-8DC0-4C67-8E9A-109A5028C8DA}" type="pres">
      <dgm:prSet presAssocID="{3C4A3E01-C058-4E1C-A78A-B3A127DA82C2}" presName="outerComposite" presStyleCnt="0">
        <dgm:presLayoutVars>
          <dgm:chMax val="5"/>
          <dgm:dir/>
          <dgm:resizeHandles val="exact"/>
        </dgm:presLayoutVars>
      </dgm:prSet>
      <dgm:spPr/>
    </dgm:pt>
    <dgm:pt modelId="{101ACA38-DFCE-4ED4-804D-EB33DBBD5169}" type="pres">
      <dgm:prSet presAssocID="{3C4A3E01-C058-4E1C-A78A-B3A127DA82C2}" presName="dummyMaxCanvas" presStyleCnt="0">
        <dgm:presLayoutVars/>
      </dgm:prSet>
      <dgm:spPr/>
    </dgm:pt>
    <dgm:pt modelId="{67D65B69-84D2-4CF2-A362-8C0DDA5C4AD1}" type="pres">
      <dgm:prSet presAssocID="{3C4A3E01-C058-4E1C-A78A-B3A127DA82C2}" presName="TwoNodes_1" presStyleLbl="node1" presStyleIdx="0" presStyleCnt="2" custLinFactNeighborX="787">
        <dgm:presLayoutVars>
          <dgm:bulletEnabled val="1"/>
        </dgm:presLayoutVars>
      </dgm:prSet>
      <dgm:spPr/>
    </dgm:pt>
    <dgm:pt modelId="{434978C8-6338-41B2-94DD-E612F6BA84BD}" type="pres">
      <dgm:prSet presAssocID="{3C4A3E01-C058-4E1C-A78A-B3A127DA82C2}" presName="TwoNodes_2" presStyleLbl="node1" presStyleIdx="1" presStyleCnt="2">
        <dgm:presLayoutVars>
          <dgm:bulletEnabled val="1"/>
        </dgm:presLayoutVars>
      </dgm:prSet>
      <dgm:spPr/>
    </dgm:pt>
    <dgm:pt modelId="{F9C5AFE1-D738-4440-9BBB-0D4D3EC514AB}" type="pres">
      <dgm:prSet presAssocID="{3C4A3E01-C058-4E1C-A78A-B3A127DA82C2}" presName="TwoConn_1-2" presStyleLbl="fgAccFollowNode1" presStyleIdx="0" presStyleCnt="1">
        <dgm:presLayoutVars>
          <dgm:bulletEnabled val="1"/>
        </dgm:presLayoutVars>
      </dgm:prSet>
      <dgm:spPr/>
    </dgm:pt>
    <dgm:pt modelId="{34AE6E52-1938-4B62-AF22-2894DA25A2F1}" type="pres">
      <dgm:prSet presAssocID="{3C4A3E01-C058-4E1C-A78A-B3A127DA82C2}" presName="TwoNodes_1_text" presStyleLbl="node1" presStyleIdx="1" presStyleCnt="2">
        <dgm:presLayoutVars>
          <dgm:bulletEnabled val="1"/>
        </dgm:presLayoutVars>
      </dgm:prSet>
      <dgm:spPr/>
    </dgm:pt>
    <dgm:pt modelId="{D388D89E-8E80-4B0D-ACBA-63ADEAE2404E}" type="pres">
      <dgm:prSet presAssocID="{3C4A3E01-C058-4E1C-A78A-B3A127DA82C2}" presName="TwoNodes_2_text" presStyleLbl="node1" presStyleIdx="1" presStyleCnt="2">
        <dgm:presLayoutVars>
          <dgm:bulletEnabled val="1"/>
        </dgm:presLayoutVars>
      </dgm:prSet>
      <dgm:spPr/>
    </dgm:pt>
  </dgm:ptLst>
  <dgm:cxnLst>
    <dgm:cxn modelId="{F31BD205-1AD1-4835-8356-5581A77A908E}" type="presOf" srcId="{1F39612F-57C5-4688-A402-F4A375E8C1D7}" destId="{F9C5AFE1-D738-4440-9BBB-0D4D3EC514AB}" srcOrd="0" destOrd="0" presId="urn:microsoft.com/office/officeart/2005/8/layout/vProcess5"/>
    <dgm:cxn modelId="{5CB6A52D-D6E8-405B-BAED-F664D426F743}" srcId="{3C4A3E01-C058-4E1C-A78A-B3A127DA82C2}" destId="{5DF5A39E-5FB7-4564-A26D-4301FB31A255}" srcOrd="0" destOrd="0" parTransId="{53C3C249-E3C3-4BFF-8D22-92D940469763}" sibTransId="{1F39612F-57C5-4688-A402-F4A375E8C1D7}"/>
    <dgm:cxn modelId="{B8856058-1AC7-4CD1-98E2-AC5CAAFB4697}" type="presOf" srcId="{1A4587B7-1848-4C97-9E07-5136CD40334E}" destId="{434978C8-6338-41B2-94DD-E612F6BA84BD}" srcOrd="0" destOrd="0" presId="urn:microsoft.com/office/officeart/2005/8/layout/vProcess5"/>
    <dgm:cxn modelId="{5B341B5A-544D-40AC-B257-DA7D56B5DF2F}" type="presOf" srcId="{1A4587B7-1848-4C97-9E07-5136CD40334E}" destId="{D388D89E-8E80-4B0D-ACBA-63ADEAE2404E}" srcOrd="1" destOrd="0" presId="urn:microsoft.com/office/officeart/2005/8/layout/vProcess5"/>
    <dgm:cxn modelId="{42069484-ED96-4828-B8BC-94E10BB4F7F9}" type="presOf" srcId="{5DF5A39E-5FB7-4564-A26D-4301FB31A255}" destId="{67D65B69-84D2-4CF2-A362-8C0DDA5C4AD1}" srcOrd="0" destOrd="0" presId="urn:microsoft.com/office/officeart/2005/8/layout/vProcess5"/>
    <dgm:cxn modelId="{9827F494-2F8A-454F-A994-AD7DE2B22029}" type="presOf" srcId="{3C4A3E01-C058-4E1C-A78A-B3A127DA82C2}" destId="{B96C1173-8DC0-4C67-8E9A-109A5028C8DA}" srcOrd="0" destOrd="0" presId="urn:microsoft.com/office/officeart/2005/8/layout/vProcess5"/>
    <dgm:cxn modelId="{008DAD95-1F23-4B1A-90E8-A51311C72D4D}" type="presOf" srcId="{5DF5A39E-5FB7-4564-A26D-4301FB31A255}" destId="{34AE6E52-1938-4B62-AF22-2894DA25A2F1}" srcOrd="1" destOrd="0" presId="urn:microsoft.com/office/officeart/2005/8/layout/vProcess5"/>
    <dgm:cxn modelId="{9B1761C2-CEC5-4504-853D-C84BB4F99921}" srcId="{3C4A3E01-C058-4E1C-A78A-B3A127DA82C2}" destId="{1A4587B7-1848-4C97-9E07-5136CD40334E}" srcOrd="1" destOrd="0" parTransId="{516A5348-DAD8-40E7-99C8-9721C0D3D57F}" sibTransId="{DBA4D55E-28C0-4F03-A0C5-E2B21019BB9D}"/>
    <dgm:cxn modelId="{F0D5C74F-C45F-4FF2-A6DD-EA14DE9DCCE8}" type="presParOf" srcId="{B96C1173-8DC0-4C67-8E9A-109A5028C8DA}" destId="{101ACA38-DFCE-4ED4-804D-EB33DBBD5169}" srcOrd="0" destOrd="0" presId="urn:microsoft.com/office/officeart/2005/8/layout/vProcess5"/>
    <dgm:cxn modelId="{F8B40A82-9051-4999-8DEE-D56965597E62}" type="presParOf" srcId="{B96C1173-8DC0-4C67-8E9A-109A5028C8DA}" destId="{67D65B69-84D2-4CF2-A362-8C0DDA5C4AD1}" srcOrd="1" destOrd="0" presId="urn:microsoft.com/office/officeart/2005/8/layout/vProcess5"/>
    <dgm:cxn modelId="{0C0F5FDF-863C-47C4-BA89-48EE440CAD34}" type="presParOf" srcId="{B96C1173-8DC0-4C67-8E9A-109A5028C8DA}" destId="{434978C8-6338-41B2-94DD-E612F6BA84BD}" srcOrd="2" destOrd="0" presId="urn:microsoft.com/office/officeart/2005/8/layout/vProcess5"/>
    <dgm:cxn modelId="{AFC232EA-5F00-4FA4-85A0-474C390D3541}" type="presParOf" srcId="{B96C1173-8DC0-4C67-8E9A-109A5028C8DA}" destId="{F9C5AFE1-D738-4440-9BBB-0D4D3EC514AB}" srcOrd="3" destOrd="0" presId="urn:microsoft.com/office/officeart/2005/8/layout/vProcess5"/>
    <dgm:cxn modelId="{E5A290AF-3CE1-4270-AD8C-B992DD1EBE22}" type="presParOf" srcId="{B96C1173-8DC0-4C67-8E9A-109A5028C8DA}" destId="{34AE6E52-1938-4B62-AF22-2894DA25A2F1}" srcOrd="4" destOrd="0" presId="urn:microsoft.com/office/officeart/2005/8/layout/vProcess5"/>
    <dgm:cxn modelId="{A569CCDC-ECDB-4070-A7E5-4C1D7B289132}" type="presParOf" srcId="{B96C1173-8DC0-4C67-8E9A-109A5028C8DA}" destId="{D388D89E-8E80-4B0D-ACBA-63ADEAE2404E}"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91D65B-201A-4CB7-880E-2D28B577BAD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AAE6547-117D-4B6B-BDAB-00EE598FCF80}">
      <dgm:prSet/>
      <dgm:spPr/>
      <dgm:t>
        <a:bodyPr/>
        <a:lstStyle/>
        <a:p>
          <a:r>
            <a:rPr lang="en-US" b="1" i="0" baseline="0" dirty="0">
              <a:latin typeface="Times New Roman" panose="02020603050405020304" pitchFamily="18" charset="0"/>
              <a:cs typeface="Times New Roman" panose="02020603050405020304" pitchFamily="18" charset="0"/>
            </a:rPr>
            <a:t>Commercial Banks</a:t>
          </a:r>
          <a:br>
            <a:rPr lang="en-US" b="0" i="0" baseline="0" dirty="0">
              <a:latin typeface="Times New Roman" panose="02020603050405020304" pitchFamily="18" charset="0"/>
              <a:cs typeface="Times New Roman" panose="02020603050405020304" pitchFamily="18" charset="0"/>
            </a:rPr>
          </a:br>
          <a:r>
            <a:rPr lang="en-US" b="0" i="0" baseline="0" dirty="0">
              <a:latin typeface="Times New Roman" panose="02020603050405020304" pitchFamily="18" charset="0"/>
              <a:cs typeface="Times New Roman" panose="02020603050405020304" pitchFamily="18" charset="0"/>
            </a:rPr>
            <a:t>Commercial banks are the most active participants in the foreign exchange market. They buy and sell foreign currencies on behalf of their customers and also trade currencies for their own profit.</a:t>
          </a:r>
          <a:br>
            <a:rPr lang="en-US" b="0" i="0" baseline="0" dirty="0">
              <a:latin typeface="Times New Roman" panose="02020603050405020304" pitchFamily="18" charset="0"/>
              <a:cs typeface="Times New Roman" panose="02020603050405020304" pitchFamily="18" charset="0"/>
            </a:rPr>
          </a:br>
          <a:r>
            <a:rPr lang="en-US" b="1" i="0" baseline="0" dirty="0">
              <a:latin typeface="Times New Roman" panose="02020603050405020304" pitchFamily="18" charset="0"/>
              <a:cs typeface="Times New Roman" panose="02020603050405020304" pitchFamily="18" charset="0"/>
            </a:rPr>
            <a:t>Example:</a:t>
          </a:r>
          <a:r>
            <a:rPr lang="en-US" b="0" i="0" baseline="0" dirty="0">
              <a:latin typeface="Times New Roman" panose="02020603050405020304" pitchFamily="18" charset="0"/>
              <a:cs typeface="Times New Roman" panose="02020603050405020304" pitchFamily="18" charset="0"/>
            </a:rPr>
            <a:t> A bank helps a company convert Indian rupees into US dollars to pay for imported goods.</a:t>
          </a:r>
          <a:endParaRPr lang="en-US" dirty="0">
            <a:latin typeface="Times New Roman" panose="02020603050405020304" pitchFamily="18" charset="0"/>
            <a:cs typeface="Times New Roman" panose="02020603050405020304" pitchFamily="18" charset="0"/>
          </a:endParaRPr>
        </a:p>
      </dgm:t>
    </dgm:pt>
    <dgm:pt modelId="{3C137F9E-9159-49DA-901A-702A21E03C66}" type="parTrans" cxnId="{5E3F5ECD-83AC-4B40-BA7A-90A65FA4EDF4}">
      <dgm:prSet/>
      <dgm:spPr/>
      <dgm:t>
        <a:bodyPr/>
        <a:lstStyle/>
        <a:p>
          <a:endParaRPr lang="en-US"/>
        </a:p>
      </dgm:t>
    </dgm:pt>
    <dgm:pt modelId="{8A24D641-92DB-481A-925A-3BB96F5C5143}" type="sibTrans" cxnId="{5E3F5ECD-83AC-4B40-BA7A-90A65FA4EDF4}">
      <dgm:prSet/>
      <dgm:spPr/>
      <dgm:t>
        <a:bodyPr/>
        <a:lstStyle/>
        <a:p>
          <a:endParaRPr lang="en-US"/>
        </a:p>
      </dgm:t>
    </dgm:pt>
    <dgm:pt modelId="{1717A219-27E6-4336-A2CC-5A26BF662C6B}">
      <dgm:prSet/>
      <dgm:spPr/>
      <dgm:t>
        <a:bodyPr/>
        <a:lstStyle/>
        <a:p>
          <a:r>
            <a:rPr lang="en-US" b="1" i="0" baseline="0">
              <a:latin typeface="Times New Roman" panose="02020603050405020304" pitchFamily="18" charset="0"/>
              <a:cs typeface="Times New Roman" panose="02020603050405020304" pitchFamily="18" charset="0"/>
            </a:rPr>
            <a:t>Central Banks</a:t>
          </a:r>
          <a:br>
            <a:rPr lang="en-US" b="0" i="0" baseline="0">
              <a:latin typeface="Times New Roman" panose="02020603050405020304" pitchFamily="18" charset="0"/>
              <a:cs typeface="Times New Roman" panose="02020603050405020304" pitchFamily="18" charset="0"/>
            </a:rPr>
          </a:br>
          <a:r>
            <a:rPr lang="en-US" b="0" i="0" baseline="0">
              <a:latin typeface="Times New Roman" panose="02020603050405020304" pitchFamily="18" charset="0"/>
              <a:cs typeface="Times New Roman" panose="02020603050405020304" pitchFamily="18" charset="0"/>
            </a:rPr>
            <a:t>Central banks participate in the foreign exchange market to control the supply of money and stabilize the value of their country's currency. They may buy or sell foreign currencies to influence exchange rates.</a:t>
          </a:r>
          <a:br>
            <a:rPr lang="en-US" b="0" i="0" baseline="0">
              <a:latin typeface="Times New Roman" panose="02020603050405020304" pitchFamily="18" charset="0"/>
              <a:cs typeface="Times New Roman" panose="02020603050405020304" pitchFamily="18" charset="0"/>
            </a:rPr>
          </a:br>
          <a:r>
            <a:rPr lang="en-US" b="1" i="0" baseline="0">
              <a:latin typeface="Times New Roman" panose="02020603050405020304" pitchFamily="18" charset="0"/>
              <a:cs typeface="Times New Roman" panose="02020603050405020304" pitchFamily="18" charset="0"/>
            </a:rPr>
            <a:t>Example:</a:t>
          </a:r>
          <a:r>
            <a:rPr lang="en-US" b="0" i="0" baseline="0">
              <a:latin typeface="Times New Roman" panose="02020603050405020304" pitchFamily="18" charset="0"/>
              <a:cs typeface="Times New Roman" panose="02020603050405020304" pitchFamily="18" charset="0"/>
            </a:rPr>
            <a:t> The </a:t>
          </a:r>
          <a:r>
            <a:rPr lang="en-US" b="1" i="0" baseline="0">
              <a:latin typeface="Times New Roman" panose="02020603050405020304" pitchFamily="18" charset="0"/>
              <a:cs typeface="Times New Roman" panose="02020603050405020304" pitchFamily="18" charset="0"/>
            </a:rPr>
            <a:t>Reserve Bank of India (RBI)</a:t>
          </a:r>
          <a:r>
            <a:rPr lang="en-US" b="0" i="0" baseline="0">
              <a:latin typeface="Times New Roman" panose="02020603050405020304" pitchFamily="18" charset="0"/>
              <a:cs typeface="Times New Roman" panose="02020603050405020304" pitchFamily="18" charset="0"/>
            </a:rPr>
            <a:t> may intervene in the foreign exchange market to stabilize the Indian rupee.</a:t>
          </a:r>
          <a:endParaRPr lang="en-US">
            <a:latin typeface="Times New Roman" panose="02020603050405020304" pitchFamily="18" charset="0"/>
            <a:cs typeface="Times New Roman" panose="02020603050405020304" pitchFamily="18" charset="0"/>
          </a:endParaRPr>
        </a:p>
      </dgm:t>
    </dgm:pt>
    <dgm:pt modelId="{9CB27331-8F64-469B-9B95-E27AC4540CAF}" type="parTrans" cxnId="{D0F6EC0C-C41E-4011-9599-83A142A9BA04}">
      <dgm:prSet/>
      <dgm:spPr/>
      <dgm:t>
        <a:bodyPr/>
        <a:lstStyle/>
        <a:p>
          <a:endParaRPr lang="en-US"/>
        </a:p>
      </dgm:t>
    </dgm:pt>
    <dgm:pt modelId="{A2954B92-1323-45A8-8531-5C69D5690193}" type="sibTrans" cxnId="{D0F6EC0C-C41E-4011-9599-83A142A9BA04}">
      <dgm:prSet/>
      <dgm:spPr/>
      <dgm:t>
        <a:bodyPr/>
        <a:lstStyle/>
        <a:p>
          <a:endParaRPr lang="en-US"/>
        </a:p>
      </dgm:t>
    </dgm:pt>
    <dgm:pt modelId="{6A769AA4-2F80-436A-A18D-C99E8418A60C}">
      <dgm:prSet/>
      <dgm:spPr/>
      <dgm:t>
        <a:bodyPr/>
        <a:lstStyle/>
        <a:p>
          <a:r>
            <a:rPr lang="en-US" b="1" i="0" baseline="0">
              <a:latin typeface="Times New Roman" panose="02020603050405020304" pitchFamily="18" charset="0"/>
              <a:cs typeface="Times New Roman" panose="02020603050405020304" pitchFamily="18" charset="0"/>
            </a:rPr>
            <a:t>Multinational Corporations (MNCs)</a:t>
          </a:r>
          <a:br>
            <a:rPr lang="en-US" b="0" i="0" baseline="0">
              <a:latin typeface="Times New Roman" panose="02020603050405020304" pitchFamily="18" charset="0"/>
              <a:cs typeface="Times New Roman" panose="02020603050405020304" pitchFamily="18" charset="0"/>
            </a:rPr>
          </a:br>
          <a:r>
            <a:rPr lang="en-US" b="0" i="0" baseline="0">
              <a:latin typeface="Times New Roman" panose="02020603050405020304" pitchFamily="18" charset="0"/>
              <a:cs typeface="Times New Roman" panose="02020603050405020304" pitchFamily="18" charset="0"/>
            </a:rPr>
            <a:t>Large international companies participate in the foreign exchange market to conduct business transactions in different countries. They exchange currencies when importing raw materials or exporting products.</a:t>
          </a:r>
          <a:br>
            <a:rPr lang="en-US" b="0" i="0" baseline="0">
              <a:latin typeface="Times New Roman" panose="02020603050405020304" pitchFamily="18" charset="0"/>
              <a:cs typeface="Times New Roman" panose="02020603050405020304" pitchFamily="18" charset="0"/>
            </a:rPr>
          </a:br>
          <a:r>
            <a:rPr lang="en-US" b="1" i="0" baseline="0">
              <a:latin typeface="Times New Roman" panose="02020603050405020304" pitchFamily="18" charset="0"/>
              <a:cs typeface="Times New Roman" panose="02020603050405020304" pitchFamily="18" charset="0"/>
            </a:rPr>
            <a:t>Example:</a:t>
          </a:r>
          <a:r>
            <a:rPr lang="en-US" b="0" i="0" baseline="0">
              <a:latin typeface="Times New Roman" panose="02020603050405020304" pitchFamily="18" charset="0"/>
              <a:cs typeface="Times New Roman" panose="02020603050405020304" pitchFamily="18" charset="0"/>
            </a:rPr>
            <a:t> A company like </a:t>
          </a:r>
          <a:r>
            <a:rPr lang="en-US" b="1" i="0" baseline="0">
              <a:latin typeface="Times New Roman" panose="02020603050405020304" pitchFamily="18" charset="0"/>
              <a:cs typeface="Times New Roman" panose="02020603050405020304" pitchFamily="18" charset="0"/>
            </a:rPr>
            <a:t>Toyota</a:t>
          </a:r>
          <a:r>
            <a:rPr lang="en-US" b="0" i="0" baseline="0">
              <a:latin typeface="Times New Roman" panose="02020603050405020304" pitchFamily="18" charset="0"/>
              <a:cs typeface="Times New Roman" panose="02020603050405020304" pitchFamily="18" charset="0"/>
            </a:rPr>
            <a:t> converts earnings from different countries into its home currency.</a:t>
          </a:r>
          <a:endParaRPr lang="en-US">
            <a:latin typeface="Times New Roman" panose="02020603050405020304" pitchFamily="18" charset="0"/>
            <a:cs typeface="Times New Roman" panose="02020603050405020304" pitchFamily="18" charset="0"/>
          </a:endParaRPr>
        </a:p>
      </dgm:t>
    </dgm:pt>
    <dgm:pt modelId="{612269E9-FF42-4DE8-A4A9-3A63CC7420F2}" type="parTrans" cxnId="{4AEF7D34-5C57-4870-B5E2-DAAB0B47E5B0}">
      <dgm:prSet/>
      <dgm:spPr/>
      <dgm:t>
        <a:bodyPr/>
        <a:lstStyle/>
        <a:p>
          <a:endParaRPr lang="en-US"/>
        </a:p>
      </dgm:t>
    </dgm:pt>
    <dgm:pt modelId="{FD861F0C-FD6E-4F90-A343-E35B9ABF82DB}" type="sibTrans" cxnId="{4AEF7D34-5C57-4870-B5E2-DAAB0B47E5B0}">
      <dgm:prSet/>
      <dgm:spPr/>
      <dgm:t>
        <a:bodyPr/>
        <a:lstStyle/>
        <a:p>
          <a:endParaRPr lang="en-US"/>
        </a:p>
      </dgm:t>
    </dgm:pt>
    <dgm:pt modelId="{8D566823-F76C-4E4A-8B6F-4A9A22413079}" type="pres">
      <dgm:prSet presAssocID="{9B91D65B-201A-4CB7-880E-2D28B577BAD8}" presName="root" presStyleCnt="0">
        <dgm:presLayoutVars>
          <dgm:dir/>
          <dgm:resizeHandles val="exact"/>
        </dgm:presLayoutVars>
      </dgm:prSet>
      <dgm:spPr/>
    </dgm:pt>
    <dgm:pt modelId="{442B0274-A83D-4B39-A4D7-CF727126D028}" type="pres">
      <dgm:prSet presAssocID="{7AAE6547-117D-4B6B-BDAB-00EE598FCF80}" presName="compNode" presStyleCnt="0"/>
      <dgm:spPr/>
    </dgm:pt>
    <dgm:pt modelId="{41EC40F3-8D41-4586-A2C1-70EA54CF6B80}" type="pres">
      <dgm:prSet presAssocID="{7AAE6547-117D-4B6B-BDAB-00EE598FCF80}" presName="bgRect" presStyleLbl="bgShp" presStyleIdx="0" presStyleCnt="3"/>
      <dgm:spPr/>
    </dgm:pt>
    <dgm:pt modelId="{7BC00530-A417-401D-91EA-5027B6699AC1}" type="pres">
      <dgm:prSet presAssocID="{7AAE6547-117D-4B6B-BDAB-00EE598FCF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FB5CDAE6-6E44-4DD9-B058-4285224BDD05}" type="pres">
      <dgm:prSet presAssocID="{7AAE6547-117D-4B6B-BDAB-00EE598FCF80}" presName="spaceRect" presStyleCnt="0"/>
      <dgm:spPr/>
    </dgm:pt>
    <dgm:pt modelId="{50807904-C585-48AD-B04B-0A78FEFD30CD}" type="pres">
      <dgm:prSet presAssocID="{7AAE6547-117D-4B6B-BDAB-00EE598FCF80}" presName="parTx" presStyleLbl="revTx" presStyleIdx="0" presStyleCnt="3">
        <dgm:presLayoutVars>
          <dgm:chMax val="0"/>
          <dgm:chPref val="0"/>
        </dgm:presLayoutVars>
      </dgm:prSet>
      <dgm:spPr/>
    </dgm:pt>
    <dgm:pt modelId="{DF3E44F5-E94B-4A39-AA04-8953A6D40E05}" type="pres">
      <dgm:prSet presAssocID="{8A24D641-92DB-481A-925A-3BB96F5C5143}" presName="sibTrans" presStyleCnt="0"/>
      <dgm:spPr/>
    </dgm:pt>
    <dgm:pt modelId="{557D1CD5-B6D1-434B-943C-7D492C201447}" type="pres">
      <dgm:prSet presAssocID="{1717A219-27E6-4336-A2CC-5A26BF662C6B}" presName="compNode" presStyleCnt="0"/>
      <dgm:spPr/>
    </dgm:pt>
    <dgm:pt modelId="{E5233778-221A-43DF-AB81-BA7C52822348}" type="pres">
      <dgm:prSet presAssocID="{1717A219-27E6-4336-A2CC-5A26BF662C6B}" presName="bgRect" presStyleLbl="bgShp" presStyleIdx="1" presStyleCnt="3"/>
      <dgm:spPr/>
    </dgm:pt>
    <dgm:pt modelId="{DE646F6A-16B5-445A-809E-9502C4BB5B07}" type="pres">
      <dgm:prSet presAssocID="{1717A219-27E6-4336-A2CC-5A26BF662C6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6A9680EA-E4FC-4D24-80D6-2B8744EF01D2}" type="pres">
      <dgm:prSet presAssocID="{1717A219-27E6-4336-A2CC-5A26BF662C6B}" presName="spaceRect" presStyleCnt="0"/>
      <dgm:spPr/>
    </dgm:pt>
    <dgm:pt modelId="{0438FCD7-119E-492E-B7EA-EA618B997144}" type="pres">
      <dgm:prSet presAssocID="{1717A219-27E6-4336-A2CC-5A26BF662C6B}" presName="parTx" presStyleLbl="revTx" presStyleIdx="1" presStyleCnt="3">
        <dgm:presLayoutVars>
          <dgm:chMax val="0"/>
          <dgm:chPref val="0"/>
        </dgm:presLayoutVars>
      </dgm:prSet>
      <dgm:spPr/>
    </dgm:pt>
    <dgm:pt modelId="{F2502755-CDB6-4CD4-83F3-EAA77682C706}" type="pres">
      <dgm:prSet presAssocID="{A2954B92-1323-45A8-8531-5C69D5690193}" presName="sibTrans" presStyleCnt="0"/>
      <dgm:spPr/>
    </dgm:pt>
    <dgm:pt modelId="{675B2F01-44E6-4048-B1E9-6BF73F1CDE78}" type="pres">
      <dgm:prSet presAssocID="{6A769AA4-2F80-436A-A18D-C99E8418A60C}" presName="compNode" presStyleCnt="0"/>
      <dgm:spPr/>
    </dgm:pt>
    <dgm:pt modelId="{836FD5A1-293F-416F-A9DC-3DE4FED0612A}" type="pres">
      <dgm:prSet presAssocID="{6A769AA4-2F80-436A-A18D-C99E8418A60C}" presName="bgRect" presStyleLbl="bgShp" presStyleIdx="2" presStyleCnt="3"/>
      <dgm:spPr/>
    </dgm:pt>
    <dgm:pt modelId="{0F802B60-6421-41EC-8020-60F3118297E0}" type="pres">
      <dgm:prSet presAssocID="{6A769AA4-2F80-436A-A18D-C99E8418A60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82B2F520-0C8D-456F-89E6-1B8463923EC7}" type="pres">
      <dgm:prSet presAssocID="{6A769AA4-2F80-436A-A18D-C99E8418A60C}" presName="spaceRect" presStyleCnt="0"/>
      <dgm:spPr/>
    </dgm:pt>
    <dgm:pt modelId="{FD07A5D2-D49A-4D61-8ED2-24DEAC6D54F4}" type="pres">
      <dgm:prSet presAssocID="{6A769AA4-2F80-436A-A18D-C99E8418A60C}" presName="parTx" presStyleLbl="revTx" presStyleIdx="2" presStyleCnt="3">
        <dgm:presLayoutVars>
          <dgm:chMax val="0"/>
          <dgm:chPref val="0"/>
        </dgm:presLayoutVars>
      </dgm:prSet>
      <dgm:spPr/>
    </dgm:pt>
  </dgm:ptLst>
  <dgm:cxnLst>
    <dgm:cxn modelId="{6125D406-CEBB-4550-8A1D-FA3651EDDAD4}" type="presOf" srcId="{6A769AA4-2F80-436A-A18D-C99E8418A60C}" destId="{FD07A5D2-D49A-4D61-8ED2-24DEAC6D54F4}" srcOrd="0" destOrd="0" presId="urn:microsoft.com/office/officeart/2018/2/layout/IconVerticalSolidList"/>
    <dgm:cxn modelId="{D0F6EC0C-C41E-4011-9599-83A142A9BA04}" srcId="{9B91D65B-201A-4CB7-880E-2D28B577BAD8}" destId="{1717A219-27E6-4336-A2CC-5A26BF662C6B}" srcOrd="1" destOrd="0" parTransId="{9CB27331-8F64-469B-9B95-E27AC4540CAF}" sibTransId="{A2954B92-1323-45A8-8531-5C69D5690193}"/>
    <dgm:cxn modelId="{4AEF7D34-5C57-4870-B5E2-DAAB0B47E5B0}" srcId="{9B91D65B-201A-4CB7-880E-2D28B577BAD8}" destId="{6A769AA4-2F80-436A-A18D-C99E8418A60C}" srcOrd="2" destOrd="0" parTransId="{612269E9-FF42-4DE8-A4A9-3A63CC7420F2}" sibTransId="{FD861F0C-FD6E-4F90-A343-E35B9ABF82DB}"/>
    <dgm:cxn modelId="{F3BC4C87-1230-4195-A075-77846B765A7E}" type="presOf" srcId="{9B91D65B-201A-4CB7-880E-2D28B577BAD8}" destId="{8D566823-F76C-4E4A-8B6F-4A9A22413079}" srcOrd="0" destOrd="0" presId="urn:microsoft.com/office/officeart/2018/2/layout/IconVerticalSolidList"/>
    <dgm:cxn modelId="{EBC53FAB-FCB0-4089-B145-BF48A3AD24B1}" type="presOf" srcId="{1717A219-27E6-4336-A2CC-5A26BF662C6B}" destId="{0438FCD7-119E-492E-B7EA-EA618B997144}" srcOrd="0" destOrd="0" presId="urn:microsoft.com/office/officeart/2018/2/layout/IconVerticalSolidList"/>
    <dgm:cxn modelId="{5E3F5ECD-83AC-4B40-BA7A-90A65FA4EDF4}" srcId="{9B91D65B-201A-4CB7-880E-2D28B577BAD8}" destId="{7AAE6547-117D-4B6B-BDAB-00EE598FCF80}" srcOrd="0" destOrd="0" parTransId="{3C137F9E-9159-49DA-901A-702A21E03C66}" sibTransId="{8A24D641-92DB-481A-925A-3BB96F5C5143}"/>
    <dgm:cxn modelId="{77BEE2E7-1457-4A8D-A240-F76B8348965B}" type="presOf" srcId="{7AAE6547-117D-4B6B-BDAB-00EE598FCF80}" destId="{50807904-C585-48AD-B04B-0A78FEFD30CD}" srcOrd="0" destOrd="0" presId="urn:microsoft.com/office/officeart/2018/2/layout/IconVerticalSolidList"/>
    <dgm:cxn modelId="{B78B4421-9A4E-4C27-B52A-B8235EE778A9}" type="presParOf" srcId="{8D566823-F76C-4E4A-8B6F-4A9A22413079}" destId="{442B0274-A83D-4B39-A4D7-CF727126D028}" srcOrd="0" destOrd="0" presId="urn:microsoft.com/office/officeart/2018/2/layout/IconVerticalSolidList"/>
    <dgm:cxn modelId="{C61B843D-1ADF-46D0-9661-DDC0523D7F08}" type="presParOf" srcId="{442B0274-A83D-4B39-A4D7-CF727126D028}" destId="{41EC40F3-8D41-4586-A2C1-70EA54CF6B80}" srcOrd="0" destOrd="0" presId="urn:microsoft.com/office/officeart/2018/2/layout/IconVerticalSolidList"/>
    <dgm:cxn modelId="{1E5C19C5-B939-4D49-B9EB-B21304E49772}" type="presParOf" srcId="{442B0274-A83D-4B39-A4D7-CF727126D028}" destId="{7BC00530-A417-401D-91EA-5027B6699AC1}" srcOrd="1" destOrd="0" presId="urn:microsoft.com/office/officeart/2018/2/layout/IconVerticalSolidList"/>
    <dgm:cxn modelId="{85A52179-F2C4-4934-BE14-4A607DA79449}" type="presParOf" srcId="{442B0274-A83D-4B39-A4D7-CF727126D028}" destId="{FB5CDAE6-6E44-4DD9-B058-4285224BDD05}" srcOrd="2" destOrd="0" presId="urn:microsoft.com/office/officeart/2018/2/layout/IconVerticalSolidList"/>
    <dgm:cxn modelId="{7B75E40E-C1C9-4F44-90CC-E46BFC887F93}" type="presParOf" srcId="{442B0274-A83D-4B39-A4D7-CF727126D028}" destId="{50807904-C585-48AD-B04B-0A78FEFD30CD}" srcOrd="3" destOrd="0" presId="urn:microsoft.com/office/officeart/2018/2/layout/IconVerticalSolidList"/>
    <dgm:cxn modelId="{3F314965-4104-4BC4-9941-03C6DE15F770}" type="presParOf" srcId="{8D566823-F76C-4E4A-8B6F-4A9A22413079}" destId="{DF3E44F5-E94B-4A39-AA04-8953A6D40E05}" srcOrd="1" destOrd="0" presId="urn:microsoft.com/office/officeart/2018/2/layout/IconVerticalSolidList"/>
    <dgm:cxn modelId="{2FD7F4D1-90F3-438F-8C71-B9AF241A32F6}" type="presParOf" srcId="{8D566823-F76C-4E4A-8B6F-4A9A22413079}" destId="{557D1CD5-B6D1-434B-943C-7D492C201447}" srcOrd="2" destOrd="0" presId="urn:microsoft.com/office/officeart/2018/2/layout/IconVerticalSolidList"/>
    <dgm:cxn modelId="{2F45C744-040F-4B9E-A804-E09C592C5A84}" type="presParOf" srcId="{557D1CD5-B6D1-434B-943C-7D492C201447}" destId="{E5233778-221A-43DF-AB81-BA7C52822348}" srcOrd="0" destOrd="0" presId="urn:microsoft.com/office/officeart/2018/2/layout/IconVerticalSolidList"/>
    <dgm:cxn modelId="{0EDD7F52-2FAF-4C9B-BD0D-00614EEFAFE7}" type="presParOf" srcId="{557D1CD5-B6D1-434B-943C-7D492C201447}" destId="{DE646F6A-16B5-445A-809E-9502C4BB5B07}" srcOrd="1" destOrd="0" presId="urn:microsoft.com/office/officeart/2018/2/layout/IconVerticalSolidList"/>
    <dgm:cxn modelId="{9B931773-92FA-4DCA-8CDC-D8795BE40EE4}" type="presParOf" srcId="{557D1CD5-B6D1-434B-943C-7D492C201447}" destId="{6A9680EA-E4FC-4D24-80D6-2B8744EF01D2}" srcOrd="2" destOrd="0" presId="urn:microsoft.com/office/officeart/2018/2/layout/IconVerticalSolidList"/>
    <dgm:cxn modelId="{91E33B93-D9FE-4C71-8605-B5659B5C49F2}" type="presParOf" srcId="{557D1CD5-B6D1-434B-943C-7D492C201447}" destId="{0438FCD7-119E-492E-B7EA-EA618B997144}" srcOrd="3" destOrd="0" presId="urn:microsoft.com/office/officeart/2018/2/layout/IconVerticalSolidList"/>
    <dgm:cxn modelId="{2D0BEA1A-C394-4417-A024-1AD03B304A9F}" type="presParOf" srcId="{8D566823-F76C-4E4A-8B6F-4A9A22413079}" destId="{F2502755-CDB6-4CD4-83F3-EAA77682C706}" srcOrd="3" destOrd="0" presId="urn:microsoft.com/office/officeart/2018/2/layout/IconVerticalSolidList"/>
    <dgm:cxn modelId="{EA275FF8-D961-432F-8E1B-0EB58ECB42D2}" type="presParOf" srcId="{8D566823-F76C-4E4A-8B6F-4A9A22413079}" destId="{675B2F01-44E6-4048-B1E9-6BF73F1CDE78}" srcOrd="4" destOrd="0" presId="urn:microsoft.com/office/officeart/2018/2/layout/IconVerticalSolidList"/>
    <dgm:cxn modelId="{166FD82E-BCDB-4470-BA26-67AD0BCA27FF}" type="presParOf" srcId="{675B2F01-44E6-4048-B1E9-6BF73F1CDE78}" destId="{836FD5A1-293F-416F-A9DC-3DE4FED0612A}" srcOrd="0" destOrd="0" presId="urn:microsoft.com/office/officeart/2018/2/layout/IconVerticalSolidList"/>
    <dgm:cxn modelId="{9138A51A-5062-4C2A-B787-5F300FE825BB}" type="presParOf" srcId="{675B2F01-44E6-4048-B1E9-6BF73F1CDE78}" destId="{0F802B60-6421-41EC-8020-60F3118297E0}" srcOrd="1" destOrd="0" presId="urn:microsoft.com/office/officeart/2018/2/layout/IconVerticalSolidList"/>
    <dgm:cxn modelId="{3DE56D49-E1EF-4554-9A63-9509A95864EE}" type="presParOf" srcId="{675B2F01-44E6-4048-B1E9-6BF73F1CDE78}" destId="{82B2F520-0C8D-456F-89E6-1B8463923EC7}" srcOrd="2" destOrd="0" presId="urn:microsoft.com/office/officeart/2018/2/layout/IconVerticalSolidList"/>
    <dgm:cxn modelId="{AFFA8641-E767-4B45-BA7E-1E3F3BB12FE7}" type="presParOf" srcId="{675B2F01-44E6-4048-B1E9-6BF73F1CDE78}" destId="{FD07A5D2-D49A-4D61-8ED2-24DEAC6D54F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8873E3-225A-445A-8305-BC8960AC384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EBF9AC7-1B60-4A4F-B880-5B088F1A5BA7}">
      <dgm:prSet/>
      <dgm:spPr/>
      <dgm:t>
        <a:bodyPr/>
        <a:lstStyle/>
        <a:p>
          <a:r>
            <a:rPr lang="en-US" b="1" dirty="0">
              <a:latin typeface="Times New Roman" panose="02020603050405020304" pitchFamily="18" charset="0"/>
              <a:cs typeface="Times New Roman" panose="02020603050405020304" pitchFamily="18" charset="0"/>
            </a:rPr>
            <a:t>Governments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Governments participate in the foreign exchange market to manage national economic policies and international trade transactions.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Governments may exchange currencies when making international payments or receiving foreign aid.</a:t>
          </a:r>
        </a:p>
      </dgm:t>
    </dgm:pt>
    <dgm:pt modelId="{9D13BD82-6006-4AC5-BD79-E91DBC62F9E7}" type="parTrans" cxnId="{B6478B6D-C127-4DE8-8B1E-915568A53685}">
      <dgm:prSet/>
      <dgm:spPr/>
      <dgm:t>
        <a:bodyPr/>
        <a:lstStyle/>
        <a:p>
          <a:endParaRPr lang="en-US">
            <a:latin typeface="Times New Roman" panose="02020603050405020304" pitchFamily="18" charset="0"/>
            <a:cs typeface="Times New Roman" panose="02020603050405020304" pitchFamily="18" charset="0"/>
          </a:endParaRPr>
        </a:p>
      </dgm:t>
    </dgm:pt>
    <dgm:pt modelId="{89F8ADD2-859F-4BBB-BEE2-921852F9AF48}" type="sibTrans" cxnId="{B6478B6D-C127-4DE8-8B1E-915568A53685}">
      <dgm:prSet/>
      <dgm:spPr/>
      <dgm:t>
        <a:bodyPr/>
        <a:lstStyle/>
        <a:p>
          <a:endParaRPr lang="en-US">
            <a:latin typeface="Times New Roman" panose="02020603050405020304" pitchFamily="18" charset="0"/>
            <a:cs typeface="Times New Roman" panose="02020603050405020304" pitchFamily="18" charset="0"/>
          </a:endParaRPr>
        </a:p>
      </dgm:t>
    </dgm:pt>
    <dgm:pt modelId="{6B666A22-B02C-46FD-95A0-123E11C0A5D3}">
      <dgm:prSet/>
      <dgm:spPr/>
      <dgm:t>
        <a:bodyPr/>
        <a:lstStyle/>
        <a:p>
          <a:r>
            <a:rPr lang="en-US" b="1" dirty="0">
              <a:latin typeface="Times New Roman" panose="02020603050405020304" pitchFamily="18" charset="0"/>
              <a:cs typeface="Times New Roman" panose="02020603050405020304" pitchFamily="18" charset="0"/>
            </a:rPr>
            <a:t>Financial Institutions and Investment Firms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Investment banks, hedge funds, and financial institutions trade currencies for investment purposes and profit.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Investment firms trade currencies to benefit from changes in exchange rates.</a:t>
          </a:r>
        </a:p>
      </dgm:t>
    </dgm:pt>
    <dgm:pt modelId="{04A9B6E6-0A7A-4945-B203-0256CEC0E5D5}" type="parTrans" cxnId="{04F6DF70-C560-4E8B-9E22-C55D4E215281}">
      <dgm:prSet/>
      <dgm:spPr/>
      <dgm:t>
        <a:bodyPr/>
        <a:lstStyle/>
        <a:p>
          <a:endParaRPr lang="en-US">
            <a:latin typeface="Times New Roman" panose="02020603050405020304" pitchFamily="18" charset="0"/>
            <a:cs typeface="Times New Roman" panose="02020603050405020304" pitchFamily="18" charset="0"/>
          </a:endParaRPr>
        </a:p>
      </dgm:t>
    </dgm:pt>
    <dgm:pt modelId="{F83FE7FE-9746-4DC8-91EA-79761A17252E}" type="sibTrans" cxnId="{04F6DF70-C560-4E8B-9E22-C55D4E215281}">
      <dgm:prSet/>
      <dgm:spPr/>
      <dgm:t>
        <a:bodyPr/>
        <a:lstStyle/>
        <a:p>
          <a:endParaRPr lang="en-US">
            <a:latin typeface="Times New Roman" panose="02020603050405020304" pitchFamily="18" charset="0"/>
            <a:cs typeface="Times New Roman" panose="02020603050405020304" pitchFamily="18" charset="0"/>
          </a:endParaRPr>
        </a:p>
      </dgm:t>
    </dgm:pt>
    <dgm:pt modelId="{BF29506D-44F8-48BD-AE54-6AC745B8572D}">
      <dgm:prSet/>
      <dgm:spPr/>
      <dgm:t>
        <a:bodyPr/>
        <a:lstStyle/>
        <a:p>
          <a:r>
            <a:rPr lang="en-US" b="1">
              <a:latin typeface="Times New Roman" panose="02020603050405020304" pitchFamily="18" charset="0"/>
              <a:cs typeface="Times New Roman" panose="02020603050405020304" pitchFamily="18" charset="0"/>
            </a:rPr>
            <a:t>Individual Traders</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Individual investors also participate in the foreign exchange market through online trading platforms to earn profits from currency fluctuations.</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Example:</a:t>
          </a:r>
          <a:r>
            <a:rPr lang="en-US">
              <a:latin typeface="Times New Roman" panose="02020603050405020304" pitchFamily="18" charset="0"/>
              <a:cs typeface="Times New Roman" panose="02020603050405020304" pitchFamily="18" charset="0"/>
            </a:rPr>
            <a:t> A trader buying euros and selling them later when the value increases.</a:t>
          </a:r>
        </a:p>
      </dgm:t>
    </dgm:pt>
    <dgm:pt modelId="{0EC95028-A1EC-4AB2-A0AF-A65AB0487E91}" type="parTrans" cxnId="{43AEBE00-F078-4E51-9AC9-5B72B080F7D5}">
      <dgm:prSet/>
      <dgm:spPr/>
      <dgm:t>
        <a:bodyPr/>
        <a:lstStyle/>
        <a:p>
          <a:endParaRPr lang="en-US">
            <a:latin typeface="Times New Roman" panose="02020603050405020304" pitchFamily="18" charset="0"/>
            <a:cs typeface="Times New Roman" panose="02020603050405020304" pitchFamily="18" charset="0"/>
          </a:endParaRPr>
        </a:p>
      </dgm:t>
    </dgm:pt>
    <dgm:pt modelId="{27453058-7FB0-4D72-97A5-ABCF450A5894}" type="sibTrans" cxnId="{43AEBE00-F078-4E51-9AC9-5B72B080F7D5}">
      <dgm:prSet/>
      <dgm:spPr/>
      <dgm:t>
        <a:bodyPr/>
        <a:lstStyle/>
        <a:p>
          <a:endParaRPr lang="en-US">
            <a:latin typeface="Times New Roman" panose="02020603050405020304" pitchFamily="18" charset="0"/>
            <a:cs typeface="Times New Roman" panose="02020603050405020304" pitchFamily="18" charset="0"/>
          </a:endParaRPr>
        </a:p>
      </dgm:t>
    </dgm:pt>
    <dgm:pt modelId="{17C34BB6-48F4-46F0-8831-3CFC128B5B7E}" type="pres">
      <dgm:prSet presAssocID="{8A8873E3-225A-445A-8305-BC8960AC3849}" presName="root" presStyleCnt="0">
        <dgm:presLayoutVars>
          <dgm:dir/>
          <dgm:resizeHandles val="exact"/>
        </dgm:presLayoutVars>
      </dgm:prSet>
      <dgm:spPr/>
    </dgm:pt>
    <dgm:pt modelId="{4A29AFE9-128E-4304-8D19-B132758A34EC}" type="pres">
      <dgm:prSet presAssocID="{4EBF9AC7-1B60-4A4F-B880-5B088F1A5BA7}" presName="compNode" presStyleCnt="0"/>
      <dgm:spPr/>
    </dgm:pt>
    <dgm:pt modelId="{092D1D40-D1A2-43D8-A48F-08F16C4C39F1}" type="pres">
      <dgm:prSet presAssocID="{4EBF9AC7-1B60-4A4F-B880-5B088F1A5BA7}" presName="bgRect" presStyleLbl="bgShp" presStyleIdx="0" presStyleCnt="3"/>
      <dgm:spPr/>
    </dgm:pt>
    <dgm:pt modelId="{3E87669C-35CF-441A-B901-E4AEE9C194A2}" type="pres">
      <dgm:prSet presAssocID="{4EBF9AC7-1B60-4A4F-B880-5B088F1A5BA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ble"/>
        </a:ext>
      </dgm:extLst>
    </dgm:pt>
    <dgm:pt modelId="{59931CE1-2DDC-4D86-B190-4C040BF67057}" type="pres">
      <dgm:prSet presAssocID="{4EBF9AC7-1B60-4A4F-B880-5B088F1A5BA7}" presName="spaceRect" presStyleCnt="0"/>
      <dgm:spPr/>
    </dgm:pt>
    <dgm:pt modelId="{8C82DC27-F791-4A8B-AEE0-5CD7963C7A13}" type="pres">
      <dgm:prSet presAssocID="{4EBF9AC7-1B60-4A4F-B880-5B088F1A5BA7}" presName="parTx" presStyleLbl="revTx" presStyleIdx="0" presStyleCnt="3">
        <dgm:presLayoutVars>
          <dgm:chMax val="0"/>
          <dgm:chPref val="0"/>
        </dgm:presLayoutVars>
      </dgm:prSet>
      <dgm:spPr/>
    </dgm:pt>
    <dgm:pt modelId="{CCFB064D-74A6-4E3C-B7FB-B18D02EA625E}" type="pres">
      <dgm:prSet presAssocID="{89F8ADD2-859F-4BBB-BEE2-921852F9AF48}" presName="sibTrans" presStyleCnt="0"/>
      <dgm:spPr/>
    </dgm:pt>
    <dgm:pt modelId="{F50B3102-7445-4D90-8583-8448736DDC0D}" type="pres">
      <dgm:prSet presAssocID="{6B666A22-B02C-46FD-95A0-123E11C0A5D3}" presName="compNode" presStyleCnt="0"/>
      <dgm:spPr/>
    </dgm:pt>
    <dgm:pt modelId="{933990A3-B002-4DD8-AA44-E8E78EC07651}" type="pres">
      <dgm:prSet presAssocID="{6B666A22-B02C-46FD-95A0-123E11C0A5D3}" presName="bgRect" presStyleLbl="bgShp" presStyleIdx="1" presStyleCnt="3"/>
      <dgm:spPr/>
    </dgm:pt>
    <dgm:pt modelId="{AE3E973D-2D85-4D5D-BFE3-C579A136956A}" type="pres">
      <dgm:prSet presAssocID="{6B666A22-B02C-46FD-95A0-123E11C0A5D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FD740AB9-1663-4257-8417-7BEAB0756C99}" type="pres">
      <dgm:prSet presAssocID="{6B666A22-B02C-46FD-95A0-123E11C0A5D3}" presName="spaceRect" presStyleCnt="0"/>
      <dgm:spPr/>
    </dgm:pt>
    <dgm:pt modelId="{B74E225A-FDAE-4B19-9EF1-DE96EE103630}" type="pres">
      <dgm:prSet presAssocID="{6B666A22-B02C-46FD-95A0-123E11C0A5D3}" presName="parTx" presStyleLbl="revTx" presStyleIdx="1" presStyleCnt="3">
        <dgm:presLayoutVars>
          <dgm:chMax val="0"/>
          <dgm:chPref val="0"/>
        </dgm:presLayoutVars>
      </dgm:prSet>
      <dgm:spPr/>
    </dgm:pt>
    <dgm:pt modelId="{988943DC-5542-4510-A446-EA87EC222419}" type="pres">
      <dgm:prSet presAssocID="{F83FE7FE-9746-4DC8-91EA-79761A17252E}" presName="sibTrans" presStyleCnt="0"/>
      <dgm:spPr/>
    </dgm:pt>
    <dgm:pt modelId="{AE6E94EA-159D-485C-8265-5165DC80FD0A}" type="pres">
      <dgm:prSet presAssocID="{BF29506D-44F8-48BD-AE54-6AC745B8572D}" presName="compNode" presStyleCnt="0"/>
      <dgm:spPr/>
    </dgm:pt>
    <dgm:pt modelId="{6F46BF5F-2F95-46B8-B07F-5876B799AB92}" type="pres">
      <dgm:prSet presAssocID="{BF29506D-44F8-48BD-AE54-6AC745B8572D}" presName="bgRect" presStyleLbl="bgShp" presStyleIdx="2" presStyleCnt="3"/>
      <dgm:spPr/>
    </dgm:pt>
    <dgm:pt modelId="{54B4E12D-6457-4098-A9ED-348DC9B236BB}" type="pres">
      <dgm:prSet presAssocID="{BF29506D-44F8-48BD-AE54-6AC745B8572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D6B6C737-FDB3-4384-9C69-CF9C3E99A8ED}" type="pres">
      <dgm:prSet presAssocID="{BF29506D-44F8-48BD-AE54-6AC745B8572D}" presName="spaceRect" presStyleCnt="0"/>
      <dgm:spPr/>
    </dgm:pt>
    <dgm:pt modelId="{7A935FAA-EE87-4C28-91F0-8133CBD3A3FA}" type="pres">
      <dgm:prSet presAssocID="{BF29506D-44F8-48BD-AE54-6AC745B8572D}" presName="parTx" presStyleLbl="revTx" presStyleIdx="2" presStyleCnt="3">
        <dgm:presLayoutVars>
          <dgm:chMax val="0"/>
          <dgm:chPref val="0"/>
        </dgm:presLayoutVars>
      </dgm:prSet>
      <dgm:spPr/>
    </dgm:pt>
  </dgm:ptLst>
  <dgm:cxnLst>
    <dgm:cxn modelId="{43AEBE00-F078-4E51-9AC9-5B72B080F7D5}" srcId="{8A8873E3-225A-445A-8305-BC8960AC3849}" destId="{BF29506D-44F8-48BD-AE54-6AC745B8572D}" srcOrd="2" destOrd="0" parTransId="{0EC95028-A1EC-4AB2-A0AF-A65AB0487E91}" sibTransId="{27453058-7FB0-4D72-97A5-ABCF450A5894}"/>
    <dgm:cxn modelId="{A41D2A1E-653C-4BED-A446-B1AA8F7957C5}" type="presOf" srcId="{6B666A22-B02C-46FD-95A0-123E11C0A5D3}" destId="{B74E225A-FDAE-4B19-9EF1-DE96EE103630}" srcOrd="0" destOrd="0" presId="urn:microsoft.com/office/officeart/2018/2/layout/IconVerticalSolidList"/>
    <dgm:cxn modelId="{4AC4EC65-832B-4D9C-94F8-1A9E94828BD7}" type="presOf" srcId="{4EBF9AC7-1B60-4A4F-B880-5B088F1A5BA7}" destId="{8C82DC27-F791-4A8B-AEE0-5CD7963C7A13}" srcOrd="0" destOrd="0" presId="urn:microsoft.com/office/officeart/2018/2/layout/IconVerticalSolidList"/>
    <dgm:cxn modelId="{B6478B6D-C127-4DE8-8B1E-915568A53685}" srcId="{8A8873E3-225A-445A-8305-BC8960AC3849}" destId="{4EBF9AC7-1B60-4A4F-B880-5B088F1A5BA7}" srcOrd="0" destOrd="0" parTransId="{9D13BD82-6006-4AC5-BD79-E91DBC62F9E7}" sibTransId="{89F8ADD2-859F-4BBB-BEE2-921852F9AF48}"/>
    <dgm:cxn modelId="{04F6DF70-C560-4E8B-9E22-C55D4E215281}" srcId="{8A8873E3-225A-445A-8305-BC8960AC3849}" destId="{6B666A22-B02C-46FD-95A0-123E11C0A5D3}" srcOrd="1" destOrd="0" parTransId="{04A9B6E6-0A7A-4945-B203-0256CEC0E5D5}" sibTransId="{F83FE7FE-9746-4DC8-91EA-79761A17252E}"/>
    <dgm:cxn modelId="{A3FAD096-C3BA-4603-894F-064F800109BB}" type="presOf" srcId="{BF29506D-44F8-48BD-AE54-6AC745B8572D}" destId="{7A935FAA-EE87-4C28-91F0-8133CBD3A3FA}" srcOrd="0" destOrd="0" presId="urn:microsoft.com/office/officeart/2018/2/layout/IconVerticalSolidList"/>
    <dgm:cxn modelId="{99A96D98-5607-4D77-9DFC-D9FA185B3897}" type="presOf" srcId="{8A8873E3-225A-445A-8305-BC8960AC3849}" destId="{17C34BB6-48F4-46F0-8831-3CFC128B5B7E}" srcOrd="0" destOrd="0" presId="urn:microsoft.com/office/officeart/2018/2/layout/IconVerticalSolidList"/>
    <dgm:cxn modelId="{C6DA41A1-902E-4E72-9BC6-519C04CB42B6}" type="presParOf" srcId="{17C34BB6-48F4-46F0-8831-3CFC128B5B7E}" destId="{4A29AFE9-128E-4304-8D19-B132758A34EC}" srcOrd="0" destOrd="0" presId="urn:microsoft.com/office/officeart/2018/2/layout/IconVerticalSolidList"/>
    <dgm:cxn modelId="{2AF71353-A9A3-4EA3-9B5C-3A5477FFE24C}" type="presParOf" srcId="{4A29AFE9-128E-4304-8D19-B132758A34EC}" destId="{092D1D40-D1A2-43D8-A48F-08F16C4C39F1}" srcOrd="0" destOrd="0" presId="urn:microsoft.com/office/officeart/2018/2/layout/IconVerticalSolidList"/>
    <dgm:cxn modelId="{F7990F35-79D5-4216-831A-D7B4ECD66416}" type="presParOf" srcId="{4A29AFE9-128E-4304-8D19-B132758A34EC}" destId="{3E87669C-35CF-441A-B901-E4AEE9C194A2}" srcOrd="1" destOrd="0" presId="urn:microsoft.com/office/officeart/2018/2/layout/IconVerticalSolidList"/>
    <dgm:cxn modelId="{EC888899-5E3A-4F35-9E80-159A825E3D7B}" type="presParOf" srcId="{4A29AFE9-128E-4304-8D19-B132758A34EC}" destId="{59931CE1-2DDC-4D86-B190-4C040BF67057}" srcOrd="2" destOrd="0" presId="urn:microsoft.com/office/officeart/2018/2/layout/IconVerticalSolidList"/>
    <dgm:cxn modelId="{FC7B0C0B-BF91-47DF-B55E-66620667EE8E}" type="presParOf" srcId="{4A29AFE9-128E-4304-8D19-B132758A34EC}" destId="{8C82DC27-F791-4A8B-AEE0-5CD7963C7A13}" srcOrd="3" destOrd="0" presId="urn:microsoft.com/office/officeart/2018/2/layout/IconVerticalSolidList"/>
    <dgm:cxn modelId="{B741EFA1-71C7-42B0-A32E-7D2D4B7624E3}" type="presParOf" srcId="{17C34BB6-48F4-46F0-8831-3CFC128B5B7E}" destId="{CCFB064D-74A6-4E3C-B7FB-B18D02EA625E}" srcOrd="1" destOrd="0" presId="urn:microsoft.com/office/officeart/2018/2/layout/IconVerticalSolidList"/>
    <dgm:cxn modelId="{3962C1BB-24BA-4467-AE55-FC697B6428AC}" type="presParOf" srcId="{17C34BB6-48F4-46F0-8831-3CFC128B5B7E}" destId="{F50B3102-7445-4D90-8583-8448736DDC0D}" srcOrd="2" destOrd="0" presId="urn:microsoft.com/office/officeart/2018/2/layout/IconVerticalSolidList"/>
    <dgm:cxn modelId="{2118ADAB-0297-4F13-B107-18E397473866}" type="presParOf" srcId="{F50B3102-7445-4D90-8583-8448736DDC0D}" destId="{933990A3-B002-4DD8-AA44-E8E78EC07651}" srcOrd="0" destOrd="0" presId="urn:microsoft.com/office/officeart/2018/2/layout/IconVerticalSolidList"/>
    <dgm:cxn modelId="{A59FB283-C994-4699-AF8E-65E750DB248D}" type="presParOf" srcId="{F50B3102-7445-4D90-8583-8448736DDC0D}" destId="{AE3E973D-2D85-4D5D-BFE3-C579A136956A}" srcOrd="1" destOrd="0" presId="urn:microsoft.com/office/officeart/2018/2/layout/IconVerticalSolidList"/>
    <dgm:cxn modelId="{FF01CEB9-2489-43D2-907E-587305438A4F}" type="presParOf" srcId="{F50B3102-7445-4D90-8583-8448736DDC0D}" destId="{FD740AB9-1663-4257-8417-7BEAB0756C99}" srcOrd="2" destOrd="0" presId="urn:microsoft.com/office/officeart/2018/2/layout/IconVerticalSolidList"/>
    <dgm:cxn modelId="{274AD604-0098-40D3-8F0F-D9A181F2ED95}" type="presParOf" srcId="{F50B3102-7445-4D90-8583-8448736DDC0D}" destId="{B74E225A-FDAE-4B19-9EF1-DE96EE103630}" srcOrd="3" destOrd="0" presId="urn:microsoft.com/office/officeart/2018/2/layout/IconVerticalSolidList"/>
    <dgm:cxn modelId="{D0603421-BB46-4E83-B746-691179FFC7EA}" type="presParOf" srcId="{17C34BB6-48F4-46F0-8831-3CFC128B5B7E}" destId="{988943DC-5542-4510-A446-EA87EC222419}" srcOrd="3" destOrd="0" presId="urn:microsoft.com/office/officeart/2018/2/layout/IconVerticalSolidList"/>
    <dgm:cxn modelId="{264F48CA-6928-4E8E-9556-CF2EDE605204}" type="presParOf" srcId="{17C34BB6-48F4-46F0-8831-3CFC128B5B7E}" destId="{AE6E94EA-159D-485C-8265-5165DC80FD0A}" srcOrd="4" destOrd="0" presId="urn:microsoft.com/office/officeart/2018/2/layout/IconVerticalSolidList"/>
    <dgm:cxn modelId="{99F8A0DE-CD2C-4771-A80D-97DB92FA317B}" type="presParOf" srcId="{AE6E94EA-159D-485C-8265-5165DC80FD0A}" destId="{6F46BF5F-2F95-46B8-B07F-5876B799AB92}" srcOrd="0" destOrd="0" presId="urn:microsoft.com/office/officeart/2018/2/layout/IconVerticalSolidList"/>
    <dgm:cxn modelId="{3CB47CC9-789C-4863-8417-D34BA9959898}" type="presParOf" srcId="{AE6E94EA-159D-485C-8265-5165DC80FD0A}" destId="{54B4E12D-6457-4098-A9ED-348DC9B236BB}" srcOrd="1" destOrd="0" presId="urn:microsoft.com/office/officeart/2018/2/layout/IconVerticalSolidList"/>
    <dgm:cxn modelId="{808AD856-435D-424B-8E0C-114E6CB12352}" type="presParOf" srcId="{AE6E94EA-159D-485C-8265-5165DC80FD0A}" destId="{D6B6C737-FDB3-4384-9C69-CF9C3E99A8ED}" srcOrd="2" destOrd="0" presId="urn:microsoft.com/office/officeart/2018/2/layout/IconVerticalSolidList"/>
    <dgm:cxn modelId="{D74A18C4-83AC-4C7D-9BBF-971D0135A34B}" type="presParOf" srcId="{AE6E94EA-159D-485C-8265-5165DC80FD0A}" destId="{7A935FAA-EE87-4C28-91F0-8133CBD3A3F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9222066-31CB-4D25-A78C-EC525F876B5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EB26266-0023-4B4B-B8FD-C61771DF7BAD}">
      <dgm:prSet/>
      <dgm:spPr/>
      <dgm:t>
        <a:bodyPr/>
        <a:lstStyle/>
        <a:p>
          <a:r>
            <a:rPr lang="en-US" b="1"/>
            <a:t>Promote International Monetary Cooperation</a:t>
          </a:r>
          <a:br>
            <a:rPr lang="en-US"/>
          </a:br>
          <a:r>
            <a:rPr lang="en-US"/>
            <a:t>One of the main objectives of the IMF is to encourage cooperation among countries in international financial matters. It helps countries work together to maintain stability in the global financial system.</a:t>
          </a:r>
          <a:br>
            <a:rPr lang="en-US"/>
          </a:br>
          <a:r>
            <a:rPr lang="en-US" b="1"/>
            <a:t>Example:</a:t>
          </a:r>
          <a:r>
            <a:rPr lang="en-US"/>
            <a:t> Countries consult the IMF when developing economic policies that affect global financial stability.</a:t>
          </a:r>
        </a:p>
      </dgm:t>
    </dgm:pt>
    <dgm:pt modelId="{071C477F-36E2-4723-ABFD-E956401E40DB}" type="parTrans" cxnId="{90DEAD80-A57C-4AE4-B1D5-C4D8752A9C21}">
      <dgm:prSet/>
      <dgm:spPr/>
      <dgm:t>
        <a:bodyPr/>
        <a:lstStyle/>
        <a:p>
          <a:endParaRPr lang="en-US"/>
        </a:p>
      </dgm:t>
    </dgm:pt>
    <dgm:pt modelId="{6E7B36A6-482B-4698-9E2E-F1D716FDBFCB}" type="sibTrans" cxnId="{90DEAD80-A57C-4AE4-B1D5-C4D8752A9C21}">
      <dgm:prSet/>
      <dgm:spPr/>
      <dgm:t>
        <a:bodyPr/>
        <a:lstStyle/>
        <a:p>
          <a:endParaRPr lang="en-US"/>
        </a:p>
      </dgm:t>
    </dgm:pt>
    <dgm:pt modelId="{83C75DE1-A61F-4984-9E7F-7AA26844B6E8}">
      <dgm:prSet/>
      <dgm:spPr/>
      <dgm:t>
        <a:bodyPr/>
        <a:lstStyle/>
        <a:p>
          <a:r>
            <a:rPr lang="en-US" b="1"/>
            <a:t>Maintain Exchange Rate Stability</a:t>
          </a:r>
          <a:br>
            <a:rPr lang="en-US"/>
          </a:br>
          <a:r>
            <a:rPr lang="en-US"/>
            <a:t>The IMF aims to maintain stable exchange rates between currencies to prevent sudden fluctuations that could disrupt international trade.</a:t>
          </a:r>
          <a:br>
            <a:rPr lang="en-US"/>
          </a:br>
          <a:r>
            <a:rPr lang="en-US" b="1"/>
            <a:t>Example:</a:t>
          </a:r>
          <a:r>
            <a:rPr lang="en-US"/>
            <a:t> The IMF may advise countries on policies to stabilize their currency during financial instability.</a:t>
          </a:r>
        </a:p>
      </dgm:t>
    </dgm:pt>
    <dgm:pt modelId="{6D18AF7A-628E-43D1-BE21-F4CCE370E946}" type="parTrans" cxnId="{1AEF0FD9-EB37-4DCC-9FA3-C6E9A2B384CF}">
      <dgm:prSet/>
      <dgm:spPr/>
      <dgm:t>
        <a:bodyPr/>
        <a:lstStyle/>
        <a:p>
          <a:endParaRPr lang="en-US"/>
        </a:p>
      </dgm:t>
    </dgm:pt>
    <dgm:pt modelId="{D28F020D-C534-4D3B-AEBB-3FC6AB6BDD4B}" type="sibTrans" cxnId="{1AEF0FD9-EB37-4DCC-9FA3-C6E9A2B384CF}">
      <dgm:prSet/>
      <dgm:spPr/>
      <dgm:t>
        <a:bodyPr/>
        <a:lstStyle/>
        <a:p>
          <a:endParaRPr lang="en-US"/>
        </a:p>
      </dgm:t>
    </dgm:pt>
    <dgm:pt modelId="{65167C81-E0D1-481E-9D10-B78430AF9752}">
      <dgm:prSet/>
      <dgm:spPr/>
      <dgm:t>
        <a:bodyPr/>
        <a:lstStyle/>
        <a:p>
          <a:r>
            <a:rPr lang="en-US" b="1"/>
            <a:t>Facilitate International Trade</a:t>
          </a:r>
          <a:br>
            <a:rPr lang="en-US"/>
          </a:br>
          <a:r>
            <a:rPr lang="en-US"/>
            <a:t>The IMF supports international trade by helping countries maintain stable financial systems and by reducing barriers related to currency exchange and payments.</a:t>
          </a:r>
          <a:br>
            <a:rPr lang="en-US"/>
          </a:br>
          <a:r>
            <a:rPr lang="en-US" b="1"/>
            <a:t>Example:</a:t>
          </a:r>
          <a:r>
            <a:rPr lang="en-US"/>
            <a:t> Countries facing balance of payment problems receive financial support from the IMF to continue international trade.</a:t>
          </a:r>
        </a:p>
      </dgm:t>
    </dgm:pt>
    <dgm:pt modelId="{7532EB0B-19B5-4A8E-A7E3-F504074D189D}" type="parTrans" cxnId="{91FA3B62-DF0A-41DE-87D0-A8FB6E87F5B0}">
      <dgm:prSet/>
      <dgm:spPr/>
      <dgm:t>
        <a:bodyPr/>
        <a:lstStyle/>
        <a:p>
          <a:endParaRPr lang="en-US"/>
        </a:p>
      </dgm:t>
    </dgm:pt>
    <dgm:pt modelId="{4CE17664-383D-44D5-AF07-939F6DEACDDA}" type="sibTrans" cxnId="{91FA3B62-DF0A-41DE-87D0-A8FB6E87F5B0}">
      <dgm:prSet/>
      <dgm:spPr/>
      <dgm:t>
        <a:bodyPr/>
        <a:lstStyle/>
        <a:p>
          <a:endParaRPr lang="en-US"/>
        </a:p>
      </dgm:t>
    </dgm:pt>
    <dgm:pt modelId="{AC47D7FF-A936-44C7-A14C-0D27DF2248DF}">
      <dgm:prSet/>
      <dgm:spPr/>
      <dgm:t>
        <a:bodyPr/>
        <a:lstStyle/>
        <a:p>
          <a:r>
            <a:rPr lang="en-US" b="1"/>
            <a:t>Provide Financial Assistance to Member Countries</a:t>
          </a:r>
          <a:br>
            <a:rPr lang="en-US"/>
          </a:br>
          <a:r>
            <a:rPr lang="en-US"/>
            <a:t>The IMF provides loans and financial assistance to countries experiencing economic difficulties, especially balance of payment crises.</a:t>
          </a:r>
          <a:br>
            <a:rPr lang="en-US"/>
          </a:br>
          <a:r>
            <a:rPr lang="en-US" b="1"/>
            <a:t>Example:</a:t>
          </a:r>
          <a:r>
            <a:rPr lang="en-US"/>
            <a:t> Countries facing financial crises may borrow funds from the IMF to stabilize their economy.</a:t>
          </a:r>
        </a:p>
      </dgm:t>
    </dgm:pt>
    <dgm:pt modelId="{99F3FBF6-DB05-4E49-9845-B1CF3E9E79BF}" type="parTrans" cxnId="{C1A5E0BD-A38E-4CC2-8DC7-B33EAEBFA83F}">
      <dgm:prSet/>
      <dgm:spPr/>
      <dgm:t>
        <a:bodyPr/>
        <a:lstStyle/>
        <a:p>
          <a:endParaRPr lang="en-US"/>
        </a:p>
      </dgm:t>
    </dgm:pt>
    <dgm:pt modelId="{61D5A961-304A-4C48-B001-555BB467EF97}" type="sibTrans" cxnId="{C1A5E0BD-A38E-4CC2-8DC7-B33EAEBFA83F}">
      <dgm:prSet/>
      <dgm:spPr/>
      <dgm:t>
        <a:bodyPr/>
        <a:lstStyle/>
        <a:p>
          <a:endParaRPr lang="en-US"/>
        </a:p>
      </dgm:t>
    </dgm:pt>
    <dgm:pt modelId="{9D3BE91D-6A8E-46DB-A948-AEB5422A1E48}">
      <dgm:prSet/>
      <dgm:spPr/>
      <dgm:t>
        <a:bodyPr/>
        <a:lstStyle/>
        <a:p>
          <a:r>
            <a:rPr lang="en-US" b="1"/>
            <a:t>Promote Economic Growth and Stability</a:t>
          </a:r>
          <a:br>
            <a:rPr lang="en-US"/>
          </a:br>
          <a:r>
            <a:rPr lang="en-US"/>
            <a:t>The IMF works to improve economic stability and sustainable growth in member countries through financial support and economic policy guidance.</a:t>
          </a:r>
          <a:br>
            <a:rPr lang="en-US"/>
          </a:br>
          <a:r>
            <a:rPr lang="en-US" b="1"/>
            <a:t>Example:</a:t>
          </a:r>
          <a:r>
            <a:rPr lang="en-US"/>
            <a:t> The IMF provides economic advice and financial programs to help developing countries strengthen their economies.</a:t>
          </a:r>
        </a:p>
      </dgm:t>
    </dgm:pt>
    <dgm:pt modelId="{C636E2C8-9B88-4185-813F-DDD0130A42EB}" type="parTrans" cxnId="{2A96306F-020B-4860-AAB7-A05D3A3719E4}">
      <dgm:prSet/>
      <dgm:spPr/>
      <dgm:t>
        <a:bodyPr/>
        <a:lstStyle/>
        <a:p>
          <a:endParaRPr lang="en-US"/>
        </a:p>
      </dgm:t>
    </dgm:pt>
    <dgm:pt modelId="{631223BD-6524-4804-9E98-30E788C2B954}" type="sibTrans" cxnId="{2A96306F-020B-4860-AAB7-A05D3A3719E4}">
      <dgm:prSet/>
      <dgm:spPr/>
      <dgm:t>
        <a:bodyPr/>
        <a:lstStyle/>
        <a:p>
          <a:endParaRPr lang="en-US"/>
        </a:p>
      </dgm:t>
    </dgm:pt>
    <dgm:pt modelId="{A29EDCEF-AD33-4191-ABFC-15859B6F3FE8}" type="pres">
      <dgm:prSet presAssocID="{E9222066-31CB-4D25-A78C-EC525F876B57}" presName="linear" presStyleCnt="0">
        <dgm:presLayoutVars>
          <dgm:animLvl val="lvl"/>
          <dgm:resizeHandles val="exact"/>
        </dgm:presLayoutVars>
      </dgm:prSet>
      <dgm:spPr/>
    </dgm:pt>
    <dgm:pt modelId="{47411C54-8D56-4A86-9C69-25DA138EF62A}" type="pres">
      <dgm:prSet presAssocID="{2EB26266-0023-4B4B-B8FD-C61771DF7BAD}" presName="parentText" presStyleLbl="node1" presStyleIdx="0" presStyleCnt="5">
        <dgm:presLayoutVars>
          <dgm:chMax val="0"/>
          <dgm:bulletEnabled val="1"/>
        </dgm:presLayoutVars>
      </dgm:prSet>
      <dgm:spPr/>
    </dgm:pt>
    <dgm:pt modelId="{50CE8BE3-1781-418B-B1DE-9B6FC43AF063}" type="pres">
      <dgm:prSet presAssocID="{6E7B36A6-482B-4698-9E2E-F1D716FDBFCB}" presName="spacer" presStyleCnt="0"/>
      <dgm:spPr/>
    </dgm:pt>
    <dgm:pt modelId="{84E27D29-A778-4EF4-BA91-B1332B05FE8C}" type="pres">
      <dgm:prSet presAssocID="{83C75DE1-A61F-4984-9E7F-7AA26844B6E8}" presName="parentText" presStyleLbl="node1" presStyleIdx="1" presStyleCnt="5">
        <dgm:presLayoutVars>
          <dgm:chMax val="0"/>
          <dgm:bulletEnabled val="1"/>
        </dgm:presLayoutVars>
      </dgm:prSet>
      <dgm:spPr/>
    </dgm:pt>
    <dgm:pt modelId="{9FF2B59E-5E90-4BC3-99DF-0E57D077B725}" type="pres">
      <dgm:prSet presAssocID="{D28F020D-C534-4D3B-AEBB-3FC6AB6BDD4B}" presName="spacer" presStyleCnt="0"/>
      <dgm:spPr/>
    </dgm:pt>
    <dgm:pt modelId="{02038E42-D484-4F02-8EDA-ACF5D5345016}" type="pres">
      <dgm:prSet presAssocID="{65167C81-E0D1-481E-9D10-B78430AF9752}" presName="parentText" presStyleLbl="node1" presStyleIdx="2" presStyleCnt="5">
        <dgm:presLayoutVars>
          <dgm:chMax val="0"/>
          <dgm:bulletEnabled val="1"/>
        </dgm:presLayoutVars>
      </dgm:prSet>
      <dgm:spPr/>
    </dgm:pt>
    <dgm:pt modelId="{F087A2B1-E876-47FA-9725-F5259C5CD57C}" type="pres">
      <dgm:prSet presAssocID="{4CE17664-383D-44D5-AF07-939F6DEACDDA}" presName="spacer" presStyleCnt="0"/>
      <dgm:spPr/>
    </dgm:pt>
    <dgm:pt modelId="{AD3668DC-E2B8-4A0A-B056-82B7B633D56F}" type="pres">
      <dgm:prSet presAssocID="{AC47D7FF-A936-44C7-A14C-0D27DF2248DF}" presName="parentText" presStyleLbl="node1" presStyleIdx="3" presStyleCnt="5">
        <dgm:presLayoutVars>
          <dgm:chMax val="0"/>
          <dgm:bulletEnabled val="1"/>
        </dgm:presLayoutVars>
      </dgm:prSet>
      <dgm:spPr/>
    </dgm:pt>
    <dgm:pt modelId="{0C0D5E45-DE3D-42B1-B557-677EA0CA8D5C}" type="pres">
      <dgm:prSet presAssocID="{61D5A961-304A-4C48-B001-555BB467EF97}" presName="spacer" presStyleCnt="0"/>
      <dgm:spPr/>
    </dgm:pt>
    <dgm:pt modelId="{AA08D2B3-13A6-4961-9F83-053BD2220F79}" type="pres">
      <dgm:prSet presAssocID="{9D3BE91D-6A8E-46DB-A948-AEB5422A1E48}" presName="parentText" presStyleLbl="node1" presStyleIdx="4" presStyleCnt="5">
        <dgm:presLayoutVars>
          <dgm:chMax val="0"/>
          <dgm:bulletEnabled val="1"/>
        </dgm:presLayoutVars>
      </dgm:prSet>
      <dgm:spPr/>
    </dgm:pt>
  </dgm:ptLst>
  <dgm:cxnLst>
    <dgm:cxn modelId="{D634601A-02FF-4646-AE7C-067E0E6813DA}" type="presOf" srcId="{AC47D7FF-A936-44C7-A14C-0D27DF2248DF}" destId="{AD3668DC-E2B8-4A0A-B056-82B7B633D56F}" srcOrd="0" destOrd="0" presId="urn:microsoft.com/office/officeart/2005/8/layout/vList2"/>
    <dgm:cxn modelId="{4D31B826-CEB4-441C-9529-6BD522C72474}" type="presOf" srcId="{9D3BE91D-6A8E-46DB-A948-AEB5422A1E48}" destId="{AA08D2B3-13A6-4961-9F83-053BD2220F79}" srcOrd="0" destOrd="0" presId="urn:microsoft.com/office/officeart/2005/8/layout/vList2"/>
    <dgm:cxn modelId="{91FA3B62-DF0A-41DE-87D0-A8FB6E87F5B0}" srcId="{E9222066-31CB-4D25-A78C-EC525F876B57}" destId="{65167C81-E0D1-481E-9D10-B78430AF9752}" srcOrd="2" destOrd="0" parTransId="{7532EB0B-19B5-4A8E-A7E3-F504074D189D}" sibTransId="{4CE17664-383D-44D5-AF07-939F6DEACDDA}"/>
    <dgm:cxn modelId="{2A96306F-020B-4860-AAB7-A05D3A3719E4}" srcId="{E9222066-31CB-4D25-A78C-EC525F876B57}" destId="{9D3BE91D-6A8E-46DB-A948-AEB5422A1E48}" srcOrd="4" destOrd="0" parTransId="{C636E2C8-9B88-4185-813F-DDD0130A42EB}" sibTransId="{631223BD-6524-4804-9E98-30E788C2B954}"/>
    <dgm:cxn modelId="{90DEAD80-A57C-4AE4-B1D5-C4D8752A9C21}" srcId="{E9222066-31CB-4D25-A78C-EC525F876B57}" destId="{2EB26266-0023-4B4B-B8FD-C61771DF7BAD}" srcOrd="0" destOrd="0" parTransId="{071C477F-36E2-4723-ABFD-E956401E40DB}" sibTransId="{6E7B36A6-482B-4698-9E2E-F1D716FDBFCB}"/>
    <dgm:cxn modelId="{B0CAE89A-227C-4FFB-B946-7708706CBA64}" type="presOf" srcId="{83C75DE1-A61F-4984-9E7F-7AA26844B6E8}" destId="{84E27D29-A778-4EF4-BA91-B1332B05FE8C}" srcOrd="0" destOrd="0" presId="urn:microsoft.com/office/officeart/2005/8/layout/vList2"/>
    <dgm:cxn modelId="{770772B5-08FA-48DB-AE06-CDF5F97FB36A}" type="presOf" srcId="{2EB26266-0023-4B4B-B8FD-C61771DF7BAD}" destId="{47411C54-8D56-4A86-9C69-25DA138EF62A}" srcOrd="0" destOrd="0" presId="urn:microsoft.com/office/officeart/2005/8/layout/vList2"/>
    <dgm:cxn modelId="{C1A5E0BD-A38E-4CC2-8DC7-B33EAEBFA83F}" srcId="{E9222066-31CB-4D25-A78C-EC525F876B57}" destId="{AC47D7FF-A936-44C7-A14C-0D27DF2248DF}" srcOrd="3" destOrd="0" parTransId="{99F3FBF6-DB05-4E49-9845-B1CF3E9E79BF}" sibTransId="{61D5A961-304A-4C48-B001-555BB467EF97}"/>
    <dgm:cxn modelId="{3BD154C3-4E7C-431C-BA0E-40645D83AD0F}" type="presOf" srcId="{65167C81-E0D1-481E-9D10-B78430AF9752}" destId="{02038E42-D484-4F02-8EDA-ACF5D5345016}" srcOrd="0" destOrd="0" presId="urn:microsoft.com/office/officeart/2005/8/layout/vList2"/>
    <dgm:cxn modelId="{8046AED4-BB8A-4041-8F9C-319208B62BDD}" type="presOf" srcId="{E9222066-31CB-4D25-A78C-EC525F876B57}" destId="{A29EDCEF-AD33-4191-ABFC-15859B6F3FE8}" srcOrd="0" destOrd="0" presId="urn:microsoft.com/office/officeart/2005/8/layout/vList2"/>
    <dgm:cxn modelId="{1AEF0FD9-EB37-4DCC-9FA3-C6E9A2B384CF}" srcId="{E9222066-31CB-4D25-A78C-EC525F876B57}" destId="{83C75DE1-A61F-4984-9E7F-7AA26844B6E8}" srcOrd="1" destOrd="0" parTransId="{6D18AF7A-628E-43D1-BE21-F4CCE370E946}" sibTransId="{D28F020D-C534-4D3B-AEBB-3FC6AB6BDD4B}"/>
    <dgm:cxn modelId="{D867C6B4-29C5-4439-AF19-5266C21B0A58}" type="presParOf" srcId="{A29EDCEF-AD33-4191-ABFC-15859B6F3FE8}" destId="{47411C54-8D56-4A86-9C69-25DA138EF62A}" srcOrd="0" destOrd="0" presId="urn:microsoft.com/office/officeart/2005/8/layout/vList2"/>
    <dgm:cxn modelId="{9115EB67-3E06-4837-9594-DCC2CA065352}" type="presParOf" srcId="{A29EDCEF-AD33-4191-ABFC-15859B6F3FE8}" destId="{50CE8BE3-1781-418B-B1DE-9B6FC43AF063}" srcOrd="1" destOrd="0" presId="urn:microsoft.com/office/officeart/2005/8/layout/vList2"/>
    <dgm:cxn modelId="{29EB6F4F-9660-4789-8151-3700F1636AA3}" type="presParOf" srcId="{A29EDCEF-AD33-4191-ABFC-15859B6F3FE8}" destId="{84E27D29-A778-4EF4-BA91-B1332B05FE8C}" srcOrd="2" destOrd="0" presId="urn:microsoft.com/office/officeart/2005/8/layout/vList2"/>
    <dgm:cxn modelId="{4E6A764C-349C-48E6-AA8F-DD25A1479B4C}" type="presParOf" srcId="{A29EDCEF-AD33-4191-ABFC-15859B6F3FE8}" destId="{9FF2B59E-5E90-4BC3-99DF-0E57D077B725}" srcOrd="3" destOrd="0" presId="urn:microsoft.com/office/officeart/2005/8/layout/vList2"/>
    <dgm:cxn modelId="{53303858-128F-45F7-8383-C24B03B66989}" type="presParOf" srcId="{A29EDCEF-AD33-4191-ABFC-15859B6F3FE8}" destId="{02038E42-D484-4F02-8EDA-ACF5D5345016}" srcOrd="4" destOrd="0" presId="urn:microsoft.com/office/officeart/2005/8/layout/vList2"/>
    <dgm:cxn modelId="{5E600230-E9B7-4E27-A558-364EC9AA6BF3}" type="presParOf" srcId="{A29EDCEF-AD33-4191-ABFC-15859B6F3FE8}" destId="{F087A2B1-E876-47FA-9725-F5259C5CD57C}" srcOrd="5" destOrd="0" presId="urn:microsoft.com/office/officeart/2005/8/layout/vList2"/>
    <dgm:cxn modelId="{D9197494-B183-47D3-B671-750FE80738FC}" type="presParOf" srcId="{A29EDCEF-AD33-4191-ABFC-15859B6F3FE8}" destId="{AD3668DC-E2B8-4A0A-B056-82B7B633D56F}" srcOrd="6" destOrd="0" presId="urn:microsoft.com/office/officeart/2005/8/layout/vList2"/>
    <dgm:cxn modelId="{BC8C5170-472B-4DC6-8A10-DE5B5CA60171}" type="presParOf" srcId="{A29EDCEF-AD33-4191-ABFC-15859B6F3FE8}" destId="{0C0D5E45-DE3D-42B1-B557-677EA0CA8D5C}" srcOrd="7" destOrd="0" presId="urn:microsoft.com/office/officeart/2005/8/layout/vList2"/>
    <dgm:cxn modelId="{1B1BDF12-AF67-431D-8692-6F193209F526}" type="presParOf" srcId="{A29EDCEF-AD33-4191-ABFC-15859B6F3FE8}" destId="{AA08D2B3-13A6-4961-9F83-053BD2220F7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E0E58-B8C6-4137-A023-437B6B20E49B}">
      <dsp:nvSpPr>
        <dsp:cNvPr id="0" name=""/>
        <dsp:cNvSpPr/>
      </dsp:nvSpPr>
      <dsp:spPr>
        <a:xfrm>
          <a:off x="0" y="564"/>
          <a:ext cx="10178321" cy="13207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E86830-0E3F-4448-B395-ED839D08C006}">
      <dsp:nvSpPr>
        <dsp:cNvPr id="0" name=""/>
        <dsp:cNvSpPr/>
      </dsp:nvSpPr>
      <dsp:spPr>
        <a:xfrm>
          <a:off x="399524" y="297731"/>
          <a:ext cx="726409" cy="7264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9D7F5A-5C81-4604-BFB8-E1D25D6B6801}">
      <dsp:nvSpPr>
        <dsp:cNvPr id="0" name=""/>
        <dsp:cNvSpPr/>
      </dsp:nvSpPr>
      <dsp:spPr>
        <a:xfrm>
          <a:off x="1525459" y="564"/>
          <a:ext cx="8652862" cy="1320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79" tIns="139779" rIns="139779" bIns="139779" numCol="1" spcCol="1270" anchor="ctr" anchorCtr="0">
          <a:noAutofit/>
        </a:bodyPr>
        <a:lstStyle/>
        <a:p>
          <a:pPr marL="0" lvl="0" indent="0" algn="l" defTabSz="755650">
            <a:lnSpc>
              <a:spcPct val="100000"/>
            </a:lnSpc>
            <a:spcBef>
              <a:spcPct val="0"/>
            </a:spcBef>
            <a:spcAft>
              <a:spcPct val="35000"/>
            </a:spcAft>
            <a:buNone/>
          </a:pPr>
          <a:r>
            <a:rPr lang="en-US" sz="1700" kern="1200" dirty="0"/>
            <a:t>his topic helps students understand how the international financial system operates and how global institutions support economic development and financial stability.</a:t>
          </a:r>
        </a:p>
      </dsp:txBody>
      <dsp:txXfrm>
        <a:off x="1525459" y="564"/>
        <a:ext cx="8652862" cy="1320743"/>
      </dsp:txXfrm>
    </dsp:sp>
    <dsp:sp modelId="{A0A1BEF2-2C52-45D5-B2CA-99268459A8F8}">
      <dsp:nvSpPr>
        <dsp:cNvPr id="0" name=""/>
        <dsp:cNvSpPr/>
      </dsp:nvSpPr>
      <dsp:spPr>
        <a:xfrm>
          <a:off x="0" y="1651494"/>
          <a:ext cx="10178321" cy="13207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BFA682-FB7B-4D36-88A0-AAE9144866C6}">
      <dsp:nvSpPr>
        <dsp:cNvPr id="0" name=""/>
        <dsp:cNvSpPr/>
      </dsp:nvSpPr>
      <dsp:spPr>
        <a:xfrm>
          <a:off x="399524" y="1948661"/>
          <a:ext cx="726409" cy="7264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C88B2F-6643-4581-9565-81356A9B1A4D}">
      <dsp:nvSpPr>
        <dsp:cNvPr id="0" name=""/>
        <dsp:cNvSpPr/>
      </dsp:nvSpPr>
      <dsp:spPr>
        <a:xfrm>
          <a:off x="1525459" y="1651494"/>
          <a:ext cx="8652862" cy="1320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79" tIns="139779" rIns="139779" bIns="139779" numCol="1" spcCol="1270" anchor="ctr" anchorCtr="0">
          <a:noAutofit/>
        </a:bodyPr>
        <a:lstStyle/>
        <a:p>
          <a:pPr marL="0" lvl="0" indent="0" algn="l" defTabSz="755650">
            <a:lnSpc>
              <a:spcPct val="100000"/>
            </a:lnSpc>
            <a:spcBef>
              <a:spcPct val="0"/>
            </a:spcBef>
            <a:spcAft>
              <a:spcPct val="35000"/>
            </a:spcAft>
            <a:buNone/>
          </a:pPr>
          <a:r>
            <a:rPr lang="en-US" sz="1700" kern="1200"/>
            <a:t>After studying this topic, students will be able to:</a:t>
          </a:r>
        </a:p>
      </dsp:txBody>
      <dsp:txXfrm>
        <a:off x="1525459" y="1651494"/>
        <a:ext cx="8652862" cy="1320743"/>
      </dsp:txXfrm>
    </dsp:sp>
    <dsp:sp modelId="{4857975A-9DDB-4C68-A18B-3C0B759AFB56}">
      <dsp:nvSpPr>
        <dsp:cNvPr id="0" name=""/>
        <dsp:cNvSpPr/>
      </dsp:nvSpPr>
      <dsp:spPr>
        <a:xfrm>
          <a:off x="0" y="3302423"/>
          <a:ext cx="10178321" cy="13207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89477A-3501-4DAB-96B6-8BE0F6FF1A1E}">
      <dsp:nvSpPr>
        <dsp:cNvPr id="0" name=""/>
        <dsp:cNvSpPr/>
      </dsp:nvSpPr>
      <dsp:spPr>
        <a:xfrm>
          <a:off x="399524" y="3599591"/>
          <a:ext cx="726409" cy="7264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EECB8E-C842-4485-81AD-67C6870914B2}">
      <dsp:nvSpPr>
        <dsp:cNvPr id="0" name=""/>
        <dsp:cNvSpPr/>
      </dsp:nvSpPr>
      <dsp:spPr>
        <a:xfrm>
          <a:off x="1525459" y="3302423"/>
          <a:ext cx="8652862" cy="1320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79" tIns="139779" rIns="139779" bIns="139779" numCol="1" spcCol="1270" anchor="ctr" anchorCtr="0">
          <a:noAutofit/>
        </a:bodyPr>
        <a:lstStyle/>
        <a:p>
          <a:pPr marL="0" lvl="0" indent="0" algn="l" defTabSz="755650">
            <a:lnSpc>
              <a:spcPct val="100000"/>
            </a:lnSpc>
            <a:spcBef>
              <a:spcPct val="0"/>
            </a:spcBef>
            <a:spcAft>
              <a:spcPct val="35000"/>
            </a:spcAft>
            <a:buNone/>
          </a:pPr>
          <a:r>
            <a:rPr lang="en-US" sz="1700" kern="1200"/>
            <a:t>• Explain the concept of the global monetary system</a:t>
          </a:r>
          <a:br>
            <a:rPr lang="en-US" sz="1700" kern="1200"/>
          </a:br>
          <a:r>
            <a:rPr lang="en-US" sz="1700" kern="1200"/>
            <a:t>• Understand the functioning of the foreign exchange market</a:t>
          </a:r>
          <a:br>
            <a:rPr lang="en-US" sz="1700" kern="1200"/>
          </a:br>
          <a:r>
            <a:rPr lang="en-US" sz="1700" kern="1200"/>
            <a:t>• Identify the role of international financial institutions</a:t>
          </a:r>
          <a:br>
            <a:rPr lang="en-US" sz="1700" kern="1200"/>
          </a:br>
          <a:r>
            <a:rPr lang="en-US" sz="1700" kern="1200"/>
            <a:t>• Analyze the importance of IMF, World Bank, and ADB</a:t>
          </a:r>
        </a:p>
      </dsp:txBody>
      <dsp:txXfrm>
        <a:off x="1525459" y="3302423"/>
        <a:ext cx="8652862" cy="13207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86173-A972-45C0-8B40-BD6565897666}">
      <dsp:nvSpPr>
        <dsp:cNvPr id="0" name=""/>
        <dsp:cNvSpPr/>
      </dsp:nvSpPr>
      <dsp:spPr>
        <a:xfrm>
          <a:off x="0" y="0"/>
          <a:ext cx="8812012" cy="1432000"/>
        </a:xfrm>
        <a:prstGeom prst="roundRect">
          <a:avLst>
            <a:gd name="adj" fmla="val 10000"/>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dirty="0"/>
            <a:t>Currency Conversion</a:t>
          </a:r>
          <a:br>
            <a:rPr lang="en-US" sz="1500" b="0" i="0" kern="1200" baseline="0" dirty="0"/>
          </a:br>
          <a:r>
            <a:rPr lang="en-US" sz="1500" b="0" i="0" kern="1200" baseline="0" dirty="0"/>
            <a:t>The foreign exchange market helps convert one country's currency into another country's currency so that international trade and transactions can take place smoothly.</a:t>
          </a:r>
          <a:br>
            <a:rPr lang="en-US" sz="1500" b="0" i="0" kern="1200" baseline="0" dirty="0"/>
          </a:br>
          <a:r>
            <a:rPr lang="en-US" sz="1500" b="1" i="0" kern="1200" baseline="0" dirty="0"/>
            <a:t>Example:</a:t>
          </a:r>
          <a:r>
            <a:rPr lang="en-US" sz="1500" b="0" i="0" kern="1200" baseline="0" dirty="0"/>
            <a:t> </a:t>
          </a:r>
          <a:r>
            <a:rPr lang="en-US" sz="1500" b="0" i="0" kern="1200" baseline="0" dirty="0">
              <a:solidFill>
                <a:schemeClr val="bg1"/>
              </a:solidFill>
            </a:rPr>
            <a:t>An Indian company importing machinery from the United States converts Indian rupees into US dollars to make the payment.</a:t>
          </a:r>
          <a:endParaRPr lang="en-US" sz="1500" kern="1200" dirty="0">
            <a:solidFill>
              <a:schemeClr val="bg1"/>
            </a:solidFill>
          </a:endParaRPr>
        </a:p>
      </dsp:txBody>
      <dsp:txXfrm>
        <a:off x="41942" y="41942"/>
        <a:ext cx="7266772" cy="1348116"/>
      </dsp:txXfrm>
    </dsp:sp>
    <dsp:sp modelId="{086F2065-50AF-42D2-8BD1-E984F23FA919}">
      <dsp:nvSpPr>
        <dsp:cNvPr id="0" name=""/>
        <dsp:cNvSpPr/>
      </dsp:nvSpPr>
      <dsp:spPr>
        <a:xfrm>
          <a:off x="777530" y="1670667"/>
          <a:ext cx="8812012" cy="1432000"/>
        </a:xfrm>
        <a:prstGeom prst="roundRect">
          <a:avLst>
            <a:gd name="adj" fmla="val 10000"/>
          </a:avLst>
        </a:prstGeom>
        <a:solidFill>
          <a:schemeClr val="accent3">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a:t>Determination of Exchange Rates</a:t>
          </a:r>
          <a:br>
            <a:rPr lang="en-US" sz="1500" b="0" i="0" kern="1200" baseline="0"/>
          </a:br>
          <a:r>
            <a:rPr lang="en-US" sz="1500" b="0" i="0" kern="1200" baseline="0"/>
            <a:t>The foreign exchange market determines the value of one currency relative to another based on demand and supply in the global market.</a:t>
          </a:r>
          <a:br>
            <a:rPr lang="en-US" sz="1500" b="0" i="0" kern="1200" baseline="0"/>
          </a:br>
          <a:r>
            <a:rPr lang="en-US" sz="1500" b="1" i="0" kern="1200" baseline="0"/>
            <a:t>Example:</a:t>
          </a:r>
          <a:r>
            <a:rPr lang="en-US" sz="1500" b="0" i="0" kern="1200" baseline="0"/>
            <a:t> If the demand for US dollars increases, the value of the dollar rises compared to other currencies.</a:t>
          </a:r>
          <a:endParaRPr lang="en-US" sz="1500" kern="1200"/>
        </a:p>
      </dsp:txBody>
      <dsp:txXfrm>
        <a:off x="819472" y="1712609"/>
        <a:ext cx="7019797" cy="1348116"/>
      </dsp:txXfrm>
    </dsp:sp>
    <dsp:sp modelId="{F1A8CF6E-9DDF-4222-97E3-07DC52015A15}">
      <dsp:nvSpPr>
        <dsp:cNvPr id="0" name=""/>
        <dsp:cNvSpPr/>
      </dsp:nvSpPr>
      <dsp:spPr>
        <a:xfrm>
          <a:off x="1555061" y="3341335"/>
          <a:ext cx="8812012" cy="1432000"/>
        </a:xfrm>
        <a:prstGeom prst="roundRect">
          <a:avLst>
            <a:gd name="adj" fmla="val 10000"/>
          </a:avLst>
        </a:prstGeom>
        <a:solidFill>
          <a:schemeClr val="accent4">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a:t>Facilitates International Trade and Investment</a:t>
          </a:r>
          <a:br>
            <a:rPr lang="en-US" sz="1500" b="0" i="0" kern="1200" baseline="0"/>
          </a:br>
          <a:r>
            <a:rPr lang="en-US" sz="1500" b="0" i="0" kern="1200" baseline="0"/>
            <a:t>It allows businesses and investors to transfer funds across countries for trade, investment, and other international transactions.</a:t>
          </a:r>
          <a:br>
            <a:rPr lang="en-US" sz="1500" b="0" i="0" kern="1200" baseline="0"/>
          </a:br>
          <a:r>
            <a:rPr lang="en-US" sz="1500" b="1" i="0" kern="1200" baseline="0"/>
            <a:t>Example:</a:t>
          </a:r>
          <a:r>
            <a:rPr lang="en-US" sz="1500" b="0" i="0" kern="1200" baseline="0"/>
            <a:t> A multinational company investing in a factory in another country exchanges its domestic currency into the local currency.</a:t>
          </a:r>
          <a:endParaRPr lang="en-US" sz="1500" kern="1200"/>
        </a:p>
      </dsp:txBody>
      <dsp:txXfrm>
        <a:off x="1597003" y="3383277"/>
        <a:ext cx="7019797" cy="1348116"/>
      </dsp:txXfrm>
    </dsp:sp>
    <dsp:sp modelId="{C7CB66D6-FCA0-4400-BDC0-8242599CB5D5}">
      <dsp:nvSpPr>
        <dsp:cNvPr id="0" name=""/>
        <dsp:cNvSpPr/>
      </dsp:nvSpPr>
      <dsp:spPr>
        <a:xfrm>
          <a:off x="7881212" y="1085933"/>
          <a:ext cx="930800" cy="930800"/>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090642" y="1085933"/>
        <a:ext cx="511940" cy="700427"/>
      </dsp:txXfrm>
    </dsp:sp>
    <dsp:sp modelId="{ED5CCE0D-654F-453D-B828-0E05A27268E5}">
      <dsp:nvSpPr>
        <dsp:cNvPr id="0" name=""/>
        <dsp:cNvSpPr/>
      </dsp:nvSpPr>
      <dsp:spPr>
        <a:xfrm>
          <a:off x="8658742" y="2747054"/>
          <a:ext cx="930800" cy="930800"/>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in">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868172" y="2747054"/>
        <a:ext cx="511940" cy="7004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D65B69-84D2-4CF2-A362-8C0DDA5C4AD1}">
      <dsp:nvSpPr>
        <dsp:cNvPr id="0" name=""/>
        <dsp:cNvSpPr/>
      </dsp:nvSpPr>
      <dsp:spPr>
        <a:xfrm>
          <a:off x="67868" y="0"/>
          <a:ext cx="8623663" cy="1846761"/>
        </a:xfrm>
        <a:prstGeom prst="roundRect">
          <a:avLst>
            <a:gd name="adj" fmla="val 10000"/>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Provides Liquidity</a:t>
          </a:r>
          <a:br>
            <a:rPr lang="en-US" sz="1800" kern="1200"/>
          </a:br>
          <a:r>
            <a:rPr lang="en-US" sz="1800" kern="1200"/>
            <a:t>The foreign exchange market ensures that currencies can be bought and sold easily at any time, making international financial transactions more efficient.</a:t>
          </a:r>
          <a:br>
            <a:rPr lang="en-US" sz="1800" kern="1200"/>
          </a:br>
          <a:r>
            <a:rPr lang="en-US" sz="1800" b="1" kern="1200"/>
            <a:t>Example:</a:t>
          </a:r>
          <a:r>
            <a:rPr lang="en-US" sz="1800" kern="1200"/>
            <a:t> Banks and financial institutions exchange currencies quickly to support global business operations.</a:t>
          </a:r>
        </a:p>
      </dsp:txBody>
      <dsp:txXfrm>
        <a:off x="121958" y="54090"/>
        <a:ext cx="6714890" cy="1738581"/>
      </dsp:txXfrm>
    </dsp:sp>
    <dsp:sp modelId="{434978C8-6338-41B2-94DD-E612F6BA84BD}">
      <dsp:nvSpPr>
        <dsp:cNvPr id="0" name=""/>
        <dsp:cNvSpPr/>
      </dsp:nvSpPr>
      <dsp:spPr>
        <a:xfrm>
          <a:off x="1521822" y="2257152"/>
          <a:ext cx="8623663" cy="1846761"/>
        </a:xfrm>
        <a:prstGeom prst="roundRect">
          <a:avLst>
            <a:gd name="adj" fmla="val 10000"/>
          </a:avLst>
        </a:prstGeom>
        <a:solidFill>
          <a:schemeClr val="accent2">
            <a:hueOff val="6238661"/>
            <a:satOff val="35504"/>
            <a:lumOff val="1098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Hedging Against Exchange Rate Risk</a:t>
          </a:r>
          <a:br>
            <a:rPr lang="en-US" sz="1800" kern="1200"/>
          </a:br>
          <a:r>
            <a:rPr lang="en-US" sz="1800" kern="1200"/>
            <a:t>The foreign exchange market helps businesses protect themselves from fluctuations in currency values through financial instruments such as forward contracts and options.</a:t>
          </a:r>
          <a:br>
            <a:rPr lang="en-US" sz="1800" kern="1200"/>
          </a:br>
          <a:r>
            <a:rPr lang="en-US" sz="1800" b="1" kern="1200"/>
            <a:t>Example:</a:t>
          </a:r>
          <a:r>
            <a:rPr lang="en-US" sz="1800" kern="1200"/>
            <a:t> An exporter may lock in a future exchange rate to avoid losses if the currency value changes</a:t>
          </a:r>
        </a:p>
      </dsp:txBody>
      <dsp:txXfrm>
        <a:off x="1575912" y="2311242"/>
        <a:ext cx="5793265" cy="1738581"/>
      </dsp:txXfrm>
    </dsp:sp>
    <dsp:sp modelId="{F9C5AFE1-D738-4440-9BBB-0D4D3EC514AB}">
      <dsp:nvSpPr>
        <dsp:cNvPr id="0" name=""/>
        <dsp:cNvSpPr/>
      </dsp:nvSpPr>
      <dsp:spPr>
        <a:xfrm>
          <a:off x="7423268" y="1451759"/>
          <a:ext cx="1200394" cy="120039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in">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693357" y="1451759"/>
        <a:ext cx="660216" cy="9032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C40F3-8D41-4586-A2C1-70EA54CF6B80}">
      <dsp:nvSpPr>
        <dsp:cNvPr id="0" name=""/>
        <dsp:cNvSpPr/>
      </dsp:nvSpPr>
      <dsp:spPr>
        <a:xfrm>
          <a:off x="0" y="660"/>
          <a:ext cx="10379618" cy="15450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C00530-A417-401D-91EA-5027B6699AC1}">
      <dsp:nvSpPr>
        <dsp:cNvPr id="0" name=""/>
        <dsp:cNvSpPr/>
      </dsp:nvSpPr>
      <dsp:spPr>
        <a:xfrm>
          <a:off x="467366" y="348288"/>
          <a:ext cx="849756" cy="849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50807904-C585-48AD-B04B-0A78FEFD30CD}">
      <dsp:nvSpPr>
        <dsp:cNvPr id="0" name=""/>
        <dsp:cNvSpPr/>
      </dsp:nvSpPr>
      <dsp:spPr>
        <a:xfrm>
          <a:off x="1784489" y="660"/>
          <a:ext cx="8595128" cy="1545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14" tIns="163514" rIns="163514" bIns="163514" numCol="1" spcCol="1270" anchor="ctr" anchorCtr="0">
          <a:noAutofit/>
        </a:bodyPr>
        <a:lstStyle/>
        <a:p>
          <a:pPr marL="0" lvl="0" indent="0" algn="l" defTabSz="666750">
            <a:lnSpc>
              <a:spcPct val="90000"/>
            </a:lnSpc>
            <a:spcBef>
              <a:spcPct val="0"/>
            </a:spcBef>
            <a:spcAft>
              <a:spcPct val="35000"/>
            </a:spcAft>
            <a:buNone/>
          </a:pPr>
          <a:r>
            <a:rPr lang="en-US" sz="1500" b="1" i="0" kern="1200" baseline="0" dirty="0">
              <a:latin typeface="Times New Roman" panose="02020603050405020304" pitchFamily="18" charset="0"/>
              <a:cs typeface="Times New Roman" panose="02020603050405020304" pitchFamily="18" charset="0"/>
            </a:rPr>
            <a:t>Commercial Banks</a:t>
          </a:r>
          <a:br>
            <a:rPr lang="en-US" sz="1500" b="0" i="0" kern="1200" baseline="0" dirty="0">
              <a:latin typeface="Times New Roman" panose="02020603050405020304" pitchFamily="18" charset="0"/>
              <a:cs typeface="Times New Roman" panose="02020603050405020304" pitchFamily="18" charset="0"/>
            </a:rPr>
          </a:br>
          <a:r>
            <a:rPr lang="en-US" sz="1500" b="0" i="0" kern="1200" baseline="0" dirty="0">
              <a:latin typeface="Times New Roman" panose="02020603050405020304" pitchFamily="18" charset="0"/>
              <a:cs typeface="Times New Roman" panose="02020603050405020304" pitchFamily="18" charset="0"/>
            </a:rPr>
            <a:t>Commercial banks are the most active participants in the foreign exchange market. They buy and sell foreign currencies on behalf of their customers and also trade currencies for their own profit.</a:t>
          </a:r>
          <a:br>
            <a:rPr lang="en-US" sz="1500" b="0" i="0" kern="1200" baseline="0" dirty="0">
              <a:latin typeface="Times New Roman" panose="02020603050405020304" pitchFamily="18" charset="0"/>
              <a:cs typeface="Times New Roman" panose="02020603050405020304" pitchFamily="18" charset="0"/>
            </a:rPr>
          </a:br>
          <a:r>
            <a:rPr lang="en-US" sz="1500" b="1" i="0" kern="1200" baseline="0" dirty="0">
              <a:latin typeface="Times New Roman" panose="02020603050405020304" pitchFamily="18" charset="0"/>
              <a:cs typeface="Times New Roman" panose="02020603050405020304" pitchFamily="18" charset="0"/>
            </a:rPr>
            <a:t>Example:</a:t>
          </a:r>
          <a:r>
            <a:rPr lang="en-US" sz="1500" b="0" i="0" kern="1200" baseline="0" dirty="0">
              <a:latin typeface="Times New Roman" panose="02020603050405020304" pitchFamily="18" charset="0"/>
              <a:cs typeface="Times New Roman" panose="02020603050405020304" pitchFamily="18" charset="0"/>
            </a:rPr>
            <a:t> A bank helps a company convert Indian rupees into US dollars to pay for imported goods.</a:t>
          </a:r>
          <a:endParaRPr lang="en-US" sz="1500" kern="1200" dirty="0">
            <a:latin typeface="Times New Roman" panose="02020603050405020304" pitchFamily="18" charset="0"/>
            <a:cs typeface="Times New Roman" panose="02020603050405020304" pitchFamily="18" charset="0"/>
          </a:endParaRPr>
        </a:p>
      </dsp:txBody>
      <dsp:txXfrm>
        <a:off x="1784489" y="660"/>
        <a:ext cx="8595128" cy="1545012"/>
      </dsp:txXfrm>
    </dsp:sp>
    <dsp:sp modelId="{E5233778-221A-43DF-AB81-BA7C52822348}">
      <dsp:nvSpPr>
        <dsp:cNvPr id="0" name=""/>
        <dsp:cNvSpPr/>
      </dsp:nvSpPr>
      <dsp:spPr>
        <a:xfrm>
          <a:off x="0" y="1931926"/>
          <a:ext cx="10379618" cy="15450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646F6A-16B5-445A-809E-9502C4BB5B07}">
      <dsp:nvSpPr>
        <dsp:cNvPr id="0" name=""/>
        <dsp:cNvSpPr/>
      </dsp:nvSpPr>
      <dsp:spPr>
        <a:xfrm>
          <a:off x="467366" y="2279554"/>
          <a:ext cx="849756" cy="8497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438FCD7-119E-492E-B7EA-EA618B997144}">
      <dsp:nvSpPr>
        <dsp:cNvPr id="0" name=""/>
        <dsp:cNvSpPr/>
      </dsp:nvSpPr>
      <dsp:spPr>
        <a:xfrm>
          <a:off x="1784489" y="1931926"/>
          <a:ext cx="8595128" cy="1545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14" tIns="163514" rIns="163514" bIns="163514" numCol="1" spcCol="1270" anchor="ctr" anchorCtr="0">
          <a:noAutofit/>
        </a:bodyPr>
        <a:lstStyle/>
        <a:p>
          <a:pPr marL="0" lvl="0" indent="0" algn="l" defTabSz="666750">
            <a:lnSpc>
              <a:spcPct val="90000"/>
            </a:lnSpc>
            <a:spcBef>
              <a:spcPct val="0"/>
            </a:spcBef>
            <a:spcAft>
              <a:spcPct val="35000"/>
            </a:spcAft>
            <a:buNone/>
          </a:pPr>
          <a:r>
            <a:rPr lang="en-US" sz="1500" b="1" i="0" kern="1200" baseline="0">
              <a:latin typeface="Times New Roman" panose="02020603050405020304" pitchFamily="18" charset="0"/>
              <a:cs typeface="Times New Roman" panose="02020603050405020304" pitchFamily="18" charset="0"/>
            </a:rPr>
            <a:t>Central Banks</a:t>
          </a:r>
          <a:br>
            <a:rPr lang="en-US" sz="1500" b="0" i="0" kern="1200" baseline="0">
              <a:latin typeface="Times New Roman" panose="02020603050405020304" pitchFamily="18" charset="0"/>
              <a:cs typeface="Times New Roman" panose="02020603050405020304" pitchFamily="18" charset="0"/>
            </a:rPr>
          </a:br>
          <a:r>
            <a:rPr lang="en-US" sz="1500" b="0" i="0" kern="1200" baseline="0">
              <a:latin typeface="Times New Roman" panose="02020603050405020304" pitchFamily="18" charset="0"/>
              <a:cs typeface="Times New Roman" panose="02020603050405020304" pitchFamily="18" charset="0"/>
            </a:rPr>
            <a:t>Central banks participate in the foreign exchange market to control the supply of money and stabilize the value of their country's currency. They may buy or sell foreign currencies to influence exchange rates.</a:t>
          </a:r>
          <a:br>
            <a:rPr lang="en-US" sz="1500" b="0" i="0" kern="1200" baseline="0">
              <a:latin typeface="Times New Roman" panose="02020603050405020304" pitchFamily="18" charset="0"/>
              <a:cs typeface="Times New Roman" panose="02020603050405020304" pitchFamily="18" charset="0"/>
            </a:rPr>
          </a:br>
          <a:r>
            <a:rPr lang="en-US" sz="1500" b="1" i="0" kern="1200" baseline="0">
              <a:latin typeface="Times New Roman" panose="02020603050405020304" pitchFamily="18" charset="0"/>
              <a:cs typeface="Times New Roman" panose="02020603050405020304" pitchFamily="18" charset="0"/>
            </a:rPr>
            <a:t>Example:</a:t>
          </a:r>
          <a:r>
            <a:rPr lang="en-US" sz="1500" b="0" i="0" kern="1200" baseline="0">
              <a:latin typeface="Times New Roman" panose="02020603050405020304" pitchFamily="18" charset="0"/>
              <a:cs typeface="Times New Roman" panose="02020603050405020304" pitchFamily="18" charset="0"/>
            </a:rPr>
            <a:t> The </a:t>
          </a:r>
          <a:r>
            <a:rPr lang="en-US" sz="1500" b="1" i="0" kern="1200" baseline="0">
              <a:latin typeface="Times New Roman" panose="02020603050405020304" pitchFamily="18" charset="0"/>
              <a:cs typeface="Times New Roman" panose="02020603050405020304" pitchFamily="18" charset="0"/>
            </a:rPr>
            <a:t>Reserve Bank of India (RBI)</a:t>
          </a:r>
          <a:r>
            <a:rPr lang="en-US" sz="1500" b="0" i="0" kern="1200" baseline="0">
              <a:latin typeface="Times New Roman" panose="02020603050405020304" pitchFamily="18" charset="0"/>
              <a:cs typeface="Times New Roman" panose="02020603050405020304" pitchFamily="18" charset="0"/>
            </a:rPr>
            <a:t> may intervene in the foreign exchange market to stabilize the Indian rupee.</a:t>
          </a:r>
          <a:endParaRPr lang="en-US" sz="1500" kern="1200">
            <a:latin typeface="Times New Roman" panose="02020603050405020304" pitchFamily="18" charset="0"/>
            <a:cs typeface="Times New Roman" panose="02020603050405020304" pitchFamily="18" charset="0"/>
          </a:endParaRPr>
        </a:p>
      </dsp:txBody>
      <dsp:txXfrm>
        <a:off x="1784489" y="1931926"/>
        <a:ext cx="8595128" cy="1545012"/>
      </dsp:txXfrm>
    </dsp:sp>
    <dsp:sp modelId="{836FD5A1-293F-416F-A9DC-3DE4FED0612A}">
      <dsp:nvSpPr>
        <dsp:cNvPr id="0" name=""/>
        <dsp:cNvSpPr/>
      </dsp:nvSpPr>
      <dsp:spPr>
        <a:xfrm>
          <a:off x="0" y="3863192"/>
          <a:ext cx="10379618" cy="15450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802B60-6421-41EC-8020-60F3118297E0}">
      <dsp:nvSpPr>
        <dsp:cNvPr id="0" name=""/>
        <dsp:cNvSpPr/>
      </dsp:nvSpPr>
      <dsp:spPr>
        <a:xfrm>
          <a:off x="467366" y="4210819"/>
          <a:ext cx="849756" cy="8497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D07A5D2-D49A-4D61-8ED2-24DEAC6D54F4}">
      <dsp:nvSpPr>
        <dsp:cNvPr id="0" name=""/>
        <dsp:cNvSpPr/>
      </dsp:nvSpPr>
      <dsp:spPr>
        <a:xfrm>
          <a:off x="1784489" y="3863192"/>
          <a:ext cx="8595128" cy="1545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14" tIns="163514" rIns="163514" bIns="163514" numCol="1" spcCol="1270" anchor="ctr" anchorCtr="0">
          <a:noAutofit/>
        </a:bodyPr>
        <a:lstStyle/>
        <a:p>
          <a:pPr marL="0" lvl="0" indent="0" algn="l" defTabSz="666750">
            <a:lnSpc>
              <a:spcPct val="90000"/>
            </a:lnSpc>
            <a:spcBef>
              <a:spcPct val="0"/>
            </a:spcBef>
            <a:spcAft>
              <a:spcPct val="35000"/>
            </a:spcAft>
            <a:buNone/>
          </a:pPr>
          <a:r>
            <a:rPr lang="en-US" sz="1500" b="1" i="0" kern="1200" baseline="0">
              <a:latin typeface="Times New Roman" panose="02020603050405020304" pitchFamily="18" charset="0"/>
              <a:cs typeface="Times New Roman" panose="02020603050405020304" pitchFamily="18" charset="0"/>
            </a:rPr>
            <a:t>Multinational Corporations (MNCs)</a:t>
          </a:r>
          <a:br>
            <a:rPr lang="en-US" sz="1500" b="0" i="0" kern="1200" baseline="0">
              <a:latin typeface="Times New Roman" panose="02020603050405020304" pitchFamily="18" charset="0"/>
              <a:cs typeface="Times New Roman" panose="02020603050405020304" pitchFamily="18" charset="0"/>
            </a:rPr>
          </a:br>
          <a:r>
            <a:rPr lang="en-US" sz="1500" b="0" i="0" kern="1200" baseline="0">
              <a:latin typeface="Times New Roman" panose="02020603050405020304" pitchFamily="18" charset="0"/>
              <a:cs typeface="Times New Roman" panose="02020603050405020304" pitchFamily="18" charset="0"/>
            </a:rPr>
            <a:t>Large international companies participate in the foreign exchange market to conduct business transactions in different countries. They exchange currencies when importing raw materials or exporting products.</a:t>
          </a:r>
          <a:br>
            <a:rPr lang="en-US" sz="1500" b="0" i="0" kern="1200" baseline="0">
              <a:latin typeface="Times New Roman" panose="02020603050405020304" pitchFamily="18" charset="0"/>
              <a:cs typeface="Times New Roman" panose="02020603050405020304" pitchFamily="18" charset="0"/>
            </a:rPr>
          </a:br>
          <a:r>
            <a:rPr lang="en-US" sz="1500" b="1" i="0" kern="1200" baseline="0">
              <a:latin typeface="Times New Roman" panose="02020603050405020304" pitchFamily="18" charset="0"/>
              <a:cs typeface="Times New Roman" panose="02020603050405020304" pitchFamily="18" charset="0"/>
            </a:rPr>
            <a:t>Example:</a:t>
          </a:r>
          <a:r>
            <a:rPr lang="en-US" sz="1500" b="0" i="0" kern="1200" baseline="0">
              <a:latin typeface="Times New Roman" panose="02020603050405020304" pitchFamily="18" charset="0"/>
              <a:cs typeface="Times New Roman" panose="02020603050405020304" pitchFamily="18" charset="0"/>
            </a:rPr>
            <a:t> A company like </a:t>
          </a:r>
          <a:r>
            <a:rPr lang="en-US" sz="1500" b="1" i="0" kern="1200" baseline="0">
              <a:latin typeface="Times New Roman" panose="02020603050405020304" pitchFamily="18" charset="0"/>
              <a:cs typeface="Times New Roman" panose="02020603050405020304" pitchFamily="18" charset="0"/>
            </a:rPr>
            <a:t>Toyota</a:t>
          </a:r>
          <a:r>
            <a:rPr lang="en-US" sz="1500" b="0" i="0" kern="1200" baseline="0">
              <a:latin typeface="Times New Roman" panose="02020603050405020304" pitchFamily="18" charset="0"/>
              <a:cs typeface="Times New Roman" panose="02020603050405020304" pitchFamily="18" charset="0"/>
            </a:rPr>
            <a:t> converts earnings from different countries into its home currency.</a:t>
          </a:r>
          <a:endParaRPr lang="en-US" sz="1500" kern="1200">
            <a:latin typeface="Times New Roman" panose="02020603050405020304" pitchFamily="18" charset="0"/>
            <a:cs typeface="Times New Roman" panose="02020603050405020304" pitchFamily="18" charset="0"/>
          </a:endParaRPr>
        </a:p>
      </dsp:txBody>
      <dsp:txXfrm>
        <a:off x="1784489" y="3863192"/>
        <a:ext cx="8595128" cy="15450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2D1D40-D1A2-43D8-A48F-08F16C4C39F1}">
      <dsp:nvSpPr>
        <dsp:cNvPr id="0" name=""/>
        <dsp:cNvSpPr/>
      </dsp:nvSpPr>
      <dsp:spPr>
        <a:xfrm>
          <a:off x="0" y="649"/>
          <a:ext cx="10145486" cy="15207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87669C-35CF-441A-B901-E4AEE9C194A2}">
      <dsp:nvSpPr>
        <dsp:cNvPr id="0" name=""/>
        <dsp:cNvSpPr/>
      </dsp:nvSpPr>
      <dsp:spPr>
        <a:xfrm>
          <a:off x="460037" y="342826"/>
          <a:ext cx="836431" cy="8364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8C82DC27-F791-4A8B-AEE0-5CD7963C7A13}">
      <dsp:nvSpPr>
        <dsp:cNvPr id="0" name=""/>
        <dsp:cNvSpPr/>
      </dsp:nvSpPr>
      <dsp:spPr>
        <a:xfrm>
          <a:off x="1756506" y="649"/>
          <a:ext cx="8388979" cy="1520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950" tIns="160950" rIns="160950" bIns="16095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Governments</a:t>
          </a:r>
          <a:br>
            <a:rPr lang="en-US" sz="1800" kern="1200" dirty="0">
              <a:latin typeface="Times New Roman" panose="02020603050405020304" pitchFamily="18" charset="0"/>
              <a:cs typeface="Times New Roman" panose="02020603050405020304" pitchFamily="18" charset="0"/>
            </a:rPr>
          </a:br>
          <a:r>
            <a:rPr lang="en-US" sz="1800" kern="1200" dirty="0">
              <a:latin typeface="Times New Roman" panose="02020603050405020304" pitchFamily="18" charset="0"/>
              <a:cs typeface="Times New Roman" panose="02020603050405020304" pitchFamily="18" charset="0"/>
            </a:rPr>
            <a:t>Governments participate in the foreign exchange market to manage national economic policies and international trade transactions.</a:t>
          </a:r>
          <a:br>
            <a:rPr lang="en-US" sz="1800" kern="1200" dirty="0">
              <a:latin typeface="Times New Roman" panose="02020603050405020304" pitchFamily="18" charset="0"/>
              <a:cs typeface="Times New Roman" panose="02020603050405020304" pitchFamily="18" charset="0"/>
            </a:rPr>
          </a:br>
          <a:r>
            <a:rPr lang="en-US" sz="1800" b="1" kern="1200" dirty="0">
              <a:latin typeface="Times New Roman" panose="02020603050405020304" pitchFamily="18" charset="0"/>
              <a:cs typeface="Times New Roman" panose="02020603050405020304" pitchFamily="18" charset="0"/>
            </a:rPr>
            <a:t>Example:</a:t>
          </a:r>
          <a:r>
            <a:rPr lang="en-US" sz="1800" kern="1200" dirty="0">
              <a:latin typeface="Times New Roman" panose="02020603050405020304" pitchFamily="18" charset="0"/>
              <a:cs typeface="Times New Roman" panose="02020603050405020304" pitchFamily="18" charset="0"/>
            </a:rPr>
            <a:t> Governments may exchange currencies when making international payments or receiving foreign aid.</a:t>
          </a:r>
        </a:p>
      </dsp:txBody>
      <dsp:txXfrm>
        <a:off x="1756506" y="649"/>
        <a:ext cx="8388979" cy="1520784"/>
      </dsp:txXfrm>
    </dsp:sp>
    <dsp:sp modelId="{933990A3-B002-4DD8-AA44-E8E78EC07651}">
      <dsp:nvSpPr>
        <dsp:cNvPr id="0" name=""/>
        <dsp:cNvSpPr/>
      </dsp:nvSpPr>
      <dsp:spPr>
        <a:xfrm>
          <a:off x="0" y="1901631"/>
          <a:ext cx="10145486" cy="15207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3E973D-2D85-4D5D-BFE3-C579A136956A}">
      <dsp:nvSpPr>
        <dsp:cNvPr id="0" name=""/>
        <dsp:cNvSpPr/>
      </dsp:nvSpPr>
      <dsp:spPr>
        <a:xfrm>
          <a:off x="460037" y="2243807"/>
          <a:ext cx="836431" cy="8364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74E225A-FDAE-4B19-9EF1-DE96EE103630}">
      <dsp:nvSpPr>
        <dsp:cNvPr id="0" name=""/>
        <dsp:cNvSpPr/>
      </dsp:nvSpPr>
      <dsp:spPr>
        <a:xfrm>
          <a:off x="1756506" y="1901631"/>
          <a:ext cx="8388979" cy="1520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950" tIns="160950" rIns="160950" bIns="16095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Financial Institutions and Investment Firms</a:t>
          </a:r>
          <a:br>
            <a:rPr lang="en-US" sz="1800" kern="1200" dirty="0">
              <a:latin typeface="Times New Roman" panose="02020603050405020304" pitchFamily="18" charset="0"/>
              <a:cs typeface="Times New Roman" panose="02020603050405020304" pitchFamily="18" charset="0"/>
            </a:rPr>
          </a:br>
          <a:r>
            <a:rPr lang="en-US" sz="1800" kern="1200" dirty="0">
              <a:latin typeface="Times New Roman" panose="02020603050405020304" pitchFamily="18" charset="0"/>
              <a:cs typeface="Times New Roman" panose="02020603050405020304" pitchFamily="18" charset="0"/>
            </a:rPr>
            <a:t>Investment banks, hedge funds, and financial institutions trade currencies for investment purposes and profit.</a:t>
          </a:r>
          <a:br>
            <a:rPr lang="en-US" sz="1800" kern="1200" dirty="0">
              <a:latin typeface="Times New Roman" panose="02020603050405020304" pitchFamily="18" charset="0"/>
              <a:cs typeface="Times New Roman" panose="02020603050405020304" pitchFamily="18" charset="0"/>
            </a:rPr>
          </a:br>
          <a:r>
            <a:rPr lang="en-US" sz="1800" b="1" kern="1200" dirty="0">
              <a:latin typeface="Times New Roman" panose="02020603050405020304" pitchFamily="18" charset="0"/>
              <a:cs typeface="Times New Roman" panose="02020603050405020304" pitchFamily="18" charset="0"/>
            </a:rPr>
            <a:t>Example:</a:t>
          </a:r>
          <a:r>
            <a:rPr lang="en-US" sz="1800" kern="1200" dirty="0">
              <a:latin typeface="Times New Roman" panose="02020603050405020304" pitchFamily="18" charset="0"/>
              <a:cs typeface="Times New Roman" panose="02020603050405020304" pitchFamily="18" charset="0"/>
            </a:rPr>
            <a:t> Investment firms trade currencies to benefit from changes in exchange rates.</a:t>
          </a:r>
        </a:p>
      </dsp:txBody>
      <dsp:txXfrm>
        <a:off x="1756506" y="1901631"/>
        <a:ext cx="8388979" cy="1520784"/>
      </dsp:txXfrm>
    </dsp:sp>
    <dsp:sp modelId="{6F46BF5F-2F95-46B8-B07F-5876B799AB92}">
      <dsp:nvSpPr>
        <dsp:cNvPr id="0" name=""/>
        <dsp:cNvSpPr/>
      </dsp:nvSpPr>
      <dsp:spPr>
        <a:xfrm>
          <a:off x="0" y="3802612"/>
          <a:ext cx="10145486" cy="15207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B4E12D-6457-4098-A9ED-348DC9B236BB}">
      <dsp:nvSpPr>
        <dsp:cNvPr id="0" name=""/>
        <dsp:cNvSpPr/>
      </dsp:nvSpPr>
      <dsp:spPr>
        <a:xfrm>
          <a:off x="460037" y="4144788"/>
          <a:ext cx="836431" cy="8364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A935FAA-EE87-4C28-91F0-8133CBD3A3FA}">
      <dsp:nvSpPr>
        <dsp:cNvPr id="0" name=""/>
        <dsp:cNvSpPr/>
      </dsp:nvSpPr>
      <dsp:spPr>
        <a:xfrm>
          <a:off x="1756506" y="3802612"/>
          <a:ext cx="8388979" cy="1520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950" tIns="160950" rIns="160950" bIns="160950" numCol="1" spcCol="1270" anchor="ctr" anchorCtr="0">
          <a:noAutofit/>
        </a:bodyPr>
        <a:lstStyle/>
        <a:p>
          <a:pPr marL="0" lvl="0" indent="0" algn="l" defTabSz="800100">
            <a:lnSpc>
              <a:spcPct val="9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Individual Traders</a:t>
          </a:r>
          <a:br>
            <a:rPr lang="en-US" sz="1800" kern="1200">
              <a:latin typeface="Times New Roman" panose="02020603050405020304" pitchFamily="18" charset="0"/>
              <a:cs typeface="Times New Roman" panose="02020603050405020304" pitchFamily="18" charset="0"/>
            </a:rPr>
          </a:br>
          <a:r>
            <a:rPr lang="en-US" sz="1800" kern="1200">
              <a:latin typeface="Times New Roman" panose="02020603050405020304" pitchFamily="18" charset="0"/>
              <a:cs typeface="Times New Roman" panose="02020603050405020304" pitchFamily="18" charset="0"/>
            </a:rPr>
            <a:t>Individual investors also participate in the foreign exchange market through online trading platforms to earn profits from currency fluctuations.</a:t>
          </a:r>
          <a:br>
            <a:rPr lang="en-US" sz="1800" kern="1200">
              <a:latin typeface="Times New Roman" panose="02020603050405020304" pitchFamily="18" charset="0"/>
              <a:cs typeface="Times New Roman" panose="02020603050405020304" pitchFamily="18" charset="0"/>
            </a:rPr>
          </a:br>
          <a:r>
            <a:rPr lang="en-US" sz="1800" b="1" kern="1200">
              <a:latin typeface="Times New Roman" panose="02020603050405020304" pitchFamily="18" charset="0"/>
              <a:cs typeface="Times New Roman" panose="02020603050405020304" pitchFamily="18" charset="0"/>
            </a:rPr>
            <a:t>Example:</a:t>
          </a:r>
          <a:r>
            <a:rPr lang="en-US" sz="1800" kern="1200">
              <a:latin typeface="Times New Roman" panose="02020603050405020304" pitchFamily="18" charset="0"/>
              <a:cs typeface="Times New Roman" panose="02020603050405020304" pitchFamily="18" charset="0"/>
            </a:rPr>
            <a:t> A trader buying euros and selling them later when the value increases.</a:t>
          </a:r>
        </a:p>
      </dsp:txBody>
      <dsp:txXfrm>
        <a:off x="1756506" y="3802612"/>
        <a:ext cx="8388979" cy="15207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11C54-8D56-4A86-9C69-25DA138EF62A}">
      <dsp:nvSpPr>
        <dsp:cNvPr id="0" name=""/>
        <dsp:cNvSpPr/>
      </dsp:nvSpPr>
      <dsp:spPr>
        <a:xfrm>
          <a:off x="0" y="73282"/>
          <a:ext cx="10167435" cy="1017900"/>
        </a:xfrm>
        <a:prstGeom prst="roundRect">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Promote International Monetary Cooperation</a:t>
          </a:r>
          <a:br>
            <a:rPr lang="en-US" sz="1500" kern="1200"/>
          </a:br>
          <a:r>
            <a:rPr lang="en-US" sz="1500" kern="1200"/>
            <a:t>One of the main objectives of the IMF is to encourage cooperation among countries in international financial matters. It helps countries work together to maintain stability in the global financial system.</a:t>
          </a:r>
          <a:br>
            <a:rPr lang="en-US" sz="1500" kern="1200"/>
          </a:br>
          <a:r>
            <a:rPr lang="en-US" sz="1500" b="1" kern="1200"/>
            <a:t>Example:</a:t>
          </a:r>
          <a:r>
            <a:rPr lang="en-US" sz="1500" kern="1200"/>
            <a:t> Countries consult the IMF when developing economic policies that affect global financial stability.</a:t>
          </a:r>
        </a:p>
      </dsp:txBody>
      <dsp:txXfrm>
        <a:off x="49690" y="122972"/>
        <a:ext cx="10068055" cy="918520"/>
      </dsp:txXfrm>
    </dsp:sp>
    <dsp:sp modelId="{84E27D29-A778-4EF4-BA91-B1332B05FE8C}">
      <dsp:nvSpPr>
        <dsp:cNvPr id="0" name=""/>
        <dsp:cNvSpPr/>
      </dsp:nvSpPr>
      <dsp:spPr>
        <a:xfrm>
          <a:off x="0" y="1134382"/>
          <a:ext cx="10167435" cy="1017900"/>
        </a:xfrm>
        <a:prstGeom prst="roundRect">
          <a:avLst/>
        </a:prstGeom>
        <a:solidFill>
          <a:schemeClr val="accent2">
            <a:hueOff val="1559665"/>
            <a:satOff val="8876"/>
            <a:lumOff val="2745"/>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Maintain Exchange Rate Stability</a:t>
          </a:r>
          <a:br>
            <a:rPr lang="en-US" sz="1500" kern="1200"/>
          </a:br>
          <a:r>
            <a:rPr lang="en-US" sz="1500" kern="1200"/>
            <a:t>The IMF aims to maintain stable exchange rates between currencies to prevent sudden fluctuations that could disrupt international trade.</a:t>
          </a:r>
          <a:br>
            <a:rPr lang="en-US" sz="1500" kern="1200"/>
          </a:br>
          <a:r>
            <a:rPr lang="en-US" sz="1500" b="1" kern="1200"/>
            <a:t>Example:</a:t>
          </a:r>
          <a:r>
            <a:rPr lang="en-US" sz="1500" kern="1200"/>
            <a:t> The IMF may advise countries on policies to stabilize their currency during financial instability.</a:t>
          </a:r>
        </a:p>
      </dsp:txBody>
      <dsp:txXfrm>
        <a:off x="49690" y="1184072"/>
        <a:ext cx="10068055" cy="918520"/>
      </dsp:txXfrm>
    </dsp:sp>
    <dsp:sp modelId="{02038E42-D484-4F02-8EDA-ACF5D5345016}">
      <dsp:nvSpPr>
        <dsp:cNvPr id="0" name=""/>
        <dsp:cNvSpPr/>
      </dsp:nvSpPr>
      <dsp:spPr>
        <a:xfrm>
          <a:off x="0" y="2195482"/>
          <a:ext cx="10167435" cy="1017900"/>
        </a:xfrm>
        <a:prstGeom prst="roundRect">
          <a:avLst/>
        </a:prstGeom>
        <a:solidFill>
          <a:schemeClr val="accent2">
            <a:hueOff val="3119331"/>
            <a:satOff val="17752"/>
            <a:lumOff val="549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Facilitate International Trade</a:t>
          </a:r>
          <a:br>
            <a:rPr lang="en-US" sz="1500" kern="1200"/>
          </a:br>
          <a:r>
            <a:rPr lang="en-US" sz="1500" kern="1200"/>
            <a:t>The IMF supports international trade by helping countries maintain stable financial systems and by reducing barriers related to currency exchange and payments.</a:t>
          </a:r>
          <a:br>
            <a:rPr lang="en-US" sz="1500" kern="1200"/>
          </a:br>
          <a:r>
            <a:rPr lang="en-US" sz="1500" b="1" kern="1200"/>
            <a:t>Example:</a:t>
          </a:r>
          <a:r>
            <a:rPr lang="en-US" sz="1500" kern="1200"/>
            <a:t> Countries facing balance of payment problems receive financial support from the IMF to continue international trade.</a:t>
          </a:r>
        </a:p>
      </dsp:txBody>
      <dsp:txXfrm>
        <a:off x="49690" y="2245172"/>
        <a:ext cx="10068055" cy="918520"/>
      </dsp:txXfrm>
    </dsp:sp>
    <dsp:sp modelId="{AD3668DC-E2B8-4A0A-B056-82B7B633D56F}">
      <dsp:nvSpPr>
        <dsp:cNvPr id="0" name=""/>
        <dsp:cNvSpPr/>
      </dsp:nvSpPr>
      <dsp:spPr>
        <a:xfrm>
          <a:off x="0" y="3256582"/>
          <a:ext cx="10167435" cy="1017900"/>
        </a:xfrm>
        <a:prstGeom prst="roundRect">
          <a:avLst/>
        </a:prstGeom>
        <a:solidFill>
          <a:schemeClr val="accent2">
            <a:hueOff val="4678996"/>
            <a:satOff val="26628"/>
            <a:lumOff val="8235"/>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Provide Financial Assistance to Member Countries</a:t>
          </a:r>
          <a:br>
            <a:rPr lang="en-US" sz="1500" kern="1200"/>
          </a:br>
          <a:r>
            <a:rPr lang="en-US" sz="1500" kern="1200"/>
            <a:t>The IMF provides loans and financial assistance to countries experiencing economic difficulties, especially balance of payment crises.</a:t>
          </a:r>
          <a:br>
            <a:rPr lang="en-US" sz="1500" kern="1200"/>
          </a:br>
          <a:r>
            <a:rPr lang="en-US" sz="1500" b="1" kern="1200"/>
            <a:t>Example:</a:t>
          </a:r>
          <a:r>
            <a:rPr lang="en-US" sz="1500" kern="1200"/>
            <a:t> Countries facing financial crises may borrow funds from the IMF to stabilize their economy.</a:t>
          </a:r>
        </a:p>
      </dsp:txBody>
      <dsp:txXfrm>
        <a:off x="49690" y="3306272"/>
        <a:ext cx="10068055" cy="918520"/>
      </dsp:txXfrm>
    </dsp:sp>
    <dsp:sp modelId="{AA08D2B3-13A6-4961-9F83-053BD2220F79}">
      <dsp:nvSpPr>
        <dsp:cNvPr id="0" name=""/>
        <dsp:cNvSpPr/>
      </dsp:nvSpPr>
      <dsp:spPr>
        <a:xfrm>
          <a:off x="0" y="4317682"/>
          <a:ext cx="10167435" cy="1017900"/>
        </a:xfrm>
        <a:prstGeom prst="roundRect">
          <a:avLst/>
        </a:prstGeom>
        <a:solidFill>
          <a:schemeClr val="accent2">
            <a:hueOff val="6238661"/>
            <a:satOff val="35504"/>
            <a:lumOff val="1098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Promote Economic Growth and Stability</a:t>
          </a:r>
          <a:br>
            <a:rPr lang="en-US" sz="1500" kern="1200"/>
          </a:br>
          <a:r>
            <a:rPr lang="en-US" sz="1500" kern="1200"/>
            <a:t>The IMF works to improve economic stability and sustainable growth in member countries through financial support and economic policy guidance.</a:t>
          </a:r>
          <a:br>
            <a:rPr lang="en-US" sz="1500" kern="1200"/>
          </a:br>
          <a:r>
            <a:rPr lang="en-US" sz="1500" b="1" kern="1200"/>
            <a:t>Example:</a:t>
          </a:r>
          <a:r>
            <a:rPr lang="en-US" sz="1500" kern="1200"/>
            <a:t> The IMF provides economic advice and financial programs to help developing countries strengthen their economies.</a:t>
          </a:r>
        </a:p>
      </dsp:txBody>
      <dsp:txXfrm>
        <a:off x="49690" y="4367372"/>
        <a:ext cx="10068055" cy="9185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BDA38-34AF-4FC0-87A3-10369E8CB66C}"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F8F3E-0F41-40F6-8FAD-32E322C761B5}" type="slidenum">
              <a:rPr lang="en-IN" smtClean="0"/>
              <a:t>‹#›</a:t>
            </a:fld>
            <a:endParaRPr lang="en-IN"/>
          </a:p>
        </p:txBody>
      </p:sp>
    </p:spTree>
    <p:extLst>
      <p:ext uri="{BB962C8B-B14F-4D97-AF65-F5344CB8AC3E}">
        <p14:creationId xmlns:p14="http://schemas.microsoft.com/office/powerpoint/2010/main" val="224640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6DE4FF9A-E454-4385-B4E4-019DE8F729A5}" type="datetimeFigureOut">
              <a:rPr lang="en-IN" smtClean="0"/>
              <a:t>11-03-2026</a:t>
            </a:fld>
            <a:endParaRPr lang="en-IN"/>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IN"/>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5153E1B1-FEAA-4899-B5AA-D79678913DFF}" type="slidenum">
              <a:rPr lang="en-IN" smtClean="0"/>
              <a:t>‹#›</a:t>
            </a:fld>
            <a:endParaRPr lang="en-IN"/>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506779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1722098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DE4FF9A-E454-4385-B4E4-019DE8F729A5}" type="datetimeFigureOut">
              <a:rPr lang="en-IN" smtClean="0"/>
              <a:t>11-03-2026</a:t>
            </a:fld>
            <a:endParaRPr lang="en-IN"/>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5153E1B1-FEAA-4899-B5AA-D79678913DFF}" type="slidenum">
              <a:rPr lang="en-IN" smtClean="0"/>
              <a:t>‹#›</a:t>
            </a:fld>
            <a:endParaRPr lang="en-IN"/>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txBody>
            <a:bodyPr/>
            <a:lstStyle/>
            <a:p>
              <a:endParaRPr lang="en-IN"/>
            </a:p>
          </p:txBody>
        </p:sp>
      </p:grpSp>
    </p:spTree>
    <p:extLst>
      <p:ext uri="{BB962C8B-B14F-4D97-AF65-F5344CB8AC3E}">
        <p14:creationId xmlns:p14="http://schemas.microsoft.com/office/powerpoint/2010/main" val="30681574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E4FF9A-E454-4385-B4E4-019DE8F729A5}"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7376189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E4FF9A-E454-4385-B4E4-019DE8F729A5}" type="datetimeFigureOut">
              <a:rPr lang="en-IN" smtClean="0"/>
              <a:t>11-03-2026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3205223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E4FF9A-E454-4385-B4E4-019DE8F729A5}" type="datetimeFigureOut">
              <a:rPr lang="en-IN" smtClean="0"/>
              <a:t>11-03-2026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2904758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E4FF9A-E454-4385-B4E4-019DE8F729A5}" type="datetimeFigureOut">
              <a:rPr lang="en-IN" smtClean="0"/>
              <a:t>11-03-2026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254462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IN"/>
          </a:p>
        </p:txBody>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6DE4FF9A-E454-4385-B4E4-019DE8F729A5}" type="datetimeFigureOut">
              <a:rPr lang="en-IN" smtClean="0"/>
              <a:t>11-03-2026</a:t>
            </a:fld>
            <a:endParaRPr lang="en-IN"/>
          </a:p>
        </p:txBody>
      </p:sp>
      <p:sp>
        <p:nvSpPr>
          <p:cNvPr id="6" name="Footer Placeholder 5"/>
          <p:cNvSpPr>
            <a:spLocks noGrp="1"/>
          </p:cNvSpPr>
          <p:nvPr>
            <p:ph type="ftr" sz="quarter" idx="11"/>
          </p:nvPr>
        </p:nvSpPr>
        <p:spPr>
          <a:xfrm>
            <a:off x="2103620" y="6375679"/>
            <a:ext cx="3482179" cy="345796"/>
          </a:xfrm>
        </p:spPr>
        <p:txBody>
          <a:bodyPr/>
          <a:lstStyle/>
          <a:p>
            <a:endParaRPr lang="en-IN"/>
          </a:p>
        </p:txBody>
      </p:sp>
      <p:sp>
        <p:nvSpPr>
          <p:cNvPr id="7" name="Slide Number Placeholder 6"/>
          <p:cNvSpPr>
            <a:spLocks noGrp="1"/>
          </p:cNvSpPr>
          <p:nvPr>
            <p:ph type="sldNum" sz="quarter" idx="12"/>
          </p:nvPr>
        </p:nvSpPr>
        <p:spPr>
          <a:xfrm>
            <a:off x="5691014" y="6375679"/>
            <a:ext cx="1232456" cy="345796"/>
          </a:xfrm>
        </p:spPr>
        <p:txBody>
          <a:bodyPr/>
          <a:lstStyle/>
          <a:p>
            <a:fld id="{5153E1B1-FEAA-4899-B5AA-D79678913DFF}" type="slidenum">
              <a:rPr lang="en-IN" smtClean="0"/>
              <a:t>‹#›</a:t>
            </a:fld>
            <a:endParaRPr lang="en-IN"/>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03521219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6DE4FF9A-E454-4385-B4E4-019DE8F729A5}" type="datetimeFigureOut">
              <a:rPr lang="en-IN" smtClean="0"/>
              <a:t>11-03-2026</a:t>
            </a:fld>
            <a:endParaRPr lang="en-IN"/>
          </a:p>
        </p:txBody>
      </p:sp>
      <p:sp>
        <p:nvSpPr>
          <p:cNvPr id="6" name="Footer Placeholder 5"/>
          <p:cNvSpPr>
            <a:spLocks noGrp="1"/>
          </p:cNvSpPr>
          <p:nvPr>
            <p:ph type="ftr" sz="quarter" idx="11"/>
          </p:nvPr>
        </p:nvSpPr>
        <p:spPr>
          <a:xfrm>
            <a:off x="2103621" y="6375679"/>
            <a:ext cx="3482178" cy="345796"/>
          </a:xfrm>
        </p:spPr>
        <p:txBody>
          <a:bodyPr/>
          <a:lstStyle/>
          <a:p>
            <a:endParaRPr lang="en-IN"/>
          </a:p>
        </p:txBody>
      </p:sp>
      <p:sp>
        <p:nvSpPr>
          <p:cNvPr id="7" name="Slide Number Placeholder 6"/>
          <p:cNvSpPr>
            <a:spLocks noGrp="1"/>
          </p:cNvSpPr>
          <p:nvPr>
            <p:ph type="sldNum" sz="quarter" idx="12"/>
          </p:nvPr>
        </p:nvSpPr>
        <p:spPr>
          <a:xfrm>
            <a:off x="5687568" y="6375679"/>
            <a:ext cx="1234440" cy="345796"/>
          </a:xfrm>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3944181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73163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413380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6DE4FF9A-E454-4385-B4E4-019DE8F729A5}" type="datetimeFigureOut">
              <a:rPr lang="en-IN" smtClean="0"/>
              <a:t>11-03-2026</a:t>
            </a:fld>
            <a:endParaRPr lang="en-IN"/>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IN"/>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5153E1B1-FEAA-4899-B5AA-D79678913DFF}" type="slidenum">
              <a:rPr lang="en-IN" smtClean="0"/>
              <a:t>‹#›</a:t>
            </a:fld>
            <a:endParaRPr lang="en-IN"/>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176060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868916-58B2-48F0-B6C8-D995E8977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ney and passport">
            <a:extLst>
              <a:ext uri="{FF2B5EF4-FFF2-40B4-BE49-F238E27FC236}">
                <a16:creationId xmlns:a16="http://schemas.microsoft.com/office/drawing/2014/main" id="{88823FA7-B24F-5881-36D0-FBFA4ADC8A0F}"/>
              </a:ext>
            </a:extLst>
          </p:cNvPr>
          <p:cNvPicPr>
            <a:picLocks noChangeAspect="1"/>
          </p:cNvPicPr>
          <p:nvPr/>
        </p:nvPicPr>
        <p:blipFill>
          <a:blip r:embed="rId2"/>
          <a:srcRect l="46570" r="23698"/>
          <a:stretch>
            <a:fillRect/>
          </a:stretch>
        </p:blipFill>
        <p:spPr>
          <a:xfrm>
            <a:off x="8362943" y="10"/>
            <a:ext cx="3829057" cy="6857990"/>
          </a:xfrm>
          <a:prstGeom prst="rect">
            <a:avLst/>
          </a:prstGeom>
        </p:spPr>
      </p:pic>
      <p:sp>
        <p:nvSpPr>
          <p:cNvPr id="11" name="Freeform 13">
            <a:extLst>
              <a:ext uri="{FF2B5EF4-FFF2-40B4-BE49-F238E27FC236}">
                <a16:creationId xmlns:a16="http://schemas.microsoft.com/office/drawing/2014/main" id="{BB82496C-9AD4-4916-BAB7-FF3CC04B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0" y="0"/>
            <a:ext cx="9807836" cy="6858000"/>
          </a:xfrm>
          <a:custGeom>
            <a:avLst/>
            <a:gdLst>
              <a:gd name="connsiteX0" fmla="*/ 9807836 w 9807836"/>
              <a:gd name="connsiteY0" fmla="*/ 0 h 6858000"/>
              <a:gd name="connsiteX1" fmla="*/ 0 w 9807836"/>
              <a:gd name="connsiteY1" fmla="*/ 0 h 6858000"/>
              <a:gd name="connsiteX2" fmla="*/ 26987 w 9807836"/>
              <a:gd name="connsiteY2" fmla="*/ 87312 h 6858000"/>
              <a:gd name="connsiteX3" fmla="*/ 52387 w 9807836"/>
              <a:gd name="connsiteY3" fmla="*/ 174625 h 6858000"/>
              <a:gd name="connsiteX4" fmla="*/ 77787 w 9807836"/>
              <a:gd name="connsiteY4" fmla="*/ 263525 h 6858000"/>
              <a:gd name="connsiteX5" fmla="*/ 100012 w 9807836"/>
              <a:gd name="connsiteY5" fmla="*/ 354012 h 6858000"/>
              <a:gd name="connsiteX6" fmla="*/ 127000 w 9807836"/>
              <a:gd name="connsiteY6" fmla="*/ 441325 h 6858000"/>
              <a:gd name="connsiteX7" fmla="*/ 155575 w 9807836"/>
              <a:gd name="connsiteY7" fmla="*/ 525462 h 6858000"/>
              <a:gd name="connsiteX8" fmla="*/ 192087 w 9807836"/>
              <a:gd name="connsiteY8" fmla="*/ 604837 h 6858000"/>
              <a:gd name="connsiteX9" fmla="*/ 234950 w 9807836"/>
              <a:gd name="connsiteY9" fmla="*/ 677862 h 6858000"/>
              <a:gd name="connsiteX10" fmla="*/ 282575 w 9807836"/>
              <a:gd name="connsiteY10" fmla="*/ 739775 h 6858000"/>
              <a:gd name="connsiteX11" fmla="*/ 334962 w 9807836"/>
              <a:gd name="connsiteY11" fmla="*/ 798512 h 6858000"/>
              <a:gd name="connsiteX12" fmla="*/ 395287 w 9807836"/>
              <a:gd name="connsiteY12" fmla="*/ 852487 h 6858000"/>
              <a:gd name="connsiteX13" fmla="*/ 458787 w 9807836"/>
              <a:gd name="connsiteY13" fmla="*/ 906462 h 6858000"/>
              <a:gd name="connsiteX14" fmla="*/ 525462 w 9807836"/>
              <a:gd name="connsiteY14" fmla="*/ 957262 h 6858000"/>
              <a:gd name="connsiteX15" fmla="*/ 592137 w 9807836"/>
              <a:gd name="connsiteY15" fmla="*/ 1008062 h 6858000"/>
              <a:gd name="connsiteX16" fmla="*/ 660400 w 9807836"/>
              <a:gd name="connsiteY16" fmla="*/ 1060450 h 6858000"/>
              <a:gd name="connsiteX17" fmla="*/ 725487 w 9807836"/>
              <a:gd name="connsiteY17" fmla="*/ 1111250 h 6858000"/>
              <a:gd name="connsiteX18" fmla="*/ 787400 w 9807836"/>
              <a:gd name="connsiteY18" fmla="*/ 1165225 h 6858000"/>
              <a:gd name="connsiteX19" fmla="*/ 844550 w 9807836"/>
              <a:gd name="connsiteY19" fmla="*/ 1223962 h 6858000"/>
              <a:gd name="connsiteX20" fmla="*/ 896937 w 9807836"/>
              <a:gd name="connsiteY20" fmla="*/ 1282700 h 6858000"/>
              <a:gd name="connsiteX21" fmla="*/ 939800 w 9807836"/>
              <a:gd name="connsiteY21" fmla="*/ 1346200 h 6858000"/>
              <a:gd name="connsiteX22" fmla="*/ 976312 w 9807836"/>
              <a:gd name="connsiteY22" fmla="*/ 1417637 h 6858000"/>
              <a:gd name="connsiteX23" fmla="*/ 998537 w 9807836"/>
              <a:gd name="connsiteY23" fmla="*/ 1487487 h 6858000"/>
              <a:gd name="connsiteX24" fmla="*/ 1012825 w 9807836"/>
              <a:gd name="connsiteY24" fmla="*/ 1565275 h 6858000"/>
              <a:gd name="connsiteX25" fmla="*/ 1019175 w 9807836"/>
              <a:gd name="connsiteY25" fmla="*/ 1641475 h 6858000"/>
              <a:gd name="connsiteX26" fmla="*/ 1017587 w 9807836"/>
              <a:gd name="connsiteY26" fmla="*/ 1722437 h 6858000"/>
              <a:gd name="connsiteX27" fmla="*/ 1011237 w 9807836"/>
              <a:gd name="connsiteY27" fmla="*/ 1803400 h 6858000"/>
              <a:gd name="connsiteX28" fmla="*/ 1003300 w 9807836"/>
              <a:gd name="connsiteY28" fmla="*/ 1887537 h 6858000"/>
              <a:gd name="connsiteX29" fmla="*/ 992187 w 9807836"/>
              <a:gd name="connsiteY29" fmla="*/ 1971675 h 6858000"/>
              <a:gd name="connsiteX30" fmla="*/ 979487 w 9807836"/>
              <a:gd name="connsiteY30" fmla="*/ 2055812 h 6858000"/>
              <a:gd name="connsiteX31" fmla="*/ 969962 w 9807836"/>
              <a:gd name="connsiteY31" fmla="*/ 2139950 h 6858000"/>
              <a:gd name="connsiteX32" fmla="*/ 963612 w 9807836"/>
              <a:gd name="connsiteY32" fmla="*/ 2224087 h 6858000"/>
              <a:gd name="connsiteX33" fmla="*/ 958850 w 9807836"/>
              <a:gd name="connsiteY33" fmla="*/ 2305050 h 6858000"/>
              <a:gd name="connsiteX34" fmla="*/ 963612 w 9807836"/>
              <a:gd name="connsiteY34" fmla="*/ 2384425 h 6858000"/>
              <a:gd name="connsiteX35" fmla="*/ 973137 w 9807836"/>
              <a:gd name="connsiteY35" fmla="*/ 2462212 h 6858000"/>
              <a:gd name="connsiteX36" fmla="*/ 993775 w 9807836"/>
              <a:gd name="connsiteY36" fmla="*/ 2543175 h 6858000"/>
              <a:gd name="connsiteX37" fmla="*/ 1025525 w 9807836"/>
              <a:gd name="connsiteY37" fmla="*/ 2622550 h 6858000"/>
              <a:gd name="connsiteX38" fmla="*/ 1063625 w 9807836"/>
              <a:gd name="connsiteY38" fmla="*/ 2701925 h 6858000"/>
              <a:gd name="connsiteX39" fmla="*/ 1106487 w 9807836"/>
              <a:gd name="connsiteY39" fmla="*/ 2781300 h 6858000"/>
              <a:gd name="connsiteX40" fmla="*/ 1150937 w 9807836"/>
              <a:gd name="connsiteY40" fmla="*/ 2859087 h 6858000"/>
              <a:gd name="connsiteX41" fmla="*/ 1198562 w 9807836"/>
              <a:gd name="connsiteY41" fmla="*/ 2938462 h 6858000"/>
              <a:gd name="connsiteX42" fmla="*/ 1241425 w 9807836"/>
              <a:gd name="connsiteY42" fmla="*/ 3017837 h 6858000"/>
              <a:gd name="connsiteX43" fmla="*/ 1284288 w 9807836"/>
              <a:gd name="connsiteY43" fmla="*/ 3098800 h 6858000"/>
              <a:gd name="connsiteX44" fmla="*/ 1320800 w 9807836"/>
              <a:gd name="connsiteY44" fmla="*/ 3179762 h 6858000"/>
              <a:gd name="connsiteX45" fmla="*/ 1349375 w 9807836"/>
              <a:gd name="connsiteY45" fmla="*/ 3260725 h 6858000"/>
              <a:gd name="connsiteX46" fmla="*/ 1365250 w 9807836"/>
              <a:gd name="connsiteY46" fmla="*/ 3343275 h 6858000"/>
              <a:gd name="connsiteX47" fmla="*/ 1374775 w 9807836"/>
              <a:gd name="connsiteY47" fmla="*/ 3429000 h 6858000"/>
              <a:gd name="connsiteX48" fmla="*/ 1365250 w 9807836"/>
              <a:gd name="connsiteY48" fmla="*/ 3514725 h 6858000"/>
              <a:gd name="connsiteX49" fmla="*/ 1349375 w 9807836"/>
              <a:gd name="connsiteY49" fmla="*/ 3597275 h 6858000"/>
              <a:gd name="connsiteX50" fmla="*/ 1320800 w 9807836"/>
              <a:gd name="connsiteY50" fmla="*/ 3678237 h 6858000"/>
              <a:gd name="connsiteX51" fmla="*/ 1284288 w 9807836"/>
              <a:gd name="connsiteY51" fmla="*/ 3759200 h 6858000"/>
              <a:gd name="connsiteX52" fmla="*/ 1241425 w 9807836"/>
              <a:gd name="connsiteY52" fmla="*/ 3840162 h 6858000"/>
              <a:gd name="connsiteX53" fmla="*/ 1198562 w 9807836"/>
              <a:gd name="connsiteY53" fmla="*/ 3919537 h 6858000"/>
              <a:gd name="connsiteX54" fmla="*/ 1150937 w 9807836"/>
              <a:gd name="connsiteY54" fmla="*/ 3998912 h 6858000"/>
              <a:gd name="connsiteX55" fmla="*/ 1106487 w 9807836"/>
              <a:gd name="connsiteY55" fmla="*/ 4076700 h 6858000"/>
              <a:gd name="connsiteX56" fmla="*/ 1063625 w 9807836"/>
              <a:gd name="connsiteY56" fmla="*/ 4156075 h 6858000"/>
              <a:gd name="connsiteX57" fmla="*/ 1025525 w 9807836"/>
              <a:gd name="connsiteY57" fmla="*/ 4235450 h 6858000"/>
              <a:gd name="connsiteX58" fmla="*/ 993775 w 9807836"/>
              <a:gd name="connsiteY58" fmla="*/ 4314825 h 6858000"/>
              <a:gd name="connsiteX59" fmla="*/ 973137 w 9807836"/>
              <a:gd name="connsiteY59" fmla="*/ 4395787 h 6858000"/>
              <a:gd name="connsiteX60" fmla="*/ 963612 w 9807836"/>
              <a:gd name="connsiteY60" fmla="*/ 4473575 h 6858000"/>
              <a:gd name="connsiteX61" fmla="*/ 958850 w 9807836"/>
              <a:gd name="connsiteY61" fmla="*/ 4552950 h 6858000"/>
              <a:gd name="connsiteX62" fmla="*/ 963612 w 9807836"/>
              <a:gd name="connsiteY62" fmla="*/ 4633912 h 6858000"/>
              <a:gd name="connsiteX63" fmla="*/ 969962 w 9807836"/>
              <a:gd name="connsiteY63" fmla="*/ 4718050 h 6858000"/>
              <a:gd name="connsiteX64" fmla="*/ 979487 w 9807836"/>
              <a:gd name="connsiteY64" fmla="*/ 4802187 h 6858000"/>
              <a:gd name="connsiteX65" fmla="*/ 992187 w 9807836"/>
              <a:gd name="connsiteY65" fmla="*/ 4886325 h 6858000"/>
              <a:gd name="connsiteX66" fmla="*/ 1003300 w 9807836"/>
              <a:gd name="connsiteY66" fmla="*/ 4970462 h 6858000"/>
              <a:gd name="connsiteX67" fmla="*/ 1011237 w 9807836"/>
              <a:gd name="connsiteY67" fmla="*/ 5054600 h 6858000"/>
              <a:gd name="connsiteX68" fmla="*/ 1017587 w 9807836"/>
              <a:gd name="connsiteY68" fmla="*/ 5135562 h 6858000"/>
              <a:gd name="connsiteX69" fmla="*/ 1019175 w 9807836"/>
              <a:gd name="connsiteY69" fmla="*/ 5216525 h 6858000"/>
              <a:gd name="connsiteX70" fmla="*/ 1012825 w 9807836"/>
              <a:gd name="connsiteY70" fmla="*/ 5292725 h 6858000"/>
              <a:gd name="connsiteX71" fmla="*/ 998537 w 9807836"/>
              <a:gd name="connsiteY71" fmla="*/ 5370512 h 6858000"/>
              <a:gd name="connsiteX72" fmla="*/ 976312 w 9807836"/>
              <a:gd name="connsiteY72" fmla="*/ 5440362 h 6858000"/>
              <a:gd name="connsiteX73" fmla="*/ 939800 w 9807836"/>
              <a:gd name="connsiteY73" fmla="*/ 5511800 h 6858000"/>
              <a:gd name="connsiteX74" fmla="*/ 896937 w 9807836"/>
              <a:gd name="connsiteY74" fmla="*/ 5575300 h 6858000"/>
              <a:gd name="connsiteX75" fmla="*/ 844550 w 9807836"/>
              <a:gd name="connsiteY75" fmla="*/ 5634037 h 6858000"/>
              <a:gd name="connsiteX76" fmla="*/ 787400 w 9807836"/>
              <a:gd name="connsiteY76" fmla="*/ 5692775 h 6858000"/>
              <a:gd name="connsiteX77" fmla="*/ 725487 w 9807836"/>
              <a:gd name="connsiteY77" fmla="*/ 5746750 h 6858000"/>
              <a:gd name="connsiteX78" fmla="*/ 660400 w 9807836"/>
              <a:gd name="connsiteY78" fmla="*/ 5797550 h 6858000"/>
              <a:gd name="connsiteX79" fmla="*/ 592137 w 9807836"/>
              <a:gd name="connsiteY79" fmla="*/ 5849937 h 6858000"/>
              <a:gd name="connsiteX80" fmla="*/ 525462 w 9807836"/>
              <a:gd name="connsiteY80" fmla="*/ 5900737 h 6858000"/>
              <a:gd name="connsiteX81" fmla="*/ 458787 w 9807836"/>
              <a:gd name="connsiteY81" fmla="*/ 5951537 h 6858000"/>
              <a:gd name="connsiteX82" fmla="*/ 395287 w 9807836"/>
              <a:gd name="connsiteY82" fmla="*/ 6005512 h 6858000"/>
              <a:gd name="connsiteX83" fmla="*/ 334962 w 9807836"/>
              <a:gd name="connsiteY83" fmla="*/ 6059487 h 6858000"/>
              <a:gd name="connsiteX84" fmla="*/ 282575 w 9807836"/>
              <a:gd name="connsiteY84" fmla="*/ 6118225 h 6858000"/>
              <a:gd name="connsiteX85" fmla="*/ 234950 w 9807836"/>
              <a:gd name="connsiteY85" fmla="*/ 6180137 h 6858000"/>
              <a:gd name="connsiteX86" fmla="*/ 192087 w 9807836"/>
              <a:gd name="connsiteY86" fmla="*/ 6253162 h 6858000"/>
              <a:gd name="connsiteX87" fmla="*/ 155575 w 9807836"/>
              <a:gd name="connsiteY87" fmla="*/ 6332537 h 6858000"/>
              <a:gd name="connsiteX88" fmla="*/ 127000 w 9807836"/>
              <a:gd name="connsiteY88" fmla="*/ 6416675 h 6858000"/>
              <a:gd name="connsiteX89" fmla="*/ 100012 w 9807836"/>
              <a:gd name="connsiteY89" fmla="*/ 6503987 h 6858000"/>
              <a:gd name="connsiteX90" fmla="*/ 77787 w 9807836"/>
              <a:gd name="connsiteY90" fmla="*/ 6594475 h 6858000"/>
              <a:gd name="connsiteX91" fmla="*/ 52387 w 9807836"/>
              <a:gd name="connsiteY91" fmla="*/ 6683375 h 6858000"/>
              <a:gd name="connsiteX92" fmla="*/ 26987 w 9807836"/>
              <a:gd name="connsiteY92" fmla="*/ 6770687 h 6858000"/>
              <a:gd name="connsiteX93" fmla="*/ 0 w 9807836"/>
              <a:gd name="connsiteY93" fmla="*/ 6858000 h 6858000"/>
              <a:gd name="connsiteX94" fmla="*/ 9807836 w 9807836"/>
              <a:gd name="connsiteY94" fmla="*/ 6858000 h 6858000"/>
              <a:gd name="connsiteX95" fmla="*/ 9807836 w 9807836"/>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807836" h="6858000">
                <a:moveTo>
                  <a:pt x="9807836" y="0"/>
                </a:moveTo>
                <a:lnTo>
                  <a:pt x="0" y="0"/>
                </a:lnTo>
                <a:lnTo>
                  <a:pt x="26987" y="87312"/>
                </a:lnTo>
                <a:lnTo>
                  <a:pt x="52387" y="174625"/>
                </a:lnTo>
                <a:lnTo>
                  <a:pt x="77787" y="263525"/>
                </a:lnTo>
                <a:lnTo>
                  <a:pt x="100012" y="354012"/>
                </a:lnTo>
                <a:lnTo>
                  <a:pt x="127000" y="441325"/>
                </a:lnTo>
                <a:lnTo>
                  <a:pt x="155575" y="525462"/>
                </a:lnTo>
                <a:lnTo>
                  <a:pt x="192087" y="604837"/>
                </a:lnTo>
                <a:lnTo>
                  <a:pt x="234950" y="677862"/>
                </a:lnTo>
                <a:lnTo>
                  <a:pt x="282575" y="739775"/>
                </a:lnTo>
                <a:lnTo>
                  <a:pt x="334962" y="798512"/>
                </a:lnTo>
                <a:lnTo>
                  <a:pt x="395287" y="852487"/>
                </a:lnTo>
                <a:lnTo>
                  <a:pt x="458787" y="906462"/>
                </a:lnTo>
                <a:lnTo>
                  <a:pt x="525462" y="957262"/>
                </a:lnTo>
                <a:lnTo>
                  <a:pt x="592137" y="1008062"/>
                </a:lnTo>
                <a:lnTo>
                  <a:pt x="660400" y="1060450"/>
                </a:lnTo>
                <a:lnTo>
                  <a:pt x="725487" y="1111250"/>
                </a:lnTo>
                <a:lnTo>
                  <a:pt x="787400" y="1165225"/>
                </a:lnTo>
                <a:lnTo>
                  <a:pt x="844550" y="1223962"/>
                </a:lnTo>
                <a:lnTo>
                  <a:pt x="896937" y="1282700"/>
                </a:lnTo>
                <a:lnTo>
                  <a:pt x="939800" y="1346200"/>
                </a:lnTo>
                <a:lnTo>
                  <a:pt x="976312" y="1417637"/>
                </a:lnTo>
                <a:lnTo>
                  <a:pt x="998537" y="1487487"/>
                </a:lnTo>
                <a:lnTo>
                  <a:pt x="1012825" y="1565275"/>
                </a:lnTo>
                <a:lnTo>
                  <a:pt x="1019175" y="1641475"/>
                </a:lnTo>
                <a:lnTo>
                  <a:pt x="1017587" y="1722437"/>
                </a:lnTo>
                <a:lnTo>
                  <a:pt x="1011237" y="1803400"/>
                </a:lnTo>
                <a:lnTo>
                  <a:pt x="1003300" y="1887537"/>
                </a:lnTo>
                <a:lnTo>
                  <a:pt x="992187" y="1971675"/>
                </a:lnTo>
                <a:lnTo>
                  <a:pt x="979487" y="2055812"/>
                </a:lnTo>
                <a:lnTo>
                  <a:pt x="969962" y="2139950"/>
                </a:lnTo>
                <a:lnTo>
                  <a:pt x="963612" y="2224087"/>
                </a:lnTo>
                <a:lnTo>
                  <a:pt x="958850" y="2305050"/>
                </a:lnTo>
                <a:lnTo>
                  <a:pt x="963612" y="2384425"/>
                </a:lnTo>
                <a:lnTo>
                  <a:pt x="973137" y="2462212"/>
                </a:lnTo>
                <a:lnTo>
                  <a:pt x="993775" y="2543175"/>
                </a:lnTo>
                <a:lnTo>
                  <a:pt x="1025525" y="2622550"/>
                </a:lnTo>
                <a:lnTo>
                  <a:pt x="1063625" y="2701925"/>
                </a:lnTo>
                <a:lnTo>
                  <a:pt x="1106487" y="2781300"/>
                </a:lnTo>
                <a:lnTo>
                  <a:pt x="1150937" y="2859087"/>
                </a:lnTo>
                <a:lnTo>
                  <a:pt x="1198562" y="2938462"/>
                </a:lnTo>
                <a:lnTo>
                  <a:pt x="1241425" y="3017837"/>
                </a:lnTo>
                <a:lnTo>
                  <a:pt x="1284288" y="3098800"/>
                </a:lnTo>
                <a:lnTo>
                  <a:pt x="1320800" y="3179762"/>
                </a:lnTo>
                <a:lnTo>
                  <a:pt x="1349375" y="3260725"/>
                </a:lnTo>
                <a:lnTo>
                  <a:pt x="1365250" y="3343275"/>
                </a:lnTo>
                <a:lnTo>
                  <a:pt x="1374775" y="3429000"/>
                </a:lnTo>
                <a:lnTo>
                  <a:pt x="1365250" y="3514725"/>
                </a:lnTo>
                <a:lnTo>
                  <a:pt x="1349375" y="3597275"/>
                </a:lnTo>
                <a:lnTo>
                  <a:pt x="1320800" y="3678237"/>
                </a:lnTo>
                <a:lnTo>
                  <a:pt x="1284288" y="3759200"/>
                </a:lnTo>
                <a:lnTo>
                  <a:pt x="1241425" y="3840162"/>
                </a:lnTo>
                <a:lnTo>
                  <a:pt x="1198562" y="3919537"/>
                </a:lnTo>
                <a:lnTo>
                  <a:pt x="1150937" y="3998912"/>
                </a:lnTo>
                <a:lnTo>
                  <a:pt x="1106487" y="4076700"/>
                </a:lnTo>
                <a:lnTo>
                  <a:pt x="1063625" y="4156075"/>
                </a:lnTo>
                <a:lnTo>
                  <a:pt x="1025525" y="4235450"/>
                </a:lnTo>
                <a:lnTo>
                  <a:pt x="993775" y="4314825"/>
                </a:lnTo>
                <a:lnTo>
                  <a:pt x="973137" y="4395787"/>
                </a:lnTo>
                <a:lnTo>
                  <a:pt x="963612" y="4473575"/>
                </a:lnTo>
                <a:lnTo>
                  <a:pt x="958850" y="4552950"/>
                </a:lnTo>
                <a:lnTo>
                  <a:pt x="963612" y="4633912"/>
                </a:lnTo>
                <a:lnTo>
                  <a:pt x="969962" y="4718050"/>
                </a:lnTo>
                <a:lnTo>
                  <a:pt x="979487" y="4802187"/>
                </a:lnTo>
                <a:lnTo>
                  <a:pt x="992187" y="4886325"/>
                </a:lnTo>
                <a:lnTo>
                  <a:pt x="1003300" y="4970462"/>
                </a:lnTo>
                <a:lnTo>
                  <a:pt x="1011237" y="5054600"/>
                </a:lnTo>
                <a:lnTo>
                  <a:pt x="1017587" y="5135562"/>
                </a:lnTo>
                <a:lnTo>
                  <a:pt x="1019175" y="5216525"/>
                </a:lnTo>
                <a:lnTo>
                  <a:pt x="1012825" y="5292725"/>
                </a:lnTo>
                <a:lnTo>
                  <a:pt x="998537" y="5370512"/>
                </a:lnTo>
                <a:lnTo>
                  <a:pt x="976312" y="5440362"/>
                </a:lnTo>
                <a:lnTo>
                  <a:pt x="939800" y="5511800"/>
                </a:lnTo>
                <a:lnTo>
                  <a:pt x="896937" y="5575300"/>
                </a:lnTo>
                <a:lnTo>
                  <a:pt x="844550" y="5634037"/>
                </a:lnTo>
                <a:lnTo>
                  <a:pt x="787400" y="5692775"/>
                </a:lnTo>
                <a:lnTo>
                  <a:pt x="725487" y="5746750"/>
                </a:lnTo>
                <a:lnTo>
                  <a:pt x="660400" y="5797550"/>
                </a:lnTo>
                <a:lnTo>
                  <a:pt x="592137" y="5849937"/>
                </a:lnTo>
                <a:lnTo>
                  <a:pt x="525462" y="5900737"/>
                </a:lnTo>
                <a:lnTo>
                  <a:pt x="458787" y="5951537"/>
                </a:lnTo>
                <a:lnTo>
                  <a:pt x="395287" y="6005512"/>
                </a:lnTo>
                <a:lnTo>
                  <a:pt x="334962" y="6059487"/>
                </a:lnTo>
                <a:lnTo>
                  <a:pt x="282575" y="6118225"/>
                </a:lnTo>
                <a:lnTo>
                  <a:pt x="234950" y="6180137"/>
                </a:lnTo>
                <a:lnTo>
                  <a:pt x="192087" y="6253162"/>
                </a:lnTo>
                <a:lnTo>
                  <a:pt x="155575" y="6332537"/>
                </a:lnTo>
                <a:lnTo>
                  <a:pt x="127000" y="6416675"/>
                </a:lnTo>
                <a:lnTo>
                  <a:pt x="100012" y="6503987"/>
                </a:lnTo>
                <a:lnTo>
                  <a:pt x="77787" y="6594475"/>
                </a:lnTo>
                <a:lnTo>
                  <a:pt x="52387" y="6683375"/>
                </a:lnTo>
                <a:lnTo>
                  <a:pt x="26987" y="6770687"/>
                </a:lnTo>
                <a:lnTo>
                  <a:pt x="0" y="6858000"/>
                </a:lnTo>
                <a:lnTo>
                  <a:pt x="9807836" y="6858000"/>
                </a:lnTo>
                <a:lnTo>
                  <a:pt x="9807836" y="0"/>
                </a:lnTo>
                <a:close/>
              </a:path>
            </a:pathLst>
          </a:custGeom>
          <a:solidFill>
            <a:schemeClr val="accent1"/>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1C66766C-064D-E80D-2F0A-9A1C0E9774B0}"/>
              </a:ext>
            </a:extLst>
          </p:cNvPr>
          <p:cNvSpPr>
            <a:spLocks noGrp="1"/>
          </p:cNvSpPr>
          <p:nvPr>
            <p:ph type="ctrTitle"/>
          </p:nvPr>
        </p:nvSpPr>
        <p:spPr>
          <a:xfrm>
            <a:off x="544403" y="1098388"/>
            <a:ext cx="7818540" cy="4394988"/>
          </a:xfrm>
        </p:spPr>
        <p:txBody>
          <a:bodyPr>
            <a:normAutofit/>
          </a:bodyPr>
          <a:lstStyle/>
          <a:p>
            <a:pPr algn="l"/>
            <a:r>
              <a:rPr lang="en-IN" dirty="0"/>
              <a:t>Global Monetary System</a:t>
            </a:r>
            <a:endParaRPr lang="en-IN"/>
          </a:p>
        </p:txBody>
      </p:sp>
      <p:sp>
        <p:nvSpPr>
          <p:cNvPr id="3" name="Subtitle 2">
            <a:extLst>
              <a:ext uri="{FF2B5EF4-FFF2-40B4-BE49-F238E27FC236}">
                <a16:creationId xmlns:a16="http://schemas.microsoft.com/office/drawing/2014/main" id="{30C399B0-1EDF-2478-2225-EFCF95B55D41}"/>
              </a:ext>
            </a:extLst>
          </p:cNvPr>
          <p:cNvSpPr>
            <a:spLocks noGrp="1"/>
          </p:cNvSpPr>
          <p:nvPr>
            <p:ph type="subTitle" idx="1"/>
          </p:nvPr>
        </p:nvSpPr>
        <p:spPr>
          <a:xfrm>
            <a:off x="544403" y="5563388"/>
            <a:ext cx="7818540" cy="742279"/>
          </a:xfrm>
        </p:spPr>
        <p:txBody>
          <a:bodyPr>
            <a:normAutofit/>
          </a:bodyPr>
          <a:lstStyle/>
          <a:p>
            <a:pPr algn="l"/>
            <a:r>
              <a:rPr lang="en-IN">
                <a:solidFill>
                  <a:schemeClr val="bg2"/>
                </a:solidFill>
              </a:rPr>
              <a:t>UNIT 3</a:t>
            </a:r>
          </a:p>
        </p:txBody>
      </p:sp>
      <p:sp>
        <p:nvSpPr>
          <p:cNvPr id="13" name="Rectangle 12">
            <a:extLst>
              <a:ext uri="{FF2B5EF4-FFF2-40B4-BE49-F238E27FC236}">
                <a16:creationId xmlns:a16="http://schemas.microsoft.com/office/drawing/2014/main" id="{517C1286-B472-4907-9B47-E8C9FE290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Freeform 16">
            <a:extLst>
              <a:ext uri="{FF2B5EF4-FFF2-40B4-BE49-F238E27FC236}">
                <a16:creationId xmlns:a16="http://schemas.microsoft.com/office/drawing/2014/main" id="{28B35564-38A4-457A-BD01-15D6F1659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33061"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bg2"/>
          </a:solidFill>
          <a:ln w="0">
            <a:noFill/>
            <a:prstDash val="solid"/>
            <a:round/>
            <a:headEnd/>
            <a:tailEnd/>
          </a:ln>
        </p:spPr>
        <p:txBody>
          <a:bodyPr/>
          <a:lstStyle/>
          <a:p>
            <a:endParaRPr lang="en-IN"/>
          </a:p>
        </p:txBody>
      </p:sp>
    </p:spTree>
    <p:extLst>
      <p:ext uri="{BB962C8B-B14F-4D97-AF65-F5344CB8AC3E}">
        <p14:creationId xmlns:p14="http://schemas.microsoft.com/office/powerpoint/2010/main" val="18020764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C7498-1D0E-3ED9-146B-20FD48833C48}"/>
              </a:ext>
            </a:extLst>
          </p:cNvPr>
          <p:cNvSpPr>
            <a:spLocks noGrp="1"/>
          </p:cNvSpPr>
          <p:nvPr>
            <p:ph type="title"/>
          </p:nvPr>
        </p:nvSpPr>
        <p:spPr/>
        <p:txBody>
          <a:bodyPr/>
          <a:lstStyle/>
          <a:p>
            <a:r>
              <a:rPr lang="en-IN" dirty="0"/>
              <a:t>Learning Objectives</a:t>
            </a:r>
          </a:p>
        </p:txBody>
      </p:sp>
      <p:graphicFrame>
        <p:nvGraphicFramePr>
          <p:cNvPr id="5" name="Content Placeholder 2">
            <a:extLst>
              <a:ext uri="{FF2B5EF4-FFF2-40B4-BE49-F238E27FC236}">
                <a16:creationId xmlns:a16="http://schemas.microsoft.com/office/drawing/2014/main" id="{9C5658FF-7C54-7CF1-BB76-8AB96ECC94FD}"/>
              </a:ext>
            </a:extLst>
          </p:cNvPr>
          <p:cNvGraphicFramePr>
            <a:graphicFrameLocks noGrp="1"/>
          </p:cNvGraphicFramePr>
          <p:nvPr>
            <p:ph idx="1"/>
            <p:extLst>
              <p:ext uri="{D42A27DB-BD31-4B8C-83A1-F6EECF244321}">
                <p14:modId xmlns:p14="http://schemas.microsoft.com/office/powerpoint/2010/main" val="2877513926"/>
              </p:ext>
            </p:extLst>
          </p:nvPr>
        </p:nvGraphicFramePr>
        <p:xfrm>
          <a:off x="1184566" y="1472268"/>
          <a:ext cx="10178322" cy="46237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6093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5727" y="382385"/>
            <a:ext cx="6335338" cy="1492132"/>
          </a:xfrm>
        </p:spPr>
        <p:txBody>
          <a:bodyPr>
            <a:normAutofit/>
          </a:bodyPr>
          <a:lstStyle/>
          <a:p>
            <a:r>
              <a:rPr lang="en-IN" dirty="0"/>
              <a:t>Global Monetary System</a:t>
            </a:r>
            <a:endParaRPr dirty="0"/>
          </a:p>
        </p:txBody>
      </p:sp>
      <p:pic>
        <p:nvPicPr>
          <p:cNvPr id="16" name="Picture 15" descr="World map made up of coins">
            <a:extLst>
              <a:ext uri="{FF2B5EF4-FFF2-40B4-BE49-F238E27FC236}">
                <a16:creationId xmlns:a16="http://schemas.microsoft.com/office/drawing/2014/main" id="{13384A54-CAB4-F4A3-2E76-7CD71254B1DD}"/>
              </a:ext>
            </a:extLst>
          </p:cNvPr>
          <p:cNvPicPr>
            <a:picLocks noChangeAspect="1"/>
          </p:cNvPicPr>
          <p:nvPr/>
        </p:nvPicPr>
        <p:blipFill>
          <a:blip r:embed="rId2"/>
          <a:srcRect l="28893" r="26155" b="-1"/>
          <a:stretch>
            <a:fillRect/>
          </a:stretch>
        </p:blipFill>
        <p:spPr>
          <a:xfrm>
            <a:off x="688434" y="-9525"/>
            <a:ext cx="4129822" cy="6867525"/>
          </a:xfrm>
          <a:prstGeom prst="rect">
            <a:avLst/>
          </a:prstGeom>
        </p:spPr>
      </p:pic>
      <p:sp>
        <p:nvSpPr>
          <p:cNvPr id="20" name="Freeform 6">
            <a:extLst>
              <a:ext uri="{FF2B5EF4-FFF2-40B4-BE49-F238E27FC236}">
                <a16:creationId xmlns:a16="http://schemas.microsoft.com/office/drawing/2014/main" id="{5402222E-F041-43A0-81BC-1B3F2EF76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3" name="Content Placeholder 2"/>
          <p:cNvSpPr>
            <a:spLocks noGrp="1"/>
          </p:cNvSpPr>
          <p:nvPr>
            <p:ph idx="1"/>
          </p:nvPr>
        </p:nvSpPr>
        <p:spPr>
          <a:xfrm>
            <a:off x="5061857" y="2035629"/>
            <a:ext cx="6469208" cy="4439986"/>
          </a:xfrm>
        </p:spPr>
        <p:txBody>
          <a:bodyPr>
            <a:normAutofit lnSpcReduction="10000"/>
          </a:bodyPr>
          <a:lstStyle/>
          <a:p>
            <a:pPr>
              <a:lnSpc>
                <a:spcPct val="10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global monetary system</a:t>
            </a:r>
            <a:r>
              <a:rPr lang="en-US" dirty="0">
                <a:latin typeface="Times New Roman" panose="02020603050405020304" pitchFamily="18" charset="0"/>
                <a:cs typeface="Times New Roman" panose="02020603050405020304" pitchFamily="18" charset="0"/>
              </a:rPr>
              <a:t> refers to the set of rules, institutions, and agreements that regulate international financial transactions and exchange rates between countries. It plays an important role in facilitating global trade and investment.</a:t>
            </a:r>
          </a:p>
          <a:p>
            <a:pPr>
              <a:lnSpc>
                <a:spcPct val="100000"/>
              </a:lnSpc>
            </a:pPr>
            <a:r>
              <a:rPr lang="en-US" dirty="0">
                <a:latin typeface="Times New Roman" panose="02020603050405020304" pitchFamily="18" charset="0"/>
                <a:cs typeface="Times New Roman" panose="02020603050405020304" pitchFamily="18" charset="0"/>
              </a:rPr>
              <a:t>The system ensures that countries can conduct international payments and currency exchanges efficiently, which supports economic cooperation and financial stability worldwide.</a:t>
            </a:r>
          </a:p>
          <a:p>
            <a:pPr>
              <a:lnSpc>
                <a:spcPct val="100000"/>
              </a:lnSpc>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When an Indian company exports software services to the United States, the payment is made in US dollars and converted into Indian rupees through the global financial system</a:t>
            </a:r>
          </a:p>
          <a:p>
            <a:pPr>
              <a:lnSpc>
                <a:spcPct val="100000"/>
              </a:lnSpc>
            </a:pPr>
            <a:endParaRPr lang="en-US" dirty="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B80D28A2-8EA4-4EF0-9056-3BDAA7290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6" name="Picture 15" descr="A digitally rendered city with numbers">
            <a:extLst>
              <a:ext uri="{FF2B5EF4-FFF2-40B4-BE49-F238E27FC236}">
                <a16:creationId xmlns:a16="http://schemas.microsoft.com/office/drawing/2014/main" id="{C25C8DC9-608D-4A40-467A-EF0C906C37CB}"/>
              </a:ext>
            </a:extLst>
          </p:cNvPr>
          <p:cNvPicPr>
            <a:picLocks noChangeAspect="1"/>
          </p:cNvPicPr>
          <p:nvPr/>
        </p:nvPicPr>
        <p:blipFill>
          <a:blip r:embed="rId2"/>
          <a:srcRect l="19874" r="42795" b="-1"/>
          <a:stretch>
            <a:fillRect/>
          </a:stretch>
        </p:blipFill>
        <p:spPr>
          <a:xfrm>
            <a:off x="7338646" y="10"/>
            <a:ext cx="4853354" cy="6857990"/>
          </a:xfrm>
          <a:prstGeom prst="rect">
            <a:avLst/>
          </a:prstGeom>
        </p:spPr>
      </p:pic>
      <p:sp>
        <p:nvSpPr>
          <p:cNvPr id="20"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title"/>
          </p:nvPr>
        </p:nvSpPr>
        <p:spPr>
          <a:xfrm>
            <a:off x="765051" y="382385"/>
            <a:ext cx="6015897" cy="1492132"/>
          </a:xfrm>
        </p:spPr>
        <p:txBody>
          <a:bodyPr>
            <a:normAutofit/>
          </a:bodyPr>
          <a:lstStyle/>
          <a:p>
            <a:r>
              <a:rPr lang="en-US" sz="4000" dirty="0"/>
              <a:t>Introduction to Global Monetary System</a:t>
            </a:r>
            <a:endParaRPr sz="4000" dirty="0"/>
          </a:p>
        </p:txBody>
      </p:sp>
      <p:sp>
        <p:nvSpPr>
          <p:cNvPr id="22" name="Rectangle 21">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435429" y="1874517"/>
            <a:ext cx="6564085" cy="4601098"/>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The global monetary system is the international framework that governs how countries manage exchange rates and financial transactions across borders. It includes various institutions, policies, and agreements that regulate global financial relationships.</a:t>
            </a:r>
          </a:p>
          <a:p>
            <a:pPr>
              <a:lnSpc>
                <a:spcPct val="100000"/>
              </a:lnSpc>
            </a:pPr>
            <a:r>
              <a:rPr lang="en-US" dirty="0">
                <a:latin typeface="Times New Roman" panose="02020603050405020304" pitchFamily="18" charset="0"/>
                <a:cs typeface="Times New Roman" panose="02020603050405020304" pitchFamily="18" charset="0"/>
              </a:rPr>
              <a:t>This system helps countries maintain stable exchange rates and manage international payments related to trade and investment.</a:t>
            </a:r>
          </a:p>
          <a:p>
            <a:pPr>
              <a:lnSpc>
                <a:spcPct val="100000"/>
              </a:lnSpc>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Companies engaged in international trade must convert their domestic currency into foreign currency to complete international transactions.</a:t>
            </a:r>
          </a:p>
          <a:p>
            <a:pPr>
              <a:lnSpc>
                <a:spcPct val="10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lang="en-US"/>
              <a:t>Meaning of Global Monetary System</a:t>
            </a:r>
          </a:p>
        </p:txBody>
      </p:sp>
      <p:sp>
        <p:nvSpPr>
          <p:cNvPr id="24" name="Rectangle 23">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Content Placeholder 3">
            <a:extLst>
              <a:ext uri="{FF2B5EF4-FFF2-40B4-BE49-F238E27FC236}">
                <a16:creationId xmlns:a16="http://schemas.microsoft.com/office/drawing/2014/main" id="{0D33CAE3-F0CC-D6DF-8F5A-DCFC9D01D46D}"/>
              </a:ext>
            </a:extLst>
          </p:cNvPr>
          <p:cNvSpPr>
            <a:spLocks noGrp="1"/>
          </p:cNvSpPr>
          <p:nvPr>
            <p:ph idx="1"/>
          </p:nvPr>
        </p:nvSpPr>
        <p:spPr>
          <a:xfrm>
            <a:off x="484633" y="2296886"/>
            <a:ext cx="6586728" cy="4076481"/>
          </a:xfrm>
        </p:spPr>
        <p:txBody>
          <a:bodyPr>
            <a:normAutofit/>
          </a:bodyPr>
          <a:lstStyle/>
          <a:p>
            <a:pPr>
              <a:lnSpc>
                <a:spcPct val="100000"/>
              </a:lnSpc>
            </a:pPr>
            <a:r>
              <a:rPr lang="en-US" dirty="0">
                <a:solidFill>
                  <a:schemeClr val="tx1"/>
                </a:solidFill>
                <a:latin typeface="Times New Roman" panose="02020603050405020304" pitchFamily="18" charset="0"/>
                <a:cs typeface="Times New Roman" panose="02020603050405020304" pitchFamily="18" charset="0"/>
              </a:rPr>
              <a:t>The global monetary system refers to the network of international institutions, financial markets, and agreements that control currency exchange and international payments.</a:t>
            </a:r>
          </a:p>
          <a:p>
            <a:pPr>
              <a:lnSpc>
                <a:spcPct val="100000"/>
              </a:lnSpc>
            </a:pPr>
            <a:r>
              <a:rPr lang="en-US" dirty="0">
                <a:solidFill>
                  <a:schemeClr val="tx1"/>
                </a:solidFill>
                <a:latin typeface="Times New Roman" panose="02020603050405020304" pitchFamily="18" charset="0"/>
                <a:cs typeface="Times New Roman" panose="02020603050405020304" pitchFamily="18" charset="0"/>
              </a:rPr>
              <a:t>It ensures that countries can conduct trade smoothly by providing mechanisms for currency conversion and financial cooperation.</a:t>
            </a:r>
          </a:p>
          <a:p>
            <a:pPr>
              <a:lnSpc>
                <a:spcPct val="100000"/>
              </a:lnSpc>
            </a:pPr>
            <a:r>
              <a:rPr lang="en-US" b="1" dirty="0">
                <a:solidFill>
                  <a:schemeClr val="tx1"/>
                </a:solidFill>
                <a:latin typeface="Times New Roman" panose="02020603050405020304" pitchFamily="18" charset="0"/>
                <a:cs typeface="Times New Roman" panose="02020603050405020304" pitchFamily="18" charset="0"/>
              </a:rPr>
              <a:t>Example:</a:t>
            </a:r>
            <a:br>
              <a:rPr lang="en-US" dirty="0">
                <a:solidFill>
                  <a:schemeClr val="tx1"/>
                </a:solidFill>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When a German company imports electronic components from Japan, the payment must be made through international financial systems and currency exchange mechanisms.</a:t>
            </a:r>
          </a:p>
          <a:p>
            <a:pPr>
              <a:lnSpc>
                <a:spcPct val="100000"/>
              </a:lnSpc>
            </a:pPr>
            <a:endParaRPr lang="en-IN" dirty="0">
              <a:solidFill>
                <a:schemeClr val="tx1"/>
              </a:solidFill>
              <a:latin typeface="Times New Roman" panose="02020603050405020304" pitchFamily="18" charset="0"/>
              <a:cs typeface="Times New Roman" panose="02020603050405020304" pitchFamily="18" charset="0"/>
            </a:endParaRPr>
          </a:p>
        </p:txBody>
      </p:sp>
      <p:pic>
        <p:nvPicPr>
          <p:cNvPr id="17" name="Graphic 16" descr="Ruble">
            <a:extLst>
              <a:ext uri="{FF2B5EF4-FFF2-40B4-BE49-F238E27FC236}">
                <a16:creationId xmlns:a16="http://schemas.microsoft.com/office/drawing/2014/main" id="{9924F984-8D13-BF3A-6F1A-0A900E5DDD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50787" y="1600709"/>
            <a:ext cx="3656581" cy="36565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BCA59D-BC3D-BAC7-C103-36609DEACAFC}"/>
              </a:ext>
            </a:extLst>
          </p:cNvPr>
          <p:cNvSpPr>
            <a:spLocks noGrp="1"/>
          </p:cNvSpPr>
          <p:nvPr>
            <p:ph type="title"/>
          </p:nvPr>
        </p:nvSpPr>
        <p:spPr>
          <a:xfrm>
            <a:off x="2275120" y="404155"/>
            <a:ext cx="9361713" cy="1010986"/>
          </a:xfrm>
        </p:spPr>
        <p:txBody>
          <a:bodyPr anchor="b">
            <a:normAutofit fontScale="90000"/>
          </a:bodyPr>
          <a:lstStyle/>
          <a:p>
            <a:pPr algn="ctr"/>
            <a:r>
              <a:rPr lang="en-US" sz="4400" dirty="0"/>
              <a:t>Importance of Global Monetary System</a:t>
            </a:r>
            <a:endParaRPr lang="en-IN" sz="4400" dirty="0"/>
          </a:p>
        </p:txBody>
      </p:sp>
      <p:sp>
        <p:nvSpPr>
          <p:cNvPr id="11" name="Freeform: Shape 10">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txBody>
          <a:bodyPr/>
          <a:lstStyle/>
          <a:p>
            <a:endParaRPr lang="en-IN"/>
          </a:p>
        </p:txBody>
      </p:sp>
      <p:sp>
        <p:nvSpPr>
          <p:cNvPr id="13" name="Rectangle 12">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6E9CA10C-0FE2-FCB1-DE85-93F93C1E4CDB}"/>
              </a:ext>
            </a:extLst>
          </p:cNvPr>
          <p:cNvSpPr>
            <a:spLocks noGrp="1" noChangeArrowheads="1"/>
          </p:cNvSpPr>
          <p:nvPr>
            <p:ph idx="1"/>
          </p:nvPr>
        </p:nvSpPr>
        <p:spPr bwMode="auto">
          <a:xfrm>
            <a:off x="2400303" y="1273628"/>
            <a:ext cx="9514114" cy="50727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Facilitates International Trade</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The global monetary system allows countries to exchange currencies and make international payments smoothly, which helps businesses trade goods and services across borders.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An Indian company exporting textiles to the United States receives payment in US dollars and converts it into Indian rupees.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Maintains Exchange Rate Stability</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It helps maintain stable exchange rates between different currencies, reducing uncertainty in international financial transactions.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Stable exchange rates help companies plan international investments and trade activities.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Promotes Global Economic Cooperation</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The system encourages cooperation between countries through international financial institutions and agreements.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Countries work together through organizations like the IMF to manage financial crises.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Supports International Investment</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Investors can invest in foreign countries with confidence because the global monetary system ensures reliable currency exchange and financial regulations.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Multinational companies invest in manufacturing plants in different countries.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Helps Manage Financial Crises</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International financial institutions provide financial support to countries experiencing economic difficulties.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The IMF provides loans to countries facing balance of payment problems.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Encourages Economic Growth</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By supporting international trade and investment, the global monetary system contributes to overall economic development and growth worldwide.</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Developing countries receive financial assistance for development projects.</a:t>
            </a:r>
          </a:p>
        </p:txBody>
      </p:sp>
    </p:spTree>
    <p:extLst>
      <p:ext uri="{BB962C8B-B14F-4D97-AF65-F5344CB8AC3E}">
        <p14:creationId xmlns:p14="http://schemas.microsoft.com/office/powerpoint/2010/main" val="1552625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4" name="Title 3">
            <a:extLst>
              <a:ext uri="{FF2B5EF4-FFF2-40B4-BE49-F238E27FC236}">
                <a16:creationId xmlns:a16="http://schemas.microsoft.com/office/drawing/2014/main" id="{93844B52-198B-4C73-C83A-3F9EA9EB36C5}"/>
              </a:ext>
            </a:extLst>
          </p:cNvPr>
          <p:cNvSpPr>
            <a:spLocks noGrp="1"/>
          </p:cNvSpPr>
          <p:nvPr>
            <p:ph type="title"/>
          </p:nvPr>
        </p:nvSpPr>
        <p:spPr>
          <a:xfrm>
            <a:off x="754144" y="484631"/>
            <a:ext cx="6340519" cy="1638469"/>
          </a:xfrm>
        </p:spPr>
        <p:txBody>
          <a:bodyPr>
            <a:normAutofit/>
          </a:bodyPr>
          <a:lstStyle/>
          <a:p>
            <a:r>
              <a:rPr lang="en-IN" dirty="0"/>
              <a:t>Foreign Exchange Market</a:t>
            </a:r>
          </a:p>
        </p:txBody>
      </p:sp>
      <p:sp>
        <p:nvSpPr>
          <p:cNvPr id="18" name="Rectangle 17">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Content Placeholder 6">
            <a:extLst>
              <a:ext uri="{FF2B5EF4-FFF2-40B4-BE49-F238E27FC236}">
                <a16:creationId xmlns:a16="http://schemas.microsoft.com/office/drawing/2014/main" id="{EC9B7718-D6A7-CCC2-D62A-E6474A116D84}"/>
              </a:ext>
            </a:extLst>
          </p:cNvPr>
          <p:cNvSpPr>
            <a:spLocks noGrp="1"/>
          </p:cNvSpPr>
          <p:nvPr>
            <p:ph idx="1"/>
          </p:nvPr>
        </p:nvSpPr>
        <p:spPr>
          <a:xfrm>
            <a:off x="484633" y="2123100"/>
            <a:ext cx="6610030" cy="4549843"/>
          </a:xfrm>
        </p:spPr>
        <p:txBody>
          <a:bodyPr>
            <a:normAutofit/>
          </a:bodyPr>
          <a:lstStyle/>
          <a:p>
            <a:pPr>
              <a:lnSpc>
                <a:spcPct val="100000"/>
              </a:lnSpc>
            </a:pPr>
            <a:r>
              <a:rPr lang="en-US"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Times New Roman" panose="02020603050405020304" pitchFamily="18" charset="0"/>
                <a:cs typeface="Times New Roman" panose="02020603050405020304" pitchFamily="18" charset="0"/>
              </a:rPr>
              <a:t>foreign exchange market</a:t>
            </a:r>
            <a:r>
              <a:rPr lang="en-US" dirty="0">
                <a:solidFill>
                  <a:schemeClr val="tx1"/>
                </a:solidFill>
                <a:latin typeface="Times New Roman" panose="02020603050405020304" pitchFamily="18" charset="0"/>
                <a:cs typeface="Times New Roman" panose="02020603050405020304" pitchFamily="18" charset="0"/>
              </a:rPr>
              <a:t>, also known as the Forex market, is the global marketplace where currencies are bought and sold. It is the largest financial market in the world and operates 24 hours a day.</a:t>
            </a:r>
          </a:p>
          <a:p>
            <a:pPr>
              <a:lnSpc>
                <a:spcPct val="100000"/>
              </a:lnSpc>
            </a:pPr>
            <a:r>
              <a:rPr lang="en-US" dirty="0">
                <a:solidFill>
                  <a:schemeClr val="tx1"/>
                </a:solidFill>
                <a:latin typeface="Times New Roman" panose="02020603050405020304" pitchFamily="18" charset="0"/>
                <a:cs typeface="Times New Roman" panose="02020603050405020304" pitchFamily="18" charset="0"/>
              </a:rPr>
              <a:t>The foreign exchange market allows businesses and governments to exchange currencies for international trade and investment.</a:t>
            </a:r>
          </a:p>
          <a:p>
            <a:pPr>
              <a:lnSpc>
                <a:spcPct val="100000"/>
              </a:lnSpc>
            </a:pPr>
            <a:r>
              <a:rPr lang="en-US" b="1" dirty="0">
                <a:solidFill>
                  <a:schemeClr val="tx1"/>
                </a:solidFill>
                <a:latin typeface="Times New Roman" panose="02020603050405020304" pitchFamily="18" charset="0"/>
                <a:cs typeface="Times New Roman" panose="02020603050405020304" pitchFamily="18" charset="0"/>
              </a:rPr>
              <a:t>Example:</a:t>
            </a:r>
            <a:br>
              <a:rPr lang="en-US" dirty="0">
                <a:solidFill>
                  <a:schemeClr val="tx1"/>
                </a:solidFill>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An Indian company importing machinery from the United States must convert Indian rupees into US dollars.</a:t>
            </a:r>
          </a:p>
          <a:p>
            <a:pPr>
              <a:lnSpc>
                <a:spcPct val="100000"/>
              </a:lnSpc>
            </a:pPr>
            <a:endParaRPr lang="en-IN" dirty="0">
              <a:solidFill>
                <a:schemeClr val="tx1"/>
              </a:solidFill>
              <a:latin typeface="Times New Roman" panose="02020603050405020304" pitchFamily="18" charset="0"/>
              <a:cs typeface="Times New Roman" panose="02020603050405020304" pitchFamily="18" charset="0"/>
            </a:endParaRPr>
          </a:p>
        </p:txBody>
      </p:sp>
      <p:pic>
        <p:nvPicPr>
          <p:cNvPr id="11" name="Graphic 10" descr="Money">
            <a:extLst>
              <a:ext uri="{FF2B5EF4-FFF2-40B4-BE49-F238E27FC236}">
                <a16:creationId xmlns:a16="http://schemas.microsoft.com/office/drawing/2014/main" id="{F785F2EB-A63D-B354-5280-99F5F7286C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50787" y="1600709"/>
            <a:ext cx="3656581" cy="365658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B0A7D14-7B67-4022-A8BE-1CCD4A0F1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351E7A59-7439-2319-BF92-8298D1330EDD}"/>
              </a:ext>
            </a:extLst>
          </p:cNvPr>
          <p:cNvSpPr>
            <a:spLocks noGrp="1"/>
          </p:cNvSpPr>
          <p:nvPr>
            <p:ph type="title"/>
          </p:nvPr>
        </p:nvSpPr>
        <p:spPr>
          <a:xfrm>
            <a:off x="1308019" y="294723"/>
            <a:ext cx="10178322" cy="1492132"/>
          </a:xfrm>
        </p:spPr>
        <p:txBody>
          <a:bodyPr anchor="ctr">
            <a:normAutofit/>
          </a:bodyPr>
          <a:lstStyle/>
          <a:p>
            <a:r>
              <a:rPr lang="en-US" sz="4800" dirty="0"/>
              <a:t>Functions of Foreign Exchange Market</a:t>
            </a:r>
            <a:endParaRPr lang="en-IN" sz="4800" dirty="0"/>
          </a:p>
        </p:txBody>
      </p:sp>
      <p:sp>
        <p:nvSpPr>
          <p:cNvPr id="16" name="Freeform 6">
            <a:extLst>
              <a:ext uri="{FF2B5EF4-FFF2-40B4-BE49-F238E27FC236}">
                <a16:creationId xmlns:a16="http://schemas.microsoft.com/office/drawing/2014/main" id="{AB09A9E8-BF27-4613-A775-071F08208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solidFill>
          <a:ln w="0">
            <a:noFill/>
            <a:prstDash val="solid"/>
            <a:round/>
            <a:headEnd/>
            <a:tailEnd/>
          </a:ln>
        </p:spPr>
        <p:txBody>
          <a:bodyPr/>
          <a:lstStyle/>
          <a:p>
            <a:endParaRPr lang="en-IN"/>
          </a:p>
        </p:txBody>
      </p:sp>
      <p:sp>
        <p:nvSpPr>
          <p:cNvPr id="18" name="Rectangle 17">
            <a:extLst>
              <a:ext uri="{FF2B5EF4-FFF2-40B4-BE49-F238E27FC236}">
                <a16:creationId xmlns:a16="http://schemas.microsoft.com/office/drawing/2014/main" id="{C3AFE299-6F79-44AF-9A77-2DC2DC1F8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10" name="Rectangle 1">
            <a:extLst>
              <a:ext uri="{FF2B5EF4-FFF2-40B4-BE49-F238E27FC236}">
                <a16:creationId xmlns:a16="http://schemas.microsoft.com/office/drawing/2014/main" id="{271F9CFC-819D-C8AE-C8D5-3CCDE05B1BF4}"/>
              </a:ext>
            </a:extLst>
          </p:cNvPr>
          <p:cNvGraphicFramePr>
            <a:graphicFrameLocks noGrp="1"/>
          </p:cNvGraphicFramePr>
          <p:nvPr>
            <p:ph idx="1"/>
            <p:extLst>
              <p:ext uri="{D42A27DB-BD31-4B8C-83A1-F6EECF244321}">
                <p14:modId xmlns:p14="http://schemas.microsoft.com/office/powerpoint/2010/main" val="4210248488"/>
              </p:ext>
            </p:extLst>
          </p:nvPr>
        </p:nvGraphicFramePr>
        <p:xfrm>
          <a:off x="1251678" y="1786855"/>
          <a:ext cx="10367074" cy="47733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A7B43082-17F9-B2D3-B30F-16191EEBCBEC}"/>
              </a:ext>
            </a:extLst>
          </p:cNvPr>
          <p:cNvGraphicFramePr>
            <a:graphicFrameLocks noGrp="1"/>
          </p:cNvGraphicFramePr>
          <p:nvPr>
            <p:ph idx="1"/>
            <p:extLst>
              <p:ext uri="{D42A27DB-BD31-4B8C-83A1-F6EECF244321}">
                <p14:modId xmlns:p14="http://schemas.microsoft.com/office/powerpoint/2010/main" val="414390421"/>
              </p:ext>
            </p:extLst>
          </p:nvPr>
        </p:nvGraphicFramePr>
        <p:xfrm>
          <a:off x="1234181" y="1377043"/>
          <a:ext cx="10145486" cy="4103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029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355989-A8DF-147D-26BE-59BEB8AB9DE8}"/>
              </a:ext>
            </a:extLst>
          </p:cNvPr>
          <p:cNvSpPr>
            <a:spLocks noGrp="1"/>
          </p:cNvSpPr>
          <p:nvPr>
            <p:ph type="title"/>
          </p:nvPr>
        </p:nvSpPr>
        <p:spPr>
          <a:xfrm>
            <a:off x="1235439" y="264659"/>
            <a:ext cx="9721121" cy="759732"/>
          </a:xfrm>
        </p:spPr>
        <p:txBody>
          <a:bodyPr anchor="ctr">
            <a:normAutofit fontScale="90000"/>
          </a:bodyPr>
          <a:lstStyle/>
          <a:p>
            <a:r>
              <a:rPr lang="en-US" sz="4000" dirty="0"/>
              <a:t>Participants in Foreign Exchange Market</a:t>
            </a:r>
            <a:endParaRPr lang="en-IN" sz="4000" dirty="0"/>
          </a:p>
        </p:txBody>
      </p:sp>
      <p:graphicFrame>
        <p:nvGraphicFramePr>
          <p:cNvPr id="16" name="Rectangle 1">
            <a:extLst>
              <a:ext uri="{FF2B5EF4-FFF2-40B4-BE49-F238E27FC236}">
                <a16:creationId xmlns:a16="http://schemas.microsoft.com/office/drawing/2014/main" id="{E7487313-990E-979C-07D8-5A3508225871}"/>
              </a:ext>
            </a:extLst>
          </p:cNvPr>
          <p:cNvGraphicFramePr>
            <a:graphicFrameLocks noGrp="1"/>
          </p:cNvGraphicFramePr>
          <p:nvPr>
            <p:ph idx="1"/>
            <p:extLst>
              <p:ext uri="{D42A27DB-BD31-4B8C-83A1-F6EECF244321}">
                <p14:modId xmlns:p14="http://schemas.microsoft.com/office/powerpoint/2010/main" val="12417515"/>
              </p:ext>
            </p:extLst>
          </p:nvPr>
        </p:nvGraphicFramePr>
        <p:xfrm>
          <a:off x="1235439" y="1184476"/>
          <a:ext cx="10379618" cy="5408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DE8DE35-C637-3E42-6BF0-A5BD735B2C8E}"/>
              </a:ext>
            </a:extLst>
          </p:cNvPr>
          <p:cNvGraphicFramePr>
            <a:graphicFrameLocks noGrp="1"/>
          </p:cNvGraphicFramePr>
          <p:nvPr>
            <p:ph idx="1"/>
            <p:extLst>
              <p:ext uri="{D42A27DB-BD31-4B8C-83A1-F6EECF244321}">
                <p14:modId xmlns:p14="http://schemas.microsoft.com/office/powerpoint/2010/main" val="1797994510"/>
              </p:ext>
            </p:extLst>
          </p:nvPr>
        </p:nvGraphicFramePr>
        <p:xfrm>
          <a:off x="1284514" y="729343"/>
          <a:ext cx="10145486" cy="5324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520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7" y="645105"/>
            <a:ext cx="4357499" cy="1320855"/>
          </a:xfrm>
        </p:spPr>
        <p:txBody>
          <a:bodyPr>
            <a:normAutofit/>
          </a:bodyPr>
          <a:lstStyle/>
          <a:p>
            <a:r>
              <a:rPr lang="en-IN" sz="4400"/>
              <a:t>Exchange Rate</a:t>
            </a:r>
          </a:p>
        </p:txBody>
      </p:sp>
      <p:sp>
        <p:nvSpPr>
          <p:cNvPr id="21" name="Content Placeholder 2"/>
          <p:cNvSpPr>
            <a:spLocks noGrp="1"/>
          </p:cNvSpPr>
          <p:nvPr>
            <p:ph idx="1"/>
          </p:nvPr>
        </p:nvSpPr>
        <p:spPr>
          <a:xfrm>
            <a:off x="1001486" y="2177144"/>
            <a:ext cx="5092322" cy="4887684"/>
          </a:xfrm>
        </p:spPr>
        <p:txBody>
          <a:bodyPr>
            <a:normAutofit/>
          </a:bodyPr>
          <a:lstStyle/>
          <a:p>
            <a:pPr>
              <a:lnSpc>
                <a:spcPct val="100000"/>
              </a:lnSpc>
            </a:pPr>
            <a:r>
              <a:rPr lang="en-US" dirty="0">
                <a:solidFill>
                  <a:schemeClr val="tx1"/>
                </a:solidFill>
                <a:latin typeface="Times New Roman" panose="02020603050405020304" pitchFamily="18" charset="0"/>
                <a:cs typeface="Times New Roman" panose="02020603050405020304" pitchFamily="18" charset="0"/>
              </a:rPr>
              <a:t>An </a:t>
            </a:r>
            <a:r>
              <a:rPr lang="en-US" b="1" dirty="0">
                <a:solidFill>
                  <a:schemeClr val="tx1"/>
                </a:solidFill>
                <a:latin typeface="Times New Roman" panose="02020603050405020304" pitchFamily="18" charset="0"/>
                <a:cs typeface="Times New Roman" panose="02020603050405020304" pitchFamily="18" charset="0"/>
              </a:rPr>
              <a:t>exchange rate</a:t>
            </a:r>
            <a:r>
              <a:rPr lang="en-US" dirty="0">
                <a:solidFill>
                  <a:schemeClr val="tx1"/>
                </a:solidFill>
                <a:latin typeface="Times New Roman" panose="02020603050405020304" pitchFamily="18" charset="0"/>
                <a:cs typeface="Times New Roman" panose="02020603050405020304" pitchFamily="18" charset="0"/>
              </a:rPr>
              <a:t> refers to the value of one country's currency in relation to another country's currency. Exchange rates influence international trade and investment decisions.</a:t>
            </a:r>
          </a:p>
          <a:p>
            <a:pPr>
              <a:lnSpc>
                <a:spcPct val="100000"/>
              </a:lnSpc>
            </a:pPr>
            <a:r>
              <a:rPr lang="en-US" dirty="0">
                <a:solidFill>
                  <a:schemeClr val="tx1"/>
                </a:solidFill>
                <a:latin typeface="Times New Roman" panose="02020603050405020304" pitchFamily="18" charset="0"/>
                <a:cs typeface="Times New Roman" panose="02020603050405020304" pitchFamily="18" charset="0"/>
              </a:rPr>
              <a:t>Exchange rates change due to factors such as inflation, interest rates, political stability, and economic performance.</a:t>
            </a:r>
          </a:p>
          <a:p>
            <a:pPr>
              <a:lnSpc>
                <a:spcPct val="100000"/>
              </a:lnSpc>
            </a:pPr>
            <a:r>
              <a:rPr lang="en-US" b="1" dirty="0">
                <a:solidFill>
                  <a:schemeClr val="tx1"/>
                </a:solidFill>
                <a:latin typeface="Times New Roman" panose="02020603050405020304" pitchFamily="18" charset="0"/>
                <a:cs typeface="Times New Roman" panose="02020603050405020304" pitchFamily="18" charset="0"/>
              </a:rPr>
              <a:t>Example: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If 1 US Dollar equals 83 Indian Rupees, Indian importers must pay 83 rupees to buy one US dollar.</a:t>
            </a:r>
          </a:p>
          <a:p>
            <a:pPr>
              <a:lnSpc>
                <a:spcPct val="100000"/>
              </a:lnSpc>
            </a:pPr>
            <a:endParaRPr lang="en-US" dirty="0">
              <a:solidFill>
                <a:schemeClr val="tx1"/>
              </a:solidFill>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203F9A1E-8997-3B77-E67B-77CB1CEF64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8193" y="1961581"/>
            <a:ext cx="5176744" cy="29610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7" name="Picture 16" descr="World map made up of coins">
            <a:extLst>
              <a:ext uri="{FF2B5EF4-FFF2-40B4-BE49-F238E27FC236}">
                <a16:creationId xmlns:a16="http://schemas.microsoft.com/office/drawing/2014/main" id="{BA628A22-B88D-6B9B-613A-22F181C60DD3}"/>
              </a:ext>
            </a:extLst>
          </p:cNvPr>
          <p:cNvPicPr>
            <a:picLocks noChangeAspect="1"/>
          </p:cNvPicPr>
          <p:nvPr/>
        </p:nvPicPr>
        <p:blipFill>
          <a:blip r:embed="rId2">
            <a:grayscl/>
          </a:blip>
          <a:srcRect l="22410" r="20217" b="-2"/>
          <a:stretch>
            <a:fillRect/>
          </a:stretch>
        </p:blipFill>
        <p:spPr>
          <a:xfrm>
            <a:off x="6928338" y="10"/>
            <a:ext cx="5263662" cy="6857990"/>
          </a:xfrm>
          <a:prstGeom prst="rect">
            <a:avLst/>
          </a:prstGeom>
        </p:spPr>
      </p:pic>
      <p:sp>
        <p:nvSpPr>
          <p:cNvPr id="28" name="Freeform 10">
            <a:extLst>
              <a:ext uri="{FF2B5EF4-FFF2-40B4-BE49-F238E27FC236}">
                <a16:creationId xmlns:a16="http://schemas.microsoft.com/office/drawing/2014/main" id="{28128757-84CF-4B7B-89A4-06E3A4C89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title"/>
          </p:nvPr>
        </p:nvSpPr>
        <p:spPr>
          <a:xfrm>
            <a:off x="765051" y="382385"/>
            <a:ext cx="6015897" cy="1492132"/>
          </a:xfrm>
        </p:spPr>
        <p:txBody>
          <a:bodyPr>
            <a:normAutofit/>
          </a:bodyPr>
          <a:lstStyle/>
          <a:p>
            <a:r>
              <a:rPr lang="en-IN" dirty="0"/>
              <a:t>International Monetary System</a:t>
            </a:r>
          </a:p>
        </p:txBody>
      </p:sp>
      <p:sp>
        <p:nvSpPr>
          <p:cNvPr id="30" name="Rectangle 29">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Content Placeholder 2"/>
          <p:cNvSpPr>
            <a:spLocks noGrp="1"/>
          </p:cNvSpPr>
          <p:nvPr>
            <p:ph idx="1"/>
          </p:nvPr>
        </p:nvSpPr>
        <p:spPr>
          <a:xfrm>
            <a:off x="430855" y="2144487"/>
            <a:ext cx="6797260" cy="4331128"/>
          </a:xfrm>
        </p:spPr>
        <p:txBody>
          <a:bodyPr>
            <a:normAutofit/>
          </a:bodyPr>
          <a:lstStyle/>
          <a:p>
            <a:pPr>
              <a:lnSpc>
                <a:spcPct val="100000"/>
              </a:lnSpc>
            </a:pP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International Monetary System (IMS)</a:t>
            </a:r>
            <a:r>
              <a:rPr lang="en-US" sz="1400" dirty="0">
                <a:latin typeface="Times New Roman" panose="02020603050405020304" pitchFamily="18" charset="0"/>
                <a:cs typeface="Times New Roman" panose="02020603050405020304" pitchFamily="18" charset="0"/>
              </a:rPr>
              <a:t> refers to the set of rules, institutions, agreements, and financial arrangements that govern how countries manage their currencies and conduct international financial transactions. It helps regulate exchange rates, international payments, and the flow of capital between countries. The system ensures that countries can trade with one another smoothly by providing mechanisms for currency exchange and financial cooperation.</a:t>
            </a:r>
          </a:p>
          <a:p>
            <a:pPr>
              <a:lnSpc>
                <a:spcPct val="100000"/>
              </a:lnSpc>
            </a:pPr>
            <a:r>
              <a:rPr lang="en-US" sz="1400" dirty="0">
                <a:latin typeface="Times New Roman" panose="02020603050405020304" pitchFamily="18" charset="0"/>
                <a:cs typeface="Times New Roman" panose="02020603050405020304" pitchFamily="18" charset="0"/>
              </a:rPr>
              <a:t>The international monetary system plays an important role in maintaining stability in global financial markets. It helps countries manage balance of payments, stabilize exchange rates, and promote international trade and investment. Institutions such as the </a:t>
            </a:r>
            <a:r>
              <a:rPr lang="en-US" sz="1400" b="1" dirty="0">
                <a:latin typeface="Times New Roman" panose="02020603050405020304" pitchFamily="18" charset="0"/>
                <a:cs typeface="Times New Roman" panose="02020603050405020304" pitchFamily="18" charset="0"/>
              </a:rPr>
              <a:t>International Monetary Fund (IMF)</a:t>
            </a:r>
            <a:r>
              <a:rPr lang="en-US" sz="1400" dirty="0">
                <a:latin typeface="Times New Roman" panose="02020603050405020304" pitchFamily="18" charset="0"/>
                <a:cs typeface="Times New Roman" panose="02020603050405020304" pitchFamily="18" charset="0"/>
              </a:rPr>
              <a:t> and the </a:t>
            </a:r>
            <a:r>
              <a:rPr lang="en-US" sz="1400" b="1" dirty="0">
                <a:latin typeface="Times New Roman" panose="02020603050405020304" pitchFamily="18" charset="0"/>
                <a:cs typeface="Times New Roman" panose="02020603050405020304" pitchFamily="18" charset="0"/>
              </a:rPr>
              <a:t>World Bank</a:t>
            </a:r>
            <a:r>
              <a:rPr lang="en-US" sz="1400" dirty="0">
                <a:latin typeface="Times New Roman" panose="02020603050405020304" pitchFamily="18" charset="0"/>
                <a:cs typeface="Times New Roman" panose="02020603050405020304" pitchFamily="18" charset="0"/>
              </a:rPr>
              <a:t> play an important role in supporting the international monetary system by providing financial assistance and policy guidance to countries.</a:t>
            </a:r>
          </a:p>
          <a:p>
            <a:pPr>
              <a:lnSpc>
                <a:spcPct val="100000"/>
              </a:lnSpc>
            </a:pPr>
            <a:r>
              <a:rPr lang="en-US" sz="1400" b="1" dirty="0">
                <a:latin typeface="Times New Roman" panose="02020603050405020304" pitchFamily="18" charset="0"/>
                <a:cs typeface="Times New Roman" panose="02020603050405020304" pitchFamily="18" charset="0"/>
              </a:rPr>
              <a:t>Example:</a:t>
            </a:r>
            <a:br>
              <a:rPr lang="en-US" sz="1400" dirty="0">
                <a:latin typeface="Times New Roman" panose="02020603050405020304" pitchFamily="18" charset="0"/>
                <a:cs typeface="Times New Roman" panose="02020603050405020304" pitchFamily="18" charset="0"/>
              </a:rPr>
            </a:br>
            <a:r>
              <a:rPr lang="en-US" sz="1400" dirty="0">
                <a:solidFill>
                  <a:srgbClr val="FF0000"/>
                </a:solidFill>
                <a:latin typeface="Times New Roman" panose="02020603050405020304" pitchFamily="18" charset="0"/>
                <a:cs typeface="Times New Roman" panose="02020603050405020304" pitchFamily="18" charset="0"/>
              </a:rPr>
              <a:t>When a country faces a balance of payment crisis and needs financial assistance to stabilize its economy, it may seek support from the </a:t>
            </a:r>
            <a:r>
              <a:rPr lang="en-US" sz="1400" b="1" dirty="0">
                <a:solidFill>
                  <a:srgbClr val="FF0000"/>
                </a:solidFill>
                <a:latin typeface="Times New Roman" panose="02020603050405020304" pitchFamily="18" charset="0"/>
                <a:cs typeface="Times New Roman" panose="02020603050405020304" pitchFamily="18" charset="0"/>
              </a:rPr>
              <a:t>International Monetary Fund (IMF)</a:t>
            </a:r>
            <a:r>
              <a:rPr lang="en-US" sz="1400" dirty="0">
                <a:solidFill>
                  <a:srgbClr val="FF0000"/>
                </a:solidFill>
                <a:latin typeface="Times New Roman" panose="02020603050405020304" pitchFamily="18" charset="0"/>
                <a:cs typeface="Times New Roman" panose="02020603050405020304" pitchFamily="18" charset="0"/>
              </a:rPr>
              <a:t> as part of the international monetary system</a:t>
            </a:r>
            <a:r>
              <a:rPr lang="en-US" sz="1400" dirty="0">
                <a:latin typeface="Times New Roman" panose="02020603050405020304" pitchFamily="18" charset="0"/>
                <a:cs typeface="Times New Roman" panose="02020603050405020304" pitchFamily="18" charset="0"/>
              </a:rPr>
              <a:t>.</a:t>
            </a:r>
          </a:p>
          <a:p>
            <a:pPr>
              <a:lnSpc>
                <a:spcPct val="100000"/>
              </a:lnSpc>
            </a:pPr>
            <a:endParaRPr lang="en-US" sz="1400" dirty="0">
              <a:latin typeface="Times New Roman" panose="02020603050405020304" pitchFamily="18" charset="0"/>
              <a:cs typeface="Times New Roman" panose="02020603050405020304" pitchFamily="18" charset="0"/>
            </a:endParaRPr>
          </a:p>
        </p:txBody>
      </p:sp>
      <p:sp>
        <p:nvSpPr>
          <p:cNvPr id="32" name="Freeform 11">
            <a:extLst>
              <a:ext uri="{FF2B5EF4-FFF2-40B4-BE49-F238E27FC236}">
                <a16:creationId xmlns:a16="http://schemas.microsoft.com/office/drawing/2014/main" id="{E84130BB-CB60-470A-BDAA-558B2F664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alpha val="75000"/>
            </a:schemeClr>
          </a:solidFill>
          <a:ln w="0">
            <a:noFill/>
            <a:prstDash val="solid"/>
            <a:round/>
            <a:headEnd/>
            <a:tailEnd/>
          </a:ln>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139" name="Rectangle 5138">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40"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lang="en-US" sz="3600"/>
              <a:t>Objectives of International Monetary System</a:t>
            </a:r>
          </a:p>
        </p:txBody>
      </p:sp>
      <p:sp>
        <p:nvSpPr>
          <p:cNvPr id="5141" name="Rectangle 5140">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9EDBFC47-562B-62FC-BFB5-BFBAC1380C78}"/>
              </a:ext>
            </a:extLst>
          </p:cNvPr>
          <p:cNvSpPr>
            <a:spLocks noGrp="1" noChangeArrowheads="1"/>
          </p:cNvSpPr>
          <p:nvPr>
            <p:ph idx="1"/>
          </p:nvPr>
        </p:nvSpPr>
        <p:spPr bwMode="auto">
          <a:xfrm>
            <a:off x="754144" y="1768226"/>
            <a:ext cx="6430427" cy="46051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 Exchange Rate Stability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of the main objectives of the international monetary system is to maintain stable exchange rates between currencies. Stable exchange rates reduce uncertainty in international trade and investment.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exchange rates remain stable, businesses can plan international transactions without worrying about sudden currency fluctuations.</a:t>
            </a:r>
          </a:p>
          <a:p>
            <a:pPr marL="0" marR="0" lvl="0" indent="0" defTabSz="914400" rtl="0" eaLnBrk="0" fontAlgn="base" latinLnBrk="0" hangingPunct="0">
              <a:lnSpc>
                <a:spcPct val="100000"/>
              </a:lnSpc>
              <a:spcBef>
                <a:spcPct val="0"/>
              </a:spcBef>
              <a:spcAft>
                <a:spcPts val="60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 International Trade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aims to facilitate smooth and efficient international trade by providing mechanisms for currency exchange and international payments.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Companies importing or exporting goods can easily convert currencies through international financial systems.</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123" name="Picture 3">
            <a:extLst>
              <a:ext uri="{FF2B5EF4-FFF2-40B4-BE49-F238E27FC236}">
                <a16:creationId xmlns:a16="http://schemas.microsoft.com/office/drawing/2014/main" id="{AE695AD3-3A54-276C-CF39-68803E315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397" r="3714"/>
          <a:stretch>
            <a:fillRect/>
          </a:stretch>
        </p:blipFill>
        <p:spPr bwMode="auto">
          <a:xfrm>
            <a:off x="7094663" y="2275499"/>
            <a:ext cx="5050295" cy="2840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9DBA3C2-C92B-4CEB-868F-52A62295B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440A90-1797-FF67-E1AF-6DC362600A5B}"/>
              </a:ext>
            </a:extLst>
          </p:cNvPr>
          <p:cNvSpPr>
            <a:spLocks noGrp="1"/>
          </p:cNvSpPr>
          <p:nvPr>
            <p:ph idx="1"/>
          </p:nvPr>
        </p:nvSpPr>
        <p:spPr>
          <a:xfrm>
            <a:off x="545383" y="769191"/>
            <a:ext cx="11332029" cy="5072743"/>
          </a:xfrm>
        </p:spPr>
        <p:txBody>
          <a:bodyPr>
            <a:normAutofit/>
          </a:bodyPr>
          <a:lstStyle/>
          <a:p>
            <a:pPr marL="0" lvl="0" indent="0" eaLnBrk="0" fontAlgn="base" hangingPunct="0">
              <a:lnSpc>
                <a:spcPct val="100000"/>
              </a:lnSpc>
              <a:spcBef>
                <a:spcPct val="0"/>
              </a:spcBef>
              <a:spcAft>
                <a:spcPct val="0"/>
              </a:spcAft>
              <a:buClrTx/>
              <a:buFontTx/>
              <a:buChar char="•"/>
            </a:pPr>
            <a:r>
              <a:rPr lang="en-US" altLang="en-US" b="1" dirty="0">
                <a:latin typeface="Times New Roman" panose="02020603050405020304" pitchFamily="18" charset="0"/>
                <a:cs typeface="Times New Roman" panose="02020603050405020304" pitchFamily="18" charset="0"/>
              </a:rPr>
              <a:t>Encourage Financial Cooperation Among Countries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The international monetary system promotes cooperation between countries to maintain global economic stability and prevent financial crises.</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 </a:t>
            </a:r>
            <a:r>
              <a:rPr lang="en-US" altLang="en-US" dirty="0">
                <a:solidFill>
                  <a:srgbClr val="FF0000"/>
                </a:solidFill>
                <a:latin typeface="Times New Roman" panose="02020603050405020304" pitchFamily="18" charset="0"/>
                <a:cs typeface="Times New Roman" panose="02020603050405020304" pitchFamily="18" charset="0"/>
              </a:rPr>
              <a:t>Countries cooperate through organizations like the </a:t>
            </a:r>
            <a:r>
              <a:rPr lang="en-US" altLang="en-US" b="1" dirty="0">
                <a:solidFill>
                  <a:srgbClr val="FF0000"/>
                </a:solidFill>
                <a:latin typeface="Times New Roman" panose="02020603050405020304" pitchFamily="18" charset="0"/>
                <a:cs typeface="Times New Roman" panose="02020603050405020304" pitchFamily="18" charset="0"/>
              </a:rPr>
              <a:t>IMF</a:t>
            </a:r>
            <a:r>
              <a:rPr lang="en-US" altLang="en-US" dirty="0">
                <a:solidFill>
                  <a:srgbClr val="FF0000"/>
                </a:solidFill>
                <a:latin typeface="Times New Roman" panose="02020603050405020304" pitchFamily="18" charset="0"/>
                <a:cs typeface="Times New Roman" panose="02020603050405020304" pitchFamily="18" charset="0"/>
              </a:rPr>
              <a:t> to solve international financial problems.</a:t>
            </a:r>
          </a:p>
          <a:p>
            <a:pPr marL="0" lvl="0" indent="0" eaLnBrk="0" fontAlgn="base" hangingPunct="0">
              <a:lnSpc>
                <a:spcPct val="100000"/>
              </a:lnSpc>
              <a:spcBef>
                <a:spcPct val="0"/>
              </a:spcBef>
              <a:spcAft>
                <a:spcPct val="0"/>
              </a:spcAft>
              <a:buClrTx/>
              <a:buNone/>
            </a:pP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b="1" dirty="0">
                <a:latin typeface="Times New Roman" panose="02020603050405020304" pitchFamily="18" charset="0"/>
                <a:cs typeface="Times New Roman" panose="02020603050405020304" pitchFamily="18" charset="0"/>
              </a:rPr>
              <a:t>Provide Financial Assistance During Economic Crises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The system supports countries facing financial difficulties by providing financial assistance and economic guidance.</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 </a:t>
            </a:r>
            <a:r>
              <a:rPr lang="en-US" altLang="en-US" dirty="0">
                <a:solidFill>
                  <a:srgbClr val="FF0000"/>
                </a:solidFill>
                <a:latin typeface="Times New Roman" panose="02020603050405020304" pitchFamily="18" charset="0"/>
                <a:cs typeface="Times New Roman" panose="02020603050405020304" pitchFamily="18" charset="0"/>
              </a:rPr>
              <a:t>The IMF provides loans to countries experiencing balance of payment problems.</a:t>
            </a:r>
          </a:p>
          <a:p>
            <a:pPr marL="0" lvl="0" indent="0" eaLnBrk="0" fontAlgn="base" hangingPunct="0">
              <a:lnSpc>
                <a:spcPct val="100000"/>
              </a:lnSpc>
              <a:spcBef>
                <a:spcPct val="0"/>
              </a:spcBef>
              <a:spcAft>
                <a:spcPct val="0"/>
              </a:spcAft>
              <a:buClrTx/>
              <a:buNone/>
            </a:pP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b="1" dirty="0">
                <a:latin typeface="Times New Roman" panose="02020603050405020304" pitchFamily="18" charset="0"/>
                <a:cs typeface="Times New Roman" panose="02020603050405020304" pitchFamily="18" charset="0"/>
              </a:rPr>
              <a:t>Ensure Efficient International Payments System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It ensures that international payments between countries can be made quickly and securely.</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 </a:t>
            </a:r>
            <a:r>
              <a:rPr lang="en-US" altLang="en-US" dirty="0">
                <a:solidFill>
                  <a:srgbClr val="FF0000"/>
                </a:solidFill>
                <a:latin typeface="Times New Roman" panose="02020603050405020304" pitchFamily="18" charset="0"/>
                <a:cs typeface="Times New Roman" panose="02020603050405020304" pitchFamily="18" charset="0"/>
              </a:rPr>
              <a:t>Businesses transferring payments for international trade use international banking systems.</a:t>
            </a:r>
          </a:p>
          <a:p>
            <a:pPr marL="0" lvl="0" indent="0" eaLnBrk="0" fontAlgn="base" hangingPunct="0">
              <a:lnSpc>
                <a:spcPct val="100000"/>
              </a:lnSpc>
              <a:spcBef>
                <a:spcPct val="0"/>
              </a:spcBef>
              <a:spcAft>
                <a:spcPct val="0"/>
              </a:spcAft>
              <a:buClrTx/>
              <a:buNone/>
            </a:pP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a:lnSpc>
                <a:spcPct val="100000"/>
              </a:lnSpc>
            </a:pPr>
            <a:endParaRPr lang="en-IN"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0A5C11C9-65D2-491A-A266-6ADBD2CB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06736"/>
            <a:ext cx="12191998" cy="851265"/>
          </a:xfrm>
          <a:custGeom>
            <a:avLst/>
            <a:gdLst>
              <a:gd name="connsiteX0" fmla="*/ 619389 w 12191998"/>
              <a:gd name="connsiteY0" fmla="*/ 0 h 851265"/>
              <a:gd name="connsiteX1" fmla="*/ 687652 w 12191998"/>
              <a:gd name="connsiteY1" fmla="*/ 3175 h 851265"/>
              <a:gd name="connsiteX2" fmla="*/ 747977 w 12191998"/>
              <a:gd name="connsiteY2" fmla="*/ 9525 h 851265"/>
              <a:gd name="connsiteX3" fmla="*/ 800364 w 12191998"/>
              <a:gd name="connsiteY3" fmla="*/ 20637 h 851265"/>
              <a:gd name="connsiteX4" fmla="*/ 846402 w 12191998"/>
              <a:gd name="connsiteY4" fmla="*/ 36512 h 851265"/>
              <a:gd name="connsiteX5" fmla="*/ 887677 w 12191998"/>
              <a:gd name="connsiteY5" fmla="*/ 52387 h 851265"/>
              <a:gd name="connsiteX6" fmla="*/ 924189 w 12191998"/>
              <a:gd name="connsiteY6" fmla="*/ 68262 h 851265"/>
              <a:gd name="connsiteX7" fmla="*/ 962289 w 12191998"/>
              <a:gd name="connsiteY7" fmla="*/ 87312 h 851265"/>
              <a:gd name="connsiteX8" fmla="*/ 1000389 w 12191998"/>
              <a:gd name="connsiteY8" fmla="*/ 106362 h 851265"/>
              <a:gd name="connsiteX9" fmla="*/ 1036902 w 12191998"/>
              <a:gd name="connsiteY9" fmla="*/ 125412 h 851265"/>
              <a:gd name="connsiteX10" fmla="*/ 1078177 w 12191998"/>
              <a:gd name="connsiteY10" fmla="*/ 141287 h 851265"/>
              <a:gd name="connsiteX11" fmla="*/ 1124214 w 12191998"/>
              <a:gd name="connsiteY11" fmla="*/ 155575 h 851265"/>
              <a:gd name="connsiteX12" fmla="*/ 1176602 w 12191998"/>
              <a:gd name="connsiteY12" fmla="*/ 166687 h 851265"/>
              <a:gd name="connsiteX13" fmla="*/ 1236927 w 12191998"/>
              <a:gd name="connsiteY13" fmla="*/ 174625 h 851265"/>
              <a:gd name="connsiteX14" fmla="*/ 1305189 w 12191998"/>
              <a:gd name="connsiteY14" fmla="*/ 176212 h 851265"/>
              <a:gd name="connsiteX15" fmla="*/ 1373452 w 12191998"/>
              <a:gd name="connsiteY15" fmla="*/ 174625 h 851265"/>
              <a:gd name="connsiteX16" fmla="*/ 1433777 w 12191998"/>
              <a:gd name="connsiteY16" fmla="*/ 166687 h 851265"/>
              <a:gd name="connsiteX17" fmla="*/ 1486164 w 12191998"/>
              <a:gd name="connsiteY17" fmla="*/ 155575 h 851265"/>
              <a:gd name="connsiteX18" fmla="*/ 1532202 w 12191998"/>
              <a:gd name="connsiteY18" fmla="*/ 141287 h 851265"/>
              <a:gd name="connsiteX19" fmla="*/ 1573477 w 12191998"/>
              <a:gd name="connsiteY19" fmla="*/ 125412 h 851265"/>
              <a:gd name="connsiteX20" fmla="*/ 1609989 w 12191998"/>
              <a:gd name="connsiteY20" fmla="*/ 106362 h 851265"/>
              <a:gd name="connsiteX21" fmla="*/ 1648089 w 12191998"/>
              <a:gd name="connsiteY21" fmla="*/ 87312 h 851265"/>
              <a:gd name="connsiteX22" fmla="*/ 1686189 w 12191998"/>
              <a:gd name="connsiteY22" fmla="*/ 68262 h 851265"/>
              <a:gd name="connsiteX23" fmla="*/ 1722702 w 12191998"/>
              <a:gd name="connsiteY23" fmla="*/ 52387 h 851265"/>
              <a:gd name="connsiteX24" fmla="*/ 1763977 w 12191998"/>
              <a:gd name="connsiteY24" fmla="*/ 36512 h 851265"/>
              <a:gd name="connsiteX25" fmla="*/ 1810014 w 12191998"/>
              <a:gd name="connsiteY25" fmla="*/ 20637 h 851265"/>
              <a:gd name="connsiteX26" fmla="*/ 1862402 w 12191998"/>
              <a:gd name="connsiteY26" fmla="*/ 9525 h 851265"/>
              <a:gd name="connsiteX27" fmla="*/ 1922727 w 12191998"/>
              <a:gd name="connsiteY27" fmla="*/ 3175 h 851265"/>
              <a:gd name="connsiteX28" fmla="*/ 1990989 w 12191998"/>
              <a:gd name="connsiteY28" fmla="*/ 0 h 851265"/>
              <a:gd name="connsiteX29" fmla="*/ 2059252 w 12191998"/>
              <a:gd name="connsiteY29" fmla="*/ 3175 h 851265"/>
              <a:gd name="connsiteX30" fmla="*/ 2119577 w 12191998"/>
              <a:gd name="connsiteY30" fmla="*/ 9525 h 851265"/>
              <a:gd name="connsiteX31" fmla="*/ 2171964 w 12191998"/>
              <a:gd name="connsiteY31" fmla="*/ 20637 h 851265"/>
              <a:gd name="connsiteX32" fmla="*/ 2218002 w 12191998"/>
              <a:gd name="connsiteY32" fmla="*/ 36512 h 851265"/>
              <a:gd name="connsiteX33" fmla="*/ 2259277 w 12191998"/>
              <a:gd name="connsiteY33" fmla="*/ 52387 h 851265"/>
              <a:gd name="connsiteX34" fmla="*/ 2295789 w 12191998"/>
              <a:gd name="connsiteY34" fmla="*/ 68262 h 851265"/>
              <a:gd name="connsiteX35" fmla="*/ 2333889 w 12191998"/>
              <a:gd name="connsiteY35" fmla="*/ 87312 h 851265"/>
              <a:gd name="connsiteX36" fmla="*/ 2371989 w 12191998"/>
              <a:gd name="connsiteY36" fmla="*/ 106362 h 851265"/>
              <a:gd name="connsiteX37" fmla="*/ 2408502 w 12191998"/>
              <a:gd name="connsiteY37" fmla="*/ 125412 h 851265"/>
              <a:gd name="connsiteX38" fmla="*/ 2449777 w 12191998"/>
              <a:gd name="connsiteY38" fmla="*/ 141287 h 851265"/>
              <a:gd name="connsiteX39" fmla="*/ 2495814 w 12191998"/>
              <a:gd name="connsiteY39" fmla="*/ 155575 h 851265"/>
              <a:gd name="connsiteX40" fmla="*/ 2548202 w 12191998"/>
              <a:gd name="connsiteY40" fmla="*/ 166687 h 851265"/>
              <a:gd name="connsiteX41" fmla="*/ 2608527 w 12191998"/>
              <a:gd name="connsiteY41" fmla="*/ 174625 h 851265"/>
              <a:gd name="connsiteX42" fmla="*/ 2676789 w 12191998"/>
              <a:gd name="connsiteY42" fmla="*/ 176212 h 851265"/>
              <a:gd name="connsiteX43" fmla="*/ 2745052 w 12191998"/>
              <a:gd name="connsiteY43" fmla="*/ 174625 h 851265"/>
              <a:gd name="connsiteX44" fmla="*/ 2805377 w 12191998"/>
              <a:gd name="connsiteY44" fmla="*/ 166687 h 851265"/>
              <a:gd name="connsiteX45" fmla="*/ 2857764 w 12191998"/>
              <a:gd name="connsiteY45" fmla="*/ 155575 h 851265"/>
              <a:gd name="connsiteX46" fmla="*/ 2903802 w 12191998"/>
              <a:gd name="connsiteY46" fmla="*/ 141287 h 851265"/>
              <a:gd name="connsiteX47" fmla="*/ 2945077 w 12191998"/>
              <a:gd name="connsiteY47" fmla="*/ 125412 h 851265"/>
              <a:gd name="connsiteX48" fmla="*/ 2981589 w 12191998"/>
              <a:gd name="connsiteY48" fmla="*/ 106362 h 851265"/>
              <a:gd name="connsiteX49" fmla="*/ 3019689 w 12191998"/>
              <a:gd name="connsiteY49" fmla="*/ 87312 h 851265"/>
              <a:gd name="connsiteX50" fmla="*/ 3057789 w 12191998"/>
              <a:gd name="connsiteY50" fmla="*/ 68262 h 851265"/>
              <a:gd name="connsiteX51" fmla="*/ 3094302 w 12191998"/>
              <a:gd name="connsiteY51" fmla="*/ 52387 h 851265"/>
              <a:gd name="connsiteX52" fmla="*/ 3135577 w 12191998"/>
              <a:gd name="connsiteY52" fmla="*/ 36512 h 851265"/>
              <a:gd name="connsiteX53" fmla="*/ 3181614 w 12191998"/>
              <a:gd name="connsiteY53" fmla="*/ 20637 h 851265"/>
              <a:gd name="connsiteX54" fmla="*/ 3234002 w 12191998"/>
              <a:gd name="connsiteY54" fmla="*/ 9525 h 851265"/>
              <a:gd name="connsiteX55" fmla="*/ 3294327 w 12191998"/>
              <a:gd name="connsiteY55" fmla="*/ 3175 h 851265"/>
              <a:gd name="connsiteX56" fmla="*/ 3361002 w 12191998"/>
              <a:gd name="connsiteY56" fmla="*/ 0 h 851265"/>
              <a:gd name="connsiteX57" fmla="*/ 3430852 w 12191998"/>
              <a:gd name="connsiteY57" fmla="*/ 3175 h 851265"/>
              <a:gd name="connsiteX58" fmla="*/ 3491177 w 12191998"/>
              <a:gd name="connsiteY58" fmla="*/ 9525 h 851265"/>
              <a:gd name="connsiteX59" fmla="*/ 3543564 w 12191998"/>
              <a:gd name="connsiteY59" fmla="*/ 20637 h 851265"/>
              <a:gd name="connsiteX60" fmla="*/ 3589602 w 12191998"/>
              <a:gd name="connsiteY60" fmla="*/ 36512 h 851265"/>
              <a:gd name="connsiteX61" fmla="*/ 3630877 w 12191998"/>
              <a:gd name="connsiteY61" fmla="*/ 52387 h 851265"/>
              <a:gd name="connsiteX62" fmla="*/ 3667389 w 12191998"/>
              <a:gd name="connsiteY62" fmla="*/ 68262 h 851265"/>
              <a:gd name="connsiteX63" fmla="*/ 3705489 w 12191998"/>
              <a:gd name="connsiteY63" fmla="*/ 87312 h 851265"/>
              <a:gd name="connsiteX64" fmla="*/ 3743589 w 12191998"/>
              <a:gd name="connsiteY64" fmla="*/ 106362 h 851265"/>
              <a:gd name="connsiteX65" fmla="*/ 3780102 w 12191998"/>
              <a:gd name="connsiteY65" fmla="*/ 125412 h 851265"/>
              <a:gd name="connsiteX66" fmla="*/ 3821377 w 12191998"/>
              <a:gd name="connsiteY66" fmla="*/ 141287 h 851265"/>
              <a:gd name="connsiteX67" fmla="*/ 3867414 w 12191998"/>
              <a:gd name="connsiteY67" fmla="*/ 155575 h 851265"/>
              <a:gd name="connsiteX68" fmla="*/ 3919802 w 12191998"/>
              <a:gd name="connsiteY68" fmla="*/ 166687 h 851265"/>
              <a:gd name="connsiteX69" fmla="*/ 3980127 w 12191998"/>
              <a:gd name="connsiteY69" fmla="*/ 174625 h 851265"/>
              <a:gd name="connsiteX70" fmla="*/ 4048389 w 12191998"/>
              <a:gd name="connsiteY70" fmla="*/ 176212 h 851265"/>
              <a:gd name="connsiteX71" fmla="*/ 4116652 w 12191998"/>
              <a:gd name="connsiteY71" fmla="*/ 174625 h 851265"/>
              <a:gd name="connsiteX72" fmla="*/ 4176977 w 12191998"/>
              <a:gd name="connsiteY72" fmla="*/ 166687 h 851265"/>
              <a:gd name="connsiteX73" fmla="*/ 4229364 w 12191998"/>
              <a:gd name="connsiteY73" fmla="*/ 155575 h 851265"/>
              <a:gd name="connsiteX74" fmla="*/ 4275402 w 12191998"/>
              <a:gd name="connsiteY74" fmla="*/ 141287 h 851265"/>
              <a:gd name="connsiteX75" fmla="*/ 4316677 w 12191998"/>
              <a:gd name="connsiteY75" fmla="*/ 125412 h 851265"/>
              <a:gd name="connsiteX76" fmla="*/ 4353189 w 12191998"/>
              <a:gd name="connsiteY76" fmla="*/ 106362 h 851265"/>
              <a:gd name="connsiteX77" fmla="*/ 4429389 w 12191998"/>
              <a:gd name="connsiteY77" fmla="*/ 68262 h 851265"/>
              <a:gd name="connsiteX78" fmla="*/ 4465902 w 12191998"/>
              <a:gd name="connsiteY78" fmla="*/ 52387 h 851265"/>
              <a:gd name="connsiteX79" fmla="*/ 4507177 w 12191998"/>
              <a:gd name="connsiteY79" fmla="*/ 36512 h 851265"/>
              <a:gd name="connsiteX80" fmla="*/ 4553216 w 12191998"/>
              <a:gd name="connsiteY80" fmla="*/ 20637 h 851265"/>
              <a:gd name="connsiteX81" fmla="*/ 4605602 w 12191998"/>
              <a:gd name="connsiteY81" fmla="*/ 9525 h 851265"/>
              <a:gd name="connsiteX82" fmla="*/ 4665928 w 12191998"/>
              <a:gd name="connsiteY82" fmla="*/ 3175 h 851265"/>
              <a:gd name="connsiteX83" fmla="*/ 4734189 w 12191998"/>
              <a:gd name="connsiteY83" fmla="*/ 0 h 851265"/>
              <a:gd name="connsiteX84" fmla="*/ 4802453 w 12191998"/>
              <a:gd name="connsiteY84" fmla="*/ 3175 h 851265"/>
              <a:gd name="connsiteX85" fmla="*/ 4862777 w 12191998"/>
              <a:gd name="connsiteY85" fmla="*/ 9525 h 851265"/>
              <a:gd name="connsiteX86" fmla="*/ 4915165 w 12191998"/>
              <a:gd name="connsiteY86" fmla="*/ 20637 h 851265"/>
              <a:gd name="connsiteX87" fmla="*/ 4961202 w 12191998"/>
              <a:gd name="connsiteY87" fmla="*/ 36512 h 851265"/>
              <a:gd name="connsiteX88" fmla="*/ 5002478 w 12191998"/>
              <a:gd name="connsiteY88" fmla="*/ 52387 h 851265"/>
              <a:gd name="connsiteX89" fmla="*/ 5038989 w 12191998"/>
              <a:gd name="connsiteY89" fmla="*/ 68262 h 851265"/>
              <a:gd name="connsiteX90" fmla="*/ 5077091 w 12191998"/>
              <a:gd name="connsiteY90" fmla="*/ 87312 h 851265"/>
              <a:gd name="connsiteX91" fmla="*/ 5115189 w 12191998"/>
              <a:gd name="connsiteY91" fmla="*/ 106362 h 851265"/>
              <a:gd name="connsiteX92" fmla="*/ 5151702 w 12191998"/>
              <a:gd name="connsiteY92" fmla="*/ 125412 h 851265"/>
              <a:gd name="connsiteX93" fmla="*/ 5192978 w 12191998"/>
              <a:gd name="connsiteY93" fmla="*/ 141287 h 851265"/>
              <a:gd name="connsiteX94" fmla="*/ 5239014 w 12191998"/>
              <a:gd name="connsiteY94" fmla="*/ 155575 h 851265"/>
              <a:gd name="connsiteX95" fmla="*/ 5291401 w 12191998"/>
              <a:gd name="connsiteY95" fmla="*/ 166687 h 851265"/>
              <a:gd name="connsiteX96" fmla="*/ 5351727 w 12191998"/>
              <a:gd name="connsiteY96" fmla="*/ 174625 h 851265"/>
              <a:gd name="connsiteX97" fmla="*/ 5410199 w 12191998"/>
              <a:gd name="connsiteY97" fmla="*/ 175985 h 851265"/>
              <a:gd name="connsiteX98" fmla="*/ 5468671 w 12191998"/>
              <a:gd name="connsiteY98" fmla="*/ 174625 h 851265"/>
              <a:gd name="connsiteX99" fmla="*/ 5528996 w 12191998"/>
              <a:gd name="connsiteY99" fmla="*/ 166687 h 851265"/>
              <a:gd name="connsiteX100" fmla="*/ 5581383 w 12191998"/>
              <a:gd name="connsiteY100" fmla="*/ 155575 h 851265"/>
              <a:gd name="connsiteX101" fmla="*/ 5627421 w 12191998"/>
              <a:gd name="connsiteY101" fmla="*/ 141287 h 851265"/>
              <a:gd name="connsiteX102" fmla="*/ 5668696 w 12191998"/>
              <a:gd name="connsiteY102" fmla="*/ 125412 h 851265"/>
              <a:gd name="connsiteX103" fmla="*/ 5705210 w 12191998"/>
              <a:gd name="connsiteY103" fmla="*/ 106362 h 851265"/>
              <a:gd name="connsiteX104" fmla="*/ 5743308 w 12191998"/>
              <a:gd name="connsiteY104" fmla="*/ 87312 h 851265"/>
              <a:gd name="connsiteX105" fmla="*/ 5781408 w 12191998"/>
              <a:gd name="connsiteY105" fmla="*/ 68262 h 851265"/>
              <a:gd name="connsiteX106" fmla="*/ 5817921 w 12191998"/>
              <a:gd name="connsiteY106" fmla="*/ 52387 h 851265"/>
              <a:gd name="connsiteX107" fmla="*/ 5859196 w 12191998"/>
              <a:gd name="connsiteY107" fmla="*/ 36512 h 851265"/>
              <a:gd name="connsiteX108" fmla="*/ 5905234 w 12191998"/>
              <a:gd name="connsiteY108" fmla="*/ 20637 h 851265"/>
              <a:gd name="connsiteX109" fmla="*/ 5957621 w 12191998"/>
              <a:gd name="connsiteY109" fmla="*/ 9525 h 851265"/>
              <a:gd name="connsiteX110" fmla="*/ 6017948 w 12191998"/>
              <a:gd name="connsiteY110" fmla="*/ 3175 h 851265"/>
              <a:gd name="connsiteX111" fmla="*/ 6086210 w 12191998"/>
              <a:gd name="connsiteY111" fmla="*/ 0 h 851265"/>
              <a:gd name="connsiteX112" fmla="*/ 6095999 w 12191998"/>
              <a:gd name="connsiteY112" fmla="*/ 455 h 851265"/>
              <a:gd name="connsiteX113" fmla="*/ 6105789 w 12191998"/>
              <a:gd name="connsiteY113" fmla="*/ 0 h 851265"/>
              <a:gd name="connsiteX114" fmla="*/ 6174052 w 12191998"/>
              <a:gd name="connsiteY114" fmla="*/ 3175 h 851265"/>
              <a:gd name="connsiteX115" fmla="*/ 6234377 w 12191998"/>
              <a:gd name="connsiteY115" fmla="*/ 9525 h 851265"/>
              <a:gd name="connsiteX116" fmla="*/ 6286764 w 12191998"/>
              <a:gd name="connsiteY116" fmla="*/ 20637 h 851265"/>
              <a:gd name="connsiteX117" fmla="*/ 6332802 w 12191998"/>
              <a:gd name="connsiteY117" fmla="*/ 36512 h 851265"/>
              <a:gd name="connsiteX118" fmla="*/ 6374077 w 12191998"/>
              <a:gd name="connsiteY118" fmla="*/ 52387 h 851265"/>
              <a:gd name="connsiteX119" fmla="*/ 6410589 w 12191998"/>
              <a:gd name="connsiteY119" fmla="*/ 68262 h 851265"/>
              <a:gd name="connsiteX120" fmla="*/ 6448689 w 12191998"/>
              <a:gd name="connsiteY120" fmla="*/ 87312 h 851265"/>
              <a:gd name="connsiteX121" fmla="*/ 6486789 w 12191998"/>
              <a:gd name="connsiteY121" fmla="*/ 106362 h 851265"/>
              <a:gd name="connsiteX122" fmla="*/ 6523302 w 12191998"/>
              <a:gd name="connsiteY122" fmla="*/ 125412 h 851265"/>
              <a:gd name="connsiteX123" fmla="*/ 6564577 w 12191998"/>
              <a:gd name="connsiteY123" fmla="*/ 141287 h 851265"/>
              <a:gd name="connsiteX124" fmla="*/ 6610614 w 12191998"/>
              <a:gd name="connsiteY124" fmla="*/ 155575 h 851265"/>
              <a:gd name="connsiteX125" fmla="*/ 6663002 w 12191998"/>
              <a:gd name="connsiteY125" fmla="*/ 166687 h 851265"/>
              <a:gd name="connsiteX126" fmla="*/ 6723327 w 12191998"/>
              <a:gd name="connsiteY126" fmla="*/ 174625 h 851265"/>
              <a:gd name="connsiteX127" fmla="*/ 6781799 w 12191998"/>
              <a:gd name="connsiteY127" fmla="*/ 175985 h 851265"/>
              <a:gd name="connsiteX128" fmla="*/ 6840271 w 12191998"/>
              <a:gd name="connsiteY128" fmla="*/ 174625 h 851265"/>
              <a:gd name="connsiteX129" fmla="*/ 6900596 w 12191998"/>
              <a:gd name="connsiteY129" fmla="*/ 166687 h 851265"/>
              <a:gd name="connsiteX130" fmla="*/ 6952983 w 12191998"/>
              <a:gd name="connsiteY130" fmla="*/ 155575 h 851265"/>
              <a:gd name="connsiteX131" fmla="*/ 6999021 w 12191998"/>
              <a:gd name="connsiteY131" fmla="*/ 141287 h 851265"/>
              <a:gd name="connsiteX132" fmla="*/ 7040296 w 12191998"/>
              <a:gd name="connsiteY132" fmla="*/ 125412 h 851265"/>
              <a:gd name="connsiteX133" fmla="*/ 7076808 w 12191998"/>
              <a:gd name="connsiteY133" fmla="*/ 106362 h 851265"/>
              <a:gd name="connsiteX134" fmla="*/ 7114908 w 12191998"/>
              <a:gd name="connsiteY134" fmla="*/ 87312 h 851265"/>
              <a:gd name="connsiteX135" fmla="*/ 7153008 w 12191998"/>
              <a:gd name="connsiteY135" fmla="*/ 68262 h 851265"/>
              <a:gd name="connsiteX136" fmla="*/ 7189521 w 12191998"/>
              <a:gd name="connsiteY136" fmla="*/ 52387 h 851265"/>
              <a:gd name="connsiteX137" fmla="*/ 7230796 w 12191998"/>
              <a:gd name="connsiteY137" fmla="*/ 36512 h 851265"/>
              <a:gd name="connsiteX138" fmla="*/ 7276833 w 12191998"/>
              <a:gd name="connsiteY138" fmla="*/ 20637 h 851265"/>
              <a:gd name="connsiteX139" fmla="*/ 7329221 w 12191998"/>
              <a:gd name="connsiteY139" fmla="*/ 9525 h 851265"/>
              <a:gd name="connsiteX140" fmla="*/ 7389546 w 12191998"/>
              <a:gd name="connsiteY140" fmla="*/ 3175 h 851265"/>
              <a:gd name="connsiteX141" fmla="*/ 7457808 w 12191998"/>
              <a:gd name="connsiteY141" fmla="*/ 0 h 851265"/>
              <a:gd name="connsiteX142" fmla="*/ 7526071 w 12191998"/>
              <a:gd name="connsiteY142" fmla="*/ 3175 h 851265"/>
              <a:gd name="connsiteX143" fmla="*/ 7586396 w 12191998"/>
              <a:gd name="connsiteY143" fmla="*/ 9525 h 851265"/>
              <a:gd name="connsiteX144" fmla="*/ 7638783 w 12191998"/>
              <a:gd name="connsiteY144" fmla="*/ 20637 h 851265"/>
              <a:gd name="connsiteX145" fmla="*/ 7684821 w 12191998"/>
              <a:gd name="connsiteY145" fmla="*/ 36512 h 851265"/>
              <a:gd name="connsiteX146" fmla="*/ 7726096 w 12191998"/>
              <a:gd name="connsiteY146" fmla="*/ 52387 h 851265"/>
              <a:gd name="connsiteX147" fmla="*/ 7762608 w 12191998"/>
              <a:gd name="connsiteY147" fmla="*/ 68262 h 851265"/>
              <a:gd name="connsiteX148" fmla="*/ 7800708 w 12191998"/>
              <a:gd name="connsiteY148" fmla="*/ 87312 h 851265"/>
              <a:gd name="connsiteX149" fmla="*/ 7838808 w 12191998"/>
              <a:gd name="connsiteY149" fmla="*/ 106362 h 851265"/>
              <a:gd name="connsiteX150" fmla="*/ 7875321 w 12191998"/>
              <a:gd name="connsiteY150" fmla="*/ 125412 h 851265"/>
              <a:gd name="connsiteX151" fmla="*/ 7916596 w 12191998"/>
              <a:gd name="connsiteY151" fmla="*/ 141287 h 851265"/>
              <a:gd name="connsiteX152" fmla="*/ 7962633 w 12191998"/>
              <a:gd name="connsiteY152" fmla="*/ 155575 h 851265"/>
              <a:gd name="connsiteX153" fmla="*/ 8015021 w 12191998"/>
              <a:gd name="connsiteY153" fmla="*/ 166687 h 851265"/>
              <a:gd name="connsiteX154" fmla="*/ 8075346 w 12191998"/>
              <a:gd name="connsiteY154" fmla="*/ 174625 h 851265"/>
              <a:gd name="connsiteX155" fmla="*/ 8143608 w 12191998"/>
              <a:gd name="connsiteY155" fmla="*/ 176212 h 851265"/>
              <a:gd name="connsiteX156" fmla="*/ 8211871 w 12191998"/>
              <a:gd name="connsiteY156" fmla="*/ 174625 h 851265"/>
              <a:gd name="connsiteX157" fmla="*/ 8272196 w 12191998"/>
              <a:gd name="connsiteY157" fmla="*/ 166687 h 851265"/>
              <a:gd name="connsiteX158" fmla="*/ 8324583 w 12191998"/>
              <a:gd name="connsiteY158" fmla="*/ 155575 h 851265"/>
              <a:gd name="connsiteX159" fmla="*/ 8370621 w 12191998"/>
              <a:gd name="connsiteY159" fmla="*/ 141287 h 851265"/>
              <a:gd name="connsiteX160" fmla="*/ 8411896 w 12191998"/>
              <a:gd name="connsiteY160" fmla="*/ 125412 h 851265"/>
              <a:gd name="connsiteX161" fmla="*/ 8448408 w 12191998"/>
              <a:gd name="connsiteY161" fmla="*/ 106362 h 851265"/>
              <a:gd name="connsiteX162" fmla="*/ 8486508 w 12191998"/>
              <a:gd name="connsiteY162" fmla="*/ 87312 h 851265"/>
              <a:gd name="connsiteX163" fmla="*/ 8524608 w 12191998"/>
              <a:gd name="connsiteY163" fmla="*/ 68262 h 851265"/>
              <a:gd name="connsiteX164" fmla="*/ 8561120 w 12191998"/>
              <a:gd name="connsiteY164" fmla="*/ 52387 h 851265"/>
              <a:gd name="connsiteX165" fmla="*/ 8602396 w 12191998"/>
              <a:gd name="connsiteY165" fmla="*/ 36512 h 851265"/>
              <a:gd name="connsiteX166" fmla="*/ 8648432 w 12191998"/>
              <a:gd name="connsiteY166" fmla="*/ 20637 h 851265"/>
              <a:gd name="connsiteX167" fmla="*/ 8700820 w 12191998"/>
              <a:gd name="connsiteY167" fmla="*/ 9525 h 851265"/>
              <a:gd name="connsiteX168" fmla="*/ 8761146 w 12191998"/>
              <a:gd name="connsiteY168" fmla="*/ 3175 h 851265"/>
              <a:gd name="connsiteX169" fmla="*/ 8827820 w 12191998"/>
              <a:gd name="connsiteY169" fmla="*/ 0 h 851265"/>
              <a:gd name="connsiteX170" fmla="*/ 8897670 w 12191998"/>
              <a:gd name="connsiteY170" fmla="*/ 3175 h 851265"/>
              <a:gd name="connsiteX171" fmla="*/ 8957996 w 12191998"/>
              <a:gd name="connsiteY171" fmla="*/ 9525 h 851265"/>
              <a:gd name="connsiteX172" fmla="*/ 9010382 w 12191998"/>
              <a:gd name="connsiteY172" fmla="*/ 20637 h 851265"/>
              <a:gd name="connsiteX173" fmla="*/ 9056420 w 12191998"/>
              <a:gd name="connsiteY173" fmla="*/ 36512 h 851265"/>
              <a:gd name="connsiteX174" fmla="*/ 9097696 w 12191998"/>
              <a:gd name="connsiteY174" fmla="*/ 52387 h 851265"/>
              <a:gd name="connsiteX175" fmla="*/ 9134208 w 12191998"/>
              <a:gd name="connsiteY175" fmla="*/ 68262 h 851265"/>
              <a:gd name="connsiteX176" fmla="*/ 9172308 w 12191998"/>
              <a:gd name="connsiteY176" fmla="*/ 87312 h 851265"/>
              <a:gd name="connsiteX177" fmla="*/ 9210408 w 12191998"/>
              <a:gd name="connsiteY177" fmla="*/ 106362 h 851265"/>
              <a:gd name="connsiteX178" fmla="*/ 9246920 w 12191998"/>
              <a:gd name="connsiteY178" fmla="*/ 125412 h 851265"/>
              <a:gd name="connsiteX179" fmla="*/ 9288196 w 12191998"/>
              <a:gd name="connsiteY179" fmla="*/ 141287 h 851265"/>
              <a:gd name="connsiteX180" fmla="*/ 9334232 w 12191998"/>
              <a:gd name="connsiteY180" fmla="*/ 155575 h 851265"/>
              <a:gd name="connsiteX181" fmla="*/ 9386620 w 12191998"/>
              <a:gd name="connsiteY181" fmla="*/ 166687 h 851265"/>
              <a:gd name="connsiteX182" fmla="*/ 9446946 w 12191998"/>
              <a:gd name="connsiteY182" fmla="*/ 174625 h 851265"/>
              <a:gd name="connsiteX183" fmla="*/ 9515208 w 12191998"/>
              <a:gd name="connsiteY183" fmla="*/ 176212 h 851265"/>
              <a:gd name="connsiteX184" fmla="*/ 9583470 w 12191998"/>
              <a:gd name="connsiteY184" fmla="*/ 174625 h 851265"/>
              <a:gd name="connsiteX185" fmla="*/ 9643796 w 12191998"/>
              <a:gd name="connsiteY185" fmla="*/ 166687 h 851265"/>
              <a:gd name="connsiteX186" fmla="*/ 9696182 w 12191998"/>
              <a:gd name="connsiteY186" fmla="*/ 155575 h 851265"/>
              <a:gd name="connsiteX187" fmla="*/ 9742220 w 12191998"/>
              <a:gd name="connsiteY187" fmla="*/ 141287 h 851265"/>
              <a:gd name="connsiteX188" fmla="*/ 9783496 w 12191998"/>
              <a:gd name="connsiteY188" fmla="*/ 125412 h 851265"/>
              <a:gd name="connsiteX189" fmla="*/ 9820008 w 12191998"/>
              <a:gd name="connsiteY189" fmla="*/ 106362 h 851265"/>
              <a:gd name="connsiteX190" fmla="*/ 9896208 w 12191998"/>
              <a:gd name="connsiteY190" fmla="*/ 68262 h 851265"/>
              <a:gd name="connsiteX191" fmla="*/ 9932720 w 12191998"/>
              <a:gd name="connsiteY191" fmla="*/ 52387 h 851265"/>
              <a:gd name="connsiteX192" fmla="*/ 9973996 w 12191998"/>
              <a:gd name="connsiteY192" fmla="*/ 36512 h 851265"/>
              <a:gd name="connsiteX193" fmla="*/ 10020032 w 12191998"/>
              <a:gd name="connsiteY193" fmla="*/ 20637 h 851265"/>
              <a:gd name="connsiteX194" fmla="*/ 10072420 w 12191998"/>
              <a:gd name="connsiteY194" fmla="*/ 9525 h 851265"/>
              <a:gd name="connsiteX195" fmla="*/ 10132746 w 12191998"/>
              <a:gd name="connsiteY195" fmla="*/ 3175 h 851265"/>
              <a:gd name="connsiteX196" fmla="*/ 10201008 w 12191998"/>
              <a:gd name="connsiteY196" fmla="*/ 0 h 851265"/>
              <a:gd name="connsiteX197" fmla="*/ 10269270 w 12191998"/>
              <a:gd name="connsiteY197" fmla="*/ 3175 h 851265"/>
              <a:gd name="connsiteX198" fmla="*/ 10329596 w 12191998"/>
              <a:gd name="connsiteY198" fmla="*/ 9525 h 851265"/>
              <a:gd name="connsiteX199" fmla="*/ 10381982 w 12191998"/>
              <a:gd name="connsiteY199" fmla="*/ 20637 h 851265"/>
              <a:gd name="connsiteX200" fmla="*/ 10428020 w 12191998"/>
              <a:gd name="connsiteY200" fmla="*/ 36512 h 851265"/>
              <a:gd name="connsiteX201" fmla="*/ 10469296 w 12191998"/>
              <a:gd name="connsiteY201" fmla="*/ 52387 h 851265"/>
              <a:gd name="connsiteX202" fmla="*/ 10505808 w 12191998"/>
              <a:gd name="connsiteY202" fmla="*/ 68262 h 851265"/>
              <a:gd name="connsiteX203" fmla="*/ 10543908 w 12191998"/>
              <a:gd name="connsiteY203" fmla="*/ 87312 h 851265"/>
              <a:gd name="connsiteX204" fmla="*/ 10582008 w 12191998"/>
              <a:gd name="connsiteY204" fmla="*/ 106362 h 851265"/>
              <a:gd name="connsiteX205" fmla="*/ 10618520 w 12191998"/>
              <a:gd name="connsiteY205" fmla="*/ 125412 h 851265"/>
              <a:gd name="connsiteX206" fmla="*/ 10659796 w 12191998"/>
              <a:gd name="connsiteY206" fmla="*/ 141287 h 851265"/>
              <a:gd name="connsiteX207" fmla="*/ 10705832 w 12191998"/>
              <a:gd name="connsiteY207" fmla="*/ 155575 h 851265"/>
              <a:gd name="connsiteX208" fmla="*/ 10758220 w 12191998"/>
              <a:gd name="connsiteY208" fmla="*/ 166687 h 851265"/>
              <a:gd name="connsiteX209" fmla="*/ 10818546 w 12191998"/>
              <a:gd name="connsiteY209" fmla="*/ 174625 h 851265"/>
              <a:gd name="connsiteX210" fmla="*/ 10886808 w 12191998"/>
              <a:gd name="connsiteY210" fmla="*/ 176212 h 851265"/>
              <a:gd name="connsiteX211" fmla="*/ 10955070 w 12191998"/>
              <a:gd name="connsiteY211" fmla="*/ 174625 h 851265"/>
              <a:gd name="connsiteX212" fmla="*/ 11015396 w 12191998"/>
              <a:gd name="connsiteY212" fmla="*/ 166687 h 851265"/>
              <a:gd name="connsiteX213" fmla="*/ 11067782 w 12191998"/>
              <a:gd name="connsiteY213" fmla="*/ 155575 h 851265"/>
              <a:gd name="connsiteX214" fmla="*/ 11113820 w 12191998"/>
              <a:gd name="connsiteY214" fmla="*/ 141287 h 851265"/>
              <a:gd name="connsiteX215" fmla="*/ 11155096 w 12191998"/>
              <a:gd name="connsiteY215" fmla="*/ 125412 h 851265"/>
              <a:gd name="connsiteX216" fmla="*/ 11191608 w 12191998"/>
              <a:gd name="connsiteY216" fmla="*/ 106362 h 851265"/>
              <a:gd name="connsiteX217" fmla="*/ 11229708 w 12191998"/>
              <a:gd name="connsiteY217" fmla="*/ 87312 h 851265"/>
              <a:gd name="connsiteX218" fmla="*/ 11267808 w 12191998"/>
              <a:gd name="connsiteY218" fmla="*/ 68262 h 851265"/>
              <a:gd name="connsiteX219" fmla="*/ 11304320 w 12191998"/>
              <a:gd name="connsiteY219" fmla="*/ 52387 h 851265"/>
              <a:gd name="connsiteX220" fmla="*/ 11345596 w 12191998"/>
              <a:gd name="connsiteY220" fmla="*/ 36512 h 851265"/>
              <a:gd name="connsiteX221" fmla="*/ 11391632 w 12191998"/>
              <a:gd name="connsiteY221" fmla="*/ 20637 h 851265"/>
              <a:gd name="connsiteX222" fmla="*/ 11444020 w 12191998"/>
              <a:gd name="connsiteY222" fmla="*/ 9525 h 851265"/>
              <a:gd name="connsiteX223" fmla="*/ 11504346 w 12191998"/>
              <a:gd name="connsiteY223" fmla="*/ 3175 h 851265"/>
              <a:gd name="connsiteX224" fmla="*/ 11572608 w 12191998"/>
              <a:gd name="connsiteY224" fmla="*/ 0 h 851265"/>
              <a:gd name="connsiteX225" fmla="*/ 11640870 w 12191998"/>
              <a:gd name="connsiteY225" fmla="*/ 3175 h 851265"/>
              <a:gd name="connsiteX226" fmla="*/ 11701196 w 12191998"/>
              <a:gd name="connsiteY226" fmla="*/ 9525 h 851265"/>
              <a:gd name="connsiteX227" fmla="*/ 11753582 w 12191998"/>
              <a:gd name="connsiteY227" fmla="*/ 20637 h 851265"/>
              <a:gd name="connsiteX228" fmla="*/ 11799620 w 12191998"/>
              <a:gd name="connsiteY228" fmla="*/ 36512 h 851265"/>
              <a:gd name="connsiteX229" fmla="*/ 11840896 w 12191998"/>
              <a:gd name="connsiteY229" fmla="*/ 52387 h 851265"/>
              <a:gd name="connsiteX230" fmla="*/ 11877408 w 12191998"/>
              <a:gd name="connsiteY230" fmla="*/ 68262 h 851265"/>
              <a:gd name="connsiteX231" fmla="*/ 11915508 w 12191998"/>
              <a:gd name="connsiteY231" fmla="*/ 87312 h 851265"/>
              <a:gd name="connsiteX232" fmla="*/ 11953608 w 12191998"/>
              <a:gd name="connsiteY232" fmla="*/ 106362 h 851265"/>
              <a:gd name="connsiteX233" fmla="*/ 11990120 w 12191998"/>
              <a:gd name="connsiteY233" fmla="*/ 125412 h 851265"/>
              <a:gd name="connsiteX234" fmla="*/ 12031396 w 12191998"/>
              <a:gd name="connsiteY234" fmla="*/ 141287 h 851265"/>
              <a:gd name="connsiteX235" fmla="*/ 12077432 w 12191998"/>
              <a:gd name="connsiteY235" fmla="*/ 155575 h 851265"/>
              <a:gd name="connsiteX236" fmla="*/ 12129820 w 12191998"/>
              <a:gd name="connsiteY236" fmla="*/ 166688 h 851265"/>
              <a:gd name="connsiteX237" fmla="*/ 12190146 w 12191998"/>
              <a:gd name="connsiteY237" fmla="*/ 174625 h 851265"/>
              <a:gd name="connsiteX238" fmla="*/ 12191998 w 12191998"/>
              <a:gd name="connsiteY238" fmla="*/ 174668 h 851265"/>
              <a:gd name="connsiteX239" fmla="*/ 12191998 w 12191998"/>
              <a:gd name="connsiteY239" fmla="*/ 851265 h 851265"/>
              <a:gd name="connsiteX240" fmla="*/ 0 w 12191998"/>
              <a:gd name="connsiteY240" fmla="*/ 851265 h 851265"/>
              <a:gd name="connsiteX241" fmla="*/ 0 w 12191998"/>
              <a:gd name="connsiteY241" fmla="*/ 174668 h 851265"/>
              <a:gd name="connsiteX242" fmla="*/ 1852 w 12191998"/>
              <a:gd name="connsiteY242" fmla="*/ 174625 h 851265"/>
              <a:gd name="connsiteX243" fmla="*/ 62177 w 12191998"/>
              <a:gd name="connsiteY243" fmla="*/ 166687 h 851265"/>
              <a:gd name="connsiteX244" fmla="*/ 114564 w 12191998"/>
              <a:gd name="connsiteY244" fmla="*/ 155575 h 851265"/>
              <a:gd name="connsiteX245" fmla="*/ 160602 w 12191998"/>
              <a:gd name="connsiteY245" fmla="*/ 141287 h 851265"/>
              <a:gd name="connsiteX246" fmla="*/ 201877 w 12191998"/>
              <a:gd name="connsiteY246" fmla="*/ 125412 h 851265"/>
              <a:gd name="connsiteX247" fmla="*/ 238389 w 12191998"/>
              <a:gd name="connsiteY247" fmla="*/ 106362 h 851265"/>
              <a:gd name="connsiteX248" fmla="*/ 276489 w 12191998"/>
              <a:gd name="connsiteY248" fmla="*/ 87312 h 851265"/>
              <a:gd name="connsiteX249" fmla="*/ 314589 w 12191998"/>
              <a:gd name="connsiteY249" fmla="*/ 68262 h 851265"/>
              <a:gd name="connsiteX250" fmla="*/ 351102 w 12191998"/>
              <a:gd name="connsiteY250" fmla="*/ 52387 h 851265"/>
              <a:gd name="connsiteX251" fmla="*/ 392377 w 12191998"/>
              <a:gd name="connsiteY251" fmla="*/ 36512 h 851265"/>
              <a:gd name="connsiteX252" fmla="*/ 438414 w 12191998"/>
              <a:gd name="connsiteY252" fmla="*/ 20637 h 851265"/>
              <a:gd name="connsiteX253" fmla="*/ 490802 w 12191998"/>
              <a:gd name="connsiteY253" fmla="*/ 9525 h 851265"/>
              <a:gd name="connsiteX254" fmla="*/ 551127 w 12191998"/>
              <a:gd name="connsiteY254" fmla="*/ 3175 h 85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1998" h="851265">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6" y="20637"/>
                </a:lnTo>
                <a:lnTo>
                  <a:pt x="4605602" y="9525"/>
                </a:lnTo>
                <a:lnTo>
                  <a:pt x="4665928" y="3175"/>
                </a:lnTo>
                <a:lnTo>
                  <a:pt x="4734189" y="0"/>
                </a:lnTo>
                <a:lnTo>
                  <a:pt x="4802453" y="3175"/>
                </a:lnTo>
                <a:lnTo>
                  <a:pt x="4862777" y="9525"/>
                </a:lnTo>
                <a:lnTo>
                  <a:pt x="4915165" y="20637"/>
                </a:lnTo>
                <a:lnTo>
                  <a:pt x="4961202" y="36512"/>
                </a:lnTo>
                <a:lnTo>
                  <a:pt x="5002478" y="52387"/>
                </a:lnTo>
                <a:lnTo>
                  <a:pt x="5038989" y="68262"/>
                </a:lnTo>
                <a:lnTo>
                  <a:pt x="5077091" y="87312"/>
                </a:lnTo>
                <a:lnTo>
                  <a:pt x="5115189" y="106362"/>
                </a:lnTo>
                <a:lnTo>
                  <a:pt x="5151702" y="125412"/>
                </a:lnTo>
                <a:lnTo>
                  <a:pt x="5192978"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10" y="106362"/>
                </a:lnTo>
                <a:lnTo>
                  <a:pt x="5743308" y="87312"/>
                </a:lnTo>
                <a:lnTo>
                  <a:pt x="5781408" y="68262"/>
                </a:lnTo>
                <a:lnTo>
                  <a:pt x="5817921" y="52387"/>
                </a:lnTo>
                <a:lnTo>
                  <a:pt x="5859196" y="36512"/>
                </a:lnTo>
                <a:lnTo>
                  <a:pt x="5905234" y="20637"/>
                </a:lnTo>
                <a:lnTo>
                  <a:pt x="5957621" y="9525"/>
                </a:lnTo>
                <a:lnTo>
                  <a:pt x="6017948" y="3175"/>
                </a:lnTo>
                <a:lnTo>
                  <a:pt x="6086210"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1998" y="174668"/>
                </a:lnTo>
                <a:lnTo>
                  <a:pt x="12191998" y="851265"/>
                </a:lnTo>
                <a:lnTo>
                  <a:pt x="0" y="851265"/>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91648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75120" y="382385"/>
            <a:ext cx="9579428" cy="510244"/>
          </a:xfrm>
        </p:spPr>
        <p:txBody>
          <a:bodyPr anchor="b">
            <a:normAutofit fontScale="90000"/>
          </a:bodyPr>
          <a:lstStyle/>
          <a:p>
            <a:pPr algn="ctr"/>
            <a:r>
              <a:rPr lang="en-US" sz="3200" dirty="0"/>
              <a:t>Evolution of International Monetary System</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txBody>
          <a:bodyPr/>
          <a:lstStyle/>
          <a:p>
            <a:endParaRPr lang="en-IN"/>
          </a:p>
        </p:txBody>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Content Placeholder 2"/>
          <p:cNvSpPr>
            <a:spLocks noGrp="1"/>
          </p:cNvSpPr>
          <p:nvPr>
            <p:ph idx="1"/>
          </p:nvPr>
        </p:nvSpPr>
        <p:spPr>
          <a:xfrm>
            <a:off x="2427514" y="1055914"/>
            <a:ext cx="9427034" cy="5419701"/>
          </a:xfrm>
        </p:spPr>
        <p:txBody>
          <a:bodyPr>
            <a:normAutofit lnSpcReduction="10000"/>
          </a:bodyPr>
          <a:lstStyle/>
          <a:p>
            <a:pPr marL="0" indent="0">
              <a:lnSpc>
                <a:spcPct val="100000"/>
              </a:lnSpc>
              <a:buNone/>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International Monetary System (IMS)</a:t>
            </a:r>
            <a:r>
              <a:rPr lang="en-US" sz="1600" dirty="0">
                <a:latin typeface="Times New Roman" panose="02020603050405020304" pitchFamily="18" charset="0"/>
                <a:cs typeface="Times New Roman" panose="02020603050405020304" pitchFamily="18" charset="0"/>
              </a:rPr>
              <a:t> has evolved over time as countries developed different methods to manage exchange rates and international financial transactions. These changes were necessary to support growing international trade and maintain global financial stability. The evolution of the international monetary system can be understood through three major stages.</a:t>
            </a:r>
          </a:p>
          <a:p>
            <a:pPr>
              <a:lnSpc>
                <a:spcPct val="100000"/>
              </a:lnSpc>
            </a:pPr>
            <a:r>
              <a:rPr lang="en-US" sz="1600" b="1" dirty="0">
                <a:latin typeface="Times New Roman" panose="02020603050405020304" pitchFamily="18" charset="0"/>
                <a:cs typeface="Times New Roman" panose="02020603050405020304" pitchFamily="18" charset="0"/>
              </a:rPr>
              <a:t>Gold Standard System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Under the gold standard system, the value of each country's currency was directly linked to a fixed amount of gold. Countries maintained gold reserves, and currencies could be converted into gold at a fixed rate. This system helped maintain stable exchange rates between countries.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Before World War I, many countries such as the United Kingdom and the United States used the gold standard to determine the value of their currencies.</a:t>
            </a:r>
          </a:p>
          <a:p>
            <a:pPr>
              <a:lnSpc>
                <a:spcPct val="100000"/>
              </a:lnSpc>
            </a:pPr>
            <a:r>
              <a:rPr lang="en-US" sz="1600" b="1" dirty="0">
                <a:latin typeface="Times New Roman" panose="02020603050405020304" pitchFamily="18" charset="0"/>
                <a:cs typeface="Times New Roman" panose="02020603050405020304" pitchFamily="18" charset="0"/>
              </a:rPr>
              <a:t>Bretton Woods System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Bretton Woods system was established in 1944 to create a stable international financial system after World War II. Under this system, currencies were linked to the US dollar, and the US dollar was convertible into gold. This system also led to the creation of international institutions such as the </a:t>
            </a:r>
            <a:r>
              <a:rPr lang="en-US" sz="1600" b="1" dirty="0">
                <a:latin typeface="Times New Roman" panose="02020603050405020304" pitchFamily="18" charset="0"/>
                <a:cs typeface="Times New Roman" panose="02020603050405020304" pitchFamily="18" charset="0"/>
              </a:rPr>
              <a:t>International Monetary Fund (IMF)</a:t>
            </a:r>
            <a:r>
              <a:rPr lang="en-US" sz="1600" dirty="0">
                <a:latin typeface="Times New Roman" panose="02020603050405020304" pitchFamily="18" charset="0"/>
                <a:cs typeface="Times New Roman" panose="02020603050405020304" pitchFamily="18" charset="0"/>
              </a:rPr>
              <a:t> and the </a:t>
            </a:r>
            <a:r>
              <a:rPr lang="en-US" sz="1600" b="1" dirty="0">
                <a:latin typeface="Times New Roman" panose="02020603050405020304" pitchFamily="18" charset="0"/>
                <a:cs typeface="Times New Roman" panose="02020603050405020304" pitchFamily="18" charset="0"/>
              </a:rPr>
              <a:t>World Bank</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Countries fixed their exchange rates relative to the US dollar to maintain stability in global trade.</a:t>
            </a:r>
          </a:p>
          <a:p>
            <a:pPr>
              <a:lnSpc>
                <a:spcPct val="100000"/>
              </a:lnSpc>
            </a:pPr>
            <a:r>
              <a:rPr lang="en-US" sz="1600" b="1" dirty="0">
                <a:latin typeface="Times New Roman" panose="02020603050405020304" pitchFamily="18" charset="0"/>
                <a:cs typeface="Times New Roman" panose="02020603050405020304" pitchFamily="18" charset="0"/>
              </a:rPr>
              <a:t>Floating Exchange Rate System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After the collapse of the Bretton Woods system in the 1970s, many countries adopted a floating exchange rate system. In this system, currency values are determined by market demand and supply rather than being fixed by governments.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Today, the value of currencies such as the Indian rupee or the euro changes according to global market conditions.</a:t>
            </a:r>
          </a:p>
          <a:p>
            <a:pPr>
              <a:lnSpc>
                <a:spcPct val="100000"/>
              </a:lnSpc>
            </a:pP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9" y="319087"/>
            <a:ext cx="4844321" cy="650875"/>
          </a:xfrm>
        </p:spPr>
        <p:txBody>
          <a:bodyPr anchor="ctr">
            <a:normAutofit/>
          </a:bodyPr>
          <a:lstStyle/>
          <a:p>
            <a:r>
              <a:rPr lang="en-IN" sz="4000" dirty="0"/>
              <a:t>Objectives of IMF</a:t>
            </a:r>
          </a:p>
        </p:txBody>
      </p:sp>
      <p:graphicFrame>
        <p:nvGraphicFramePr>
          <p:cNvPr id="15" name="Content Placeholder 3">
            <a:extLst>
              <a:ext uri="{FF2B5EF4-FFF2-40B4-BE49-F238E27FC236}">
                <a16:creationId xmlns:a16="http://schemas.microsoft.com/office/drawing/2014/main" id="{FDF9C73C-D338-17EF-B6AB-F554A2379E63}"/>
              </a:ext>
            </a:extLst>
          </p:cNvPr>
          <p:cNvGraphicFramePr>
            <a:graphicFrameLocks noGrp="1"/>
          </p:cNvGraphicFramePr>
          <p:nvPr>
            <p:ph idx="1"/>
            <p:extLst>
              <p:ext uri="{D42A27DB-BD31-4B8C-83A1-F6EECF244321}">
                <p14:modId xmlns:p14="http://schemas.microsoft.com/office/powerpoint/2010/main" val="403274300"/>
              </p:ext>
            </p:extLst>
          </p:nvPr>
        </p:nvGraphicFramePr>
        <p:xfrm>
          <a:off x="1251679" y="1047297"/>
          <a:ext cx="10167435" cy="5408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85203E-8637-1722-CF46-12C06065F1FC}"/>
              </a:ext>
            </a:extLst>
          </p:cNvPr>
          <p:cNvSpPr>
            <a:spLocks noGrp="1"/>
          </p:cNvSpPr>
          <p:nvPr>
            <p:ph type="title"/>
          </p:nvPr>
        </p:nvSpPr>
        <p:spPr>
          <a:xfrm>
            <a:off x="5914183" y="175556"/>
            <a:ext cx="5450502" cy="423158"/>
          </a:xfrm>
        </p:spPr>
        <p:txBody>
          <a:bodyPr>
            <a:normAutofit fontScale="90000"/>
          </a:bodyPr>
          <a:lstStyle/>
          <a:p>
            <a:r>
              <a:rPr lang="en-IN" dirty="0"/>
              <a:t>Functions of IMF</a:t>
            </a:r>
          </a:p>
        </p:txBody>
      </p:sp>
      <p:pic>
        <p:nvPicPr>
          <p:cNvPr id="16" name="Picture 15" descr="Digital graphs and numbers in 3D">
            <a:extLst>
              <a:ext uri="{FF2B5EF4-FFF2-40B4-BE49-F238E27FC236}">
                <a16:creationId xmlns:a16="http://schemas.microsoft.com/office/drawing/2014/main" id="{745707D5-22B2-CB9B-6D1C-D76D882D2C0F}"/>
              </a:ext>
            </a:extLst>
          </p:cNvPr>
          <p:cNvPicPr>
            <a:picLocks noChangeAspect="1"/>
          </p:cNvPicPr>
          <p:nvPr/>
        </p:nvPicPr>
        <p:blipFill>
          <a:blip r:embed="rId2"/>
          <a:srcRect l="34449" r="25410"/>
          <a:stretch>
            <a:fillRect/>
          </a:stretch>
        </p:blipFill>
        <p:spPr>
          <a:xfrm>
            <a:off x="688434" y="-9525"/>
            <a:ext cx="4129822" cy="6867525"/>
          </a:xfrm>
          <a:prstGeom prst="rect">
            <a:avLst/>
          </a:prstGeom>
        </p:spPr>
      </p:pic>
      <p:sp>
        <p:nvSpPr>
          <p:cNvPr id="20" name="Freeform 6">
            <a:extLst>
              <a:ext uri="{FF2B5EF4-FFF2-40B4-BE49-F238E27FC236}">
                <a16:creationId xmlns:a16="http://schemas.microsoft.com/office/drawing/2014/main" id="{5402222E-F041-43A0-81BC-1B3F2EF76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9" name="Rectangle 1">
            <a:extLst>
              <a:ext uri="{FF2B5EF4-FFF2-40B4-BE49-F238E27FC236}">
                <a16:creationId xmlns:a16="http://schemas.microsoft.com/office/drawing/2014/main" id="{C28D70EB-66C1-A936-2D9C-884C798C106C}"/>
              </a:ext>
            </a:extLst>
          </p:cNvPr>
          <p:cNvSpPr>
            <a:spLocks noGrp="1" noChangeArrowheads="1"/>
          </p:cNvSpPr>
          <p:nvPr>
            <p:ph idx="1"/>
          </p:nvPr>
        </p:nvSpPr>
        <p:spPr bwMode="auto">
          <a:xfrm>
            <a:off x="4979559" y="783773"/>
            <a:ext cx="6767673" cy="54755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Provides Financial Assistance</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 IMF provides loans and financial support to member countries that face economic difficulties such as balance of payment problems or financial crises. This helps countries stabilize their economies and restore financial stability.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Countries facing severe financial crises may receive emergency loans from the IMF to stabilize their economy.</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Monitors Global Economic Conditions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 IMF regularly monitors the economic performance and financial policies of member countries to ensure stability in the global financial system.</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The IMF reviews economic policies of countries and provides reports on global economic trends.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Promotes Exchange Rate Stability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 IMF works to maintain stable exchange rates between currencies and prevents excessive fluctuations that may disrupt international trade.</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The IMF may advise countries on policies to stabilize their currency value during economic instability.</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Provides Technical Assistance and Training</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 IMF offers technical assistance, training programs, and expert advice to help countries improve their financial and economic management.</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The IMF may help countries improve their banking systems and financial regulations.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Supports International Monetary Cooperation</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The IMF encourages cooperation among member countries to address global financial issues and maintain stability in the international monetary system.</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Countries participate in IMF meetings to discuss global economic challenges and financial policies.</a:t>
            </a:r>
          </a:p>
        </p:txBody>
      </p:sp>
      <p:sp>
        <p:nvSpPr>
          <p:cNvPr id="22" name="Rectangle 21">
            <a:extLst>
              <a:ext uri="{FF2B5EF4-FFF2-40B4-BE49-F238E27FC236}">
                <a16:creationId xmlns:a16="http://schemas.microsoft.com/office/drawing/2014/main" id="{B80D28A2-8EA4-4EF0-9056-3BDAA7290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3"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lang="en-IN" dirty="0"/>
              <a:t>World Bank</a:t>
            </a:r>
            <a:endParaRPr dirty="0"/>
          </a:p>
        </p:txBody>
      </p:sp>
      <p:sp>
        <p:nvSpPr>
          <p:cNvPr id="25" name="Rectangle 24">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484632" y="1600709"/>
            <a:ext cx="6411118" cy="4682645"/>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World Bank</a:t>
            </a:r>
            <a:r>
              <a:rPr lang="en-US" dirty="0">
                <a:latin typeface="Times New Roman" panose="02020603050405020304" pitchFamily="18" charset="0"/>
                <a:cs typeface="Times New Roman" panose="02020603050405020304" pitchFamily="18" charset="0"/>
              </a:rPr>
              <a:t> is an international financial institution that provides financial assistance and technical support to developing countries for economic development projects. It was established in </a:t>
            </a:r>
            <a:r>
              <a:rPr lang="en-US" b="1" dirty="0">
                <a:latin typeface="Times New Roman" panose="02020603050405020304" pitchFamily="18" charset="0"/>
                <a:cs typeface="Times New Roman" panose="02020603050405020304" pitchFamily="18" charset="0"/>
              </a:rPr>
              <a:t>1944 during the Bretton Woods Conference</a:t>
            </a:r>
            <a:r>
              <a:rPr lang="en-US" dirty="0">
                <a:latin typeface="Times New Roman" panose="02020603050405020304" pitchFamily="18" charset="0"/>
                <a:cs typeface="Times New Roman" panose="02020603050405020304" pitchFamily="18" charset="0"/>
              </a:rPr>
              <a:t> with the main objective of reducing poverty and improving living standards around the world. The World Bank helps countries finance projects related to infrastructure, education, healthcare, agriculture, and environmental sustainability.</a:t>
            </a:r>
          </a:p>
          <a:p>
            <a:r>
              <a:rPr lang="en-US" dirty="0">
                <a:latin typeface="Times New Roman" panose="02020603050405020304" pitchFamily="18" charset="0"/>
                <a:cs typeface="Times New Roman" panose="02020603050405020304" pitchFamily="18" charset="0"/>
              </a:rPr>
              <a:t>The World Bank plays an important role in supporting economic growth and development by providing loans, grants, and policy advice to developing countries. By funding development projects, the organization helps countries improve their economic conditions, create employment opportunities, and enhance the quality of life for their citizens.</a:t>
            </a:r>
          </a:p>
          <a:p>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The World Bank provides financial support to developing countries for projects such as building </a:t>
            </a:r>
            <a:r>
              <a:rPr lang="en-US" b="1" dirty="0">
                <a:solidFill>
                  <a:srgbClr val="FF0000"/>
                </a:solidFill>
                <a:latin typeface="Times New Roman" panose="02020603050405020304" pitchFamily="18" charset="0"/>
                <a:cs typeface="Times New Roman" panose="02020603050405020304" pitchFamily="18" charset="0"/>
              </a:rPr>
              <a:t>roads, bridges, schools, hospitals, and water supply systems</a:t>
            </a:r>
            <a:r>
              <a:rPr lang="en-US" dirty="0">
                <a:solidFill>
                  <a:srgbClr val="FF0000"/>
                </a:solidFill>
                <a:latin typeface="Times New Roman" panose="02020603050405020304" pitchFamily="18" charset="0"/>
                <a:cs typeface="Times New Roman" panose="02020603050405020304" pitchFamily="18" charset="0"/>
              </a:rPr>
              <a:t>, which help improve infrastructure and economic development.</a:t>
            </a:r>
          </a:p>
          <a:p>
            <a:endParaRPr lang="en-US" dirty="0">
              <a:solidFill>
                <a:schemeClr val="tx1"/>
              </a:solidFill>
              <a:latin typeface="Times New Roman" panose="02020603050405020304" pitchFamily="18" charset="0"/>
              <a:cs typeface="Times New Roman" panose="02020603050405020304" pitchFamily="18" charset="0"/>
            </a:endParaRPr>
          </a:p>
        </p:txBody>
      </p:sp>
      <p:pic>
        <p:nvPicPr>
          <p:cNvPr id="18" name="Graphic 17" descr="Earth Globe Europe-Africa">
            <a:extLst>
              <a:ext uri="{FF2B5EF4-FFF2-40B4-BE49-F238E27FC236}">
                <a16:creationId xmlns:a16="http://schemas.microsoft.com/office/drawing/2014/main" id="{DED5FF0A-EBB4-646A-1057-C293AEB1E1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50787" y="1600709"/>
            <a:ext cx="3656581" cy="365658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1D590D65-0FA8-BCE9-B4F7-44464CE52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30" r="35231" b="-1"/>
          <a:stretch>
            <a:fillRect/>
          </a:stretch>
        </p:blipFill>
        <p:spPr bwMode="auto">
          <a:xfrm>
            <a:off x="7338646" y="10"/>
            <a:ext cx="4853354" cy="6857990"/>
          </a:xfrm>
          <a:prstGeom prst="rect">
            <a:avLst/>
          </a:prstGeom>
          <a:noFill/>
          <a:extLst>
            <a:ext uri="{909E8E84-426E-40DD-AFC4-6F175D3DCCD1}">
              <a14:hiddenFill xmlns:a14="http://schemas.microsoft.com/office/drawing/2010/main">
                <a:solidFill>
                  <a:srgbClr val="FFFFFF"/>
                </a:solidFill>
              </a14:hiddenFill>
            </a:ext>
          </a:extLst>
        </p:spPr>
      </p:pic>
      <p:sp>
        <p:nvSpPr>
          <p:cNvPr id="7175"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title"/>
          </p:nvPr>
        </p:nvSpPr>
        <p:spPr>
          <a:xfrm>
            <a:off x="765051" y="382385"/>
            <a:ext cx="6015897" cy="1492132"/>
          </a:xfrm>
        </p:spPr>
        <p:txBody>
          <a:bodyPr>
            <a:normAutofit/>
          </a:bodyPr>
          <a:lstStyle/>
          <a:p>
            <a:r>
              <a:rPr lang="en-IN"/>
              <a:t>Asian Development Bank (ADB)</a:t>
            </a:r>
          </a:p>
        </p:txBody>
      </p:sp>
      <p:sp>
        <p:nvSpPr>
          <p:cNvPr id="7177" name="Rectangle 7176">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522514" y="2035629"/>
            <a:ext cx="6498771" cy="4439986"/>
          </a:xfrm>
        </p:spPr>
        <p:txBody>
          <a:bodyPr>
            <a:normAutofit/>
          </a:bodyPr>
          <a:lstStyle/>
          <a:p>
            <a:pPr>
              <a:lnSpc>
                <a:spcPct val="100000"/>
              </a:lnSpc>
            </a:pP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Asian Development Bank (ADB)</a:t>
            </a:r>
            <a:r>
              <a:rPr lang="en-US" sz="1400" dirty="0">
                <a:latin typeface="Times New Roman" panose="02020603050405020304" pitchFamily="18" charset="0"/>
                <a:cs typeface="Times New Roman" panose="02020603050405020304" pitchFamily="18" charset="0"/>
              </a:rPr>
              <a:t> is a regional financial institution established in </a:t>
            </a:r>
            <a:r>
              <a:rPr lang="en-US" sz="1400" b="1" dirty="0">
                <a:latin typeface="Times New Roman" panose="02020603050405020304" pitchFamily="18" charset="0"/>
                <a:cs typeface="Times New Roman" panose="02020603050405020304" pitchFamily="18" charset="0"/>
              </a:rPr>
              <a:t>1966</a:t>
            </a:r>
            <a:r>
              <a:rPr lang="en-US" sz="1400" dirty="0">
                <a:latin typeface="Times New Roman" panose="02020603050405020304" pitchFamily="18" charset="0"/>
                <a:cs typeface="Times New Roman" panose="02020603050405020304" pitchFamily="18" charset="0"/>
              </a:rPr>
              <a:t> to promote economic growth and development in the </a:t>
            </a:r>
            <a:r>
              <a:rPr lang="en-US" sz="1400" b="1" dirty="0">
                <a:latin typeface="Times New Roman" panose="02020603050405020304" pitchFamily="18" charset="0"/>
                <a:cs typeface="Times New Roman" panose="02020603050405020304" pitchFamily="18" charset="0"/>
              </a:rPr>
              <a:t>Asia-Pacific region</a:t>
            </a:r>
            <a:r>
              <a:rPr lang="en-US" sz="1400" dirty="0">
                <a:latin typeface="Times New Roman" panose="02020603050405020304" pitchFamily="18" charset="0"/>
                <a:cs typeface="Times New Roman" panose="02020603050405020304" pitchFamily="18" charset="0"/>
              </a:rPr>
              <a:t>. Its main objective is to reduce poverty and improve the living standards of people in developing Asian countries. The ADB provides financial assistance, technical support, and policy advice to help countries develop infrastructure, improve economic stability, and promote sustainable development.</a:t>
            </a:r>
          </a:p>
          <a:p>
            <a:pPr>
              <a:lnSpc>
                <a:spcPct val="100000"/>
              </a:lnSpc>
            </a:pPr>
            <a:r>
              <a:rPr lang="en-US" sz="1400" dirty="0">
                <a:latin typeface="Times New Roman" panose="02020603050405020304" pitchFamily="18" charset="0"/>
                <a:cs typeface="Times New Roman" panose="02020603050405020304" pitchFamily="18" charset="0"/>
              </a:rPr>
              <a:t>The Asian Development Bank supports various development projects such as transportation, energy, education, agriculture, and environmental protection. By providing loans, grants, and investment opportunities, the ADB helps developing countries strengthen their economies and improve social conditions.</a:t>
            </a:r>
          </a:p>
          <a:p>
            <a:pPr>
              <a:lnSpc>
                <a:spcPct val="100000"/>
              </a:lnSpc>
            </a:pPr>
            <a:r>
              <a:rPr lang="en-US" sz="1400" b="1" dirty="0">
                <a:latin typeface="Times New Roman" panose="02020603050405020304" pitchFamily="18" charset="0"/>
                <a:cs typeface="Times New Roman" panose="02020603050405020304" pitchFamily="18" charset="0"/>
              </a:rPr>
              <a:t>Example:</a:t>
            </a:r>
            <a:br>
              <a:rPr lang="en-US" sz="1400" dirty="0">
                <a:latin typeface="Times New Roman" panose="02020603050405020304" pitchFamily="18" charset="0"/>
                <a:cs typeface="Times New Roman" panose="02020603050405020304" pitchFamily="18" charset="0"/>
              </a:rPr>
            </a:br>
            <a:r>
              <a:rPr lang="en-US" sz="1400" dirty="0">
                <a:solidFill>
                  <a:srgbClr val="FF0000"/>
                </a:solidFill>
                <a:latin typeface="Times New Roman" panose="02020603050405020304" pitchFamily="18" charset="0"/>
                <a:cs typeface="Times New Roman" panose="02020603050405020304" pitchFamily="18" charset="0"/>
              </a:rPr>
              <a:t>The Asian Development Bank provides financial assistance to Asian countries for projects such as </a:t>
            </a:r>
            <a:r>
              <a:rPr lang="en-US" sz="1400" b="1" dirty="0">
                <a:solidFill>
                  <a:srgbClr val="FF0000"/>
                </a:solidFill>
                <a:latin typeface="Times New Roman" panose="02020603050405020304" pitchFamily="18" charset="0"/>
                <a:cs typeface="Times New Roman" panose="02020603050405020304" pitchFamily="18" charset="0"/>
              </a:rPr>
              <a:t>building highways, improving public transportation systems, and developing renewable energy projects</a:t>
            </a:r>
            <a:r>
              <a:rPr lang="en-US" sz="1400" dirty="0">
                <a:solidFill>
                  <a:srgbClr val="FF0000"/>
                </a:solidFill>
                <a:latin typeface="Times New Roman" panose="02020603050405020304" pitchFamily="18" charset="0"/>
                <a:cs typeface="Times New Roman" panose="02020603050405020304" pitchFamily="18" charset="0"/>
              </a:rPr>
              <a:t> to support economic growth and infrastructure development.</a:t>
            </a:r>
          </a:p>
          <a:p>
            <a:pPr>
              <a:lnSpc>
                <a:spcPct val="10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7" y="382385"/>
            <a:ext cx="10249627" cy="590738"/>
          </a:xfrm>
        </p:spPr>
        <p:txBody>
          <a:bodyPr>
            <a:noAutofit/>
          </a:bodyPr>
          <a:lstStyle/>
          <a:p>
            <a:r>
              <a:rPr lang="en-US" sz="3200" dirty="0">
                <a:solidFill>
                  <a:srgbClr val="FFC000"/>
                </a:solidFill>
              </a:rPr>
              <a:t>Case Study: IMF Support During the Asian Financial Crisis (1997)</a:t>
            </a:r>
            <a:endParaRPr sz="3200" dirty="0">
              <a:solidFill>
                <a:srgbClr val="FFC000"/>
              </a:solidFill>
            </a:endParaRPr>
          </a:p>
        </p:txBody>
      </p:sp>
      <p:sp>
        <p:nvSpPr>
          <p:cNvPr id="3" name="Content Placeholder 2"/>
          <p:cNvSpPr>
            <a:spLocks noGrp="1"/>
          </p:cNvSpPr>
          <p:nvPr>
            <p:ph idx="1"/>
          </p:nvPr>
        </p:nvSpPr>
        <p:spPr>
          <a:xfrm>
            <a:off x="1251678" y="1389893"/>
            <a:ext cx="10249628" cy="5085722"/>
          </a:xfrm>
        </p:spPr>
        <p:txBody>
          <a:bodyPr>
            <a:normAutofit fontScale="92500"/>
          </a:bodyPr>
          <a:lstStyle/>
          <a:p>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1997</a:t>
            </a:r>
            <a:r>
              <a:rPr lang="en-US" dirty="0">
                <a:latin typeface="Times New Roman" panose="02020603050405020304" pitchFamily="18" charset="0"/>
                <a:cs typeface="Times New Roman" panose="02020603050405020304" pitchFamily="18" charset="0"/>
              </a:rPr>
              <a:t>, several Asian countries such as Thailand, Indonesia, and South Korea faced a severe financial crisis known as the </a:t>
            </a:r>
            <a:r>
              <a:rPr lang="en-US" b="1" dirty="0">
                <a:latin typeface="Times New Roman" panose="02020603050405020304" pitchFamily="18" charset="0"/>
                <a:cs typeface="Times New Roman" panose="02020603050405020304" pitchFamily="18" charset="0"/>
              </a:rPr>
              <a:t>Asian Financial Crisis</a:t>
            </a:r>
            <a:r>
              <a:rPr lang="en-US" dirty="0">
                <a:latin typeface="Times New Roman" panose="02020603050405020304" pitchFamily="18" charset="0"/>
                <a:cs typeface="Times New Roman" panose="02020603050405020304" pitchFamily="18" charset="0"/>
              </a:rPr>
              <a:t>. The crisis began when Thailand’s currency, the Thai Baht, collapsed due to excessive foreign debt and weak financial systems. As the currency lost value, investors lost confidence, and many businesses and banks faced financial difficulties. The crisis quickly spread to other Asian countries, causing economic instability, unemployment, and reduced international trade.</a:t>
            </a:r>
          </a:p>
          <a:p>
            <a:r>
              <a:rPr lang="en-US" dirty="0">
                <a:latin typeface="Times New Roman" panose="02020603050405020304" pitchFamily="18" charset="0"/>
                <a:cs typeface="Times New Roman" panose="02020603050405020304" pitchFamily="18" charset="0"/>
              </a:rPr>
              <a:t>To stabilize the situation, affected countries requested financial assistance from the </a:t>
            </a:r>
            <a:r>
              <a:rPr lang="en-US" b="1" dirty="0">
                <a:latin typeface="Times New Roman" panose="02020603050405020304" pitchFamily="18" charset="0"/>
                <a:cs typeface="Times New Roman" panose="02020603050405020304" pitchFamily="18" charset="0"/>
              </a:rPr>
              <a:t>International Monetary Fund (IMF)</a:t>
            </a:r>
            <a:r>
              <a:rPr lang="en-US" dirty="0">
                <a:latin typeface="Times New Roman" panose="02020603050405020304" pitchFamily="18" charset="0"/>
                <a:cs typeface="Times New Roman" panose="02020603050405020304" pitchFamily="18" charset="0"/>
              </a:rPr>
              <a:t>. The IMF provided large financial packages along with economic reform programs to help restore stability. These programs included improving financial regulations, reducing government spending, and strengthening banking systems. Over time, these measures helped the countries recover from the crisis and rebuild investor confidence.</a:t>
            </a:r>
          </a:p>
          <a:p>
            <a:r>
              <a:rPr lang="en-US" dirty="0">
                <a:latin typeface="Times New Roman" panose="02020603050405020304" pitchFamily="18" charset="0"/>
                <a:cs typeface="Times New Roman" panose="02020603050405020304" pitchFamily="18" charset="0"/>
              </a:rPr>
              <a:t>This case study shows how international financial institutions such as the </a:t>
            </a:r>
            <a:r>
              <a:rPr lang="en-US" b="1" dirty="0">
                <a:latin typeface="Times New Roman" panose="02020603050405020304" pitchFamily="18" charset="0"/>
                <a:cs typeface="Times New Roman" panose="02020603050405020304" pitchFamily="18" charset="0"/>
              </a:rPr>
              <a:t>IMF</a:t>
            </a:r>
            <a:r>
              <a:rPr lang="en-US" dirty="0">
                <a:latin typeface="Times New Roman" panose="02020603050405020304" pitchFamily="18" charset="0"/>
                <a:cs typeface="Times New Roman" panose="02020603050405020304" pitchFamily="18" charset="0"/>
              </a:rPr>
              <a:t> play an important role in maintaining global financial stability and supporting countries during economic crises. It also highlights the importance of strong financial systems and international cooperation in preventing financial instability.</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descr="Different colored question marks">
            <a:extLst>
              <a:ext uri="{FF2B5EF4-FFF2-40B4-BE49-F238E27FC236}">
                <a16:creationId xmlns:a16="http://schemas.microsoft.com/office/drawing/2014/main" id="{AAEEFAC5-06B3-A232-113F-D07957F26DBB}"/>
              </a:ext>
            </a:extLst>
          </p:cNvPr>
          <p:cNvPicPr>
            <a:picLocks noChangeAspect="1"/>
          </p:cNvPicPr>
          <p:nvPr/>
        </p:nvPicPr>
        <p:blipFill>
          <a:blip r:embed="rId2"/>
          <a:srcRect l="28403" r="31789"/>
          <a:stretch>
            <a:fillRect/>
          </a:stretch>
        </p:blipFill>
        <p:spPr>
          <a:xfrm>
            <a:off x="7338646" y="10"/>
            <a:ext cx="4853354" cy="6857990"/>
          </a:xfrm>
          <a:prstGeom prst="rect">
            <a:avLst/>
          </a:prstGeom>
        </p:spPr>
      </p:pic>
      <p:sp>
        <p:nvSpPr>
          <p:cNvPr id="13"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title"/>
          </p:nvPr>
        </p:nvSpPr>
        <p:spPr>
          <a:xfrm>
            <a:off x="765051" y="382385"/>
            <a:ext cx="6015897" cy="1492132"/>
          </a:xfrm>
        </p:spPr>
        <p:txBody>
          <a:bodyPr>
            <a:normAutofit/>
          </a:bodyPr>
          <a:lstStyle/>
          <a:p>
            <a:r>
              <a:t>Discussion Questions</a:t>
            </a:r>
          </a:p>
        </p:txBody>
      </p:sp>
      <p:sp>
        <p:nvSpPr>
          <p:cNvPr id="15" name="Rectangle 14">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Rectangle 2">
            <a:extLst>
              <a:ext uri="{FF2B5EF4-FFF2-40B4-BE49-F238E27FC236}">
                <a16:creationId xmlns:a16="http://schemas.microsoft.com/office/drawing/2014/main" id="{3634988E-2FFA-7317-A33B-015F91CC1C93}"/>
              </a:ext>
            </a:extLst>
          </p:cNvPr>
          <p:cNvSpPr>
            <a:spLocks noGrp="1" noChangeArrowheads="1"/>
          </p:cNvSpPr>
          <p:nvPr>
            <p:ph idx="1"/>
          </p:nvPr>
        </p:nvSpPr>
        <p:spPr bwMode="auto">
          <a:xfrm>
            <a:off x="765051" y="2286001"/>
            <a:ext cx="6490882" cy="35935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b="0" i="0" u="none" strike="noStrike" cap="none" normalizeH="0" baseline="0" dirty="0">
                <a:ln>
                  <a:noFill/>
                </a:ln>
                <a:effectLst/>
                <a:latin typeface="Arial" panose="020B0604020202020204" pitchFamily="34" charset="0"/>
              </a:rPr>
              <a:t>What were the main causes of the Asian Financial Crisis in 1997?</a:t>
            </a: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b="0" i="0" u="none" strike="noStrike" cap="none" normalizeH="0" baseline="0" dirty="0">
                <a:ln>
                  <a:noFill/>
                </a:ln>
                <a:effectLst/>
                <a:latin typeface="Arial" panose="020B0604020202020204" pitchFamily="34" charset="0"/>
              </a:rPr>
              <a:t>How did the IMF help Asian countries recover from the financial crisis?</a:t>
            </a: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b="0" i="0" u="none" strike="noStrike" cap="none" normalizeH="0" baseline="0" dirty="0">
                <a:ln>
                  <a:noFill/>
                </a:ln>
                <a:effectLst/>
                <a:latin typeface="Arial" panose="020B0604020202020204" pitchFamily="34" charset="0"/>
              </a:rPr>
              <a:t>Why are international financial institutions important during economic crises?</a:t>
            </a: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b="0" i="0" u="none" strike="noStrike" cap="none" normalizeH="0" baseline="0" dirty="0">
                <a:ln>
                  <a:noFill/>
                </a:ln>
                <a:effectLst/>
                <a:latin typeface="Arial" panose="020B0604020202020204" pitchFamily="34" charset="0"/>
              </a:rPr>
              <a:t>What lessons can countries learn from the Asian Financial Crisis to prevent similar situations in the future?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 name="Freeform 6">
            <a:extLst>
              <a:ext uri="{FF2B5EF4-FFF2-40B4-BE49-F238E27FC236}">
                <a16:creationId xmlns:a16="http://schemas.microsoft.com/office/drawing/2014/main" id="{84574769-622A-4DC6-9C80-C21D1899F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31" name="Rectangle 30">
            <a:extLst>
              <a:ext uri="{FF2B5EF4-FFF2-40B4-BE49-F238E27FC236}">
                <a16:creationId xmlns:a16="http://schemas.microsoft.com/office/drawing/2014/main" id="{AE0022E2-857A-4FF7-B6FA-C9DC7E280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4" name="Content Placeholder 4">
            <a:extLst>
              <a:ext uri="{FF2B5EF4-FFF2-40B4-BE49-F238E27FC236}">
                <a16:creationId xmlns:a16="http://schemas.microsoft.com/office/drawing/2014/main" id="{72C2FB6D-1E4C-9637-16CC-B7F55BF743E7}"/>
              </a:ext>
            </a:extLst>
          </p:cNvPr>
          <p:cNvPicPr>
            <a:picLocks noChangeAspect="1"/>
          </p:cNvPicPr>
          <p:nvPr/>
        </p:nvPicPr>
        <p:blipFill>
          <a:blip r:embed="rId2"/>
          <a:srcRect t="6192" b="7501"/>
          <a:stretch>
            <a:fillRect/>
          </a:stretch>
        </p:blipFill>
        <p:spPr>
          <a:xfrm>
            <a:off x="528810" y="160867"/>
            <a:ext cx="11219558" cy="6536265"/>
          </a:xfrm>
          <a:prstGeom prst="rect">
            <a:avLst/>
          </a:prstGeom>
        </p:spPr>
      </p:pic>
      <p:sp>
        <p:nvSpPr>
          <p:cNvPr id="32" name="Freeform 6">
            <a:extLst>
              <a:ext uri="{FF2B5EF4-FFF2-40B4-BE49-F238E27FC236}">
                <a16:creationId xmlns:a16="http://schemas.microsoft.com/office/drawing/2014/main" id="{246B8BB3-7600-4116-9420-6BC8E0C8C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59872"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bg2"/>
          </a:solidFill>
          <a:ln w="0">
            <a:noFill/>
            <a:prstDash val="solid"/>
            <a:round/>
            <a:headEnd/>
            <a:tailEnd/>
          </a:ln>
        </p:spPr>
        <p:txBody>
          <a:bodyPr/>
          <a:lstStyle/>
          <a:p>
            <a:endParaRPr lang="en-IN"/>
          </a:p>
        </p:txBody>
      </p:sp>
      <p:sp>
        <p:nvSpPr>
          <p:cNvPr id="33" name="Freeform 6">
            <a:extLst>
              <a:ext uri="{FF2B5EF4-FFF2-40B4-BE49-F238E27FC236}">
                <a16:creationId xmlns:a16="http://schemas.microsoft.com/office/drawing/2014/main" id="{1F024463-4859-40A3-9403-C48A00900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34" name="Rectangle 33">
            <a:extLst>
              <a:ext uri="{FF2B5EF4-FFF2-40B4-BE49-F238E27FC236}">
                <a16:creationId xmlns:a16="http://schemas.microsoft.com/office/drawing/2014/main" id="{AE352827-8767-4EB8-88AC-7F03BF786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rgbClr val="FECF7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333690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538</TotalTime>
  <Words>3021</Words>
  <Application>Microsoft Office PowerPoint</Application>
  <PresentationFormat>Widescreen</PresentationFormat>
  <Paragraphs>95</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Gill Sans MT</vt:lpstr>
      <vt:lpstr>Impact</vt:lpstr>
      <vt:lpstr>Times New Roman</vt:lpstr>
      <vt:lpstr>Badge</vt:lpstr>
      <vt:lpstr>Global Monetary System</vt:lpstr>
      <vt:lpstr>Learning Objectives</vt:lpstr>
      <vt:lpstr>Global Monetary System</vt:lpstr>
      <vt:lpstr>Introduction to Global Monetary System</vt:lpstr>
      <vt:lpstr>Meaning of Global Monetary System</vt:lpstr>
      <vt:lpstr>Importance of Global Monetary System</vt:lpstr>
      <vt:lpstr>Foreign Exchange Market</vt:lpstr>
      <vt:lpstr>Functions of Foreign Exchange Market</vt:lpstr>
      <vt:lpstr>PowerPoint Presentation</vt:lpstr>
      <vt:lpstr>Participants in Foreign Exchange Market</vt:lpstr>
      <vt:lpstr>PowerPoint Presentation</vt:lpstr>
      <vt:lpstr>Exchange Rate</vt:lpstr>
      <vt:lpstr>International Monetary System</vt:lpstr>
      <vt:lpstr>Objectives of International Monetary System</vt:lpstr>
      <vt:lpstr>PowerPoint Presentation</vt:lpstr>
      <vt:lpstr>Evolution of International Monetary System</vt:lpstr>
      <vt:lpstr>Objectives of IMF</vt:lpstr>
      <vt:lpstr>Functions of IMF</vt:lpstr>
      <vt:lpstr>World Bank</vt:lpstr>
      <vt:lpstr>Asian Development Bank (ADB)</vt:lpstr>
      <vt:lpstr>Case Study: IMF Support During the Asian Financial Crisis (1997)</vt:lpstr>
      <vt:lpstr>Discussion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Thakur</dc:creator>
  <cp:lastModifiedBy>Vishwan Bharathan</cp:lastModifiedBy>
  <cp:revision>8</cp:revision>
  <dcterms:created xsi:type="dcterms:W3CDTF">2025-01-14T08:37:19Z</dcterms:created>
  <dcterms:modified xsi:type="dcterms:W3CDTF">2026-03-10T20:09:19Z</dcterms:modified>
</cp:coreProperties>
</file>