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2"/>
  </p:notesMasterIdLst>
  <p:sldIdLst>
    <p:sldId id="280" r:id="rId2"/>
    <p:sldId id="256" r:id="rId3"/>
    <p:sldId id="257" r:id="rId4"/>
    <p:sldId id="289" r:id="rId5"/>
    <p:sldId id="290" r:id="rId6"/>
    <p:sldId id="291" r:id="rId7"/>
    <p:sldId id="292" r:id="rId8"/>
    <p:sldId id="293" r:id="rId9"/>
    <p:sldId id="294" r:id="rId10"/>
    <p:sldId id="295" r:id="rId11"/>
    <p:sldId id="296" r:id="rId12"/>
    <p:sldId id="297" r:id="rId13"/>
    <p:sldId id="298" r:id="rId14"/>
    <p:sldId id="299" r:id="rId15"/>
    <p:sldId id="300" r:id="rId16"/>
    <p:sldId id="301" r:id="rId17"/>
    <p:sldId id="302" r:id="rId18"/>
    <p:sldId id="278" r:id="rId19"/>
    <p:sldId id="287" r:id="rId20"/>
    <p:sldId id="288"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6" d="100"/>
          <a:sy n="76" d="100"/>
        </p:scale>
        <p:origin x="272"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85BDA38-34AF-4FC0-87A3-10369E8CB66C}" type="datetimeFigureOut">
              <a:rPr lang="en-IN" smtClean="0"/>
              <a:t>17-03-2026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86F8F3E-0F41-40F6-8FAD-32E322C761B5}" type="slidenum">
              <a:rPr lang="en-IN" smtClean="0"/>
              <a:t>‹#›</a:t>
            </a:fld>
            <a:endParaRPr lang="en-IN"/>
          </a:p>
        </p:txBody>
      </p:sp>
    </p:spTree>
    <p:extLst>
      <p:ext uri="{BB962C8B-B14F-4D97-AF65-F5344CB8AC3E}">
        <p14:creationId xmlns:p14="http://schemas.microsoft.com/office/powerpoint/2010/main" val="22464006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11" name="Freeform 6" title="scalloped circle"/>
          <p:cNvSpPr/>
          <p:nvPr/>
        </p:nvSpPr>
        <p:spPr bwMode="auto">
          <a:xfrm>
            <a:off x="3557016" y="630936"/>
            <a:ext cx="5235575" cy="5229225"/>
          </a:xfrm>
          <a:custGeom>
            <a:avLst/>
            <a:gdLst/>
            <a:ahLst/>
            <a:cxnLst/>
            <a:rect l="0" t="0" r="r" b="b"/>
            <a:pathLst>
              <a:path w="3298" h="3294">
                <a:moveTo>
                  <a:pt x="1649" y="0"/>
                </a:moveTo>
                <a:lnTo>
                  <a:pt x="1681" y="3"/>
                </a:lnTo>
                <a:lnTo>
                  <a:pt x="1712" y="11"/>
                </a:lnTo>
                <a:lnTo>
                  <a:pt x="1742" y="23"/>
                </a:lnTo>
                <a:lnTo>
                  <a:pt x="1773" y="38"/>
                </a:lnTo>
                <a:lnTo>
                  <a:pt x="1802" y="55"/>
                </a:lnTo>
                <a:lnTo>
                  <a:pt x="1832" y="73"/>
                </a:lnTo>
                <a:lnTo>
                  <a:pt x="1862" y="89"/>
                </a:lnTo>
                <a:lnTo>
                  <a:pt x="1892" y="105"/>
                </a:lnTo>
                <a:lnTo>
                  <a:pt x="1921" y="117"/>
                </a:lnTo>
                <a:lnTo>
                  <a:pt x="1953" y="125"/>
                </a:lnTo>
                <a:lnTo>
                  <a:pt x="1984" y="129"/>
                </a:lnTo>
                <a:lnTo>
                  <a:pt x="2017" y="129"/>
                </a:lnTo>
                <a:lnTo>
                  <a:pt x="2051" y="127"/>
                </a:lnTo>
                <a:lnTo>
                  <a:pt x="2085" y="123"/>
                </a:lnTo>
                <a:lnTo>
                  <a:pt x="2119" y="118"/>
                </a:lnTo>
                <a:lnTo>
                  <a:pt x="2153" y="114"/>
                </a:lnTo>
                <a:lnTo>
                  <a:pt x="2187" y="111"/>
                </a:lnTo>
                <a:lnTo>
                  <a:pt x="2219" y="112"/>
                </a:lnTo>
                <a:lnTo>
                  <a:pt x="2250" y="116"/>
                </a:lnTo>
                <a:lnTo>
                  <a:pt x="2280" y="125"/>
                </a:lnTo>
                <a:lnTo>
                  <a:pt x="2305" y="138"/>
                </a:lnTo>
                <a:lnTo>
                  <a:pt x="2329" y="155"/>
                </a:lnTo>
                <a:lnTo>
                  <a:pt x="2350" y="175"/>
                </a:lnTo>
                <a:lnTo>
                  <a:pt x="2371" y="198"/>
                </a:lnTo>
                <a:lnTo>
                  <a:pt x="2390" y="222"/>
                </a:lnTo>
                <a:lnTo>
                  <a:pt x="2409" y="247"/>
                </a:lnTo>
                <a:lnTo>
                  <a:pt x="2428" y="272"/>
                </a:lnTo>
                <a:lnTo>
                  <a:pt x="2447" y="296"/>
                </a:lnTo>
                <a:lnTo>
                  <a:pt x="2467" y="319"/>
                </a:lnTo>
                <a:lnTo>
                  <a:pt x="2490" y="339"/>
                </a:lnTo>
                <a:lnTo>
                  <a:pt x="2512" y="357"/>
                </a:lnTo>
                <a:lnTo>
                  <a:pt x="2537" y="371"/>
                </a:lnTo>
                <a:lnTo>
                  <a:pt x="2564" y="383"/>
                </a:lnTo>
                <a:lnTo>
                  <a:pt x="2593" y="393"/>
                </a:lnTo>
                <a:lnTo>
                  <a:pt x="2623" y="402"/>
                </a:lnTo>
                <a:lnTo>
                  <a:pt x="2653" y="410"/>
                </a:lnTo>
                <a:lnTo>
                  <a:pt x="2684" y="418"/>
                </a:lnTo>
                <a:lnTo>
                  <a:pt x="2713" y="427"/>
                </a:lnTo>
                <a:lnTo>
                  <a:pt x="2742" y="437"/>
                </a:lnTo>
                <a:lnTo>
                  <a:pt x="2769" y="449"/>
                </a:lnTo>
                <a:lnTo>
                  <a:pt x="2793" y="464"/>
                </a:lnTo>
                <a:lnTo>
                  <a:pt x="2815" y="482"/>
                </a:lnTo>
                <a:lnTo>
                  <a:pt x="2833" y="504"/>
                </a:lnTo>
                <a:lnTo>
                  <a:pt x="2848" y="528"/>
                </a:lnTo>
                <a:lnTo>
                  <a:pt x="2860" y="555"/>
                </a:lnTo>
                <a:lnTo>
                  <a:pt x="2870" y="584"/>
                </a:lnTo>
                <a:lnTo>
                  <a:pt x="2879" y="613"/>
                </a:lnTo>
                <a:lnTo>
                  <a:pt x="2887" y="644"/>
                </a:lnTo>
                <a:lnTo>
                  <a:pt x="2895" y="674"/>
                </a:lnTo>
                <a:lnTo>
                  <a:pt x="2904" y="704"/>
                </a:lnTo>
                <a:lnTo>
                  <a:pt x="2914" y="733"/>
                </a:lnTo>
                <a:lnTo>
                  <a:pt x="2926" y="760"/>
                </a:lnTo>
                <a:lnTo>
                  <a:pt x="2940" y="785"/>
                </a:lnTo>
                <a:lnTo>
                  <a:pt x="2958" y="807"/>
                </a:lnTo>
                <a:lnTo>
                  <a:pt x="2978" y="830"/>
                </a:lnTo>
                <a:lnTo>
                  <a:pt x="3001" y="850"/>
                </a:lnTo>
                <a:lnTo>
                  <a:pt x="3025" y="869"/>
                </a:lnTo>
                <a:lnTo>
                  <a:pt x="3051" y="888"/>
                </a:lnTo>
                <a:lnTo>
                  <a:pt x="3076" y="907"/>
                </a:lnTo>
                <a:lnTo>
                  <a:pt x="3100" y="926"/>
                </a:lnTo>
                <a:lnTo>
                  <a:pt x="3123" y="947"/>
                </a:lnTo>
                <a:lnTo>
                  <a:pt x="3143" y="968"/>
                </a:lnTo>
                <a:lnTo>
                  <a:pt x="3160" y="992"/>
                </a:lnTo>
                <a:lnTo>
                  <a:pt x="3173" y="1017"/>
                </a:lnTo>
                <a:lnTo>
                  <a:pt x="3182" y="1047"/>
                </a:lnTo>
                <a:lnTo>
                  <a:pt x="3186" y="1078"/>
                </a:lnTo>
                <a:lnTo>
                  <a:pt x="3187" y="1110"/>
                </a:lnTo>
                <a:lnTo>
                  <a:pt x="3184" y="1144"/>
                </a:lnTo>
                <a:lnTo>
                  <a:pt x="3180" y="1178"/>
                </a:lnTo>
                <a:lnTo>
                  <a:pt x="3175" y="1212"/>
                </a:lnTo>
                <a:lnTo>
                  <a:pt x="3171" y="1246"/>
                </a:lnTo>
                <a:lnTo>
                  <a:pt x="3169" y="1280"/>
                </a:lnTo>
                <a:lnTo>
                  <a:pt x="3169" y="1313"/>
                </a:lnTo>
                <a:lnTo>
                  <a:pt x="3173" y="1344"/>
                </a:lnTo>
                <a:lnTo>
                  <a:pt x="3181" y="1375"/>
                </a:lnTo>
                <a:lnTo>
                  <a:pt x="3193" y="1404"/>
                </a:lnTo>
                <a:lnTo>
                  <a:pt x="3209" y="1434"/>
                </a:lnTo>
                <a:lnTo>
                  <a:pt x="3225" y="1464"/>
                </a:lnTo>
                <a:lnTo>
                  <a:pt x="3243" y="1494"/>
                </a:lnTo>
                <a:lnTo>
                  <a:pt x="3260" y="1523"/>
                </a:lnTo>
                <a:lnTo>
                  <a:pt x="3275" y="1554"/>
                </a:lnTo>
                <a:lnTo>
                  <a:pt x="3287" y="1584"/>
                </a:lnTo>
                <a:lnTo>
                  <a:pt x="3295" y="1615"/>
                </a:lnTo>
                <a:lnTo>
                  <a:pt x="3298" y="1647"/>
                </a:lnTo>
                <a:lnTo>
                  <a:pt x="3295" y="1679"/>
                </a:lnTo>
                <a:lnTo>
                  <a:pt x="3287" y="1710"/>
                </a:lnTo>
                <a:lnTo>
                  <a:pt x="3275" y="1740"/>
                </a:lnTo>
                <a:lnTo>
                  <a:pt x="3260" y="1771"/>
                </a:lnTo>
                <a:lnTo>
                  <a:pt x="3243" y="1800"/>
                </a:lnTo>
                <a:lnTo>
                  <a:pt x="3225" y="1830"/>
                </a:lnTo>
                <a:lnTo>
                  <a:pt x="3209" y="1860"/>
                </a:lnTo>
                <a:lnTo>
                  <a:pt x="3193" y="1890"/>
                </a:lnTo>
                <a:lnTo>
                  <a:pt x="3181" y="1919"/>
                </a:lnTo>
                <a:lnTo>
                  <a:pt x="3173" y="1950"/>
                </a:lnTo>
                <a:lnTo>
                  <a:pt x="3169" y="1981"/>
                </a:lnTo>
                <a:lnTo>
                  <a:pt x="3169" y="2014"/>
                </a:lnTo>
                <a:lnTo>
                  <a:pt x="3171" y="2048"/>
                </a:lnTo>
                <a:lnTo>
                  <a:pt x="3175" y="2082"/>
                </a:lnTo>
                <a:lnTo>
                  <a:pt x="3180" y="2116"/>
                </a:lnTo>
                <a:lnTo>
                  <a:pt x="3184" y="2150"/>
                </a:lnTo>
                <a:lnTo>
                  <a:pt x="3187" y="2184"/>
                </a:lnTo>
                <a:lnTo>
                  <a:pt x="3186" y="2216"/>
                </a:lnTo>
                <a:lnTo>
                  <a:pt x="3182" y="2247"/>
                </a:lnTo>
                <a:lnTo>
                  <a:pt x="3173" y="2277"/>
                </a:lnTo>
                <a:lnTo>
                  <a:pt x="3160" y="2302"/>
                </a:lnTo>
                <a:lnTo>
                  <a:pt x="3143" y="2326"/>
                </a:lnTo>
                <a:lnTo>
                  <a:pt x="3123" y="2347"/>
                </a:lnTo>
                <a:lnTo>
                  <a:pt x="3100" y="2368"/>
                </a:lnTo>
                <a:lnTo>
                  <a:pt x="3076" y="2387"/>
                </a:lnTo>
                <a:lnTo>
                  <a:pt x="3051" y="2406"/>
                </a:lnTo>
                <a:lnTo>
                  <a:pt x="3025" y="2425"/>
                </a:lnTo>
                <a:lnTo>
                  <a:pt x="3001" y="2444"/>
                </a:lnTo>
                <a:lnTo>
                  <a:pt x="2978" y="2464"/>
                </a:lnTo>
                <a:lnTo>
                  <a:pt x="2958" y="2487"/>
                </a:lnTo>
                <a:lnTo>
                  <a:pt x="2940" y="2509"/>
                </a:lnTo>
                <a:lnTo>
                  <a:pt x="2926" y="2534"/>
                </a:lnTo>
                <a:lnTo>
                  <a:pt x="2914" y="2561"/>
                </a:lnTo>
                <a:lnTo>
                  <a:pt x="2904" y="2590"/>
                </a:lnTo>
                <a:lnTo>
                  <a:pt x="2895" y="2620"/>
                </a:lnTo>
                <a:lnTo>
                  <a:pt x="2887" y="2650"/>
                </a:lnTo>
                <a:lnTo>
                  <a:pt x="2879" y="2681"/>
                </a:lnTo>
                <a:lnTo>
                  <a:pt x="2870" y="2710"/>
                </a:lnTo>
                <a:lnTo>
                  <a:pt x="2860" y="2739"/>
                </a:lnTo>
                <a:lnTo>
                  <a:pt x="2848" y="2766"/>
                </a:lnTo>
                <a:lnTo>
                  <a:pt x="2833" y="2790"/>
                </a:lnTo>
                <a:lnTo>
                  <a:pt x="2815" y="2812"/>
                </a:lnTo>
                <a:lnTo>
                  <a:pt x="2793" y="2830"/>
                </a:lnTo>
                <a:lnTo>
                  <a:pt x="2769" y="2845"/>
                </a:lnTo>
                <a:lnTo>
                  <a:pt x="2742" y="2857"/>
                </a:lnTo>
                <a:lnTo>
                  <a:pt x="2713" y="2867"/>
                </a:lnTo>
                <a:lnTo>
                  <a:pt x="2684" y="2876"/>
                </a:lnTo>
                <a:lnTo>
                  <a:pt x="2653" y="2884"/>
                </a:lnTo>
                <a:lnTo>
                  <a:pt x="2623" y="2892"/>
                </a:lnTo>
                <a:lnTo>
                  <a:pt x="2593" y="2901"/>
                </a:lnTo>
                <a:lnTo>
                  <a:pt x="2564" y="2911"/>
                </a:lnTo>
                <a:lnTo>
                  <a:pt x="2537" y="2923"/>
                </a:lnTo>
                <a:lnTo>
                  <a:pt x="2512" y="2937"/>
                </a:lnTo>
                <a:lnTo>
                  <a:pt x="2490" y="2955"/>
                </a:lnTo>
                <a:lnTo>
                  <a:pt x="2467" y="2975"/>
                </a:lnTo>
                <a:lnTo>
                  <a:pt x="2447" y="2998"/>
                </a:lnTo>
                <a:lnTo>
                  <a:pt x="2428" y="3022"/>
                </a:lnTo>
                <a:lnTo>
                  <a:pt x="2409" y="3047"/>
                </a:lnTo>
                <a:lnTo>
                  <a:pt x="2390" y="3072"/>
                </a:lnTo>
                <a:lnTo>
                  <a:pt x="2371" y="3096"/>
                </a:lnTo>
                <a:lnTo>
                  <a:pt x="2350" y="3119"/>
                </a:lnTo>
                <a:lnTo>
                  <a:pt x="2329" y="3139"/>
                </a:lnTo>
                <a:lnTo>
                  <a:pt x="2305" y="3156"/>
                </a:lnTo>
                <a:lnTo>
                  <a:pt x="2280" y="3169"/>
                </a:lnTo>
                <a:lnTo>
                  <a:pt x="2250" y="3178"/>
                </a:lnTo>
                <a:lnTo>
                  <a:pt x="2219" y="3182"/>
                </a:lnTo>
                <a:lnTo>
                  <a:pt x="2187" y="3183"/>
                </a:lnTo>
                <a:lnTo>
                  <a:pt x="2153" y="3180"/>
                </a:lnTo>
                <a:lnTo>
                  <a:pt x="2119" y="3176"/>
                </a:lnTo>
                <a:lnTo>
                  <a:pt x="2085" y="3171"/>
                </a:lnTo>
                <a:lnTo>
                  <a:pt x="2051" y="3167"/>
                </a:lnTo>
                <a:lnTo>
                  <a:pt x="2017" y="3165"/>
                </a:lnTo>
                <a:lnTo>
                  <a:pt x="1984" y="3165"/>
                </a:lnTo>
                <a:lnTo>
                  <a:pt x="1953" y="3169"/>
                </a:lnTo>
                <a:lnTo>
                  <a:pt x="1921" y="3177"/>
                </a:lnTo>
                <a:lnTo>
                  <a:pt x="1892" y="3189"/>
                </a:lnTo>
                <a:lnTo>
                  <a:pt x="1862" y="3205"/>
                </a:lnTo>
                <a:lnTo>
                  <a:pt x="1832" y="3221"/>
                </a:lnTo>
                <a:lnTo>
                  <a:pt x="1802" y="3239"/>
                </a:lnTo>
                <a:lnTo>
                  <a:pt x="1773" y="3256"/>
                </a:lnTo>
                <a:lnTo>
                  <a:pt x="1742" y="3271"/>
                </a:lnTo>
                <a:lnTo>
                  <a:pt x="1712" y="3283"/>
                </a:lnTo>
                <a:lnTo>
                  <a:pt x="1681" y="3291"/>
                </a:lnTo>
                <a:lnTo>
                  <a:pt x="1649" y="3294"/>
                </a:lnTo>
                <a:lnTo>
                  <a:pt x="1617" y="3291"/>
                </a:lnTo>
                <a:lnTo>
                  <a:pt x="1586" y="3283"/>
                </a:lnTo>
                <a:lnTo>
                  <a:pt x="1556" y="3271"/>
                </a:lnTo>
                <a:lnTo>
                  <a:pt x="1525" y="3256"/>
                </a:lnTo>
                <a:lnTo>
                  <a:pt x="1496" y="3239"/>
                </a:lnTo>
                <a:lnTo>
                  <a:pt x="1466" y="3221"/>
                </a:lnTo>
                <a:lnTo>
                  <a:pt x="1436" y="3205"/>
                </a:lnTo>
                <a:lnTo>
                  <a:pt x="1406" y="3189"/>
                </a:lnTo>
                <a:lnTo>
                  <a:pt x="1376" y="3177"/>
                </a:lnTo>
                <a:lnTo>
                  <a:pt x="1345" y="3169"/>
                </a:lnTo>
                <a:lnTo>
                  <a:pt x="1314" y="3165"/>
                </a:lnTo>
                <a:lnTo>
                  <a:pt x="1281" y="3165"/>
                </a:lnTo>
                <a:lnTo>
                  <a:pt x="1247" y="3167"/>
                </a:lnTo>
                <a:lnTo>
                  <a:pt x="1213" y="3171"/>
                </a:lnTo>
                <a:lnTo>
                  <a:pt x="1179" y="3176"/>
                </a:lnTo>
                <a:lnTo>
                  <a:pt x="1145" y="3180"/>
                </a:lnTo>
                <a:lnTo>
                  <a:pt x="1111" y="3183"/>
                </a:lnTo>
                <a:lnTo>
                  <a:pt x="1079" y="3182"/>
                </a:lnTo>
                <a:lnTo>
                  <a:pt x="1048" y="3178"/>
                </a:lnTo>
                <a:lnTo>
                  <a:pt x="1018" y="3169"/>
                </a:lnTo>
                <a:lnTo>
                  <a:pt x="993" y="3156"/>
                </a:lnTo>
                <a:lnTo>
                  <a:pt x="969" y="3139"/>
                </a:lnTo>
                <a:lnTo>
                  <a:pt x="948" y="3119"/>
                </a:lnTo>
                <a:lnTo>
                  <a:pt x="927" y="3096"/>
                </a:lnTo>
                <a:lnTo>
                  <a:pt x="908" y="3072"/>
                </a:lnTo>
                <a:lnTo>
                  <a:pt x="889" y="3047"/>
                </a:lnTo>
                <a:lnTo>
                  <a:pt x="870" y="3022"/>
                </a:lnTo>
                <a:lnTo>
                  <a:pt x="851" y="2998"/>
                </a:lnTo>
                <a:lnTo>
                  <a:pt x="831" y="2975"/>
                </a:lnTo>
                <a:lnTo>
                  <a:pt x="808" y="2955"/>
                </a:lnTo>
                <a:lnTo>
                  <a:pt x="786" y="2937"/>
                </a:lnTo>
                <a:lnTo>
                  <a:pt x="761" y="2923"/>
                </a:lnTo>
                <a:lnTo>
                  <a:pt x="734" y="2911"/>
                </a:lnTo>
                <a:lnTo>
                  <a:pt x="705" y="2901"/>
                </a:lnTo>
                <a:lnTo>
                  <a:pt x="675" y="2892"/>
                </a:lnTo>
                <a:lnTo>
                  <a:pt x="645" y="2884"/>
                </a:lnTo>
                <a:lnTo>
                  <a:pt x="614" y="2876"/>
                </a:lnTo>
                <a:lnTo>
                  <a:pt x="585" y="2867"/>
                </a:lnTo>
                <a:lnTo>
                  <a:pt x="556" y="2857"/>
                </a:lnTo>
                <a:lnTo>
                  <a:pt x="529" y="2845"/>
                </a:lnTo>
                <a:lnTo>
                  <a:pt x="505" y="2830"/>
                </a:lnTo>
                <a:lnTo>
                  <a:pt x="483" y="2812"/>
                </a:lnTo>
                <a:lnTo>
                  <a:pt x="465" y="2790"/>
                </a:lnTo>
                <a:lnTo>
                  <a:pt x="450" y="2766"/>
                </a:lnTo>
                <a:lnTo>
                  <a:pt x="438" y="2739"/>
                </a:lnTo>
                <a:lnTo>
                  <a:pt x="428" y="2710"/>
                </a:lnTo>
                <a:lnTo>
                  <a:pt x="419" y="2681"/>
                </a:lnTo>
                <a:lnTo>
                  <a:pt x="411" y="2650"/>
                </a:lnTo>
                <a:lnTo>
                  <a:pt x="403" y="2620"/>
                </a:lnTo>
                <a:lnTo>
                  <a:pt x="394" y="2590"/>
                </a:lnTo>
                <a:lnTo>
                  <a:pt x="384" y="2561"/>
                </a:lnTo>
                <a:lnTo>
                  <a:pt x="372" y="2534"/>
                </a:lnTo>
                <a:lnTo>
                  <a:pt x="358" y="2509"/>
                </a:lnTo>
                <a:lnTo>
                  <a:pt x="340" y="2487"/>
                </a:lnTo>
                <a:lnTo>
                  <a:pt x="320" y="2464"/>
                </a:lnTo>
                <a:lnTo>
                  <a:pt x="297" y="2444"/>
                </a:lnTo>
                <a:lnTo>
                  <a:pt x="272" y="2425"/>
                </a:lnTo>
                <a:lnTo>
                  <a:pt x="247" y="2406"/>
                </a:lnTo>
                <a:lnTo>
                  <a:pt x="222" y="2387"/>
                </a:lnTo>
                <a:lnTo>
                  <a:pt x="198" y="2368"/>
                </a:lnTo>
                <a:lnTo>
                  <a:pt x="175" y="2347"/>
                </a:lnTo>
                <a:lnTo>
                  <a:pt x="155" y="2326"/>
                </a:lnTo>
                <a:lnTo>
                  <a:pt x="138" y="2302"/>
                </a:lnTo>
                <a:lnTo>
                  <a:pt x="125" y="2277"/>
                </a:lnTo>
                <a:lnTo>
                  <a:pt x="116" y="2247"/>
                </a:lnTo>
                <a:lnTo>
                  <a:pt x="112" y="2216"/>
                </a:lnTo>
                <a:lnTo>
                  <a:pt x="111" y="2184"/>
                </a:lnTo>
                <a:lnTo>
                  <a:pt x="114" y="2150"/>
                </a:lnTo>
                <a:lnTo>
                  <a:pt x="118" y="2116"/>
                </a:lnTo>
                <a:lnTo>
                  <a:pt x="123" y="2082"/>
                </a:lnTo>
                <a:lnTo>
                  <a:pt x="127" y="2048"/>
                </a:lnTo>
                <a:lnTo>
                  <a:pt x="129" y="2014"/>
                </a:lnTo>
                <a:lnTo>
                  <a:pt x="129" y="1981"/>
                </a:lnTo>
                <a:lnTo>
                  <a:pt x="125" y="1950"/>
                </a:lnTo>
                <a:lnTo>
                  <a:pt x="117" y="1919"/>
                </a:lnTo>
                <a:lnTo>
                  <a:pt x="105" y="1890"/>
                </a:lnTo>
                <a:lnTo>
                  <a:pt x="90" y="1860"/>
                </a:lnTo>
                <a:lnTo>
                  <a:pt x="73" y="1830"/>
                </a:lnTo>
                <a:lnTo>
                  <a:pt x="55" y="1800"/>
                </a:lnTo>
                <a:lnTo>
                  <a:pt x="38" y="1771"/>
                </a:lnTo>
                <a:lnTo>
                  <a:pt x="23" y="1740"/>
                </a:lnTo>
                <a:lnTo>
                  <a:pt x="11" y="1710"/>
                </a:lnTo>
                <a:lnTo>
                  <a:pt x="3" y="1679"/>
                </a:lnTo>
                <a:lnTo>
                  <a:pt x="0" y="1647"/>
                </a:lnTo>
                <a:lnTo>
                  <a:pt x="3" y="1615"/>
                </a:lnTo>
                <a:lnTo>
                  <a:pt x="11" y="1584"/>
                </a:lnTo>
                <a:lnTo>
                  <a:pt x="23" y="1554"/>
                </a:lnTo>
                <a:lnTo>
                  <a:pt x="38" y="1523"/>
                </a:lnTo>
                <a:lnTo>
                  <a:pt x="55" y="1494"/>
                </a:lnTo>
                <a:lnTo>
                  <a:pt x="73" y="1464"/>
                </a:lnTo>
                <a:lnTo>
                  <a:pt x="90" y="1434"/>
                </a:lnTo>
                <a:lnTo>
                  <a:pt x="105" y="1404"/>
                </a:lnTo>
                <a:lnTo>
                  <a:pt x="117" y="1375"/>
                </a:lnTo>
                <a:lnTo>
                  <a:pt x="125" y="1344"/>
                </a:lnTo>
                <a:lnTo>
                  <a:pt x="129" y="1313"/>
                </a:lnTo>
                <a:lnTo>
                  <a:pt x="129" y="1280"/>
                </a:lnTo>
                <a:lnTo>
                  <a:pt x="127" y="1246"/>
                </a:lnTo>
                <a:lnTo>
                  <a:pt x="123" y="1212"/>
                </a:lnTo>
                <a:lnTo>
                  <a:pt x="118" y="1178"/>
                </a:lnTo>
                <a:lnTo>
                  <a:pt x="114" y="1144"/>
                </a:lnTo>
                <a:lnTo>
                  <a:pt x="111" y="1110"/>
                </a:lnTo>
                <a:lnTo>
                  <a:pt x="112" y="1078"/>
                </a:lnTo>
                <a:lnTo>
                  <a:pt x="116" y="1047"/>
                </a:lnTo>
                <a:lnTo>
                  <a:pt x="125" y="1017"/>
                </a:lnTo>
                <a:lnTo>
                  <a:pt x="138" y="992"/>
                </a:lnTo>
                <a:lnTo>
                  <a:pt x="155" y="968"/>
                </a:lnTo>
                <a:lnTo>
                  <a:pt x="175" y="947"/>
                </a:lnTo>
                <a:lnTo>
                  <a:pt x="198" y="926"/>
                </a:lnTo>
                <a:lnTo>
                  <a:pt x="222" y="907"/>
                </a:lnTo>
                <a:lnTo>
                  <a:pt x="247" y="888"/>
                </a:lnTo>
                <a:lnTo>
                  <a:pt x="272" y="869"/>
                </a:lnTo>
                <a:lnTo>
                  <a:pt x="297" y="850"/>
                </a:lnTo>
                <a:lnTo>
                  <a:pt x="320" y="830"/>
                </a:lnTo>
                <a:lnTo>
                  <a:pt x="340" y="807"/>
                </a:lnTo>
                <a:lnTo>
                  <a:pt x="358" y="785"/>
                </a:lnTo>
                <a:lnTo>
                  <a:pt x="372" y="760"/>
                </a:lnTo>
                <a:lnTo>
                  <a:pt x="384" y="733"/>
                </a:lnTo>
                <a:lnTo>
                  <a:pt x="394" y="704"/>
                </a:lnTo>
                <a:lnTo>
                  <a:pt x="403" y="674"/>
                </a:lnTo>
                <a:lnTo>
                  <a:pt x="411" y="644"/>
                </a:lnTo>
                <a:lnTo>
                  <a:pt x="419" y="613"/>
                </a:lnTo>
                <a:lnTo>
                  <a:pt x="428" y="584"/>
                </a:lnTo>
                <a:lnTo>
                  <a:pt x="438" y="555"/>
                </a:lnTo>
                <a:lnTo>
                  <a:pt x="450" y="528"/>
                </a:lnTo>
                <a:lnTo>
                  <a:pt x="465" y="504"/>
                </a:lnTo>
                <a:lnTo>
                  <a:pt x="483" y="482"/>
                </a:lnTo>
                <a:lnTo>
                  <a:pt x="505" y="464"/>
                </a:lnTo>
                <a:lnTo>
                  <a:pt x="529" y="449"/>
                </a:lnTo>
                <a:lnTo>
                  <a:pt x="556" y="437"/>
                </a:lnTo>
                <a:lnTo>
                  <a:pt x="585" y="427"/>
                </a:lnTo>
                <a:lnTo>
                  <a:pt x="614" y="418"/>
                </a:lnTo>
                <a:lnTo>
                  <a:pt x="645" y="410"/>
                </a:lnTo>
                <a:lnTo>
                  <a:pt x="675" y="402"/>
                </a:lnTo>
                <a:lnTo>
                  <a:pt x="705" y="393"/>
                </a:lnTo>
                <a:lnTo>
                  <a:pt x="734" y="383"/>
                </a:lnTo>
                <a:lnTo>
                  <a:pt x="761" y="371"/>
                </a:lnTo>
                <a:lnTo>
                  <a:pt x="786" y="357"/>
                </a:lnTo>
                <a:lnTo>
                  <a:pt x="808" y="339"/>
                </a:lnTo>
                <a:lnTo>
                  <a:pt x="831" y="319"/>
                </a:lnTo>
                <a:lnTo>
                  <a:pt x="851" y="296"/>
                </a:lnTo>
                <a:lnTo>
                  <a:pt x="870" y="272"/>
                </a:lnTo>
                <a:lnTo>
                  <a:pt x="889" y="247"/>
                </a:lnTo>
                <a:lnTo>
                  <a:pt x="908" y="222"/>
                </a:lnTo>
                <a:lnTo>
                  <a:pt x="927" y="198"/>
                </a:lnTo>
                <a:lnTo>
                  <a:pt x="948" y="175"/>
                </a:lnTo>
                <a:lnTo>
                  <a:pt x="969" y="155"/>
                </a:lnTo>
                <a:lnTo>
                  <a:pt x="993" y="138"/>
                </a:lnTo>
                <a:lnTo>
                  <a:pt x="1018" y="125"/>
                </a:lnTo>
                <a:lnTo>
                  <a:pt x="1048" y="116"/>
                </a:lnTo>
                <a:lnTo>
                  <a:pt x="1079" y="112"/>
                </a:lnTo>
                <a:lnTo>
                  <a:pt x="1111" y="111"/>
                </a:lnTo>
                <a:lnTo>
                  <a:pt x="1145" y="114"/>
                </a:lnTo>
                <a:lnTo>
                  <a:pt x="1179" y="118"/>
                </a:lnTo>
                <a:lnTo>
                  <a:pt x="1213" y="123"/>
                </a:lnTo>
                <a:lnTo>
                  <a:pt x="1247" y="127"/>
                </a:lnTo>
                <a:lnTo>
                  <a:pt x="1281" y="129"/>
                </a:lnTo>
                <a:lnTo>
                  <a:pt x="1314" y="129"/>
                </a:lnTo>
                <a:lnTo>
                  <a:pt x="1345" y="125"/>
                </a:lnTo>
                <a:lnTo>
                  <a:pt x="1376" y="117"/>
                </a:lnTo>
                <a:lnTo>
                  <a:pt x="1406" y="105"/>
                </a:lnTo>
                <a:lnTo>
                  <a:pt x="1436" y="89"/>
                </a:lnTo>
                <a:lnTo>
                  <a:pt x="1466" y="73"/>
                </a:lnTo>
                <a:lnTo>
                  <a:pt x="1496" y="55"/>
                </a:lnTo>
                <a:lnTo>
                  <a:pt x="1525" y="38"/>
                </a:lnTo>
                <a:lnTo>
                  <a:pt x="1556" y="23"/>
                </a:lnTo>
                <a:lnTo>
                  <a:pt x="1586" y="11"/>
                </a:lnTo>
                <a:lnTo>
                  <a:pt x="1617" y="3"/>
                </a:lnTo>
                <a:lnTo>
                  <a:pt x="1649" y="0"/>
                </a:lnTo>
                <a:close/>
              </a:path>
            </a:pathLst>
          </a:custGeom>
          <a:solidFill>
            <a:schemeClr val="bg2"/>
          </a:solidFill>
          <a:ln w="0">
            <a:noFill/>
            <a:prstDash val="solid"/>
            <a:round/>
            <a:headEnd/>
            <a:tailEnd/>
          </a:ln>
        </p:spPr>
        <p:txBody>
          <a:bodyPr/>
          <a:lstStyle/>
          <a:p>
            <a:endParaRPr lang="en-IN"/>
          </a:p>
        </p:txBody>
      </p:sp>
      <p:sp>
        <p:nvSpPr>
          <p:cNvPr id="2" name="Title 1"/>
          <p:cNvSpPr>
            <a:spLocks noGrp="1"/>
          </p:cNvSpPr>
          <p:nvPr>
            <p:ph type="ctrTitle"/>
          </p:nvPr>
        </p:nvSpPr>
        <p:spPr>
          <a:xfrm>
            <a:off x="1078523" y="1098388"/>
            <a:ext cx="10318418" cy="4394988"/>
          </a:xfrm>
        </p:spPr>
        <p:txBody>
          <a:bodyPr anchor="ctr">
            <a:noAutofit/>
          </a:bodyPr>
          <a:lstStyle>
            <a:lvl1pPr algn="ctr">
              <a:defRPr sz="10000" spc="800" baseline="0"/>
            </a:lvl1pPr>
          </a:lstStyle>
          <a:p>
            <a:r>
              <a:rPr lang="en-US"/>
              <a:t>Click to edit Master title style</a:t>
            </a:r>
            <a:endParaRPr lang="en-US" dirty="0"/>
          </a:p>
        </p:txBody>
      </p:sp>
      <p:sp>
        <p:nvSpPr>
          <p:cNvPr id="3" name="Subtitle 2"/>
          <p:cNvSpPr>
            <a:spLocks noGrp="1"/>
          </p:cNvSpPr>
          <p:nvPr>
            <p:ph type="subTitle" idx="1"/>
          </p:nvPr>
        </p:nvSpPr>
        <p:spPr>
          <a:xfrm>
            <a:off x="2215045" y="5979196"/>
            <a:ext cx="8045373" cy="742279"/>
          </a:xfrm>
        </p:spPr>
        <p:txBody>
          <a:bodyPr anchor="t">
            <a:normAutofit/>
          </a:bodyPr>
          <a:lstStyle>
            <a:lvl1pPr marL="0" indent="0" algn="ctr">
              <a:lnSpc>
                <a:spcPct val="100000"/>
              </a:lnSpc>
              <a:buNone/>
              <a:defRPr sz="2000" b="1" i="0" cap="all" spc="40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1078523" y="6375679"/>
            <a:ext cx="2329722" cy="348462"/>
          </a:xfrm>
        </p:spPr>
        <p:txBody>
          <a:bodyPr/>
          <a:lstStyle>
            <a:lvl1pPr>
              <a:defRPr baseline="0">
                <a:solidFill>
                  <a:schemeClr val="accent1">
                    <a:lumMod val="50000"/>
                  </a:schemeClr>
                </a:solidFill>
              </a:defRPr>
            </a:lvl1pPr>
          </a:lstStyle>
          <a:p>
            <a:fld id="{6DE4FF9A-E454-4385-B4E4-019DE8F729A5}" type="datetimeFigureOut">
              <a:rPr lang="en-IN" smtClean="0"/>
              <a:t>17-03-2026</a:t>
            </a:fld>
            <a:endParaRPr lang="en-IN"/>
          </a:p>
        </p:txBody>
      </p:sp>
      <p:sp>
        <p:nvSpPr>
          <p:cNvPr id="5" name="Footer Placeholder 4"/>
          <p:cNvSpPr>
            <a:spLocks noGrp="1"/>
          </p:cNvSpPr>
          <p:nvPr>
            <p:ph type="ftr" sz="quarter" idx="11"/>
          </p:nvPr>
        </p:nvSpPr>
        <p:spPr>
          <a:xfrm>
            <a:off x="4180332" y="6375679"/>
            <a:ext cx="4114800" cy="345796"/>
          </a:xfrm>
        </p:spPr>
        <p:txBody>
          <a:bodyPr/>
          <a:lstStyle>
            <a:lvl1pPr>
              <a:defRPr baseline="0">
                <a:solidFill>
                  <a:schemeClr val="accent1">
                    <a:lumMod val="50000"/>
                  </a:schemeClr>
                </a:solidFill>
              </a:defRPr>
            </a:lvl1pPr>
          </a:lstStyle>
          <a:p>
            <a:endParaRPr lang="en-IN"/>
          </a:p>
        </p:txBody>
      </p:sp>
      <p:sp>
        <p:nvSpPr>
          <p:cNvPr id="6" name="Slide Number Placeholder 5"/>
          <p:cNvSpPr>
            <a:spLocks noGrp="1"/>
          </p:cNvSpPr>
          <p:nvPr>
            <p:ph type="sldNum" sz="quarter" idx="12"/>
          </p:nvPr>
        </p:nvSpPr>
        <p:spPr>
          <a:xfrm>
            <a:off x="9067218" y="6375679"/>
            <a:ext cx="2329723" cy="345796"/>
          </a:xfrm>
        </p:spPr>
        <p:txBody>
          <a:bodyPr/>
          <a:lstStyle>
            <a:lvl1pPr>
              <a:defRPr baseline="0">
                <a:solidFill>
                  <a:schemeClr val="accent1">
                    <a:lumMod val="50000"/>
                  </a:schemeClr>
                </a:solidFill>
              </a:defRPr>
            </a:lvl1pPr>
          </a:lstStyle>
          <a:p>
            <a:fld id="{5153E1B1-FEAA-4899-B5AA-D79678913DFF}" type="slidenum">
              <a:rPr lang="en-IN" smtClean="0"/>
              <a:t>‹#›</a:t>
            </a:fld>
            <a:endParaRPr lang="en-IN"/>
          </a:p>
        </p:txBody>
      </p:sp>
      <p:sp>
        <p:nvSpPr>
          <p:cNvPr id="13" name="Rectangle 12" title="left edge border"/>
          <p:cNvSpPr/>
          <p:nvPr/>
        </p:nvSpPr>
        <p:spPr>
          <a:xfrm>
            <a:off x="0" y="0"/>
            <a:ext cx="283464"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Tree>
    <p:extLst>
      <p:ext uri="{BB962C8B-B14F-4D97-AF65-F5344CB8AC3E}">
        <p14:creationId xmlns:p14="http://schemas.microsoft.com/office/powerpoint/2010/main" val="25067790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DE4FF9A-E454-4385-B4E4-019DE8F729A5}" type="datetimeFigureOut">
              <a:rPr lang="en-IN" smtClean="0"/>
              <a:t>17-03-2026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153E1B1-FEAA-4899-B5AA-D79678913DFF}" type="slidenum">
              <a:rPr lang="en-IN" smtClean="0"/>
              <a:t>‹#›</a:t>
            </a:fld>
            <a:endParaRPr lang="en-IN"/>
          </a:p>
        </p:txBody>
      </p:sp>
    </p:spTree>
    <p:extLst>
      <p:ext uri="{BB962C8B-B14F-4D97-AF65-F5344CB8AC3E}">
        <p14:creationId xmlns:p14="http://schemas.microsoft.com/office/powerpoint/2010/main" val="17220984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242929" y="1073888"/>
            <a:ext cx="8187071" cy="4064627"/>
          </a:xfrm>
        </p:spPr>
        <p:txBody>
          <a:bodyPr anchor="b">
            <a:normAutofit/>
          </a:bodyPr>
          <a:lstStyle>
            <a:lvl1pPr>
              <a:defRPr sz="8400" spc="800" baseline="0">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3242930" y="5159781"/>
            <a:ext cx="7017488" cy="951135"/>
          </a:xfrm>
        </p:spPr>
        <p:txBody>
          <a:bodyPr>
            <a:normAutofit/>
          </a:bodyPr>
          <a:lstStyle>
            <a:lvl1pPr marL="0" indent="0">
              <a:lnSpc>
                <a:spcPct val="100000"/>
              </a:lnSpc>
              <a:buNone/>
              <a:defRPr sz="2000" b="1" i="0" cap="all" spc="400" baseline="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3236546" y="6375679"/>
            <a:ext cx="1493947" cy="348462"/>
          </a:xfrm>
        </p:spPr>
        <p:txBody>
          <a:bodyPr/>
          <a:lstStyle>
            <a:lvl1pPr>
              <a:defRPr baseline="0">
                <a:solidFill>
                  <a:schemeClr val="tx2"/>
                </a:solidFill>
              </a:defRPr>
            </a:lvl1pPr>
          </a:lstStyle>
          <a:p>
            <a:fld id="{6DE4FF9A-E454-4385-B4E4-019DE8F729A5}" type="datetimeFigureOut">
              <a:rPr lang="en-IN" smtClean="0"/>
              <a:t>17-03-2026</a:t>
            </a:fld>
            <a:endParaRPr lang="en-IN"/>
          </a:p>
        </p:txBody>
      </p:sp>
      <p:sp>
        <p:nvSpPr>
          <p:cNvPr id="5" name="Footer Placeholder 4"/>
          <p:cNvSpPr>
            <a:spLocks noGrp="1"/>
          </p:cNvSpPr>
          <p:nvPr>
            <p:ph type="ftr" sz="quarter" idx="11"/>
          </p:nvPr>
        </p:nvSpPr>
        <p:spPr>
          <a:xfrm>
            <a:off x="5279064" y="6375679"/>
            <a:ext cx="4114800" cy="345796"/>
          </a:xfrm>
        </p:spPr>
        <p:txBody>
          <a:bodyPr/>
          <a:lstStyle>
            <a:lvl1pPr>
              <a:defRPr baseline="0">
                <a:solidFill>
                  <a:schemeClr val="tx2"/>
                </a:solidFill>
              </a:defRPr>
            </a:lvl1pPr>
          </a:lstStyle>
          <a:p>
            <a:endParaRPr lang="en-IN"/>
          </a:p>
        </p:txBody>
      </p:sp>
      <p:sp>
        <p:nvSpPr>
          <p:cNvPr id="6" name="Slide Number Placeholder 5"/>
          <p:cNvSpPr>
            <a:spLocks noGrp="1"/>
          </p:cNvSpPr>
          <p:nvPr>
            <p:ph type="sldNum" sz="quarter" idx="12"/>
          </p:nvPr>
        </p:nvSpPr>
        <p:spPr>
          <a:xfrm>
            <a:off x="9942434" y="6375679"/>
            <a:ext cx="1487566" cy="345796"/>
          </a:xfrm>
        </p:spPr>
        <p:txBody>
          <a:bodyPr/>
          <a:lstStyle>
            <a:lvl1pPr>
              <a:defRPr baseline="0">
                <a:solidFill>
                  <a:schemeClr val="tx2"/>
                </a:solidFill>
              </a:defRPr>
            </a:lvl1pPr>
          </a:lstStyle>
          <a:p>
            <a:fld id="{5153E1B1-FEAA-4899-B5AA-D79678913DFF}" type="slidenum">
              <a:rPr lang="en-IN" smtClean="0"/>
              <a:t>‹#›</a:t>
            </a:fld>
            <a:endParaRPr lang="en-IN"/>
          </a:p>
        </p:txBody>
      </p:sp>
      <p:grpSp>
        <p:nvGrpSpPr>
          <p:cNvPr id="7" name="Group 6" title="left scallop shape"/>
          <p:cNvGrpSpPr/>
          <p:nvPr/>
        </p:nvGrpSpPr>
        <p:grpSpPr>
          <a:xfrm>
            <a:off x="0" y="0"/>
            <a:ext cx="2814638" cy="6858000"/>
            <a:chOff x="0" y="0"/>
            <a:chExt cx="2814638" cy="6858000"/>
          </a:xfrm>
        </p:grpSpPr>
        <p:sp>
          <p:nvSpPr>
            <p:cNvPr id="11" name="Freeform 6" title="left scallop shape"/>
            <p:cNvSpPr/>
            <p:nvPr/>
          </p:nvSpPr>
          <p:spPr bwMode="auto">
            <a:xfrm>
              <a:off x="0" y="0"/>
              <a:ext cx="2814638" cy="6858000"/>
            </a:xfrm>
            <a:custGeom>
              <a:avLst/>
              <a:gdLst/>
              <a:ahLst/>
              <a:cxnLst/>
              <a:rect l="0" t="0" r="r" b="b"/>
              <a:pathLst>
                <a:path w="1773" h="4320">
                  <a:moveTo>
                    <a:pt x="0" y="0"/>
                  </a:moveTo>
                  <a:lnTo>
                    <a:pt x="891" y="0"/>
                  </a:lnTo>
                  <a:lnTo>
                    <a:pt x="906" y="56"/>
                  </a:lnTo>
                  <a:lnTo>
                    <a:pt x="921" y="111"/>
                  </a:lnTo>
                  <a:lnTo>
                    <a:pt x="938" y="165"/>
                  </a:lnTo>
                  <a:lnTo>
                    <a:pt x="957" y="217"/>
                  </a:lnTo>
                  <a:lnTo>
                    <a:pt x="980" y="266"/>
                  </a:lnTo>
                  <a:lnTo>
                    <a:pt x="1007" y="312"/>
                  </a:lnTo>
                  <a:lnTo>
                    <a:pt x="1036" y="351"/>
                  </a:lnTo>
                  <a:lnTo>
                    <a:pt x="1069" y="387"/>
                  </a:lnTo>
                  <a:lnTo>
                    <a:pt x="1105" y="422"/>
                  </a:lnTo>
                  <a:lnTo>
                    <a:pt x="1145" y="456"/>
                  </a:lnTo>
                  <a:lnTo>
                    <a:pt x="1185" y="487"/>
                  </a:lnTo>
                  <a:lnTo>
                    <a:pt x="1227" y="520"/>
                  </a:lnTo>
                  <a:lnTo>
                    <a:pt x="1270" y="551"/>
                  </a:lnTo>
                  <a:lnTo>
                    <a:pt x="1311" y="584"/>
                  </a:lnTo>
                  <a:lnTo>
                    <a:pt x="1352" y="617"/>
                  </a:lnTo>
                  <a:lnTo>
                    <a:pt x="1390" y="651"/>
                  </a:lnTo>
                  <a:lnTo>
                    <a:pt x="1425" y="687"/>
                  </a:lnTo>
                  <a:lnTo>
                    <a:pt x="1456" y="725"/>
                  </a:lnTo>
                  <a:lnTo>
                    <a:pt x="1484" y="765"/>
                  </a:lnTo>
                  <a:lnTo>
                    <a:pt x="1505" y="808"/>
                  </a:lnTo>
                  <a:lnTo>
                    <a:pt x="1521" y="856"/>
                  </a:lnTo>
                  <a:lnTo>
                    <a:pt x="1530" y="907"/>
                  </a:lnTo>
                  <a:lnTo>
                    <a:pt x="1534" y="960"/>
                  </a:lnTo>
                  <a:lnTo>
                    <a:pt x="1534" y="1013"/>
                  </a:lnTo>
                  <a:lnTo>
                    <a:pt x="1530" y="1068"/>
                  </a:lnTo>
                  <a:lnTo>
                    <a:pt x="1523" y="1125"/>
                  </a:lnTo>
                  <a:lnTo>
                    <a:pt x="1515" y="1181"/>
                  </a:lnTo>
                  <a:lnTo>
                    <a:pt x="1508" y="1237"/>
                  </a:lnTo>
                  <a:lnTo>
                    <a:pt x="1501" y="1293"/>
                  </a:lnTo>
                  <a:lnTo>
                    <a:pt x="1496" y="1350"/>
                  </a:lnTo>
                  <a:lnTo>
                    <a:pt x="1494" y="1405"/>
                  </a:lnTo>
                  <a:lnTo>
                    <a:pt x="1497" y="1458"/>
                  </a:lnTo>
                  <a:lnTo>
                    <a:pt x="1504" y="1511"/>
                  </a:lnTo>
                  <a:lnTo>
                    <a:pt x="1517" y="1560"/>
                  </a:lnTo>
                  <a:lnTo>
                    <a:pt x="1535" y="1610"/>
                  </a:lnTo>
                  <a:lnTo>
                    <a:pt x="1557" y="1659"/>
                  </a:lnTo>
                  <a:lnTo>
                    <a:pt x="1583" y="1708"/>
                  </a:lnTo>
                  <a:lnTo>
                    <a:pt x="1611" y="1757"/>
                  </a:lnTo>
                  <a:lnTo>
                    <a:pt x="1640" y="1807"/>
                  </a:lnTo>
                  <a:lnTo>
                    <a:pt x="1669" y="1855"/>
                  </a:lnTo>
                  <a:lnTo>
                    <a:pt x="1696" y="1905"/>
                  </a:lnTo>
                  <a:lnTo>
                    <a:pt x="1721" y="1954"/>
                  </a:lnTo>
                  <a:lnTo>
                    <a:pt x="1742" y="2006"/>
                  </a:lnTo>
                  <a:lnTo>
                    <a:pt x="1759" y="2057"/>
                  </a:lnTo>
                  <a:lnTo>
                    <a:pt x="1769" y="2108"/>
                  </a:lnTo>
                  <a:lnTo>
                    <a:pt x="1773" y="2160"/>
                  </a:lnTo>
                  <a:lnTo>
                    <a:pt x="1769" y="2212"/>
                  </a:lnTo>
                  <a:lnTo>
                    <a:pt x="1759" y="2263"/>
                  </a:lnTo>
                  <a:lnTo>
                    <a:pt x="1742" y="2314"/>
                  </a:lnTo>
                  <a:lnTo>
                    <a:pt x="1721" y="2366"/>
                  </a:lnTo>
                  <a:lnTo>
                    <a:pt x="1696" y="2415"/>
                  </a:lnTo>
                  <a:lnTo>
                    <a:pt x="1669" y="2465"/>
                  </a:lnTo>
                  <a:lnTo>
                    <a:pt x="1640" y="2513"/>
                  </a:lnTo>
                  <a:lnTo>
                    <a:pt x="1611" y="2563"/>
                  </a:lnTo>
                  <a:lnTo>
                    <a:pt x="1583" y="2612"/>
                  </a:lnTo>
                  <a:lnTo>
                    <a:pt x="1557" y="2661"/>
                  </a:lnTo>
                  <a:lnTo>
                    <a:pt x="1535" y="2710"/>
                  </a:lnTo>
                  <a:lnTo>
                    <a:pt x="1517" y="2760"/>
                  </a:lnTo>
                  <a:lnTo>
                    <a:pt x="1504" y="2809"/>
                  </a:lnTo>
                  <a:lnTo>
                    <a:pt x="1497" y="2862"/>
                  </a:lnTo>
                  <a:lnTo>
                    <a:pt x="1494" y="2915"/>
                  </a:lnTo>
                  <a:lnTo>
                    <a:pt x="1496" y="2970"/>
                  </a:lnTo>
                  <a:lnTo>
                    <a:pt x="1501" y="3027"/>
                  </a:lnTo>
                  <a:lnTo>
                    <a:pt x="1508" y="3083"/>
                  </a:lnTo>
                  <a:lnTo>
                    <a:pt x="1515" y="3139"/>
                  </a:lnTo>
                  <a:lnTo>
                    <a:pt x="1523" y="3195"/>
                  </a:lnTo>
                  <a:lnTo>
                    <a:pt x="1530" y="3252"/>
                  </a:lnTo>
                  <a:lnTo>
                    <a:pt x="1534" y="3307"/>
                  </a:lnTo>
                  <a:lnTo>
                    <a:pt x="1534" y="3360"/>
                  </a:lnTo>
                  <a:lnTo>
                    <a:pt x="1530" y="3413"/>
                  </a:lnTo>
                  <a:lnTo>
                    <a:pt x="1521" y="3464"/>
                  </a:lnTo>
                  <a:lnTo>
                    <a:pt x="1505" y="3512"/>
                  </a:lnTo>
                  <a:lnTo>
                    <a:pt x="1484" y="3555"/>
                  </a:lnTo>
                  <a:lnTo>
                    <a:pt x="1456" y="3595"/>
                  </a:lnTo>
                  <a:lnTo>
                    <a:pt x="1425" y="3633"/>
                  </a:lnTo>
                  <a:lnTo>
                    <a:pt x="1390" y="3669"/>
                  </a:lnTo>
                  <a:lnTo>
                    <a:pt x="1352" y="3703"/>
                  </a:lnTo>
                  <a:lnTo>
                    <a:pt x="1311" y="3736"/>
                  </a:lnTo>
                  <a:lnTo>
                    <a:pt x="1270" y="3769"/>
                  </a:lnTo>
                  <a:lnTo>
                    <a:pt x="1227" y="3800"/>
                  </a:lnTo>
                  <a:lnTo>
                    <a:pt x="1185" y="3833"/>
                  </a:lnTo>
                  <a:lnTo>
                    <a:pt x="1145" y="3864"/>
                  </a:lnTo>
                  <a:lnTo>
                    <a:pt x="1105" y="3898"/>
                  </a:lnTo>
                  <a:lnTo>
                    <a:pt x="1069" y="3933"/>
                  </a:lnTo>
                  <a:lnTo>
                    <a:pt x="1036" y="3969"/>
                  </a:lnTo>
                  <a:lnTo>
                    <a:pt x="1007" y="4008"/>
                  </a:lnTo>
                  <a:lnTo>
                    <a:pt x="980" y="4054"/>
                  </a:lnTo>
                  <a:lnTo>
                    <a:pt x="957" y="4103"/>
                  </a:lnTo>
                  <a:lnTo>
                    <a:pt x="938" y="4155"/>
                  </a:lnTo>
                  <a:lnTo>
                    <a:pt x="921" y="4209"/>
                  </a:lnTo>
                  <a:lnTo>
                    <a:pt x="906" y="4264"/>
                  </a:lnTo>
                  <a:lnTo>
                    <a:pt x="891" y="4320"/>
                  </a:lnTo>
                  <a:lnTo>
                    <a:pt x="0" y="4320"/>
                  </a:lnTo>
                  <a:lnTo>
                    <a:pt x="0" y="0"/>
                  </a:lnTo>
                  <a:close/>
                </a:path>
              </a:pathLst>
            </a:custGeom>
            <a:solidFill>
              <a:schemeClr val="tx2"/>
            </a:solidFill>
            <a:ln w="0">
              <a:noFill/>
              <a:prstDash val="solid"/>
              <a:round/>
              <a:headEnd/>
              <a:tailEnd/>
            </a:ln>
          </p:spPr>
          <p:txBody>
            <a:bodyPr/>
            <a:lstStyle/>
            <a:p>
              <a:endParaRPr lang="en-IN"/>
            </a:p>
          </p:txBody>
        </p:sp>
        <p:sp>
          <p:nvSpPr>
            <p:cNvPr id="16" name="Freeform 11" title="left scallop inline"/>
            <p:cNvSpPr/>
            <p:nvPr/>
          </p:nvSpPr>
          <p:spPr bwMode="auto">
            <a:xfrm>
              <a:off x="874382" y="0"/>
              <a:ext cx="1646238" cy="6858000"/>
            </a:xfrm>
            <a:custGeom>
              <a:avLst/>
              <a:gdLst/>
              <a:ahLst/>
              <a:cxnLst/>
              <a:rect l="0" t="0" r="r" b="b"/>
              <a:pathLst>
                <a:path w="1037" h="4320">
                  <a:moveTo>
                    <a:pt x="0" y="0"/>
                  </a:moveTo>
                  <a:lnTo>
                    <a:pt x="171" y="0"/>
                  </a:lnTo>
                  <a:lnTo>
                    <a:pt x="188" y="55"/>
                  </a:lnTo>
                  <a:lnTo>
                    <a:pt x="204" y="110"/>
                  </a:lnTo>
                  <a:lnTo>
                    <a:pt x="220" y="166"/>
                  </a:lnTo>
                  <a:lnTo>
                    <a:pt x="234" y="223"/>
                  </a:lnTo>
                  <a:lnTo>
                    <a:pt x="251" y="278"/>
                  </a:lnTo>
                  <a:lnTo>
                    <a:pt x="269" y="331"/>
                  </a:lnTo>
                  <a:lnTo>
                    <a:pt x="292" y="381"/>
                  </a:lnTo>
                  <a:lnTo>
                    <a:pt x="319" y="427"/>
                  </a:lnTo>
                  <a:lnTo>
                    <a:pt x="349" y="466"/>
                  </a:lnTo>
                  <a:lnTo>
                    <a:pt x="382" y="503"/>
                  </a:lnTo>
                  <a:lnTo>
                    <a:pt x="420" y="537"/>
                  </a:lnTo>
                  <a:lnTo>
                    <a:pt x="460" y="571"/>
                  </a:lnTo>
                  <a:lnTo>
                    <a:pt x="502" y="603"/>
                  </a:lnTo>
                  <a:lnTo>
                    <a:pt x="544" y="635"/>
                  </a:lnTo>
                  <a:lnTo>
                    <a:pt x="587" y="668"/>
                  </a:lnTo>
                  <a:lnTo>
                    <a:pt x="628" y="700"/>
                  </a:lnTo>
                  <a:lnTo>
                    <a:pt x="667" y="734"/>
                  </a:lnTo>
                  <a:lnTo>
                    <a:pt x="703" y="771"/>
                  </a:lnTo>
                  <a:lnTo>
                    <a:pt x="736" y="808"/>
                  </a:lnTo>
                  <a:lnTo>
                    <a:pt x="763" y="848"/>
                  </a:lnTo>
                  <a:lnTo>
                    <a:pt x="786" y="893"/>
                  </a:lnTo>
                  <a:lnTo>
                    <a:pt x="800" y="937"/>
                  </a:lnTo>
                  <a:lnTo>
                    <a:pt x="809" y="986"/>
                  </a:lnTo>
                  <a:lnTo>
                    <a:pt x="813" y="1034"/>
                  </a:lnTo>
                  <a:lnTo>
                    <a:pt x="812" y="1085"/>
                  </a:lnTo>
                  <a:lnTo>
                    <a:pt x="808" y="1136"/>
                  </a:lnTo>
                  <a:lnTo>
                    <a:pt x="803" y="1189"/>
                  </a:lnTo>
                  <a:lnTo>
                    <a:pt x="796" y="1242"/>
                  </a:lnTo>
                  <a:lnTo>
                    <a:pt x="788" y="1295"/>
                  </a:lnTo>
                  <a:lnTo>
                    <a:pt x="782" y="1348"/>
                  </a:lnTo>
                  <a:lnTo>
                    <a:pt x="778" y="1401"/>
                  </a:lnTo>
                  <a:lnTo>
                    <a:pt x="775" y="1452"/>
                  </a:lnTo>
                  <a:lnTo>
                    <a:pt x="778" y="1502"/>
                  </a:lnTo>
                  <a:lnTo>
                    <a:pt x="784" y="1551"/>
                  </a:lnTo>
                  <a:lnTo>
                    <a:pt x="797" y="1602"/>
                  </a:lnTo>
                  <a:lnTo>
                    <a:pt x="817" y="1652"/>
                  </a:lnTo>
                  <a:lnTo>
                    <a:pt x="841" y="1702"/>
                  </a:lnTo>
                  <a:lnTo>
                    <a:pt x="868" y="1752"/>
                  </a:lnTo>
                  <a:lnTo>
                    <a:pt x="896" y="1801"/>
                  </a:lnTo>
                  <a:lnTo>
                    <a:pt x="926" y="1851"/>
                  </a:lnTo>
                  <a:lnTo>
                    <a:pt x="953" y="1901"/>
                  </a:lnTo>
                  <a:lnTo>
                    <a:pt x="980" y="1952"/>
                  </a:lnTo>
                  <a:lnTo>
                    <a:pt x="1003" y="2003"/>
                  </a:lnTo>
                  <a:lnTo>
                    <a:pt x="1021" y="2054"/>
                  </a:lnTo>
                  <a:lnTo>
                    <a:pt x="1031" y="2106"/>
                  </a:lnTo>
                  <a:lnTo>
                    <a:pt x="1037" y="2160"/>
                  </a:lnTo>
                  <a:lnTo>
                    <a:pt x="1031" y="2214"/>
                  </a:lnTo>
                  <a:lnTo>
                    <a:pt x="1021" y="2266"/>
                  </a:lnTo>
                  <a:lnTo>
                    <a:pt x="1003" y="2317"/>
                  </a:lnTo>
                  <a:lnTo>
                    <a:pt x="980" y="2368"/>
                  </a:lnTo>
                  <a:lnTo>
                    <a:pt x="953" y="2419"/>
                  </a:lnTo>
                  <a:lnTo>
                    <a:pt x="926" y="2469"/>
                  </a:lnTo>
                  <a:lnTo>
                    <a:pt x="896" y="2519"/>
                  </a:lnTo>
                  <a:lnTo>
                    <a:pt x="868" y="2568"/>
                  </a:lnTo>
                  <a:lnTo>
                    <a:pt x="841" y="2618"/>
                  </a:lnTo>
                  <a:lnTo>
                    <a:pt x="817" y="2668"/>
                  </a:lnTo>
                  <a:lnTo>
                    <a:pt x="797" y="2718"/>
                  </a:lnTo>
                  <a:lnTo>
                    <a:pt x="784" y="2769"/>
                  </a:lnTo>
                  <a:lnTo>
                    <a:pt x="778" y="2818"/>
                  </a:lnTo>
                  <a:lnTo>
                    <a:pt x="775" y="2868"/>
                  </a:lnTo>
                  <a:lnTo>
                    <a:pt x="778" y="2919"/>
                  </a:lnTo>
                  <a:lnTo>
                    <a:pt x="782" y="2972"/>
                  </a:lnTo>
                  <a:lnTo>
                    <a:pt x="788" y="3025"/>
                  </a:lnTo>
                  <a:lnTo>
                    <a:pt x="796" y="3078"/>
                  </a:lnTo>
                  <a:lnTo>
                    <a:pt x="803" y="3131"/>
                  </a:lnTo>
                  <a:lnTo>
                    <a:pt x="808" y="3184"/>
                  </a:lnTo>
                  <a:lnTo>
                    <a:pt x="812" y="3235"/>
                  </a:lnTo>
                  <a:lnTo>
                    <a:pt x="813" y="3286"/>
                  </a:lnTo>
                  <a:lnTo>
                    <a:pt x="809" y="3334"/>
                  </a:lnTo>
                  <a:lnTo>
                    <a:pt x="800" y="3383"/>
                  </a:lnTo>
                  <a:lnTo>
                    <a:pt x="786" y="3427"/>
                  </a:lnTo>
                  <a:lnTo>
                    <a:pt x="763" y="3472"/>
                  </a:lnTo>
                  <a:lnTo>
                    <a:pt x="736" y="3512"/>
                  </a:lnTo>
                  <a:lnTo>
                    <a:pt x="703" y="3549"/>
                  </a:lnTo>
                  <a:lnTo>
                    <a:pt x="667" y="3586"/>
                  </a:lnTo>
                  <a:lnTo>
                    <a:pt x="628" y="3620"/>
                  </a:lnTo>
                  <a:lnTo>
                    <a:pt x="587" y="3652"/>
                  </a:lnTo>
                  <a:lnTo>
                    <a:pt x="544" y="3685"/>
                  </a:lnTo>
                  <a:lnTo>
                    <a:pt x="502" y="3717"/>
                  </a:lnTo>
                  <a:lnTo>
                    <a:pt x="460" y="3749"/>
                  </a:lnTo>
                  <a:lnTo>
                    <a:pt x="420" y="3783"/>
                  </a:lnTo>
                  <a:lnTo>
                    <a:pt x="382" y="3817"/>
                  </a:lnTo>
                  <a:lnTo>
                    <a:pt x="349" y="3854"/>
                  </a:lnTo>
                  <a:lnTo>
                    <a:pt x="319" y="3893"/>
                  </a:lnTo>
                  <a:lnTo>
                    <a:pt x="292" y="3939"/>
                  </a:lnTo>
                  <a:lnTo>
                    <a:pt x="269" y="3989"/>
                  </a:lnTo>
                  <a:lnTo>
                    <a:pt x="251" y="4042"/>
                  </a:lnTo>
                  <a:lnTo>
                    <a:pt x="234" y="4097"/>
                  </a:lnTo>
                  <a:lnTo>
                    <a:pt x="220" y="4154"/>
                  </a:lnTo>
                  <a:lnTo>
                    <a:pt x="204" y="4210"/>
                  </a:lnTo>
                  <a:lnTo>
                    <a:pt x="188" y="4265"/>
                  </a:lnTo>
                  <a:lnTo>
                    <a:pt x="171" y="4320"/>
                  </a:lnTo>
                  <a:lnTo>
                    <a:pt x="0" y="4320"/>
                  </a:lnTo>
                  <a:lnTo>
                    <a:pt x="17" y="4278"/>
                  </a:lnTo>
                  <a:lnTo>
                    <a:pt x="33" y="4232"/>
                  </a:lnTo>
                  <a:lnTo>
                    <a:pt x="46" y="4183"/>
                  </a:lnTo>
                  <a:lnTo>
                    <a:pt x="60" y="4131"/>
                  </a:lnTo>
                  <a:lnTo>
                    <a:pt x="75" y="4075"/>
                  </a:lnTo>
                  <a:lnTo>
                    <a:pt x="90" y="4019"/>
                  </a:lnTo>
                  <a:lnTo>
                    <a:pt x="109" y="3964"/>
                  </a:lnTo>
                  <a:lnTo>
                    <a:pt x="129" y="3909"/>
                  </a:lnTo>
                  <a:lnTo>
                    <a:pt x="156" y="3855"/>
                  </a:lnTo>
                  <a:lnTo>
                    <a:pt x="186" y="3804"/>
                  </a:lnTo>
                  <a:lnTo>
                    <a:pt x="222" y="3756"/>
                  </a:lnTo>
                  <a:lnTo>
                    <a:pt x="261" y="3713"/>
                  </a:lnTo>
                  <a:lnTo>
                    <a:pt x="303" y="3672"/>
                  </a:lnTo>
                  <a:lnTo>
                    <a:pt x="348" y="3634"/>
                  </a:lnTo>
                  <a:lnTo>
                    <a:pt x="392" y="3599"/>
                  </a:lnTo>
                  <a:lnTo>
                    <a:pt x="438" y="3565"/>
                  </a:lnTo>
                  <a:lnTo>
                    <a:pt x="482" y="3531"/>
                  </a:lnTo>
                  <a:lnTo>
                    <a:pt x="523" y="3499"/>
                  </a:lnTo>
                  <a:lnTo>
                    <a:pt x="561" y="3466"/>
                  </a:lnTo>
                  <a:lnTo>
                    <a:pt x="594" y="3434"/>
                  </a:lnTo>
                  <a:lnTo>
                    <a:pt x="620" y="3400"/>
                  </a:lnTo>
                  <a:lnTo>
                    <a:pt x="638" y="3367"/>
                  </a:lnTo>
                  <a:lnTo>
                    <a:pt x="647" y="3336"/>
                  </a:lnTo>
                  <a:lnTo>
                    <a:pt x="652" y="3302"/>
                  </a:lnTo>
                  <a:lnTo>
                    <a:pt x="654" y="3265"/>
                  </a:lnTo>
                  <a:lnTo>
                    <a:pt x="651" y="3224"/>
                  </a:lnTo>
                  <a:lnTo>
                    <a:pt x="647" y="3181"/>
                  </a:lnTo>
                  <a:lnTo>
                    <a:pt x="642" y="3137"/>
                  </a:lnTo>
                  <a:lnTo>
                    <a:pt x="637" y="3091"/>
                  </a:lnTo>
                  <a:lnTo>
                    <a:pt x="626" y="3021"/>
                  </a:lnTo>
                  <a:lnTo>
                    <a:pt x="620" y="2952"/>
                  </a:lnTo>
                  <a:lnTo>
                    <a:pt x="616" y="2881"/>
                  </a:lnTo>
                  <a:lnTo>
                    <a:pt x="618" y="2809"/>
                  </a:lnTo>
                  <a:lnTo>
                    <a:pt x="628" y="2737"/>
                  </a:lnTo>
                  <a:lnTo>
                    <a:pt x="642" y="2681"/>
                  </a:lnTo>
                  <a:lnTo>
                    <a:pt x="661" y="2626"/>
                  </a:lnTo>
                  <a:lnTo>
                    <a:pt x="685" y="2574"/>
                  </a:lnTo>
                  <a:lnTo>
                    <a:pt x="711" y="2521"/>
                  </a:lnTo>
                  <a:lnTo>
                    <a:pt x="739" y="2472"/>
                  </a:lnTo>
                  <a:lnTo>
                    <a:pt x="767" y="2423"/>
                  </a:lnTo>
                  <a:lnTo>
                    <a:pt x="791" y="2381"/>
                  </a:lnTo>
                  <a:lnTo>
                    <a:pt x="813" y="2342"/>
                  </a:lnTo>
                  <a:lnTo>
                    <a:pt x="834" y="2303"/>
                  </a:lnTo>
                  <a:lnTo>
                    <a:pt x="851" y="2265"/>
                  </a:lnTo>
                  <a:lnTo>
                    <a:pt x="864" y="2228"/>
                  </a:lnTo>
                  <a:lnTo>
                    <a:pt x="873" y="2194"/>
                  </a:lnTo>
                  <a:lnTo>
                    <a:pt x="876" y="2160"/>
                  </a:lnTo>
                  <a:lnTo>
                    <a:pt x="873" y="2126"/>
                  </a:lnTo>
                  <a:lnTo>
                    <a:pt x="864" y="2092"/>
                  </a:lnTo>
                  <a:lnTo>
                    <a:pt x="851" y="2055"/>
                  </a:lnTo>
                  <a:lnTo>
                    <a:pt x="834" y="2017"/>
                  </a:lnTo>
                  <a:lnTo>
                    <a:pt x="813" y="1978"/>
                  </a:lnTo>
                  <a:lnTo>
                    <a:pt x="791" y="1939"/>
                  </a:lnTo>
                  <a:lnTo>
                    <a:pt x="767" y="1897"/>
                  </a:lnTo>
                  <a:lnTo>
                    <a:pt x="739" y="1848"/>
                  </a:lnTo>
                  <a:lnTo>
                    <a:pt x="711" y="1799"/>
                  </a:lnTo>
                  <a:lnTo>
                    <a:pt x="685" y="1746"/>
                  </a:lnTo>
                  <a:lnTo>
                    <a:pt x="661" y="1694"/>
                  </a:lnTo>
                  <a:lnTo>
                    <a:pt x="642" y="1639"/>
                  </a:lnTo>
                  <a:lnTo>
                    <a:pt x="628" y="1583"/>
                  </a:lnTo>
                  <a:lnTo>
                    <a:pt x="618" y="1511"/>
                  </a:lnTo>
                  <a:lnTo>
                    <a:pt x="616" y="1439"/>
                  </a:lnTo>
                  <a:lnTo>
                    <a:pt x="620" y="1368"/>
                  </a:lnTo>
                  <a:lnTo>
                    <a:pt x="626" y="1299"/>
                  </a:lnTo>
                  <a:lnTo>
                    <a:pt x="637" y="1229"/>
                  </a:lnTo>
                  <a:lnTo>
                    <a:pt x="642" y="1183"/>
                  </a:lnTo>
                  <a:lnTo>
                    <a:pt x="647" y="1139"/>
                  </a:lnTo>
                  <a:lnTo>
                    <a:pt x="651" y="1096"/>
                  </a:lnTo>
                  <a:lnTo>
                    <a:pt x="654" y="1055"/>
                  </a:lnTo>
                  <a:lnTo>
                    <a:pt x="652" y="1018"/>
                  </a:lnTo>
                  <a:lnTo>
                    <a:pt x="647" y="984"/>
                  </a:lnTo>
                  <a:lnTo>
                    <a:pt x="638" y="953"/>
                  </a:lnTo>
                  <a:lnTo>
                    <a:pt x="620" y="920"/>
                  </a:lnTo>
                  <a:lnTo>
                    <a:pt x="594" y="886"/>
                  </a:lnTo>
                  <a:lnTo>
                    <a:pt x="561" y="854"/>
                  </a:lnTo>
                  <a:lnTo>
                    <a:pt x="523" y="822"/>
                  </a:lnTo>
                  <a:lnTo>
                    <a:pt x="482" y="789"/>
                  </a:lnTo>
                  <a:lnTo>
                    <a:pt x="438" y="755"/>
                  </a:lnTo>
                  <a:lnTo>
                    <a:pt x="392" y="721"/>
                  </a:lnTo>
                  <a:lnTo>
                    <a:pt x="348" y="686"/>
                  </a:lnTo>
                  <a:lnTo>
                    <a:pt x="303" y="648"/>
                  </a:lnTo>
                  <a:lnTo>
                    <a:pt x="261" y="607"/>
                  </a:lnTo>
                  <a:lnTo>
                    <a:pt x="222" y="564"/>
                  </a:lnTo>
                  <a:lnTo>
                    <a:pt x="186" y="516"/>
                  </a:lnTo>
                  <a:lnTo>
                    <a:pt x="156" y="465"/>
                  </a:lnTo>
                  <a:lnTo>
                    <a:pt x="129" y="411"/>
                  </a:lnTo>
                  <a:lnTo>
                    <a:pt x="109" y="356"/>
                  </a:lnTo>
                  <a:lnTo>
                    <a:pt x="90" y="301"/>
                  </a:lnTo>
                  <a:lnTo>
                    <a:pt x="75" y="245"/>
                  </a:lnTo>
                  <a:lnTo>
                    <a:pt x="60" y="189"/>
                  </a:lnTo>
                  <a:lnTo>
                    <a:pt x="46" y="137"/>
                  </a:lnTo>
                  <a:lnTo>
                    <a:pt x="33" y="88"/>
                  </a:lnTo>
                  <a:lnTo>
                    <a:pt x="17" y="42"/>
                  </a:lnTo>
                  <a:lnTo>
                    <a:pt x="0" y="0"/>
                  </a:lnTo>
                  <a:lnTo>
                    <a:pt x="0" y="0"/>
                  </a:lnTo>
                  <a:close/>
                </a:path>
              </a:pathLst>
            </a:custGeom>
            <a:solidFill>
              <a:schemeClr val="accent1"/>
            </a:solidFill>
            <a:ln w="0">
              <a:noFill/>
              <a:prstDash val="solid"/>
              <a:round/>
              <a:headEnd/>
              <a:tailEnd/>
            </a:ln>
          </p:spPr>
          <p:txBody>
            <a:bodyPr/>
            <a:lstStyle/>
            <a:p>
              <a:endParaRPr lang="en-IN"/>
            </a:p>
          </p:txBody>
        </p:sp>
      </p:grpSp>
    </p:spTree>
    <p:extLst>
      <p:ext uri="{BB962C8B-B14F-4D97-AF65-F5344CB8AC3E}">
        <p14:creationId xmlns:p14="http://schemas.microsoft.com/office/powerpoint/2010/main" val="3068157457"/>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57300" y="2286000"/>
            <a:ext cx="4800600" cy="3619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47796" y="2286000"/>
            <a:ext cx="4800600" cy="3619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DE4FF9A-E454-4385-B4E4-019DE8F729A5}" type="datetimeFigureOut">
              <a:rPr lang="en-IN" smtClean="0"/>
              <a:t>17-03-2026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153E1B1-FEAA-4899-B5AA-D79678913DFF}" type="slidenum">
              <a:rPr lang="en-IN" smtClean="0"/>
              <a:t>‹#›</a:t>
            </a:fld>
            <a:endParaRPr lang="en-IN"/>
          </a:p>
        </p:txBody>
      </p:sp>
    </p:spTree>
    <p:extLst>
      <p:ext uri="{BB962C8B-B14F-4D97-AF65-F5344CB8AC3E}">
        <p14:creationId xmlns:p14="http://schemas.microsoft.com/office/powerpoint/2010/main" val="737618909"/>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52728" y="381000"/>
            <a:ext cx="10172700" cy="149351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251678"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57300" y="2909102"/>
            <a:ext cx="4800600" cy="29963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633864"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33864" y="2909102"/>
            <a:ext cx="4800600" cy="29963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DE4FF9A-E454-4385-B4E4-019DE8F729A5}" type="datetimeFigureOut">
              <a:rPr lang="en-IN" smtClean="0"/>
              <a:t>17-03-2026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153E1B1-FEAA-4899-B5AA-D79678913DFF}" type="slidenum">
              <a:rPr lang="en-IN" smtClean="0"/>
              <a:t>‹#›</a:t>
            </a:fld>
            <a:endParaRPr lang="en-IN"/>
          </a:p>
        </p:txBody>
      </p:sp>
    </p:spTree>
    <p:extLst>
      <p:ext uri="{BB962C8B-B14F-4D97-AF65-F5344CB8AC3E}">
        <p14:creationId xmlns:p14="http://schemas.microsoft.com/office/powerpoint/2010/main" val="320522350"/>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DE4FF9A-E454-4385-B4E4-019DE8F729A5}" type="datetimeFigureOut">
              <a:rPr lang="en-IN" smtClean="0"/>
              <a:t>17-03-2026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153E1B1-FEAA-4899-B5AA-D79678913DFF}" type="slidenum">
              <a:rPr lang="en-IN" smtClean="0"/>
              <a:t>‹#›</a:t>
            </a:fld>
            <a:endParaRPr lang="en-IN"/>
          </a:p>
        </p:txBody>
      </p:sp>
    </p:spTree>
    <p:extLst>
      <p:ext uri="{BB962C8B-B14F-4D97-AF65-F5344CB8AC3E}">
        <p14:creationId xmlns:p14="http://schemas.microsoft.com/office/powerpoint/2010/main" val="29047586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DE4FF9A-E454-4385-B4E4-019DE8F729A5}" type="datetimeFigureOut">
              <a:rPr lang="en-IN" smtClean="0"/>
              <a:t>17-03-2026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153E1B1-FEAA-4899-B5AA-D79678913DFF}" type="slidenum">
              <a:rPr lang="en-IN" smtClean="0"/>
              <a:t>‹#›</a:t>
            </a:fld>
            <a:endParaRPr lang="en-IN"/>
          </a:p>
        </p:txBody>
      </p:sp>
    </p:spTree>
    <p:extLst>
      <p:ext uri="{BB962C8B-B14F-4D97-AF65-F5344CB8AC3E}">
        <p14:creationId xmlns:p14="http://schemas.microsoft.com/office/powerpoint/2010/main" val="25446240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7"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txBody>
          <a:bodyPr/>
          <a:lstStyle/>
          <a:p>
            <a:endParaRPr lang="en-IN"/>
          </a:p>
        </p:txBody>
      </p:sp>
      <p:sp>
        <p:nvSpPr>
          <p:cNvPr id="2" name="Title 1"/>
          <p:cNvSpPr>
            <a:spLocks noGrp="1"/>
          </p:cNvSpPr>
          <p:nvPr>
            <p:ph type="title"/>
          </p:nvPr>
        </p:nvSpPr>
        <p:spPr>
          <a:xfrm>
            <a:off x="8337884" y="457199"/>
            <a:ext cx="3092115" cy="1196671"/>
          </a:xfrm>
        </p:spPr>
        <p:txBody>
          <a:bodyPr anchor="b">
            <a:normAutofit/>
          </a:bodyPr>
          <a:lstStyle>
            <a:lvl1pPr>
              <a:lnSpc>
                <a:spcPct val="100000"/>
              </a:lnSpc>
              <a:defRPr sz="1900" b="1" i="0" cap="all" spc="300" baseline="0">
                <a:solidFill>
                  <a:schemeClr val="accent1"/>
                </a:solidFill>
                <a:latin typeface="+mn-lt"/>
              </a:defRPr>
            </a:lvl1pPr>
          </a:lstStyle>
          <a:p>
            <a:r>
              <a:rPr lang="en-US"/>
              <a:t>Click to edit Master title style</a:t>
            </a:r>
            <a:endParaRPr lang="en-US" dirty="0"/>
          </a:p>
        </p:txBody>
      </p:sp>
      <p:sp>
        <p:nvSpPr>
          <p:cNvPr id="3" name="Content Placeholder 2"/>
          <p:cNvSpPr>
            <a:spLocks noGrp="1"/>
          </p:cNvSpPr>
          <p:nvPr>
            <p:ph idx="1"/>
          </p:nvPr>
        </p:nvSpPr>
        <p:spPr>
          <a:xfrm>
            <a:off x="765051" y="920377"/>
            <a:ext cx="6158418" cy="498512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37885" y="1741336"/>
            <a:ext cx="3092115"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65051" y="6375679"/>
            <a:ext cx="1233355" cy="348462"/>
          </a:xfrm>
        </p:spPr>
        <p:txBody>
          <a:bodyPr/>
          <a:lstStyle/>
          <a:p>
            <a:fld id="{6DE4FF9A-E454-4385-B4E4-019DE8F729A5}" type="datetimeFigureOut">
              <a:rPr lang="en-IN" smtClean="0"/>
              <a:t>17-03-2026</a:t>
            </a:fld>
            <a:endParaRPr lang="en-IN"/>
          </a:p>
        </p:txBody>
      </p:sp>
      <p:sp>
        <p:nvSpPr>
          <p:cNvPr id="6" name="Footer Placeholder 5"/>
          <p:cNvSpPr>
            <a:spLocks noGrp="1"/>
          </p:cNvSpPr>
          <p:nvPr>
            <p:ph type="ftr" sz="quarter" idx="11"/>
          </p:nvPr>
        </p:nvSpPr>
        <p:spPr>
          <a:xfrm>
            <a:off x="2103620" y="6375679"/>
            <a:ext cx="3482179" cy="345796"/>
          </a:xfrm>
        </p:spPr>
        <p:txBody>
          <a:bodyPr/>
          <a:lstStyle/>
          <a:p>
            <a:endParaRPr lang="en-IN"/>
          </a:p>
        </p:txBody>
      </p:sp>
      <p:sp>
        <p:nvSpPr>
          <p:cNvPr id="7" name="Slide Number Placeholder 6"/>
          <p:cNvSpPr>
            <a:spLocks noGrp="1"/>
          </p:cNvSpPr>
          <p:nvPr>
            <p:ph type="sldNum" sz="quarter" idx="12"/>
          </p:nvPr>
        </p:nvSpPr>
        <p:spPr>
          <a:xfrm>
            <a:off x="5691014" y="6375679"/>
            <a:ext cx="1232456" cy="345796"/>
          </a:xfrm>
        </p:spPr>
        <p:txBody>
          <a:bodyPr/>
          <a:lstStyle/>
          <a:p>
            <a:fld id="{5153E1B1-FEAA-4899-B5AA-D79678913DFF}" type="slidenum">
              <a:rPr lang="en-IN" smtClean="0"/>
              <a:t>‹#›</a:t>
            </a:fld>
            <a:endParaRPr lang="en-IN"/>
          </a:p>
        </p:txBody>
      </p:sp>
      <p:sp>
        <p:nvSpPr>
          <p:cNvPr id="8" name="Rectangle 7"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Tree>
    <p:extLst>
      <p:ext uri="{BB962C8B-B14F-4D97-AF65-F5344CB8AC3E}">
        <p14:creationId xmlns:p14="http://schemas.microsoft.com/office/powerpoint/2010/main" val="1035212194"/>
      </p:ext>
    </p:extLst>
  </p:cSld>
  <p:clrMapOvr>
    <a:masterClrMapping/>
  </p:clrMapOvr>
  <p:extLst>
    <p:ext uri="{DCECCB84-F9BA-43D5-87BE-67443E8EF086}">
      <p15:sldGuideLst xmlns:p15="http://schemas.microsoft.com/office/powerpoint/2012/main">
        <p15:guide id="1" orient="horz" pos="69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283464" y="0"/>
            <a:ext cx="7355585" cy="6857999"/>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1"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txBody>
          <a:bodyPr/>
          <a:lstStyle/>
          <a:p>
            <a:endParaRPr lang="en-IN"/>
          </a:p>
        </p:txBody>
      </p:sp>
      <p:sp>
        <p:nvSpPr>
          <p:cNvPr id="12" name="Rectangle 11"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p:cNvSpPr>
            <a:spLocks noGrp="1"/>
          </p:cNvSpPr>
          <p:nvPr>
            <p:ph type="title"/>
          </p:nvPr>
        </p:nvSpPr>
        <p:spPr>
          <a:xfrm>
            <a:off x="8337883" y="457200"/>
            <a:ext cx="3092117" cy="1196670"/>
          </a:xfrm>
        </p:spPr>
        <p:txBody>
          <a:bodyPr anchor="b">
            <a:normAutofit/>
          </a:bodyPr>
          <a:lstStyle>
            <a:lvl1pPr>
              <a:lnSpc>
                <a:spcPct val="100000"/>
              </a:lnSpc>
              <a:defRPr sz="1900" b="1" i="0" spc="300" baseline="0">
                <a:solidFill>
                  <a:schemeClr val="accent1"/>
                </a:solidFill>
                <a:latin typeface="+mn-lt"/>
              </a:defRPr>
            </a:lvl1pPr>
          </a:lstStyle>
          <a:p>
            <a:r>
              <a:rPr lang="en-US"/>
              <a:t>Click to edit Master title style</a:t>
            </a:r>
            <a:endParaRPr lang="en-US" dirty="0"/>
          </a:p>
        </p:txBody>
      </p:sp>
      <p:sp>
        <p:nvSpPr>
          <p:cNvPr id="4" name="Text Placeholder 3"/>
          <p:cNvSpPr>
            <a:spLocks noGrp="1"/>
          </p:cNvSpPr>
          <p:nvPr>
            <p:ph type="body" sz="half" idx="2"/>
          </p:nvPr>
        </p:nvSpPr>
        <p:spPr>
          <a:xfrm>
            <a:off x="8337883" y="1741336"/>
            <a:ext cx="3092117"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65950" y="6375679"/>
            <a:ext cx="1232456" cy="348462"/>
          </a:xfrm>
        </p:spPr>
        <p:txBody>
          <a:bodyPr/>
          <a:lstStyle/>
          <a:p>
            <a:fld id="{6DE4FF9A-E454-4385-B4E4-019DE8F729A5}" type="datetimeFigureOut">
              <a:rPr lang="en-IN" smtClean="0"/>
              <a:t>17-03-2026</a:t>
            </a:fld>
            <a:endParaRPr lang="en-IN"/>
          </a:p>
        </p:txBody>
      </p:sp>
      <p:sp>
        <p:nvSpPr>
          <p:cNvPr id="6" name="Footer Placeholder 5"/>
          <p:cNvSpPr>
            <a:spLocks noGrp="1"/>
          </p:cNvSpPr>
          <p:nvPr>
            <p:ph type="ftr" sz="quarter" idx="11"/>
          </p:nvPr>
        </p:nvSpPr>
        <p:spPr>
          <a:xfrm>
            <a:off x="2103621" y="6375679"/>
            <a:ext cx="3482178" cy="345796"/>
          </a:xfrm>
        </p:spPr>
        <p:txBody>
          <a:bodyPr/>
          <a:lstStyle/>
          <a:p>
            <a:endParaRPr lang="en-IN"/>
          </a:p>
        </p:txBody>
      </p:sp>
      <p:sp>
        <p:nvSpPr>
          <p:cNvPr id="7" name="Slide Number Placeholder 6"/>
          <p:cNvSpPr>
            <a:spLocks noGrp="1"/>
          </p:cNvSpPr>
          <p:nvPr>
            <p:ph type="sldNum" sz="quarter" idx="12"/>
          </p:nvPr>
        </p:nvSpPr>
        <p:spPr>
          <a:xfrm>
            <a:off x="5687568" y="6375679"/>
            <a:ext cx="1234440" cy="345796"/>
          </a:xfrm>
        </p:spPr>
        <p:txBody>
          <a:bodyPr/>
          <a:lstStyle/>
          <a:p>
            <a:fld id="{5153E1B1-FEAA-4899-B5AA-D79678913DFF}" type="slidenum">
              <a:rPr lang="en-IN" smtClean="0"/>
              <a:t>‹#›</a:t>
            </a:fld>
            <a:endParaRPr lang="en-IN"/>
          </a:p>
        </p:txBody>
      </p:sp>
    </p:spTree>
    <p:extLst>
      <p:ext uri="{BB962C8B-B14F-4D97-AF65-F5344CB8AC3E}">
        <p14:creationId xmlns:p14="http://schemas.microsoft.com/office/powerpoint/2010/main" val="39441817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DE4FF9A-E454-4385-B4E4-019DE8F729A5}" type="datetimeFigureOut">
              <a:rPr lang="en-IN" smtClean="0"/>
              <a:t>17-03-2026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153E1B1-FEAA-4899-B5AA-D79678913DFF}" type="slidenum">
              <a:rPr lang="en-IN" smtClean="0"/>
              <a:t>‹#›</a:t>
            </a:fld>
            <a:endParaRPr lang="en-IN"/>
          </a:p>
        </p:txBody>
      </p:sp>
    </p:spTree>
    <p:extLst>
      <p:ext uri="{BB962C8B-B14F-4D97-AF65-F5344CB8AC3E}">
        <p14:creationId xmlns:p14="http://schemas.microsoft.com/office/powerpoint/2010/main" val="7316393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066321" y="382386"/>
            <a:ext cx="1492132" cy="560040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57300" y="382385"/>
            <a:ext cx="8392585" cy="560040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DE4FF9A-E454-4385-B4E4-019DE8F729A5}" type="datetimeFigureOut">
              <a:rPr lang="en-IN" smtClean="0"/>
              <a:t>17-03-2026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153E1B1-FEAA-4899-B5AA-D79678913DFF}" type="slidenum">
              <a:rPr lang="en-IN" smtClean="0"/>
              <a:t>‹#›</a:t>
            </a:fld>
            <a:endParaRPr lang="en-IN"/>
          </a:p>
        </p:txBody>
      </p:sp>
    </p:spTree>
    <p:extLst>
      <p:ext uri="{BB962C8B-B14F-4D97-AF65-F5344CB8AC3E}">
        <p14:creationId xmlns:p14="http://schemas.microsoft.com/office/powerpoint/2010/main" val="41338039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51678" y="382385"/>
            <a:ext cx="10178322" cy="149213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251678" y="2286001"/>
            <a:ext cx="10178322" cy="359359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251678" y="6375679"/>
            <a:ext cx="2329722" cy="348462"/>
          </a:xfrm>
          <a:prstGeom prst="rect">
            <a:avLst/>
          </a:prstGeom>
        </p:spPr>
        <p:txBody>
          <a:bodyPr vert="horz" lIns="91440" tIns="45720" rIns="91440" bIns="45720" rtlCol="0" anchor="ctr"/>
          <a:lstStyle>
            <a:lvl1pPr algn="l">
              <a:defRPr sz="1200">
                <a:solidFill>
                  <a:schemeClr val="tx1">
                    <a:lumMod val="65000"/>
                    <a:lumOff val="35000"/>
                  </a:schemeClr>
                </a:solidFill>
              </a:defRPr>
            </a:lvl1pPr>
          </a:lstStyle>
          <a:p>
            <a:fld id="{6DE4FF9A-E454-4385-B4E4-019DE8F729A5}" type="datetimeFigureOut">
              <a:rPr lang="en-IN" smtClean="0"/>
              <a:t>17-03-2026</a:t>
            </a:fld>
            <a:endParaRPr lang="en-IN"/>
          </a:p>
        </p:txBody>
      </p:sp>
      <p:sp>
        <p:nvSpPr>
          <p:cNvPr id="5" name="Footer Placeholder 4"/>
          <p:cNvSpPr>
            <a:spLocks noGrp="1"/>
          </p:cNvSpPr>
          <p:nvPr>
            <p:ph type="ftr" sz="quarter" idx="3"/>
          </p:nvPr>
        </p:nvSpPr>
        <p:spPr>
          <a:xfrm>
            <a:off x="4038600" y="6375679"/>
            <a:ext cx="4114800" cy="345796"/>
          </a:xfrm>
          <a:prstGeom prst="rect">
            <a:avLst/>
          </a:prstGeom>
        </p:spPr>
        <p:txBody>
          <a:bodyPr vert="horz" lIns="91440" tIns="45720" rIns="91440" bIns="45720" rtlCol="0" anchor="ctr"/>
          <a:lstStyle>
            <a:lvl1pPr algn="ctr">
              <a:defRPr sz="1200">
                <a:solidFill>
                  <a:schemeClr val="tx1">
                    <a:lumMod val="65000"/>
                    <a:lumOff val="35000"/>
                  </a:schemeClr>
                </a:solidFill>
              </a:defRPr>
            </a:lvl1pPr>
          </a:lstStyle>
          <a:p>
            <a:endParaRPr lang="en-IN"/>
          </a:p>
        </p:txBody>
      </p:sp>
      <p:sp>
        <p:nvSpPr>
          <p:cNvPr id="6" name="Slide Number Placeholder 5"/>
          <p:cNvSpPr>
            <a:spLocks noGrp="1"/>
          </p:cNvSpPr>
          <p:nvPr>
            <p:ph type="sldNum" sz="quarter" idx="4"/>
          </p:nvPr>
        </p:nvSpPr>
        <p:spPr>
          <a:xfrm>
            <a:off x="8610601" y="6375679"/>
            <a:ext cx="2819399" cy="345796"/>
          </a:xfrm>
          <a:prstGeom prst="rect">
            <a:avLst/>
          </a:prstGeom>
        </p:spPr>
        <p:txBody>
          <a:bodyPr vert="horz" lIns="91440" tIns="45720" rIns="91440" bIns="45720" rtlCol="0" anchor="ctr"/>
          <a:lstStyle>
            <a:lvl1pPr algn="r">
              <a:defRPr sz="1200">
                <a:solidFill>
                  <a:schemeClr val="tx1">
                    <a:lumMod val="65000"/>
                    <a:lumOff val="35000"/>
                  </a:schemeClr>
                </a:solidFill>
              </a:defRPr>
            </a:lvl1pPr>
          </a:lstStyle>
          <a:p>
            <a:fld id="{5153E1B1-FEAA-4899-B5AA-D79678913DFF}" type="slidenum">
              <a:rPr lang="en-IN" smtClean="0"/>
              <a:t>‹#›</a:t>
            </a:fld>
            <a:endParaRPr lang="en-IN"/>
          </a:p>
        </p:txBody>
      </p:sp>
      <p:sp>
        <p:nvSpPr>
          <p:cNvPr id="11" name="Freeform 6" title="Left scallop edge"/>
          <p:cNvSpPr/>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tx2"/>
          </a:solidFill>
          <a:ln w="0">
            <a:noFill/>
            <a:prstDash val="solid"/>
            <a:round/>
            <a:headEnd/>
            <a:tailEnd/>
          </a:ln>
        </p:spPr>
        <p:txBody>
          <a:bodyPr/>
          <a:lstStyle/>
          <a:p>
            <a:endParaRPr lang="en-IN"/>
          </a:p>
        </p:txBody>
      </p:sp>
      <p:sp>
        <p:nvSpPr>
          <p:cNvPr id="12" name="Rectangle 11" title="right edge border"/>
          <p:cNvSpPr/>
          <p:nvPr/>
        </p:nvSpPr>
        <p:spPr>
          <a:xfrm>
            <a:off x="11908536"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Tree>
    <p:extLst>
      <p:ext uri="{BB962C8B-B14F-4D97-AF65-F5344CB8AC3E}">
        <p14:creationId xmlns:p14="http://schemas.microsoft.com/office/powerpoint/2010/main" val="417606054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5100" kern="1200" cap="all" spc="200" baseline="0">
          <a:solidFill>
            <a:schemeClr val="tx2"/>
          </a:solidFill>
          <a:latin typeface="+mj-lt"/>
          <a:ea typeface="+mj-ea"/>
          <a:cs typeface="+mj-cs"/>
        </a:defRPr>
      </a:lvl1pPr>
    </p:titleStyle>
    <p:bodyStyle>
      <a:lvl1pPr marL="228600" indent="-228600" algn="l" defTabSz="914400" rtl="0" eaLnBrk="1" latinLnBrk="0" hangingPunct="1">
        <a:lnSpc>
          <a:spcPct val="110000"/>
        </a:lnSpc>
        <a:spcBef>
          <a:spcPts val="700"/>
        </a:spcBef>
        <a:buClr>
          <a:schemeClr val="tx2"/>
        </a:buClr>
        <a:buFont typeface="Arial" panose="020B0604020202020204" pitchFamily="34" charset="0"/>
        <a:buChar char="•"/>
        <a:defRPr sz="20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110000"/>
        </a:lnSpc>
        <a:spcBef>
          <a:spcPts val="700"/>
        </a:spcBef>
        <a:buClr>
          <a:schemeClr val="tx2"/>
        </a:buClr>
        <a:buFont typeface="Gill Sans MT" panose="020B0502020104020203" pitchFamily="34" charset="0"/>
        <a:buChar char="–"/>
        <a:defRPr sz="18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110000"/>
        </a:lnSpc>
        <a:spcBef>
          <a:spcPts val="700"/>
        </a:spcBef>
        <a:buClr>
          <a:schemeClr val="tx2"/>
        </a:buClr>
        <a:buFont typeface="Arial" panose="020B0604020202020204" pitchFamily="34" charset="0"/>
        <a:buChar char="•"/>
        <a:defRPr sz="16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baseline="0">
          <a:solidFill>
            <a:schemeClr val="tx1">
              <a:lumMod val="65000"/>
              <a:lumOff val="35000"/>
            </a:schemeClr>
          </a:solidFill>
          <a:latin typeface="+mn-lt"/>
          <a:ea typeface="+mn-ea"/>
          <a:cs typeface="+mn-cs"/>
        </a:defRPr>
      </a:lvl8pPr>
      <a:lvl9pPr marL="38862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baseline="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92">
          <p15:clr>
            <a:srgbClr val="F26B43"/>
          </p15:clr>
        </p15:guide>
        <p15:guide id="2" pos="7200">
          <p15:clr>
            <a:srgbClr val="F26B43"/>
          </p15:clr>
        </p15:guide>
        <p15:guide id="3" orient="horz" pos="4008">
          <p15:clr>
            <a:srgbClr val="F26B43"/>
          </p15:clr>
        </p15:guide>
        <p15:guide id="4" orient="horz" pos="1440">
          <p15:clr>
            <a:srgbClr val="F26B43"/>
          </p15:clr>
        </p15:guide>
        <p15:guide id="5" orient="horz" pos="3720">
          <p15:clr>
            <a:srgbClr val="F26B43"/>
          </p15:clr>
        </p15:guide>
        <p15:guide id="6" orient="horz" pos="2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sv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15DEDD7-7B31-4EF1-B7C7-5AEE3208CC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1" y="0"/>
            <a:ext cx="12191996"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512636A-30C3-9916-7975-FD8B7AE4AE3D}"/>
              </a:ext>
            </a:extLst>
          </p:cNvPr>
          <p:cNvSpPr>
            <a:spLocks noGrp="1"/>
          </p:cNvSpPr>
          <p:nvPr>
            <p:ph type="ctrTitle"/>
          </p:nvPr>
        </p:nvSpPr>
        <p:spPr>
          <a:xfrm>
            <a:off x="644849" y="954923"/>
            <a:ext cx="5875694" cy="4504620"/>
          </a:xfrm>
        </p:spPr>
        <p:txBody>
          <a:bodyPr>
            <a:normAutofit/>
          </a:bodyPr>
          <a:lstStyle/>
          <a:p>
            <a:r>
              <a:rPr lang="en-US" sz="5300" dirty="0"/>
              <a:t>Strategy and Structure of International Business</a:t>
            </a:r>
            <a:endParaRPr lang="en-IN" sz="5300" dirty="0"/>
          </a:p>
        </p:txBody>
      </p:sp>
      <p:sp>
        <p:nvSpPr>
          <p:cNvPr id="3" name="Subtitle 2">
            <a:extLst>
              <a:ext uri="{FF2B5EF4-FFF2-40B4-BE49-F238E27FC236}">
                <a16:creationId xmlns:a16="http://schemas.microsoft.com/office/drawing/2014/main" id="{603D8864-6F2A-49D2-7F0D-D37FA83CBF4E}"/>
              </a:ext>
            </a:extLst>
          </p:cNvPr>
          <p:cNvSpPr>
            <a:spLocks noGrp="1"/>
          </p:cNvSpPr>
          <p:nvPr>
            <p:ph type="subTitle" idx="1"/>
          </p:nvPr>
        </p:nvSpPr>
        <p:spPr>
          <a:xfrm>
            <a:off x="643157" y="5572664"/>
            <a:ext cx="5877385" cy="841803"/>
          </a:xfrm>
        </p:spPr>
        <p:txBody>
          <a:bodyPr>
            <a:normAutofit/>
          </a:bodyPr>
          <a:lstStyle/>
          <a:p>
            <a:r>
              <a:rPr lang="en-IN">
                <a:solidFill>
                  <a:schemeClr val="bg2"/>
                </a:solidFill>
              </a:rPr>
              <a:t>UNIT 4</a:t>
            </a:r>
          </a:p>
        </p:txBody>
      </p:sp>
      <p:sp>
        <p:nvSpPr>
          <p:cNvPr id="11" name="Freeform: Shape 10">
            <a:extLst>
              <a:ext uri="{FF2B5EF4-FFF2-40B4-BE49-F238E27FC236}">
                <a16:creationId xmlns:a16="http://schemas.microsoft.com/office/drawing/2014/main" id="{3242CC7A-3D6E-47A4-B9D1-860978459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66174" y="0"/>
            <a:ext cx="5282519" cy="6858000"/>
          </a:xfrm>
          <a:custGeom>
            <a:avLst/>
            <a:gdLst>
              <a:gd name="connsiteX0" fmla="*/ 189795 w 5282519"/>
              <a:gd name="connsiteY0" fmla="*/ 0 h 6858000"/>
              <a:gd name="connsiteX1" fmla="*/ 5282519 w 5282519"/>
              <a:gd name="connsiteY1" fmla="*/ 0 h 6858000"/>
              <a:gd name="connsiteX2" fmla="*/ 5282519 w 5282519"/>
              <a:gd name="connsiteY2" fmla="*/ 6858000 h 6858000"/>
              <a:gd name="connsiteX3" fmla="*/ 189795 w 5282519"/>
              <a:gd name="connsiteY3" fmla="*/ 6858000 h 6858000"/>
              <a:gd name="connsiteX4" fmla="*/ 184756 w 5282519"/>
              <a:gd name="connsiteY4" fmla="*/ 6791325 h 6858000"/>
              <a:gd name="connsiteX5" fmla="*/ 176358 w 5282519"/>
              <a:gd name="connsiteY5" fmla="*/ 6735762 h 6858000"/>
              <a:gd name="connsiteX6" fmla="*/ 166281 w 5282519"/>
              <a:gd name="connsiteY6" fmla="*/ 6683375 h 6858000"/>
              <a:gd name="connsiteX7" fmla="*/ 149485 w 5282519"/>
              <a:gd name="connsiteY7" fmla="*/ 6640512 h 6858000"/>
              <a:gd name="connsiteX8" fmla="*/ 132689 w 5282519"/>
              <a:gd name="connsiteY8" fmla="*/ 6597650 h 6858000"/>
              <a:gd name="connsiteX9" fmla="*/ 112534 w 5282519"/>
              <a:gd name="connsiteY9" fmla="*/ 6561137 h 6858000"/>
              <a:gd name="connsiteX10" fmla="*/ 92379 w 5282519"/>
              <a:gd name="connsiteY10" fmla="*/ 6523037 h 6858000"/>
              <a:gd name="connsiteX11" fmla="*/ 73903 w 5282519"/>
              <a:gd name="connsiteY11" fmla="*/ 6488112 h 6858000"/>
              <a:gd name="connsiteX12" fmla="*/ 55427 w 5282519"/>
              <a:gd name="connsiteY12" fmla="*/ 6448425 h 6858000"/>
              <a:gd name="connsiteX13" fmla="*/ 38632 w 5282519"/>
              <a:gd name="connsiteY13" fmla="*/ 6407150 h 6858000"/>
              <a:gd name="connsiteX14" fmla="*/ 23515 w 5282519"/>
              <a:gd name="connsiteY14" fmla="*/ 6361112 h 6858000"/>
              <a:gd name="connsiteX15" fmla="*/ 11758 w 5282519"/>
              <a:gd name="connsiteY15" fmla="*/ 6311900 h 6858000"/>
              <a:gd name="connsiteX16" fmla="*/ 3359 w 5282519"/>
              <a:gd name="connsiteY16" fmla="*/ 6251575 h 6858000"/>
              <a:gd name="connsiteX17" fmla="*/ 0 w 5282519"/>
              <a:gd name="connsiteY17" fmla="*/ 6183312 h 6858000"/>
              <a:gd name="connsiteX18" fmla="*/ 3359 w 5282519"/>
              <a:gd name="connsiteY18" fmla="*/ 6113462 h 6858000"/>
              <a:gd name="connsiteX19" fmla="*/ 11758 w 5282519"/>
              <a:gd name="connsiteY19" fmla="*/ 6056312 h 6858000"/>
              <a:gd name="connsiteX20" fmla="*/ 23515 w 5282519"/>
              <a:gd name="connsiteY20" fmla="*/ 6003925 h 6858000"/>
              <a:gd name="connsiteX21" fmla="*/ 38632 w 5282519"/>
              <a:gd name="connsiteY21" fmla="*/ 5956300 h 6858000"/>
              <a:gd name="connsiteX22" fmla="*/ 55427 w 5282519"/>
              <a:gd name="connsiteY22" fmla="*/ 5915025 h 6858000"/>
              <a:gd name="connsiteX23" fmla="*/ 75583 w 5282519"/>
              <a:gd name="connsiteY23" fmla="*/ 5876925 h 6858000"/>
              <a:gd name="connsiteX24" fmla="*/ 95738 w 5282519"/>
              <a:gd name="connsiteY24" fmla="*/ 5840412 h 6858000"/>
              <a:gd name="connsiteX25" fmla="*/ 115893 w 5282519"/>
              <a:gd name="connsiteY25" fmla="*/ 5802312 h 6858000"/>
              <a:gd name="connsiteX26" fmla="*/ 134368 w 5282519"/>
              <a:gd name="connsiteY26" fmla="*/ 5762625 h 6858000"/>
              <a:gd name="connsiteX27" fmla="*/ 152844 w 5282519"/>
              <a:gd name="connsiteY27" fmla="*/ 5721350 h 6858000"/>
              <a:gd name="connsiteX28" fmla="*/ 167960 w 5282519"/>
              <a:gd name="connsiteY28" fmla="*/ 5675312 h 6858000"/>
              <a:gd name="connsiteX29" fmla="*/ 178038 w 5282519"/>
              <a:gd name="connsiteY29" fmla="*/ 5622925 h 6858000"/>
              <a:gd name="connsiteX30" fmla="*/ 188115 w 5282519"/>
              <a:gd name="connsiteY30" fmla="*/ 5562600 h 6858000"/>
              <a:gd name="connsiteX31" fmla="*/ 189795 w 5282519"/>
              <a:gd name="connsiteY31" fmla="*/ 5494337 h 6858000"/>
              <a:gd name="connsiteX32" fmla="*/ 188115 w 5282519"/>
              <a:gd name="connsiteY32" fmla="*/ 5426075 h 6858000"/>
              <a:gd name="connsiteX33" fmla="*/ 178038 w 5282519"/>
              <a:gd name="connsiteY33" fmla="*/ 5365750 h 6858000"/>
              <a:gd name="connsiteX34" fmla="*/ 167960 w 5282519"/>
              <a:gd name="connsiteY34" fmla="*/ 5313362 h 6858000"/>
              <a:gd name="connsiteX35" fmla="*/ 152844 w 5282519"/>
              <a:gd name="connsiteY35" fmla="*/ 5268912 h 6858000"/>
              <a:gd name="connsiteX36" fmla="*/ 134368 w 5282519"/>
              <a:gd name="connsiteY36" fmla="*/ 5226050 h 6858000"/>
              <a:gd name="connsiteX37" fmla="*/ 115893 w 5282519"/>
              <a:gd name="connsiteY37" fmla="*/ 5186362 h 6858000"/>
              <a:gd name="connsiteX38" fmla="*/ 95738 w 5282519"/>
              <a:gd name="connsiteY38" fmla="*/ 5149850 h 6858000"/>
              <a:gd name="connsiteX39" fmla="*/ 75583 w 5282519"/>
              <a:gd name="connsiteY39" fmla="*/ 5114925 h 6858000"/>
              <a:gd name="connsiteX40" fmla="*/ 55427 w 5282519"/>
              <a:gd name="connsiteY40" fmla="*/ 5075237 h 6858000"/>
              <a:gd name="connsiteX41" fmla="*/ 38632 w 5282519"/>
              <a:gd name="connsiteY41" fmla="*/ 5033962 h 6858000"/>
              <a:gd name="connsiteX42" fmla="*/ 23515 w 5282519"/>
              <a:gd name="connsiteY42" fmla="*/ 4987925 h 6858000"/>
              <a:gd name="connsiteX43" fmla="*/ 11758 w 5282519"/>
              <a:gd name="connsiteY43" fmla="*/ 4935537 h 6858000"/>
              <a:gd name="connsiteX44" fmla="*/ 3359 w 5282519"/>
              <a:gd name="connsiteY44" fmla="*/ 4875212 h 6858000"/>
              <a:gd name="connsiteX45" fmla="*/ 0 w 5282519"/>
              <a:gd name="connsiteY45" fmla="*/ 4806950 h 6858000"/>
              <a:gd name="connsiteX46" fmla="*/ 3359 w 5282519"/>
              <a:gd name="connsiteY46" fmla="*/ 4738687 h 6858000"/>
              <a:gd name="connsiteX47" fmla="*/ 11758 w 5282519"/>
              <a:gd name="connsiteY47" fmla="*/ 4678362 h 6858000"/>
              <a:gd name="connsiteX48" fmla="*/ 23515 w 5282519"/>
              <a:gd name="connsiteY48" fmla="*/ 4625975 h 6858000"/>
              <a:gd name="connsiteX49" fmla="*/ 38632 w 5282519"/>
              <a:gd name="connsiteY49" fmla="*/ 4579937 h 6858000"/>
              <a:gd name="connsiteX50" fmla="*/ 55427 w 5282519"/>
              <a:gd name="connsiteY50" fmla="*/ 4537075 h 6858000"/>
              <a:gd name="connsiteX51" fmla="*/ 75583 w 5282519"/>
              <a:gd name="connsiteY51" fmla="*/ 4498975 h 6858000"/>
              <a:gd name="connsiteX52" fmla="*/ 115893 w 5282519"/>
              <a:gd name="connsiteY52" fmla="*/ 4424362 h 6858000"/>
              <a:gd name="connsiteX53" fmla="*/ 134368 w 5282519"/>
              <a:gd name="connsiteY53" fmla="*/ 4386262 h 6858000"/>
              <a:gd name="connsiteX54" fmla="*/ 152844 w 5282519"/>
              <a:gd name="connsiteY54" fmla="*/ 4343400 h 6858000"/>
              <a:gd name="connsiteX55" fmla="*/ 167960 w 5282519"/>
              <a:gd name="connsiteY55" fmla="*/ 4297362 h 6858000"/>
              <a:gd name="connsiteX56" fmla="*/ 178038 w 5282519"/>
              <a:gd name="connsiteY56" fmla="*/ 4244975 h 6858000"/>
              <a:gd name="connsiteX57" fmla="*/ 188115 w 5282519"/>
              <a:gd name="connsiteY57" fmla="*/ 4186237 h 6858000"/>
              <a:gd name="connsiteX58" fmla="*/ 189795 w 5282519"/>
              <a:gd name="connsiteY58" fmla="*/ 4116387 h 6858000"/>
              <a:gd name="connsiteX59" fmla="*/ 188115 w 5282519"/>
              <a:gd name="connsiteY59" fmla="*/ 4048125 h 6858000"/>
              <a:gd name="connsiteX60" fmla="*/ 178038 w 5282519"/>
              <a:gd name="connsiteY60" fmla="*/ 3987800 h 6858000"/>
              <a:gd name="connsiteX61" fmla="*/ 167960 w 5282519"/>
              <a:gd name="connsiteY61" fmla="*/ 3935412 h 6858000"/>
              <a:gd name="connsiteX62" fmla="*/ 152844 w 5282519"/>
              <a:gd name="connsiteY62" fmla="*/ 3890962 h 6858000"/>
              <a:gd name="connsiteX63" fmla="*/ 134368 w 5282519"/>
              <a:gd name="connsiteY63" fmla="*/ 3848100 h 6858000"/>
              <a:gd name="connsiteX64" fmla="*/ 115893 w 5282519"/>
              <a:gd name="connsiteY64" fmla="*/ 3811587 h 6858000"/>
              <a:gd name="connsiteX65" fmla="*/ 75583 w 5282519"/>
              <a:gd name="connsiteY65" fmla="*/ 3736975 h 6858000"/>
              <a:gd name="connsiteX66" fmla="*/ 55427 w 5282519"/>
              <a:gd name="connsiteY66" fmla="*/ 3697287 h 6858000"/>
              <a:gd name="connsiteX67" fmla="*/ 38632 w 5282519"/>
              <a:gd name="connsiteY67" fmla="*/ 3656012 h 6858000"/>
              <a:gd name="connsiteX68" fmla="*/ 23515 w 5282519"/>
              <a:gd name="connsiteY68" fmla="*/ 3609975 h 6858000"/>
              <a:gd name="connsiteX69" fmla="*/ 11758 w 5282519"/>
              <a:gd name="connsiteY69" fmla="*/ 3557587 h 6858000"/>
              <a:gd name="connsiteX70" fmla="*/ 3359 w 5282519"/>
              <a:gd name="connsiteY70" fmla="*/ 3497262 h 6858000"/>
              <a:gd name="connsiteX71" fmla="*/ 0 w 5282519"/>
              <a:gd name="connsiteY71" fmla="*/ 3427412 h 6858000"/>
              <a:gd name="connsiteX72" fmla="*/ 3359 w 5282519"/>
              <a:gd name="connsiteY72" fmla="*/ 3360737 h 6858000"/>
              <a:gd name="connsiteX73" fmla="*/ 11758 w 5282519"/>
              <a:gd name="connsiteY73" fmla="*/ 3300412 h 6858000"/>
              <a:gd name="connsiteX74" fmla="*/ 23515 w 5282519"/>
              <a:gd name="connsiteY74" fmla="*/ 3248025 h 6858000"/>
              <a:gd name="connsiteX75" fmla="*/ 38632 w 5282519"/>
              <a:gd name="connsiteY75" fmla="*/ 3201987 h 6858000"/>
              <a:gd name="connsiteX76" fmla="*/ 55427 w 5282519"/>
              <a:gd name="connsiteY76" fmla="*/ 3160712 h 6858000"/>
              <a:gd name="connsiteX77" fmla="*/ 75583 w 5282519"/>
              <a:gd name="connsiteY77" fmla="*/ 3121025 h 6858000"/>
              <a:gd name="connsiteX78" fmla="*/ 95738 w 5282519"/>
              <a:gd name="connsiteY78" fmla="*/ 3084512 h 6858000"/>
              <a:gd name="connsiteX79" fmla="*/ 115893 w 5282519"/>
              <a:gd name="connsiteY79" fmla="*/ 3046412 h 6858000"/>
              <a:gd name="connsiteX80" fmla="*/ 134368 w 5282519"/>
              <a:gd name="connsiteY80" fmla="*/ 3009900 h 6858000"/>
              <a:gd name="connsiteX81" fmla="*/ 152844 w 5282519"/>
              <a:gd name="connsiteY81" fmla="*/ 2967037 h 6858000"/>
              <a:gd name="connsiteX82" fmla="*/ 167960 w 5282519"/>
              <a:gd name="connsiteY82" fmla="*/ 2922587 h 6858000"/>
              <a:gd name="connsiteX83" fmla="*/ 178038 w 5282519"/>
              <a:gd name="connsiteY83" fmla="*/ 2868612 h 6858000"/>
              <a:gd name="connsiteX84" fmla="*/ 188115 w 5282519"/>
              <a:gd name="connsiteY84" fmla="*/ 2809875 h 6858000"/>
              <a:gd name="connsiteX85" fmla="*/ 189795 w 5282519"/>
              <a:gd name="connsiteY85" fmla="*/ 2741612 h 6858000"/>
              <a:gd name="connsiteX86" fmla="*/ 188115 w 5282519"/>
              <a:gd name="connsiteY86" fmla="*/ 2671762 h 6858000"/>
              <a:gd name="connsiteX87" fmla="*/ 178038 w 5282519"/>
              <a:gd name="connsiteY87" fmla="*/ 2613025 h 6858000"/>
              <a:gd name="connsiteX88" fmla="*/ 167960 w 5282519"/>
              <a:gd name="connsiteY88" fmla="*/ 2560637 h 6858000"/>
              <a:gd name="connsiteX89" fmla="*/ 152844 w 5282519"/>
              <a:gd name="connsiteY89" fmla="*/ 2513012 h 6858000"/>
              <a:gd name="connsiteX90" fmla="*/ 134368 w 5282519"/>
              <a:gd name="connsiteY90" fmla="*/ 2471737 h 6858000"/>
              <a:gd name="connsiteX91" fmla="*/ 115893 w 5282519"/>
              <a:gd name="connsiteY91" fmla="*/ 2433637 h 6858000"/>
              <a:gd name="connsiteX92" fmla="*/ 95738 w 5282519"/>
              <a:gd name="connsiteY92" fmla="*/ 2395537 h 6858000"/>
              <a:gd name="connsiteX93" fmla="*/ 75583 w 5282519"/>
              <a:gd name="connsiteY93" fmla="*/ 2359025 h 6858000"/>
              <a:gd name="connsiteX94" fmla="*/ 55427 w 5282519"/>
              <a:gd name="connsiteY94" fmla="*/ 2319337 h 6858000"/>
              <a:gd name="connsiteX95" fmla="*/ 38632 w 5282519"/>
              <a:gd name="connsiteY95" fmla="*/ 2278062 h 6858000"/>
              <a:gd name="connsiteX96" fmla="*/ 23515 w 5282519"/>
              <a:gd name="connsiteY96" fmla="*/ 2232025 h 6858000"/>
              <a:gd name="connsiteX97" fmla="*/ 11758 w 5282519"/>
              <a:gd name="connsiteY97" fmla="*/ 2179637 h 6858000"/>
              <a:gd name="connsiteX98" fmla="*/ 3359 w 5282519"/>
              <a:gd name="connsiteY98" fmla="*/ 2119312 h 6858000"/>
              <a:gd name="connsiteX99" fmla="*/ 0 w 5282519"/>
              <a:gd name="connsiteY99" fmla="*/ 2051050 h 6858000"/>
              <a:gd name="connsiteX100" fmla="*/ 3359 w 5282519"/>
              <a:gd name="connsiteY100" fmla="*/ 1982787 h 6858000"/>
              <a:gd name="connsiteX101" fmla="*/ 11758 w 5282519"/>
              <a:gd name="connsiteY101" fmla="*/ 1922462 h 6858000"/>
              <a:gd name="connsiteX102" fmla="*/ 23515 w 5282519"/>
              <a:gd name="connsiteY102" fmla="*/ 1870075 h 6858000"/>
              <a:gd name="connsiteX103" fmla="*/ 38632 w 5282519"/>
              <a:gd name="connsiteY103" fmla="*/ 1824037 h 6858000"/>
              <a:gd name="connsiteX104" fmla="*/ 55427 w 5282519"/>
              <a:gd name="connsiteY104" fmla="*/ 1782762 h 6858000"/>
              <a:gd name="connsiteX105" fmla="*/ 75583 w 5282519"/>
              <a:gd name="connsiteY105" fmla="*/ 1743075 h 6858000"/>
              <a:gd name="connsiteX106" fmla="*/ 95738 w 5282519"/>
              <a:gd name="connsiteY106" fmla="*/ 1708150 h 6858000"/>
              <a:gd name="connsiteX107" fmla="*/ 115893 w 5282519"/>
              <a:gd name="connsiteY107" fmla="*/ 1671637 h 6858000"/>
              <a:gd name="connsiteX108" fmla="*/ 134368 w 5282519"/>
              <a:gd name="connsiteY108" fmla="*/ 1631950 h 6858000"/>
              <a:gd name="connsiteX109" fmla="*/ 152844 w 5282519"/>
              <a:gd name="connsiteY109" fmla="*/ 1589087 h 6858000"/>
              <a:gd name="connsiteX110" fmla="*/ 167960 w 5282519"/>
              <a:gd name="connsiteY110" fmla="*/ 1544637 h 6858000"/>
              <a:gd name="connsiteX111" fmla="*/ 178038 w 5282519"/>
              <a:gd name="connsiteY111" fmla="*/ 1492250 h 6858000"/>
              <a:gd name="connsiteX112" fmla="*/ 188115 w 5282519"/>
              <a:gd name="connsiteY112" fmla="*/ 1431925 h 6858000"/>
              <a:gd name="connsiteX113" fmla="*/ 189795 w 5282519"/>
              <a:gd name="connsiteY113" fmla="*/ 1363662 h 6858000"/>
              <a:gd name="connsiteX114" fmla="*/ 188115 w 5282519"/>
              <a:gd name="connsiteY114" fmla="*/ 1295400 h 6858000"/>
              <a:gd name="connsiteX115" fmla="*/ 178038 w 5282519"/>
              <a:gd name="connsiteY115" fmla="*/ 1235075 h 6858000"/>
              <a:gd name="connsiteX116" fmla="*/ 167960 w 5282519"/>
              <a:gd name="connsiteY116" fmla="*/ 1182687 h 6858000"/>
              <a:gd name="connsiteX117" fmla="*/ 152844 w 5282519"/>
              <a:gd name="connsiteY117" fmla="*/ 1136650 h 6858000"/>
              <a:gd name="connsiteX118" fmla="*/ 134368 w 5282519"/>
              <a:gd name="connsiteY118" fmla="*/ 1095375 h 6858000"/>
              <a:gd name="connsiteX119" fmla="*/ 115893 w 5282519"/>
              <a:gd name="connsiteY119" fmla="*/ 1055687 h 6858000"/>
              <a:gd name="connsiteX120" fmla="*/ 95738 w 5282519"/>
              <a:gd name="connsiteY120" fmla="*/ 1017587 h 6858000"/>
              <a:gd name="connsiteX121" fmla="*/ 75583 w 5282519"/>
              <a:gd name="connsiteY121" fmla="*/ 981075 h 6858000"/>
              <a:gd name="connsiteX122" fmla="*/ 55427 w 5282519"/>
              <a:gd name="connsiteY122" fmla="*/ 942975 h 6858000"/>
              <a:gd name="connsiteX123" fmla="*/ 38632 w 5282519"/>
              <a:gd name="connsiteY123" fmla="*/ 901700 h 6858000"/>
              <a:gd name="connsiteX124" fmla="*/ 23515 w 5282519"/>
              <a:gd name="connsiteY124" fmla="*/ 854075 h 6858000"/>
              <a:gd name="connsiteX125" fmla="*/ 11758 w 5282519"/>
              <a:gd name="connsiteY125" fmla="*/ 801687 h 6858000"/>
              <a:gd name="connsiteX126" fmla="*/ 3359 w 5282519"/>
              <a:gd name="connsiteY126" fmla="*/ 744537 h 6858000"/>
              <a:gd name="connsiteX127" fmla="*/ 0 w 5282519"/>
              <a:gd name="connsiteY127" fmla="*/ 673100 h 6858000"/>
              <a:gd name="connsiteX128" fmla="*/ 3359 w 5282519"/>
              <a:gd name="connsiteY128" fmla="*/ 606425 h 6858000"/>
              <a:gd name="connsiteX129" fmla="*/ 11758 w 5282519"/>
              <a:gd name="connsiteY129" fmla="*/ 546100 h 6858000"/>
              <a:gd name="connsiteX130" fmla="*/ 23515 w 5282519"/>
              <a:gd name="connsiteY130" fmla="*/ 496887 h 6858000"/>
              <a:gd name="connsiteX131" fmla="*/ 38632 w 5282519"/>
              <a:gd name="connsiteY131" fmla="*/ 450850 h 6858000"/>
              <a:gd name="connsiteX132" fmla="*/ 55427 w 5282519"/>
              <a:gd name="connsiteY132" fmla="*/ 409575 h 6858000"/>
              <a:gd name="connsiteX133" fmla="*/ 73903 w 5282519"/>
              <a:gd name="connsiteY133" fmla="*/ 369887 h 6858000"/>
              <a:gd name="connsiteX134" fmla="*/ 92379 w 5282519"/>
              <a:gd name="connsiteY134" fmla="*/ 334962 h 6858000"/>
              <a:gd name="connsiteX135" fmla="*/ 112534 w 5282519"/>
              <a:gd name="connsiteY135" fmla="*/ 296862 h 6858000"/>
              <a:gd name="connsiteX136" fmla="*/ 132689 w 5282519"/>
              <a:gd name="connsiteY136" fmla="*/ 260350 h 6858000"/>
              <a:gd name="connsiteX137" fmla="*/ 149485 w 5282519"/>
              <a:gd name="connsiteY137" fmla="*/ 217487 h 6858000"/>
              <a:gd name="connsiteX138" fmla="*/ 166281 w 5282519"/>
              <a:gd name="connsiteY138" fmla="*/ 174625 h 6858000"/>
              <a:gd name="connsiteX139" fmla="*/ 176358 w 5282519"/>
              <a:gd name="connsiteY139" fmla="*/ 122237 h 6858000"/>
              <a:gd name="connsiteX140" fmla="*/ 184756 w 5282519"/>
              <a:gd name="connsiteY140" fmla="*/ 6667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Lst>
            <a:rect l="l" t="t" r="r" b="b"/>
            <a:pathLst>
              <a:path w="5282519" h="6858000">
                <a:moveTo>
                  <a:pt x="189795" y="0"/>
                </a:moveTo>
                <a:lnTo>
                  <a:pt x="5282519" y="0"/>
                </a:lnTo>
                <a:lnTo>
                  <a:pt x="5282519" y="6858000"/>
                </a:lnTo>
                <a:lnTo>
                  <a:pt x="189795" y="6858000"/>
                </a:lnTo>
                <a:lnTo>
                  <a:pt x="184756" y="6791325"/>
                </a:lnTo>
                <a:lnTo>
                  <a:pt x="176358" y="6735762"/>
                </a:lnTo>
                <a:lnTo>
                  <a:pt x="166281" y="6683375"/>
                </a:lnTo>
                <a:lnTo>
                  <a:pt x="149485" y="6640512"/>
                </a:lnTo>
                <a:lnTo>
                  <a:pt x="132689" y="6597650"/>
                </a:lnTo>
                <a:lnTo>
                  <a:pt x="112534" y="6561137"/>
                </a:lnTo>
                <a:lnTo>
                  <a:pt x="92379" y="6523037"/>
                </a:lnTo>
                <a:lnTo>
                  <a:pt x="73903" y="6488112"/>
                </a:lnTo>
                <a:lnTo>
                  <a:pt x="55427" y="6448425"/>
                </a:lnTo>
                <a:lnTo>
                  <a:pt x="38632" y="6407150"/>
                </a:lnTo>
                <a:lnTo>
                  <a:pt x="23515" y="6361112"/>
                </a:lnTo>
                <a:lnTo>
                  <a:pt x="11758" y="6311900"/>
                </a:lnTo>
                <a:lnTo>
                  <a:pt x="3359" y="6251575"/>
                </a:lnTo>
                <a:lnTo>
                  <a:pt x="0" y="6183312"/>
                </a:lnTo>
                <a:lnTo>
                  <a:pt x="3359" y="6113462"/>
                </a:lnTo>
                <a:lnTo>
                  <a:pt x="11758" y="6056312"/>
                </a:lnTo>
                <a:lnTo>
                  <a:pt x="23515" y="6003925"/>
                </a:lnTo>
                <a:lnTo>
                  <a:pt x="38632" y="5956300"/>
                </a:lnTo>
                <a:lnTo>
                  <a:pt x="55427" y="5915025"/>
                </a:lnTo>
                <a:lnTo>
                  <a:pt x="75583" y="5876925"/>
                </a:lnTo>
                <a:lnTo>
                  <a:pt x="95738" y="5840412"/>
                </a:lnTo>
                <a:lnTo>
                  <a:pt x="115893" y="5802312"/>
                </a:lnTo>
                <a:lnTo>
                  <a:pt x="134368" y="5762625"/>
                </a:lnTo>
                <a:lnTo>
                  <a:pt x="152844" y="5721350"/>
                </a:lnTo>
                <a:lnTo>
                  <a:pt x="167960" y="5675312"/>
                </a:lnTo>
                <a:lnTo>
                  <a:pt x="178038" y="5622925"/>
                </a:lnTo>
                <a:lnTo>
                  <a:pt x="188115" y="5562600"/>
                </a:lnTo>
                <a:lnTo>
                  <a:pt x="189795" y="5494337"/>
                </a:lnTo>
                <a:lnTo>
                  <a:pt x="188115" y="5426075"/>
                </a:lnTo>
                <a:lnTo>
                  <a:pt x="178038" y="5365750"/>
                </a:lnTo>
                <a:lnTo>
                  <a:pt x="167960" y="5313362"/>
                </a:lnTo>
                <a:lnTo>
                  <a:pt x="152844" y="5268912"/>
                </a:lnTo>
                <a:lnTo>
                  <a:pt x="134368" y="5226050"/>
                </a:lnTo>
                <a:lnTo>
                  <a:pt x="115893" y="5186362"/>
                </a:lnTo>
                <a:lnTo>
                  <a:pt x="95738" y="5149850"/>
                </a:lnTo>
                <a:lnTo>
                  <a:pt x="75583" y="5114925"/>
                </a:lnTo>
                <a:lnTo>
                  <a:pt x="55427" y="5075237"/>
                </a:lnTo>
                <a:lnTo>
                  <a:pt x="38632" y="5033962"/>
                </a:lnTo>
                <a:lnTo>
                  <a:pt x="23515" y="4987925"/>
                </a:lnTo>
                <a:lnTo>
                  <a:pt x="11758" y="4935537"/>
                </a:lnTo>
                <a:lnTo>
                  <a:pt x="3359" y="4875212"/>
                </a:lnTo>
                <a:lnTo>
                  <a:pt x="0" y="4806950"/>
                </a:lnTo>
                <a:lnTo>
                  <a:pt x="3359" y="4738687"/>
                </a:lnTo>
                <a:lnTo>
                  <a:pt x="11758" y="4678362"/>
                </a:lnTo>
                <a:lnTo>
                  <a:pt x="23515" y="4625975"/>
                </a:lnTo>
                <a:lnTo>
                  <a:pt x="38632" y="4579937"/>
                </a:lnTo>
                <a:lnTo>
                  <a:pt x="55427" y="4537075"/>
                </a:lnTo>
                <a:lnTo>
                  <a:pt x="75583" y="4498975"/>
                </a:lnTo>
                <a:lnTo>
                  <a:pt x="115893" y="4424362"/>
                </a:lnTo>
                <a:lnTo>
                  <a:pt x="134368" y="4386262"/>
                </a:lnTo>
                <a:lnTo>
                  <a:pt x="152844" y="4343400"/>
                </a:lnTo>
                <a:lnTo>
                  <a:pt x="167960" y="4297362"/>
                </a:lnTo>
                <a:lnTo>
                  <a:pt x="178038" y="4244975"/>
                </a:lnTo>
                <a:lnTo>
                  <a:pt x="188115" y="4186237"/>
                </a:lnTo>
                <a:lnTo>
                  <a:pt x="189795" y="4116387"/>
                </a:lnTo>
                <a:lnTo>
                  <a:pt x="188115" y="4048125"/>
                </a:lnTo>
                <a:lnTo>
                  <a:pt x="178038" y="3987800"/>
                </a:lnTo>
                <a:lnTo>
                  <a:pt x="167960" y="3935412"/>
                </a:lnTo>
                <a:lnTo>
                  <a:pt x="152844" y="3890962"/>
                </a:lnTo>
                <a:lnTo>
                  <a:pt x="134368" y="3848100"/>
                </a:lnTo>
                <a:lnTo>
                  <a:pt x="115893" y="3811587"/>
                </a:lnTo>
                <a:lnTo>
                  <a:pt x="75583" y="3736975"/>
                </a:lnTo>
                <a:lnTo>
                  <a:pt x="55427" y="3697287"/>
                </a:lnTo>
                <a:lnTo>
                  <a:pt x="38632" y="3656012"/>
                </a:lnTo>
                <a:lnTo>
                  <a:pt x="23515" y="3609975"/>
                </a:lnTo>
                <a:lnTo>
                  <a:pt x="11758" y="3557587"/>
                </a:lnTo>
                <a:lnTo>
                  <a:pt x="3359" y="3497262"/>
                </a:lnTo>
                <a:lnTo>
                  <a:pt x="0" y="3427412"/>
                </a:lnTo>
                <a:lnTo>
                  <a:pt x="3359" y="3360737"/>
                </a:lnTo>
                <a:lnTo>
                  <a:pt x="11758" y="3300412"/>
                </a:lnTo>
                <a:lnTo>
                  <a:pt x="23515" y="3248025"/>
                </a:lnTo>
                <a:lnTo>
                  <a:pt x="38632" y="3201987"/>
                </a:lnTo>
                <a:lnTo>
                  <a:pt x="55427" y="3160712"/>
                </a:lnTo>
                <a:lnTo>
                  <a:pt x="75583" y="3121025"/>
                </a:lnTo>
                <a:lnTo>
                  <a:pt x="95738" y="3084512"/>
                </a:lnTo>
                <a:lnTo>
                  <a:pt x="115893" y="3046412"/>
                </a:lnTo>
                <a:lnTo>
                  <a:pt x="134368" y="3009900"/>
                </a:lnTo>
                <a:lnTo>
                  <a:pt x="152844" y="2967037"/>
                </a:lnTo>
                <a:lnTo>
                  <a:pt x="167960" y="2922587"/>
                </a:lnTo>
                <a:lnTo>
                  <a:pt x="178038" y="2868612"/>
                </a:lnTo>
                <a:lnTo>
                  <a:pt x="188115" y="2809875"/>
                </a:lnTo>
                <a:lnTo>
                  <a:pt x="189795" y="2741612"/>
                </a:lnTo>
                <a:lnTo>
                  <a:pt x="188115" y="2671762"/>
                </a:lnTo>
                <a:lnTo>
                  <a:pt x="178038" y="2613025"/>
                </a:lnTo>
                <a:lnTo>
                  <a:pt x="167960" y="2560637"/>
                </a:lnTo>
                <a:lnTo>
                  <a:pt x="152844" y="2513012"/>
                </a:lnTo>
                <a:lnTo>
                  <a:pt x="134368" y="2471737"/>
                </a:lnTo>
                <a:lnTo>
                  <a:pt x="115893" y="2433637"/>
                </a:lnTo>
                <a:lnTo>
                  <a:pt x="95738" y="2395537"/>
                </a:lnTo>
                <a:lnTo>
                  <a:pt x="75583" y="2359025"/>
                </a:lnTo>
                <a:lnTo>
                  <a:pt x="55427" y="2319337"/>
                </a:lnTo>
                <a:lnTo>
                  <a:pt x="38632" y="2278062"/>
                </a:lnTo>
                <a:lnTo>
                  <a:pt x="23515" y="2232025"/>
                </a:lnTo>
                <a:lnTo>
                  <a:pt x="11758" y="2179637"/>
                </a:lnTo>
                <a:lnTo>
                  <a:pt x="3359" y="2119312"/>
                </a:lnTo>
                <a:lnTo>
                  <a:pt x="0" y="2051050"/>
                </a:lnTo>
                <a:lnTo>
                  <a:pt x="3359" y="1982787"/>
                </a:lnTo>
                <a:lnTo>
                  <a:pt x="11758" y="1922462"/>
                </a:lnTo>
                <a:lnTo>
                  <a:pt x="23515" y="1870075"/>
                </a:lnTo>
                <a:lnTo>
                  <a:pt x="38632" y="1824037"/>
                </a:lnTo>
                <a:lnTo>
                  <a:pt x="55427" y="1782762"/>
                </a:lnTo>
                <a:lnTo>
                  <a:pt x="75583" y="1743075"/>
                </a:lnTo>
                <a:lnTo>
                  <a:pt x="95738" y="1708150"/>
                </a:lnTo>
                <a:lnTo>
                  <a:pt x="115893" y="1671637"/>
                </a:lnTo>
                <a:lnTo>
                  <a:pt x="134368" y="1631950"/>
                </a:lnTo>
                <a:lnTo>
                  <a:pt x="152844" y="1589087"/>
                </a:lnTo>
                <a:lnTo>
                  <a:pt x="167960" y="1544637"/>
                </a:lnTo>
                <a:lnTo>
                  <a:pt x="178038" y="1492250"/>
                </a:lnTo>
                <a:lnTo>
                  <a:pt x="188115" y="1431925"/>
                </a:lnTo>
                <a:lnTo>
                  <a:pt x="189795" y="1363662"/>
                </a:lnTo>
                <a:lnTo>
                  <a:pt x="188115" y="1295400"/>
                </a:lnTo>
                <a:lnTo>
                  <a:pt x="178038" y="1235075"/>
                </a:lnTo>
                <a:lnTo>
                  <a:pt x="167960" y="1182687"/>
                </a:lnTo>
                <a:lnTo>
                  <a:pt x="152844" y="1136650"/>
                </a:lnTo>
                <a:lnTo>
                  <a:pt x="134368" y="1095375"/>
                </a:lnTo>
                <a:lnTo>
                  <a:pt x="115893" y="1055687"/>
                </a:lnTo>
                <a:lnTo>
                  <a:pt x="95738" y="1017587"/>
                </a:lnTo>
                <a:lnTo>
                  <a:pt x="75583" y="981075"/>
                </a:lnTo>
                <a:lnTo>
                  <a:pt x="55427" y="942975"/>
                </a:lnTo>
                <a:lnTo>
                  <a:pt x="38632" y="901700"/>
                </a:lnTo>
                <a:lnTo>
                  <a:pt x="23515" y="854075"/>
                </a:lnTo>
                <a:lnTo>
                  <a:pt x="11758" y="801687"/>
                </a:lnTo>
                <a:lnTo>
                  <a:pt x="3359" y="744537"/>
                </a:lnTo>
                <a:lnTo>
                  <a:pt x="0" y="673100"/>
                </a:lnTo>
                <a:lnTo>
                  <a:pt x="3359" y="606425"/>
                </a:lnTo>
                <a:lnTo>
                  <a:pt x="11758" y="546100"/>
                </a:lnTo>
                <a:lnTo>
                  <a:pt x="23515" y="496887"/>
                </a:lnTo>
                <a:lnTo>
                  <a:pt x="38632" y="450850"/>
                </a:lnTo>
                <a:lnTo>
                  <a:pt x="55427" y="409575"/>
                </a:lnTo>
                <a:lnTo>
                  <a:pt x="73903" y="369887"/>
                </a:lnTo>
                <a:lnTo>
                  <a:pt x="92379" y="334962"/>
                </a:lnTo>
                <a:lnTo>
                  <a:pt x="112534" y="296862"/>
                </a:lnTo>
                <a:lnTo>
                  <a:pt x="132689" y="260350"/>
                </a:lnTo>
                <a:lnTo>
                  <a:pt x="149485" y="217487"/>
                </a:lnTo>
                <a:lnTo>
                  <a:pt x="166281" y="174625"/>
                </a:lnTo>
                <a:lnTo>
                  <a:pt x="176358" y="122237"/>
                </a:lnTo>
                <a:lnTo>
                  <a:pt x="184756" y="66675"/>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descr="Digital map with light leak background">
            <a:extLst>
              <a:ext uri="{FF2B5EF4-FFF2-40B4-BE49-F238E27FC236}">
                <a16:creationId xmlns:a16="http://schemas.microsoft.com/office/drawing/2014/main" id="{29826E55-8421-729F-953C-6CAF7CCB3C44}"/>
              </a:ext>
            </a:extLst>
          </p:cNvPr>
          <p:cNvPicPr>
            <a:picLocks noChangeAspect="1"/>
          </p:cNvPicPr>
          <p:nvPr/>
        </p:nvPicPr>
        <p:blipFill>
          <a:blip r:embed="rId2"/>
          <a:srcRect l="29614" r="18970" b="-1"/>
          <a:stretch>
            <a:fillRect/>
          </a:stretch>
        </p:blipFill>
        <p:spPr>
          <a:xfrm>
            <a:off x="6909481" y="10"/>
            <a:ext cx="5282519" cy="6857990"/>
          </a:xfrm>
          <a:custGeom>
            <a:avLst/>
            <a:gdLst/>
            <a:ahLst/>
            <a:cxnLst/>
            <a:rect l="l" t="t" r="r" b="b"/>
            <a:pathLst>
              <a:path w="5282519" h="6858000">
                <a:moveTo>
                  <a:pt x="189795" y="0"/>
                </a:moveTo>
                <a:lnTo>
                  <a:pt x="5282519" y="0"/>
                </a:lnTo>
                <a:lnTo>
                  <a:pt x="5282519" y="6858000"/>
                </a:lnTo>
                <a:lnTo>
                  <a:pt x="189795" y="6858000"/>
                </a:lnTo>
                <a:lnTo>
                  <a:pt x="184756" y="6791325"/>
                </a:lnTo>
                <a:lnTo>
                  <a:pt x="176358" y="6735762"/>
                </a:lnTo>
                <a:lnTo>
                  <a:pt x="166281" y="6683375"/>
                </a:lnTo>
                <a:lnTo>
                  <a:pt x="149485" y="6640512"/>
                </a:lnTo>
                <a:lnTo>
                  <a:pt x="132689" y="6597650"/>
                </a:lnTo>
                <a:lnTo>
                  <a:pt x="112534" y="6561137"/>
                </a:lnTo>
                <a:lnTo>
                  <a:pt x="92379" y="6523037"/>
                </a:lnTo>
                <a:lnTo>
                  <a:pt x="73903" y="6488112"/>
                </a:lnTo>
                <a:lnTo>
                  <a:pt x="55427" y="6448425"/>
                </a:lnTo>
                <a:lnTo>
                  <a:pt x="38632" y="6407150"/>
                </a:lnTo>
                <a:lnTo>
                  <a:pt x="23515" y="6361112"/>
                </a:lnTo>
                <a:lnTo>
                  <a:pt x="11758" y="6311900"/>
                </a:lnTo>
                <a:lnTo>
                  <a:pt x="3359" y="6251575"/>
                </a:lnTo>
                <a:lnTo>
                  <a:pt x="0" y="6183312"/>
                </a:lnTo>
                <a:lnTo>
                  <a:pt x="3359" y="6113462"/>
                </a:lnTo>
                <a:lnTo>
                  <a:pt x="11758" y="6056312"/>
                </a:lnTo>
                <a:lnTo>
                  <a:pt x="23515" y="6003925"/>
                </a:lnTo>
                <a:lnTo>
                  <a:pt x="38632" y="5956300"/>
                </a:lnTo>
                <a:lnTo>
                  <a:pt x="55427" y="5915025"/>
                </a:lnTo>
                <a:lnTo>
                  <a:pt x="75583" y="5876925"/>
                </a:lnTo>
                <a:lnTo>
                  <a:pt x="95738" y="5840412"/>
                </a:lnTo>
                <a:lnTo>
                  <a:pt x="115893" y="5802312"/>
                </a:lnTo>
                <a:lnTo>
                  <a:pt x="134368" y="5762625"/>
                </a:lnTo>
                <a:lnTo>
                  <a:pt x="152844" y="5721350"/>
                </a:lnTo>
                <a:lnTo>
                  <a:pt x="167960" y="5675312"/>
                </a:lnTo>
                <a:lnTo>
                  <a:pt x="178038" y="5622925"/>
                </a:lnTo>
                <a:lnTo>
                  <a:pt x="188115" y="5562600"/>
                </a:lnTo>
                <a:lnTo>
                  <a:pt x="189795" y="5494337"/>
                </a:lnTo>
                <a:lnTo>
                  <a:pt x="188115" y="5426075"/>
                </a:lnTo>
                <a:lnTo>
                  <a:pt x="178038" y="5365750"/>
                </a:lnTo>
                <a:lnTo>
                  <a:pt x="167960" y="5313362"/>
                </a:lnTo>
                <a:lnTo>
                  <a:pt x="152844" y="5268912"/>
                </a:lnTo>
                <a:lnTo>
                  <a:pt x="134368" y="5226050"/>
                </a:lnTo>
                <a:lnTo>
                  <a:pt x="115893" y="5186362"/>
                </a:lnTo>
                <a:lnTo>
                  <a:pt x="95738" y="5149850"/>
                </a:lnTo>
                <a:lnTo>
                  <a:pt x="75583" y="5114925"/>
                </a:lnTo>
                <a:lnTo>
                  <a:pt x="55427" y="5075237"/>
                </a:lnTo>
                <a:lnTo>
                  <a:pt x="38632" y="5033962"/>
                </a:lnTo>
                <a:lnTo>
                  <a:pt x="23515" y="4987925"/>
                </a:lnTo>
                <a:lnTo>
                  <a:pt x="11758" y="4935537"/>
                </a:lnTo>
                <a:lnTo>
                  <a:pt x="3359" y="4875212"/>
                </a:lnTo>
                <a:lnTo>
                  <a:pt x="0" y="4806950"/>
                </a:lnTo>
                <a:lnTo>
                  <a:pt x="3359" y="4738687"/>
                </a:lnTo>
                <a:lnTo>
                  <a:pt x="11758" y="4678362"/>
                </a:lnTo>
                <a:lnTo>
                  <a:pt x="23515" y="4625975"/>
                </a:lnTo>
                <a:lnTo>
                  <a:pt x="38632" y="4579937"/>
                </a:lnTo>
                <a:lnTo>
                  <a:pt x="55427" y="4537075"/>
                </a:lnTo>
                <a:lnTo>
                  <a:pt x="75583" y="4498975"/>
                </a:lnTo>
                <a:lnTo>
                  <a:pt x="115893" y="4424362"/>
                </a:lnTo>
                <a:lnTo>
                  <a:pt x="134368" y="4386262"/>
                </a:lnTo>
                <a:lnTo>
                  <a:pt x="152844" y="4343400"/>
                </a:lnTo>
                <a:lnTo>
                  <a:pt x="167960" y="4297362"/>
                </a:lnTo>
                <a:lnTo>
                  <a:pt x="178038" y="4244975"/>
                </a:lnTo>
                <a:lnTo>
                  <a:pt x="188115" y="4186237"/>
                </a:lnTo>
                <a:lnTo>
                  <a:pt x="189795" y="4116387"/>
                </a:lnTo>
                <a:lnTo>
                  <a:pt x="188115" y="4048125"/>
                </a:lnTo>
                <a:lnTo>
                  <a:pt x="178038" y="3987800"/>
                </a:lnTo>
                <a:lnTo>
                  <a:pt x="167960" y="3935412"/>
                </a:lnTo>
                <a:lnTo>
                  <a:pt x="152844" y="3890962"/>
                </a:lnTo>
                <a:lnTo>
                  <a:pt x="134368" y="3848100"/>
                </a:lnTo>
                <a:lnTo>
                  <a:pt x="115893" y="3811587"/>
                </a:lnTo>
                <a:lnTo>
                  <a:pt x="75583" y="3736975"/>
                </a:lnTo>
                <a:lnTo>
                  <a:pt x="55427" y="3697287"/>
                </a:lnTo>
                <a:lnTo>
                  <a:pt x="38632" y="3656012"/>
                </a:lnTo>
                <a:lnTo>
                  <a:pt x="23515" y="3609975"/>
                </a:lnTo>
                <a:lnTo>
                  <a:pt x="11758" y="3557587"/>
                </a:lnTo>
                <a:lnTo>
                  <a:pt x="3359" y="3497262"/>
                </a:lnTo>
                <a:lnTo>
                  <a:pt x="0" y="3427412"/>
                </a:lnTo>
                <a:lnTo>
                  <a:pt x="3359" y="3360737"/>
                </a:lnTo>
                <a:lnTo>
                  <a:pt x="11758" y="3300412"/>
                </a:lnTo>
                <a:lnTo>
                  <a:pt x="23515" y="3248025"/>
                </a:lnTo>
                <a:lnTo>
                  <a:pt x="38632" y="3201987"/>
                </a:lnTo>
                <a:lnTo>
                  <a:pt x="55427" y="3160712"/>
                </a:lnTo>
                <a:lnTo>
                  <a:pt x="75583" y="3121025"/>
                </a:lnTo>
                <a:lnTo>
                  <a:pt x="95738" y="3084512"/>
                </a:lnTo>
                <a:lnTo>
                  <a:pt x="115893" y="3046412"/>
                </a:lnTo>
                <a:lnTo>
                  <a:pt x="134368" y="3009900"/>
                </a:lnTo>
                <a:lnTo>
                  <a:pt x="152844" y="2967037"/>
                </a:lnTo>
                <a:lnTo>
                  <a:pt x="167960" y="2922587"/>
                </a:lnTo>
                <a:lnTo>
                  <a:pt x="178038" y="2868612"/>
                </a:lnTo>
                <a:lnTo>
                  <a:pt x="188115" y="2809875"/>
                </a:lnTo>
                <a:lnTo>
                  <a:pt x="189795" y="2741612"/>
                </a:lnTo>
                <a:lnTo>
                  <a:pt x="188115" y="2671762"/>
                </a:lnTo>
                <a:lnTo>
                  <a:pt x="178038" y="2613025"/>
                </a:lnTo>
                <a:lnTo>
                  <a:pt x="167960" y="2560637"/>
                </a:lnTo>
                <a:lnTo>
                  <a:pt x="152844" y="2513012"/>
                </a:lnTo>
                <a:lnTo>
                  <a:pt x="134368" y="2471737"/>
                </a:lnTo>
                <a:lnTo>
                  <a:pt x="115893" y="2433637"/>
                </a:lnTo>
                <a:lnTo>
                  <a:pt x="95738" y="2395537"/>
                </a:lnTo>
                <a:lnTo>
                  <a:pt x="75583" y="2359025"/>
                </a:lnTo>
                <a:lnTo>
                  <a:pt x="55427" y="2319337"/>
                </a:lnTo>
                <a:lnTo>
                  <a:pt x="38632" y="2278062"/>
                </a:lnTo>
                <a:lnTo>
                  <a:pt x="23515" y="2232025"/>
                </a:lnTo>
                <a:lnTo>
                  <a:pt x="11758" y="2179637"/>
                </a:lnTo>
                <a:lnTo>
                  <a:pt x="3359" y="2119312"/>
                </a:lnTo>
                <a:lnTo>
                  <a:pt x="0" y="2051050"/>
                </a:lnTo>
                <a:lnTo>
                  <a:pt x="3359" y="1982787"/>
                </a:lnTo>
                <a:lnTo>
                  <a:pt x="11758" y="1922462"/>
                </a:lnTo>
                <a:lnTo>
                  <a:pt x="23515" y="1870075"/>
                </a:lnTo>
                <a:lnTo>
                  <a:pt x="38632" y="1824037"/>
                </a:lnTo>
                <a:lnTo>
                  <a:pt x="55427" y="1782762"/>
                </a:lnTo>
                <a:lnTo>
                  <a:pt x="75583" y="1743075"/>
                </a:lnTo>
                <a:lnTo>
                  <a:pt x="95738" y="1708150"/>
                </a:lnTo>
                <a:lnTo>
                  <a:pt x="115893" y="1671637"/>
                </a:lnTo>
                <a:lnTo>
                  <a:pt x="134368" y="1631950"/>
                </a:lnTo>
                <a:lnTo>
                  <a:pt x="152844" y="1589087"/>
                </a:lnTo>
                <a:lnTo>
                  <a:pt x="167960" y="1544637"/>
                </a:lnTo>
                <a:lnTo>
                  <a:pt x="178038" y="1492250"/>
                </a:lnTo>
                <a:lnTo>
                  <a:pt x="188115" y="1431925"/>
                </a:lnTo>
                <a:lnTo>
                  <a:pt x="189795" y="1363662"/>
                </a:lnTo>
                <a:lnTo>
                  <a:pt x="188115" y="1295400"/>
                </a:lnTo>
                <a:lnTo>
                  <a:pt x="178038" y="1235075"/>
                </a:lnTo>
                <a:lnTo>
                  <a:pt x="167960" y="1182687"/>
                </a:lnTo>
                <a:lnTo>
                  <a:pt x="152844" y="1136650"/>
                </a:lnTo>
                <a:lnTo>
                  <a:pt x="134368" y="1095375"/>
                </a:lnTo>
                <a:lnTo>
                  <a:pt x="115893" y="1055687"/>
                </a:lnTo>
                <a:lnTo>
                  <a:pt x="95738" y="1017587"/>
                </a:lnTo>
                <a:lnTo>
                  <a:pt x="75583" y="981075"/>
                </a:lnTo>
                <a:lnTo>
                  <a:pt x="55427" y="942975"/>
                </a:lnTo>
                <a:lnTo>
                  <a:pt x="38632" y="901700"/>
                </a:lnTo>
                <a:lnTo>
                  <a:pt x="23515" y="854075"/>
                </a:lnTo>
                <a:lnTo>
                  <a:pt x="11758" y="801687"/>
                </a:lnTo>
                <a:lnTo>
                  <a:pt x="3359" y="744537"/>
                </a:lnTo>
                <a:lnTo>
                  <a:pt x="0" y="673100"/>
                </a:lnTo>
                <a:lnTo>
                  <a:pt x="3359" y="606425"/>
                </a:lnTo>
                <a:lnTo>
                  <a:pt x="11758" y="546100"/>
                </a:lnTo>
                <a:lnTo>
                  <a:pt x="23515" y="496887"/>
                </a:lnTo>
                <a:lnTo>
                  <a:pt x="38632" y="450850"/>
                </a:lnTo>
                <a:lnTo>
                  <a:pt x="55427" y="409575"/>
                </a:lnTo>
                <a:lnTo>
                  <a:pt x="73903" y="369887"/>
                </a:lnTo>
                <a:lnTo>
                  <a:pt x="92379" y="334962"/>
                </a:lnTo>
                <a:lnTo>
                  <a:pt x="112534" y="296862"/>
                </a:lnTo>
                <a:lnTo>
                  <a:pt x="132689" y="260350"/>
                </a:lnTo>
                <a:lnTo>
                  <a:pt x="149485" y="217487"/>
                </a:lnTo>
                <a:lnTo>
                  <a:pt x="166281" y="174625"/>
                </a:lnTo>
                <a:lnTo>
                  <a:pt x="176358" y="122237"/>
                </a:lnTo>
                <a:lnTo>
                  <a:pt x="184756" y="66675"/>
                </a:lnTo>
                <a:close/>
              </a:path>
            </a:pathLst>
          </a:custGeom>
        </p:spPr>
      </p:pic>
    </p:spTree>
    <p:extLst>
      <p:ext uri="{BB962C8B-B14F-4D97-AF65-F5344CB8AC3E}">
        <p14:creationId xmlns:p14="http://schemas.microsoft.com/office/powerpoint/2010/main" val="42768637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195727" y="382385"/>
            <a:ext cx="6335338" cy="1492132"/>
          </a:xfrm>
        </p:spPr>
        <p:txBody>
          <a:bodyPr>
            <a:normAutofit/>
          </a:bodyPr>
          <a:lstStyle/>
          <a:p>
            <a:r>
              <a:rPr lang="en-US" sz="3600" dirty="0"/>
              <a:t>Strategy and Structure of International Business</a:t>
            </a:r>
            <a:endParaRPr lang="en-IN" sz="3600" dirty="0"/>
          </a:p>
        </p:txBody>
      </p:sp>
      <p:pic>
        <p:nvPicPr>
          <p:cNvPr id="22" name="Picture 21" descr="Mobile device with apps">
            <a:extLst>
              <a:ext uri="{FF2B5EF4-FFF2-40B4-BE49-F238E27FC236}">
                <a16:creationId xmlns:a16="http://schemas.microsoft.com/office/drawing/2014/main" id="{4B02B90A-9E4E-F6F8-0A9B-3F75F1196680}"/>
              </a:ext>
            </a:extLst>
          </p:cNvPr>
          <p:cNvPicPr>
            <a:picLocks noChangeAspect="1"/>
          </p:cNvPicPr>
          <p:nvPr/>
        </p:nvPicPr>
        <p:blipFill>
          <a:blip r:embed="rId2"/>
          <a:srcRect l="52873" r="13300" b="-1"/>
          <a:stretch>
            <a:fillRect/>
          </a:stretch>
        </p:blipFill>
        <p:spPr>
          <a:xfrm>
            <a:off x="688434" y="-9525"/>
            <a:ext cx="4129822" cy="6867525"/>
          </a:xfrm>
          <a:prstGeom prst="rect">
            <a:avLst/>
          </a:prstGeom>
        </p:spPr>
      </p:pic>
      <p:sp>
        <p:nvSpPr>
          <p:cNvPr id="26" name="Freeform 6">
            <a:extLst>
              <a:ext uri="{FF2B5EF4-FFF2-40B4-BE49-F238E27FC236}">
                <a16:creationId xmlns:a16="http://schemas.microsoft.com/office/drawing/2014/main" id="{5402222E-F041-43A0-81BC-1B3F2EF765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tx2"/>
          </a:solidFill>
          <a:ln w="0">
            <a:noFill/>
            <a:prstDash val="solid"/>
            <a:round/>
            <a:headEnd/>
            <a:tailEnd/>
          </a:ln>
        </p:spPr>
        <p:txBody>
          <a:bodyPr/>
          <a:lstStyle/>
          <a:p>
            <a:endParaRPr lang="en-IN"/>
          </a:p>
        </p:txBody>
      </p:sp>
      <p:sp>
        <p:nvSpPr>
          <p:cNvPr id="20" name="Content Placeholder 2"/>
          <p:cNvSpPr>
            <a:spLocks noGrp="1"/>
          </p:cNvSpPr>
          <p:nvPr>
            <p:ph idx="1"/>
          </p:nvPr>
        </p:nvSpPr>
        <p:spPr>
          <a:xfrm>
            <a:off x="4818256" y="1992087"/>
            <a:ext cx="6970973" cy="4483528"/>
          </a:xfrm>
        </p:spPr>
        <p:txBody>
          <a:bodyPr>
            <a:normAutofit/>
          </a:bodyPr>
          <a:lstStyle/>
          <a:p>
            <a:r>
              <a:rPr lang="en-US" sz="2400" dirty="0">
                <a:latin typeface="Times New Roman" panose="02020603050405020304" pitchFamily="18" charset="0"/>
                <a:cs typeface="Times New Roman" panose="02020603050405020304" pitchFamily="18" charset="0"/>
              </a:rPr>
              <a:t>The strategy and structure of international business explain how multinational companies plan their global operations and organize their activities across different countries. International business strategies help firms expand into new markets, increase profits, and gain competitive advantage.</a:t>
            </a:r>
          </a:p>
          <a:p>
            <a:pPr marL="0" indent="0">
              <a:buNone/>
            </a:pP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Example: </a:t>
            </a:r>
            <a:r>
              <a:rPr lang="en-US" sz="2400" dirty="0">
                <a:solidFill>
                  <a:srgbClr val="FF0000"/>
                </a:solidFill>
                <a:latin typeface="Times New Roman" panose="02020603050405020304" pitchFamily="18" charset="0"/>
                <a:cs typeface="Times New Roman" panose="02020603050405020304" pitchFamily="18" charset="0"/>
              </a:rPr>
              <a:t>Companies like Apple and Samsung design global strategies to sell their products in multiple countries.</a:t>
            </a:r>
          </a:p>
          <a:p>
            <a:endParaRPr lang="en-US" dirty="0">
              <a:latin typeface="Times New Roman" panose="02020603050405020304" pitchFamily="18" charset="0"/>
              <a:cs typeface="Times New Roman" panose="02020603050405020304" pitchFamily="18" charset="0"/>
            </a:endParaRPr>
          </a:p>
        </p:txBody>
      </p:sp>
      <p:sp>
        <p:nvSpPr>
          <p:cNvPr id="28" name="Rectangle 27">
            <a:extLst>
              <a:ext uri="{FF2B5EF4-FFF2-40B4-BE49-F238E27FC236}">
                <a16:creationId xmlns:a16="http://schemas.microsoft.com/office/drawing/2014/main" id="{B80D28A2-8EA4-4EF0-9056-3BDAA7290F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908536"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251677" y="645105"/>
            <a:ext cx="6600418" cy="1320855"/>
          </a:xfrm>
        </p:spPr>
        <p:txBody>
          <a:bodyPr>
            <a:normAutofit/>
          </a:bodyPr>
          <a:lstStyle/>
          <a:p>
            <a:r>
              <a:rPr lang="en-IN" sz="4000" dirty="0"/>
              <a:t>Strategy of International Business</a:t>
            </a:r>
          </a:p>
        </p:txBody>
      </p:sp>
      <p:sp>
        <p:nvSpPr>
          <p:cNvPr id="3" name="Content Placeholder 2"/>
          <p:cNvSpPr>
            <a:spLocks noGrp="1"/>
          </p:cNvSpPr>
          <p:nvPr>
            <p:ph idx="1"/>
          </p:nvPr>
        </p:nvSpPr>
        <p:spPr>
          <a:xfrm>
            <a:off x="1035742" y="2373214"/>
            <a:ext cx="5423782" cy="4225574"/>
          </a:xfrm>
        </p:spPr>
        <p:txBody>
          <a:bodyPr>
            <a:normAutofit/>
          </a:bodyPr>
          <a:lstStyle/>
          <a:p>
            <a:pPr marL="0" indent="0">
              <a:lnSpc>
                <a:spcPct val="100000"/>
              </a:lnSpc>
              <a:buNone/>
            </a:pPr>
            <a:r>
              <a:rPr lang="en-US" dirty="0">
                <a:solidFill>
                  <a:schemeClr val="tx1"/>
                </a:solidFill>
                <a:latin typeface="Times New Roman" panose="02020603050405020304" pitchFamily="18" charset="0"/>
                <a:cs typeface="Times New Roman" panose="02020603050405020304" pitchFamily="18" charset="0"/>
              </a:rPr>
              <a:t>The strategy of international business refers to long-term plans adopted by companies to compete successfully in international markets. It involves decisions about production, marketing, expansion, and resource allocation.</a:t>
            </a:r>
          </a:p>
          <a:p>
            <a:pPr marL="0" indent="0">
              <a:lnSpc>
                <a:spcPct val="100000"/>
              </a:lnSpc>
              <a:buNone/>
            </a:pPr>
            <a:endParaRPr lang="en-US" dirty="0">
              <a:solidFill>
                <a:schemeClr val="tx1"/>
              </a:solidFill>
              <a:latin typeface="Times New Roman" panose="02020603050405020304" pitchFamily="18" charset="0"/>
              <a:cs typeface="Times New Roman" panose="02020603050405020304" pitchFamily="18" charset="0"/>
            </a:endParaRPr>
          </a:p>
          <a:p>
            <a:pPr marL="0" indent="0">
              <a:lnSpc>
                <a:spcPct val="100000"/>
              </a:lnSpc>
              <a:buNone/>
            </a:pPr>
            <a:r>
              <a:rPr lang="en-US" dirty="0">
                <a:solidFill>
                  <a:schemeClr val="tx1"/>
                </a:solidFill>
                <a:latin typeface="Times New Roman" panose="02020603050405020304" pitchFamily="18" charset="0"/>
                <a:cs typeface="Times New Roman" panose="02020603050405020304" pitchFamily="18" charset="0"/>
              </a:rPr>
              <a:t>Example: </a:t>
            </a:r>
            <a:r>
              <a:rPr lang="en-US" dirty="0">
                <a:solidFill>
                  <a:srgbClr val="FF0000"/>
                </a:solidFill>
                <a:latin typeface="Times New Roman" panose="02020603050405020304" pitchFamily="18" charset="0"/>
                <a:cs typeface="Times New Roman" panose="02020603050405020304" pitchFamily="18" charset="0"/>
              </a:rPr>
              <a:t>Apple designs products in the United States but manufactures them in countries with lower production costs.</a:t>
            </a:r>
          </a:p>
          <a:p>
            <a:pPr>
              <a:lnSpc>
                <a:spcPct val="100000"/>
              </a:lnSpc>
            </a:pPr>
            <a:endParaRPr lang="en-US" dirty="0">
              <a:solidFill>
                <a:schemeClr val="tx1"/>
              </a:solidFill>
              <a:latin typeface="Times New Roman" panose="02020603050405020304" pitchFamily="18" charset="0"/>
              <a:cs typeface="Times New Roman" panose="02020603050405020304" pitchFamily="18" charset="0"/>
            </a:endParaRPr>
          </a:p>
        </p:txBody>
      </p:sp>
      <p:pic>
        <p:nvPicPr>
          <p:cNvPr id="1026" name="Picture 2">
            <a:extLst>
              <a:ext uri="{FF2B5EF4-FFF2-40B4-BE49-F238E27FC236}">
                <a16:creationId xmlns:a16="http://schemas.microsoft.com/office/drawing/2014/main" id="{AC203F3E-09A7-28C5-BEFD-E48D200A01A1}"/>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400800" y="2054433"/>
            <a:ext cx="5125806" cy="290961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1F5DB862-AB60-3DA7-64A4-5AABD7A70764}"/>
              </a:ext>
            </a:extLst>
          </p:cNvPr>
          <p:cNvPicPr>
            <a:picLocks noChangeAspect="1"/>
          </p:cNvPicPr>
          <p:nvPr/>
        </p:nvPicPr>
        <p:blipFill>
          <a:blip r:embed="rId2"/>
          <a:srcRect l="19117" r="41076"/>
          <a:stretch>
            <a:fillRect/>
          </a:stretch>
        </p:blipFill>
        <p:spPr>
          <a:xfrm>
            <a:off x="7338646" y="10"/>
            <a:ext cx="4853354" cy="6857990"/>
          </a:xfrm>
          <a:prstGeom prst="rect">
            <a:avLst/>
          </a:prstGeom>
        </p:spPr>
      </p:pic>
      <p:sp>
        <p:nvSpPr>
          <p:cNvPr id="15" name="Freeform 10">
            <a:extLst>
              <a:ext uri="{FF2B5EF4-FFF2-40B4-BE49-F238E27FC236}">
                <a16:creationId xmlns:a16="http://schemas.microsoft.com/office/drawing/2014/main" id="{E1CE536E-134A-4A35-900B-30F927D5B5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0" y="0"/>
            <a:ext cx="7569200" cy="6858000"/>
          </a:xfrm>
          <a:custGeom>
            <a:avLst/>
            <a:gdLst>
              <a:gd name="connsiteX0" fmla="*/ 0 w 7569200"/>
              <a:gd name="connsiteY0" fmla="*/ 0 h 6858000"/>
              <a:gd name="connsiteX1" fmla="*/ 7389812 w 7569200"/>
              <a:gd name="connsiteY1" fmla="*/ 0 h 6858000"/>
              <a:gd name="connsiteX2" fmla="*/ 7394575 w 7569200"/>
              <a:gd name="connsiteY2" fmla="*/ 66675 h 6858000"/>
              <a:gd name="connsiteX3" fmla="*/ 7402512 w 7569200"/>
              <a:gd name="connsiteY3" fmla="*/ 122237 h 6858000"/>
              <a:gd name="connsiteX4" fmla="*/ 7412037 w 7569200"/>
              <a:gd name="connsiteY4" fmla="*/ 174625 h 6858000"/>
              <a:gd name="connsiteX5" fmla="*/ 7427912 w 7569200"/>
              <a:gd name="connsiteY5" fmla="*/ 217487 h 6858000"/>
              <a:gd name="connsiteX6" fmla="*/ 7443787 w 7569200"/>
              <a:gd name="connsiteY6" fmla="*/ 260350 h 6858000"/>
              <a:gd name="connsiteX7" fmla="*/ 7462837 w 7569200"/>
              <a:gd name="connsiteY7" fmla="*/ 296862 h 6858000"/>
              <a:gd name="connsiteX8" fmla="*/ 7481887 w 7569200"/>
              <a:gd name="connsiteY8" fmla="*/ 334962 h 6858000"/>
              <a:gd name="connsiteX9" fmla="*/ 7499350 w 7569200"/>
              <a:gd name="connsiteY9" fmla="*/ 369887 h 6858000"/>
              <a:gd name="connsiteX10" fmla="*/ 7516812 w 7569200"/>
              <a:gd name="connsiteY10" fmla="*/ 409575 h 6858000"/>
              <a:gd name="connsiteX11" fmla="*/ 7532687 w 7569200"/>
              <a:gd name="connsiteY11" fmla="*/ 450850 h 6858000"/>
              <a:gd name="connsiteX12" fmla="*/ 7546975 w 7569200"/>
              <a:gd name="connsiteY12" fmla="*/ 496887 h 6858000"/>
              <a:gd name="connsiteX13" fmla="*/ 7558087 w 7569200"/>
              <a:gd name="connsiteY13" fmla="*/ 546100 h 6858000"/>
              <a:gd name="connsiteX14" fmla="*/ 7566025 w 7569200"/>
              <a:gd name="connsiteY14" fmla="*/ 606425 h 6858000"/>
              <a:gd name="connsiteX15" fmla="*/ 7569200 w 7569200"/>
              <a:gd name="connsiteY15" fmla="*/ 673100 h 6858000"/>
              <a:gd name="connsiteX16" fmla="*/ 7566025 w 7569200"/>
              <a:gd name="connsiteY16" fmla="*/ 744537 h 6858000"/>
              <a:gd name="connsiteX17" fmla="*/ 7558087 w 7569200"/>
              <a:gd name="connsiteY17" fmla="*/ 801687 h 6858000"/>
              <a:gd name="connsiteX18" fmla="*/ 7546975 w 7569200"/>
              <a:gd name="connsiteY18" fmla="*/ 854075 h 6858000"/>
              <a:gd name="connsiteX19" fmla="*/ 7532687 w 7569200"/>
              <a:gd name="connsiteY19" fmla="*/ 901700 h 6858000"/>
              <a:gd name="connsiteX20" fmla="*/ 7516812 w 7569200"/>
              <a:gd name="connsiteY20" fmla="*/ 942975 h 6858000"/>
              <a:gd name="connsiteX21" fmla="*/ 7497762 w 7569200"/>
              <a:gd name="connsiteY21" fmla="*/ 981075 h 6858000"/>
              <a:gd name="connsiteX22" fmla="*/ 7478712 w 7569200"/>
              <a:gd name="connsiteY22" fmla="*/ 1017587 h 6858000"/>
              <a:gd name="connsiteX23" fmla="*/ 7459662 w 7569200"/>
              <a:gd name="connsiteY23" fmla="*/ 1055687 h 6858000"/>
              <a:gd name="connsiteX24" fmla="*/ 7442200 w 7569200"/>
              <a:gd name="connsiteY24" fmla="*/ 1095375 h 6858000"/>
              <a:gd name="connsiteX25" fmla="*/ 7424737 w 7569200"/>
              <a:gd name="connsiteY25" fmla="*/ 1136650 h 6858000"/>
              <a:gd name="connsiteX26" fmla="*/ 7410450 w 7569200"/>
              <a:gd name="connsiteY26" fmla="*/ 1182687 h 6858000"/>
              <a:gd name="connsiteX27" fmla="*/ 7400925 w 7569200"/>
              <a:gd name="connsiteY27" fmla="*/ 1235075 h 6858000"/>
              <a:gd name="connsiteX28" fmla="*/ 7391400 w 7569200"/>
              <a:gd name="connsiteY28" fmla="*/ 1295400 h 6858000"/>
              <a:gd name="connsiteX29" fmla="*/ 7389812 w 7569200"/>
              <a:gd name="connsiteY29" fmla="*/ 1363662 h 6858000"/>
              <a:gd name="connsiteX30" fmla="*/ 7391400 w 7569200"/>
              <a:gd name="connsiteY30" fmla="*/ 1431925 h 6858000"/>
              <a:gd name="connsiteX31" fmla="*/ 7400925 w 7569200"/>
              <a:gd name="connsiteY31" fmla="*/ 1492250 h 6858000"/>
              <a:gd name="connsiteX32" fmla="*/ 7410450 w 7569200"/>
              <a:gd name="connsiteY32" fmla="*/ 1544637 h 6858000"/>
              <a:gd name="connsiteX33" fmla="*/ 7424737 w 7569200"/>
              <a:gd name="connsiteY33" fmla="*/ 1589087 h 6858000"/>
              <a:gd name="connsiteX34" fmla="*/ 7442200 w 7569200"/>
              <a:gd name="connsiteY34" fmla="*/ 1631950 h 6858000"/>
              <a:gd name="connsiteX35" fmla="*/ 7459662 w 7569200"/>
              <a:gd name="connsiteY35" fmla="*/ 1671637 h 6858000"/>
              <a:gd name="connsiteX36" fmla="*/ 7478712 w 7569200"/>
              <a:gd name="connsiteY36" fmla="*/ 1708150 h 6858000"/>
              <a:gd name="connsiteX37" fmla="*/ 7497762 w 7569200"/>
              <a:gd name="connsiteY37" fmla="*/ 1743075 h 6858000"/>
              <a:gd name="connsiteX38" fmla="*/ 7516812 w 7569200"/>
              <a:gd name="connsiteY38" fmla="*/ 1782762 h 6858000"/>
              <a:gd name="connsiteX39" fmla="*/ 7532687 w 7569200"/>
              <a:gd name="connsiteY39" fmla="*/ 1824037 h 6858000"/>
              <a:gd name="connsiteX40" fmla="*/ 7546975 w 7569200"/>
              <a:gd name="connsiteY40" fmla="*/ 1870075 h 6858000"/>
              <a:gd name="connsiteX41" fmla="*/ 7558087 w 7569200"/>
              <a:gd name="connsiteY41" fmla="*/ 1922462 h 6858000"/>
              <a:gd name="connsiteX42" fmla="*/ 7566025 w 7569200"/>
              <a:gd name="connsiteY42" fmla="*/ 1982787 h 6858000"/>
              <a:gd name="connsiteX43" fmla="*/ 7569200 w 7569200"/>
              <a:gd name="connsiteY43" fmla="*/ 2051050 h 6858000"/>
              <a:gd name="connsiteX44" fmla="*/ 7566025 w 7569200"/>
              <a:gd name="connsiteY44" fmla="*/ 2119312 h 6858000"/>
              <a:gd name="connsiteX45" fmla="*/ 7558087 w 7569200"/>
              <a:gd name="connsiteY45" fmla="*/ 2179637 h 6858000"/>
              <a:gd name="connsiteX46" fmla="*/ 7546975 w 7569200"/>
              <a:gd name="connsiteY46" fmla="*/ 2232025 h 6858000"/>
              <a:gd name="connsiteX47" fmla="*/ 7532687 w 7569200"/>
              <a:gd name="connsiteY47" fmla="*/ 2278062 h 6858000"/>
              <a:gd name="connsiteX48" fmla="*/ 7516812 w 7569200"/>
              <a:gd name="connsiteY48" fmla="*/ 2319337 h 6858000"/>
              <a:gd name="connsiteX49" fmla="*/ 7497762 w 7569200"/>
              <a:gd name="connsiteY49" fmla="*/ 2359025 h 6858000"/>
              <a:gd name="connsiteX50" fmla="*/ 7478712 w 7569200"/>
              <a:gd name="connsiteY50" fmla="*/ 2395537 h 6858000"/>
              <a:gd name="connsiteX51" fmla="*/ 7459662 w 7569200"/>
              <a:gd name="connsiteY51" fmla="*/ 2433637 h 6858000"/>
              <a:gd name="connsiteX52" fmla="*/ 7442200 w 7569200"/>
              <a:gd name="connsiteY52" fmla="*/ 2471737 h 6858000"/>
              <a:gd name="connsiteX53" fmla="*/ 7424737 w 7569200"/>
              <a:gd name="connsiteY53" fmla="*/ 2513012 h 6858000"/>
              <a:gd name="connsiteX54" fmla="*/ 7410450 w 7569200"/>
              <a:gd name="connsiteY54" fmla="*/ 2560637 h 6858000"/>
              <a:gd name="connsiteX55" fmla="*/ 7400925 w 7569200"/>
              <a:gd name="connsiteY55" fmla="*/ 2613025 h 6858000"/>
              <a:gd name="connsiteX56" fmla="*/ 7391400 w 7569200"/>
              <a:gd name="connsiteY56" fmla="*/ 2671762 h 6858000"/>
              <a:gd name="connsiteX57" fmla="*/ 7389812 w 7569200"/>
              <a:gd name="connsiteY57" fmla="*/ 2741612 h 6858000"/>
              <a:gd name="connsiteX58" fmla="*/ 7391400 w 7569200"/>
              <a:gd name="connsiteY58" fmla="*/ 2809875 h 6858000"/>
              <a:gd name="connsiteX59" fmla="*/ 7400925 w 7569200"/>
              <a:gd name="connsiteY59" fmla="*/ 2868612 h 6858000"/>
              <a:gd name="connsiteX60" fmla="*/ 7410450 w 7569200"/>
              <a:gd name="connsiteY60" fmla="*/ 2922587 h 6858000"/>
              <a:gd name="connsiteX61" fmla="*/ 7424737 w 7569200"/>
              <a:gd name="connsiteY61" fmla="*/ 2967037 h 6858000"/>
              <a:gd name="connsiteX62" fmla="*/ 7442200 w 7569200"/>
              <a:gd name="connsiteY62" fmla="*/ 3009900 h 6858000"/>
              <a:gd name="connsiteX63" fmla="*/ 7459662 w 7569200"/>
              <a:gd name="connsiteY63" fmla="*/ 3046412 h 6858000"/>
              <a:gd name="connsiteX64" fmla="*/ 7478712 w 7569200"/>
              <a:gd name="connsiteY64" fmla="*/ 3084512 h 6858000"/>
              <a:gd name="connsiteX65" fmla="*/ 7497762 w 7569200"/>
              <a:gd name="connsiteY65" fmla="*/ 3121025 h 6858000"/>
              <a:gd name="connsiteX66" fmla="*/ 7516812 w 7569200"/>
              <a:gd name="connsiteY66" fmla="*/ 3160712 h 6858000"/>
              <a:gd name="connsiteX67" fmla="*/ 7532687 w 7569200"/>
              <a:gd name="connsiteY67" fmla="*/ 3201987 h 6858000"/>
              <a:gd name="connsiteX68" fmla="*/ 7546975 w 7569200"/>
              <a:gd name="connsiteY68" fmla="*/ 3248025 h 6858000"/>
              <a:gd name="connsiteX69" fmla="*/ 7558087 w 7569200"/>
              <a:gd name="connsiteY69" fmla="*/ 3300412 h 6858000"/>
              <a:gd name="connsiteX70" fmla="*/ 7566025 w 7569200"/>
              <a:gd name="connsiteY70" fmla="*/ 3360737 h 6858000"/>
              <a:gd name="connsiteX71" fmla="*/ 7569200 w 7569200"/>
              <a:gd name="connsiteY71" fmla="*/ 3427412 h 6858000"/>
              <a:gd name="connsiteX72" fmla="*/ 7566025 w 7569200"/>
              <a:gd name="connsiteY72" fmla="*/ 3497262 h 6858000"/>
              <a:gd name="connsiteX73" fmla="*/ 7558087 w 7569200"/>
              <a:gd name="connsiteY73" fmla="*/ 3557587 h 6858000"/>
              <a:gd name="connsiteX74" fmla="*/ 7546975 w 7569200"/>
              <a:gd name="connsiteY74" fmla="*/ 3609975 h 6858000"/>
              <a:gd name="connsiteX75" fmla="*/ 7532687 w 7569200"/>
              <a:gd name="connsiteY75" fmla="*/ 3656012 h 6858000"/>
              <a:gd name="connsiteX76" fmla="*/ 7516812 w 7569200"/>
              <a:gd name="connsiteY76" fmla="*/ 3697287 h 6858000"/>
              <a:gd name="connsiteX77" fmla="*/ 7497762 w 7569200"/>
              <a:gd name="connsiteY77" fmla="*/ 3736975 h 6858000"/>
              <a:gd name="connsiteX78" fmla="*/ 7459662 w 7569200"/>
              <a:gd name="connsiteY78" fmla="*/ 3811587 h 6858000"/>
              <a:gd name="connsiteX79" fmla="*/ 7442200 w 7569200"/>
              <a:gd name="connsiteY79" fmla="*/ 3848100 h 6858000"/>
              <a:gd name="connsiteX80" fmla="*/ 7424737 w 7569200"/>
              <a:gd name="connsiteY80" fmla="*/ 3890962 h 6858000"/>
              <a:gd name="connsiteX81" fmla="*/ 7410450 w 7569200"/>
              <a:gd name="connsiteY81" fmla="*/ 3935412 h 6858000"/>
              <a:gd name="connsiteX82" fmla="*/ 7400925 w 7569200"/>
              <a:gd name="connsiteY82" fmla="*/ 3987800 h 6858000"/>
              <a:gd name="connsiteX83" fmla="*/ 7391400 w 7569200"/>
              <a:gd name="connsiteY83" fmla="*/ 4048125 h 6858000"/>
              <a:gd name="connsiteX84" fmla="*/ 7389812 w 7569200"/>
              <a:gd name="connsiteY84" fmla="*/ 4116387 h 6858000"/>
              <a:gd name="connsiteX85" fmla="*/ 7391400 w 7569200"/>
              <a:gd name="connsiteY85" fmla="*/ 4186237 h 6858000"/>
              <a:gd name="connsiteX86" fmla="*/ 7400925 w 7569200"/>
              <a:gd name="connsiteY86" fmla="*/ 4244975 h 6858000"/>
              <a:gd name="connsiteX87" fmla="*/ 7410450 w 7569200"/>
              <a:gd name="connsiteY87" fmla="*/ 4297362 h 6858000"/>
              <a:gd name="connsiteX88" fmla="*/ 7424737 w 7569200"/>
              <a:gd name="connsiteY88" fmla="*/ 4343400 h 6858000"/>
              <a:gd name="connsiteX89" fmla="*/ 7442200 w 7569200"/>
              <a:gd name="connsiteY89" fmla="*/ 4386262 h 6858000"/>
              <a:gd name="connsiteX90" fmla="*/ 7459662 w 7569200"/>
              <a:gd name="connsiteY90" fmla="*/ 4424362 h 6858000"/>
              <a:gd name="connsiteX91" fmla="*/ 7497762 w 7569200"/>
              <a:gd name="connsiteY91" fmla="*/ 4498975 h 6858000"/>
              <a:gd name="connsiteX92" fmla="*/ 7516812 w 7569200"/>
              <a:gd name="connsiteY92" fmla="*/ 4537075 h 6858000"/>
              <a:gd name="connsiteX93" fmla="*/ 7532687 w 7569200"/>
              <a:gd name="connsiteY93" fmla="*/ 4579937 h 6858000"/>
              <a:gd name="connsiteX94" fmla="*/ 7546975 w 7569200"/>
              <a:gd name="connsiteY94" fmla="*/ 4625975 h 6858000"/>
              <a:gd name="connsiteX95" fmla="*/ 7558087 w 7569200"/>
              <a:gd name="connsiteY95" fmla="*/ 4678362 h 6858000"/>
              <a:gd name="connsiteX96" fmla="*/ 7566025 w 7569200"/>
              <a:gd name="connsiteY96" fmla="*/ 4738687 h 6858000"/>
              <a:gd name="connsiteX97" fmla="*/ 7569200 w 7569200"/>
              <a:gd name="connsiteY97" fmla="*/ 4806950 h 6858000"/>
              <a:gd name="connsiteX98" fmla="*/ 7566025 w 7569200"/>
              <a:gd name="connsiteY98" fmla="*/ 4875212 h 6858000"/>
              <a:gd name="connsiteX99" fmla="*/ 7558087 w 7569200"/>
              <a:gd name="connsiteY99" fmla="*/ 4935537 h 6858000"/>
              <a:gd name="connsiteX100" fmla="*/ 7546975 w 7569200"/>
              <a:gd name="connsiteY100" fmla="*/ 4987925 h 6858000"/>
              <a:gd name="connsiteX101" fmla="*/ 7532687 w 7569200"/>
              <a:gd name="connsiteY101" fmla="*/ 5033962 h 6858000"/>
              <a:gd name="connsiteX102" fmla="*/ 7516812 w 7569200"/>
              <a:gd name="connsiteY102" fmla="*/ 5075237 h 6858000"/>
              <a:gd name="connsiteX103" fmla="*/ 7497762 w 7569200"/>
              <a:gd name="connsiteY103" fmla="*/ 5114925 h 6858000"/>
              <a:gd name="connsiteX104" fmla="*/ 7478712 w 7569200"/>
              <a:gd name="connsiteY104" fmla="*/ 5149850 h 6858000"/>
              <a:gd name="connsiteX105" fmla="*/ 7459662 w 7569200"/>
              <a:gd name="connsiteY105" fmla="*/ 5186362 h 6858000"/>
              <a:gd name="connsiteX106" fmla="*/ 7442200 w 7569200"/>
              <a:gd name="connsiteY106" fmla="*/ 5226050 h 6858000"/>
              <a:gd name="connsiteX107" fmla="*/ 7424737 w 7569200"/>
              <a:gd name="connsiteY107" fmla="*/ 5268912 h 6858000"/>
              <a:gd name="connsiteX108" fmla="*/ 7410450 w 7569200"/>
              <a:gd name="connsiteY108" fmla="*/ 5313362 h 6858000"/>
              <a:gd name="connsiteX109" fmla="*/ 7400925 w 7569200"/>
              <a:gd name="connsiteY109" fmla="*/ 5365750 h 6858000"/>
              <a:gd name="connsiteX110" fmla="*/ 7391400 w 7569200"/>
              <a:gd name="connsiteY110" fmla="*/ 5426075 h 6858000"/>
              <a:gd name="connsiteX111" fmla="*/ 7389812 w 7569200"/>
              <a:gd name="connsiteY111" fmla="*/ 5494337 h 6858000"/>
              <a:gd name="connsiteX112" fmla="*/ 7391400 w 7569200"/>
              <a:gd name="connsiteY112" fmla="*/ 5562600 h 6858000"/>
              <a:gd name="connsiteX113" fmla="*/ 7400925 w 7569200"/>
              <a:gd name="connsiteY113" fmla="*/ 5622925 h 6858000"/>
              <a:gd name="connsiteX114" fmla="*/ 7410450 w 7569200"/>
              <a:gd name="connsiteY114" fmla="*/ 5675312 h 6858000"/>
              <a:gd name="connsiteX115" fmla="*/ 7424737 w 7569200"/>
              <a:gd name="connsiteY115" fmla="*/ 5721350 h 6858000"/>
              <a:gd name="connsiteX116" fmla="*/ 7442200 w 7569200"/>
              <a:gd name="connsiteY116" fmla="*/ 5762625 h 6858000"/>
              <a:gd name="connsiteX117" fmla="*/ 7459662 w 7569200"/>
              <a:gd name="connsiteY117" fmla="*/ 5802312 h 6858000"/>
              <a:gd name="connsiteX118" fmla="*/ 7478712 w 7569200"/>
              <a:gd name="connsiteY118" fmla="*/ 5840412 h 6858000"/>
              <a:gd name="connsiteX119" fmla="*/ 7497762 w 7569200"/>
              <a:gd name="connsiteY119" fmla="*/ 5876925 h 6858000"/>
              <a:gd name="connsiteX120" fmla="*/ 7516812 w 7569200"/>
              <a:gd name="connsiteY120" fmla="*/ 5915025 h 6858000"/>
              <a:gd name="connsiteX121" fmla="*/ 7532687 w 7569200"/>
              <a:gd name="connsiteY121" fmla="*/ 5956300 h 6858000"/>
              <a:gd name="connsiteX122" fmla="*/ 7546975 w 7569200"/>
              <a:gd name="connsiteY122" fmla="*/ 6003925 h 6858000"/>
              <a:gd name="connsiteX123" fmla="*/ 7558087 w 7569200"/>
              <a:gd name="connsiteY123" fmla="*/ 6056312 h 6858000"/>
              <a:gd name="connsiteX124" fmla="*/ 7566025 w 7569200"/>
              <a:gd name="connsiteY124" fmla="*/ 6113462 h 6858000"/>
              <a:gd name="connsiteX125" fmla="*/ 7569200 w 7569200"/>
              <a:gd name="connsiteY125" fmla="*/ 6183312 h 6858000"/>
              <a:gd name="connsiteX126" fmla="*/ 7566025 w 7569200"/>
              <a:gd name="connsiteY126" fmla="*/ 6251575 h 6858000"/>
              <a:gd name="connsiteX127" fmla="*/ 7558087 w 7569200"/>
              <a:gd name="connsiteY127" fmla="*/ 6311900 h 6858000"/>
              <a:gd name="connsiteX128" fmla="*/ 7546975 w 7569200"/>
              <a:gd name="connsiteY128" fmla="*/ 6361112 h 6858000"/>
              <a:gd name="connsiteX129" fmla="*/ 7532687 w 7569200"/>
              <a:gd name="connsiteY129" fmla="*/ 6407150 h 6858000"/>
              <a:gd name="connsiteX130" fmla="*/ 7516812 w 7569200"/>
              <a:gd name="connsiteY130" fmla="*/ 6448425 h 6858000"/>
              <a:gd name="connsiteX131" fmla="*/ 7499350 w 7569200"/>
              <a:gd name="connsiteY131" fmla="*/ 6488112 h 6858000"/>
              <a:gd name="connsiteX132" fmla="*/ 7481887 w 7569200"/>
              <a:gd name="connsiteY132" fmla="*/ 6523037 h 6858000"/>
              <a:gd name="connsiteX133" fmla="*/ 7462837 w 7569200"/>
              <a:gd name="connsiteY133" fmla="*/ 6561137 h 6858000"/>
              <a:gd name="connsiteX134" fmla="*/ 7443787 w 7569200"/>
              <a:gd name="connsiteY134" fmla="*/ 6597650 h 6858000"/>
              <a:gd name="connsiteX135" fmla="*/ 7427912 w 7569200"/>
              <a:gd name="connsiteY135" fmla="*/ 6640512 h 6858000"/>
              <a:gd name="connsiteX136" fmla="*/ 7412037 w 7569200"/>
              <a:gd name="connsiteY136" fmla="*/ 6683375 h 6858000"/>
              <a:gd name="connsiteX137" fmla="*/ 7402512 w 7569200"/>
              <a:gd name="connsiteY137" fmla="*/ 6735762 h 6858000"/>
              <a:gd name="connsiteX138" fmla="*/ 7394575 w 7569200"/>
              <a:gd name="connsiteY138" fmla="*/ 6791325 h 6858000"/>
              <a:gd name="connsiteX139" fmla="*/ 7389812 w 7569200"/>
              <a:gd name="connsiteY139" fmla="*/ 6858000 h 6858000"/>
              <a:gd name="connsiteX140" fmla="*/ 0 w 7569200"/>
              <a:gd name="connsiteY140" fmla="*/ 6858000 h 6858000"/>
              <a:gd name="connsiteX141" fmla="*/ 0 w 7569200"/>
              <a:gd name="connsiteY141"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7569200" h="6858000">
                <a:moveTo>
                  <a:pt x="0" y="0"/>
                </a:moveTo>
                <a:lnTo>
                  <a:pt x="7389812" y="0"/>
                </a:lnTo>
                <a:lnTo>
                  <a:pt x="7394575" y="66675"/>
                </a:lnTo>
                <a:lnTo>
                  <a:pt x="7402512" y="122237"/>
                </a:lnTo>
                <a:lnTo>
                  <a:pt x="7412037" y="174625"/>
                </a:lnTo>
                <a:lnTo>
                  <a:pt x="7427912" y="217487"/>
                </a:lnTo>
                <a:lnTo>
                  <a:pt x="7443787" y="260350"/>
                </a:lnTo>
                <a:lnTo>
                  <a:pt x="7462837" y="296862"/>
                </a:lnTo>
                <a:lnTo>
                  <a:pt x="7481887" y="334962"/>
                </a:lnTo>
                <a:lnTo>
                  <a:pt x="7499350" y="369887"/>
                </a:lnTo>
                <a:lnTo>
                  <a:pt x="7516812" y="409575"/>
                </a:lnTo>
                <a:lnTo>
                  <a:pt x="7532687" y="450850"/>
                </a:lnTo>
                <a:lnTo>
                  <a:pt x="7546975" y="496887"/>
                </a:lnTo>
                <a:lnTo>
                  <a:pt x="7558087" y="546100"/>
                </a:lnTo>
                <a:lnTo>
                  <a:pt x="7566025" y="606425"/>
                </a:lnTo>
                <a:lnTo>
                  <a:pt x="7569200" y="673100"/>
                </a:lnTo>
                <a:lnTo>
                  <a:pt x="7566025" y="744537"/>
                </a:lnTo>
                <a:lnTo>
                  <a:pt x="7558087" y="801687"/>
                </a:lnTo>
                <a:lnTo>
                  <a:pt x="7546975" y="854075"/>
                </a:lnTo>
                <a:lnTo>
                  <a:pt x="7532687" y="901700"/>
                </a:lnTo>
                <a:lnTo>
                  <a:pt x="7516812" y="942975"/>
                </a:lnTo>
                <a:lnTo>
                  <a:pt x="7497762" y="981075"/>
                </a:lnTo>
                <a:lnTo>
                  <a:pt x="7478712" y="1017587"/>
                </a:lnTo>
                <a:lnTo>
                  <a:pt x="7459662" y="1055687"/>
                </a:lnTo>
                <a:lnTo>
                  <a:pt x="7442200" y="1095375"/>
                </a:lnTo>
                <a:lnTo>
                  <a:pt x="7424737" y="1136650"/>
                </a:lnTo>
                <a:lnTo>
                  <a:pt x="7410450" y="1182687"/>
                </a:lnTo>
                <a:lnTo>
                  <a:pt x="7400925" y="1235075"/>
                </a:lnTo>
                <a:lnTo>
                  <a:pt x="7391400" y="1295400"/>
                </a:lnTo>
                <a:lnTo>
                  <a:pt x="7389812" y="1363662"/>
                </a:lnTo>
                <a:lnTo>
                  <a:pt x="7391400" y="1431925"/>
                </a:lnTo>
                <a:lnTo>
                  <a:pt x="7400925" y="1492250"/>
                </a:lnTo>
                <a:lnTo>
                  <a:pt x="7410450" y="1544637"/>
                </a:lnTo>
                <a:lnTo>
                  <a:pt x="7424737" y="1589087"/>
                </a:lnTo>
                <a:lnTo>
                  <a:pt x="7442200" y="1631950"/>
                </a:lnTo>
                <a:lnTo>
                  <a:pt x="7459662" y="1671637"/>
                </a:lnTo>
                <a:lnTo>
                  <a:pt x="7478712" y="1708150"/>
                </a:lnTo>
                <a:lnTo>
                  <a:pt x="7497762" y="1743075"/>
                </a:lnTo>
                <a:lnTo>
                  <a:pt x="7516812" y="1782762"/>
                </a:lnTo>
                <a:lnTo>
                  <a:pt x="7532687" y="1824037"/>
                </a:lnTo>
                <a:lnTo>
                  <a:pt x="7546975" y="1870075"/>
                </a:lnTo>
                <a:lnTo>
                  <a:pt x="7558087" y="1922462"/>
                </a:lnTo>
                <a:lnTo>
                  <a:pt x="7566025" y="1982787"/>
                </a:lnTo>
                <a:lnTo>
                  <a:pt x="7569200" y="2051050"/>
                </a:lnTo>
                <a:lnTo>
                  <a:pt x="7566025" y="2119312"/>
                </a:lnTo>
                <a:lnTo>
                  <a:pt x="7558087" y="2179637"/>
                </a:lnTo>
                <a:lnTo>
                  <a:pt x="7546975" y="2232025"/>
                </a:lnTo>
                <a:lnTo>
                  <a:pt x="7532687" y="2278062"/>
                </a:lnTo>
                <a:lnTo>
                  <a:pt x="7516812" y="2319337"/>
                </a:lnTo>
                <a:lnTo>
                  <a:pt x="7497762" y="2359025"/>
                </a:lnTo>
                <a:lnTo>
                  <a:pt x="7478712" y="2395537"/>
                </a:lnTo>
                <a:lnTo>
                  <a:pt x="7459662" y="2433637"/>
                </a:lnTo>
                <a:lnTo>
                  <a:pt x="7442200" y="2471737"/>
                </a:lnTo>
                <a:lnTo>
                  <a:pt x="7424737" y="2513012"/>
                </a:lnTo>
                <a:lnTo>
                  <a:pt x="7410450" y="2560637"/>
                </a:lnTo>
                <a:lnTo>
                  <a:pt x="7400925" y="2613025"/>
                </a:lnTo>
                <a:lnTo>
                  <a:pt x="7391400" y="2671762"/>
                </a:lnTo>
                <a:lnTo>
                  <a:pt x="7389812" y="2741612"/>
                </a:lnTo>
                <a:lnTo>
                  <a:pt x="7391400" y="2809875"/>
                </a:lnTo>
                <a:lnTo>
                  <a:pt x="7400925" y="2868612"/>
                </a:lnTo>
                <a:lnTo>
                  <a:pt x="7410450" y="2922587"/>
                </a:lnTo>
                <a:lnTo>
                  <a:pt x="7424737" y="2967037"/>
                </a:lnTo>
                <a:lnTo>
                  <a:pt x="7442200" y="3009900"/>
                </a:lnTo>
                <a:lnTo>
                  <a:pt x="7459662" y="3046412"/>
                </a:lnTo>
                <a:lnTo>
                  <a:pt x="7478712" y="3084512"/>
                </a:lnTo>
                <a:lnTo>
                  <a:pt x="7497762" y="3121025"/>
                </a:lnTo>
                <a:lnTo>
                  <a:pt x="7516812" y="3160712"/>
                </a:lnTo>
                <a:lnTo>
                  <a:pt x="7532687" y="3201987"/>
                </a:lnTo>
                <a:lnTo>
                  <a:pt x="7546975" y="3248025"/>
                </a:lnTo>
                <a:lnTo>
                  <a:pt x="7558087" y="3300412"/>
                </a:lnTo>
                <a:lnTo>
                  <a:pt x="7566025" y="3360737"/>
                </a:lnTo>
                <a:lnTo>
                  <a:pt x="7569200" y="3427412"/>
                </a:lnTo>
                <a:lnTo>
                  <a:pt x="7566025" y="3497262"/>
                </a:lnTo>
                <a:lnTo>
                  <a:pt x="7558087" y="3557587"/>
                </a:lnTo>
                <a:lnTo>
                  <a:pt x="7546975" y="3609975"/>
                </a:lnTo>
                <a:lnTo>
                  <a:pt x="7532687" y="3656012"/>
                </a:lnTo>
                <a:lnTo>
                  <a:pt x="7516812" y="3697287"/>
                </a:lnTo>
                <a:lnTo>
                  <a:pt x="7497762" y="3736975"/>
                </a:lnTo>
                <a:lnTo>
                  <a:pt x="7459662" y="3811587"/>
                </a:lnTo>
                <a:lnTo>
                  <a:pt x="7442200" y="3848100"/>
                </a:lnTo>
                <a:lnTo>
                  <a:pt x="7424737" y="3890962"/>
                </a:lnTo>
                <a:lnTo>
                  <a:pt x="7410450" y="3935412"/>
                </a:lnTo>
                <a:lnTo>
                  <a:pt x="7400925" y="3987800"/>
                </a:lnTo>
                <a:lnTo>
                  <a:pt x="7391400" y="4048125"/>
                </a:lnTo>
                <a:lnTo>
                  <a:pt x="7389812" y="4116387"/>
                </a:lnTo>
                <a:lnTo>
                  <a:pt x="7391400" y="4186237"/>
                </a:lnTo>
                <a:lnTo>
                  <a:pt x="7400925" y="4244975"/>
                </a:lnTo>
                <a:lnTo>
                  <a:pt x="7410450" y="4297362"/>
                </a:lnTo>
                <a:lnTo>
                  <a:pt x="7424737" y="4343400"/>
                </a:lnTo>
                <a:lnTo>
                  <a:pt x="7442200" y="4386262"/>
                </a:lnTo>
                <a:lnTo>
                  <a:pt x="7459662" y="4424362"/>
                </a:lnTo>
                <a:lnTo>
                  <a:pt x="7497762" y="4498975"/>
                </a:lnTo>
                <a:lnTo>
                  <a:pt x="7516812" y="4537075"/>
                </a:lnTo>
                <a:lnTo>
                  <a:pt x="7532687" y="4579937"/>
                </a:lnTo>
                <a:lnTo>
                  <a:pt x="7546975" y="4625975"/>
                </a:lnTo>
                <a:lnTo>
                  <a:pt x="7558087" y="4678362"/>
                </a:lnTo>
                <a:lnTo>
                  <a:pt x="7566025" y="4738687"/>
                </a:lnTo>
                <a:lnTo>
                  <a:pt x="7569200" y="4806950"/>
                </a:lnTo>
                <a:lnTo>
                  <a:pt x="7566025" y="4875212"/>
                </a:lnTo>
                <a:lnTo>
                  <a:pt x="7558087" y="4935537"/>
                </a:lnTo>
                <a:lnTo>
                  <a:pt x="7546975" y="4987925"/>
                </a:lnTo>
                <a:lnTo>
                  <a:pt x="7532687" y="5033962"/>
                </a:lnTo>
                <a:lnTo>
                  <a:pt x="7516812" y="5075237"/>
                </a:lnTo>
                <a:lnTo>
                  <a:pt x="7497762" y="5114925"/>
                </a:lnTo>
                <a:lnTo>
                  <a:pt x="7478712" y="5149850"/>
                </a:lnTo>
                <a:lnTo>
                  <a:pt x="7459662" y="5186362"/>
                </a:lnTo>
                <a:lnTo>
                  <a:pt x="7442200" y="5226050"/>
                </a:lnTo>
                <a:lnTo>
                  <a:pt x="7424737" y="5268912"/>
                </a:lnTo>
                <a:lnTo>
                  <a:pt x="7410450" y="5313362"/>
                </a:lnTo>
                <a:lnTo>
                  <a:pt x="7400925" y="5365750"/>
                </a:lnTo>
                <a:lnTo>
                  <a:pt x="7391400" y="5426075"/>
                </a:lnTo>
                <a:lnTo>
                  <a:pt x="7389812" y="5494337"/>
                </a:lnTo>
                <a:lnTo>
                  <a:pt x="7391400" y="5562600"/>
                </a:lnTo>
                <a:lnTo>
                  <a:pt x="7400925" y="5622925"/>
                </a:lnTo>
                <a:lnTo>
                  <a:pt x="7410450" y="5675312"/>
                </a:lnTo>
                <a:lnTo>
                  <a:pt x="7424737" y="5721350"/>
                </a:lnTo>
                <a:lnTo>
                  <a:pt x="7442200" y="5762625"/>
                </a:lnTo>
                <a:lnTo>
                  <a:pt x="7459662" y="5802312"/>
                </a:lnTo>
                <a:lnTo>
                  <a:pt x="7478712" y="5840412"/>
                </a:lnTo>
                <a:lnTo>
                  <a:pt x="7497762" y="5876925"/>
                </a:lnTo>
                <a:lnTo>
                  <a:pt x="7516812" y="5915025"/>
                </a:lnTo>
                <a:lnTo>
                  <a:pt x="7532687" y="5956300"/>
                </a:lnTo>
                <a:lnTo>
                  <a:pt x="7546975" y="6003925"/>
                </a:lnTo>
                <a:lnTo>
                  <a:pt x="7558087" y="6056312"/>
                </a:lnTo>
                <a:lnTo>
                  <a:pt x="7566025" y="6113462"/>
                </a:lnTo>
                <a:lnTo>
                  <a:pt x="7569200" y="6183312"/>
                </a:lnTo>
                <a:lnTo>
                  <a:pt x="7566025" y="6251575"/>
                </a:lnTo>
                <a:lnTo>
                  <a:pt x="7558087" y="6311900"/>
                </a:lnTo>
                <a:lnTo>
                  <a:pt x="7546975" y="6361112"/>
                </a:lnTo>
                <a:lnTo>
                  <a:pt x="7532687" y="6407150"/>
                </a:lnTo>
                <a:lnTo>
                  <a:pt x="7516812" y="6448425"/>
                </a:lnTo>
                <a:lnTo>
                  <a:pt x="7499350" y="6488112"/>
                </a:lnTo>
                <a:lnTo>
                  <a:pt x="7481887" y="6523037"/>
                </a:lnTo>
                <a:lnTo>
                  <a:pt x="7462837" y="6561137"/>
                </a:lnTo>
                <a:lnTo>
                  <a:pt x="7443787" y="6597650"/>
                </a:lnTo>
                <a:lnTo>
                  <a:pt x="7427912" y="6640512"/>
                </a:lnTo>
                <a:lnTo>
                  <a:pt x="7412037" y="6683375"/>
                </a:lnTo>
                <a:lnTo>
                  <a:pt x="7402512" y="6735762"/>
                </a:lnTo>
                <a:lnTo>
                  <a:pt x="7394575" y="6791325"/>
                </a:lnTo>
                <a:lnTo>
                  <a:pt x="7389812" y="6858000"/>
                </a:lnTo>
                <a:lnTo>
                  <a:pt x="0" y="6858000"/>
                </a:lnTo>
                <a:lnTo>
                  <a:pt x="0" y="0"/>
                </a:lnTo>
                <a:close/>
              </a:path>
            </a:pathLst>
          </a:custGeom>
          <a:solidFill>
            <a:schemeClr val="bg2"/>
          </a:solidFill>
          <a:ln w="0">
            <a:noFill/>
            <a:prstDash val="solid"/>
            <a:round/>
            <a:headEnd/>
            <a:tailEnd/>
          </a:ln>
        </p:spPr>
        <p:txBody>
          <a:bodyPr/>
          <a:lstStyle/>
          <a:p>
            <a:endParaRPr lang="en-IN"/>
          </a:p>
        </p:txBody>
      </p:sp>
      <p:sp>
        <p:nvSpPr>
          <p:cNvPr id="2" name="Title 1">
            <a:extLst>
              <a:ext uri="{FF2B5EF4-FFF2-40B4-BE49-F238E27FC236}">
                <a16:creationId xmlns:a16="http://schemas.microsoft.com/office/drawing/2014/main" id="{7F5C7F70-5ECD-CD75-4F40-FE88664109F3}"/>
              </a:ext>
            </a:extLst>
          </p:cNvPr>
          <p:cNvSpPr>
            <a:spLocks noGrp="1"/>
          </p:cNvSpPr>
          <p:nvPr>
            <p:ph type="title"/>
          </p:nvPr>
        </p:nvSpPr>
        <p:spPr>
          <a:xfrm>
            <a:off x="617283" y="191193"/>
            <a:ext cx="6334634" cy="902129"/>
          </a:xfrm>
        </p:spPr>
        <p:txBody>
          <a:bodyPr>
            <a:normAutofit/>
          </a:bodyPr>
          <a:lstStyle/>
          <a:p>
            <a:r>
              <a:rPr lang="en-US" sz="2800" dirty="0"/>
              <a:t>Objectives of International Business Strategy</a:t>
            </a:r>
            <a:endParaRPr lang="en-IN" sz="2800" dirty="0"/>
          </a:p>
        </p:txBody>
      </p:sp>
      <p:sp>
        <p:nvSpPr>
          <p:cNvPr id="16" name="Rectangle 15">
            <a:extLst>
              <a:ext uri="{FF2B5EF4-FFF2-40B4-BE49-F238E27FC236}">
                <a16:creationId xmlns:a16="http://schemas.microsoft.com/office/drawing/2014/main" id="{FA0382D1-1594-4E3D-842E-04E1E5E757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4" name="Rectangle 1">
            <a:extLst>
              <a:ext uri="{FF2B5EF4-FFF2-40B4-BE49-F238E27FC236}">
                <a16:creationId xmlns:a16="http://schemas.microsoft.com/office/drawing/2014/main" id="{1A42A0E2-02B0-0A51-8F47-482754F45D10}"/>
              </a:ext>
            </a:extLst>
          </p:cNvPr>
          <p:cNvSpPr>
            <a:spLocks noGrp="1" noChangeArrowheads="1"/>
          </p:cNvSpPr>
          <p:nvPr>
            <p:ph idx="1"/>
          </p:nvPr>
        </p:nvSpPr>
        <p:spPr bwMode="auto">
          <a:xfrm>
            <a:off x="360728" y="1093322"/>
            <a:ext cx="6977918" cy="5573485"/>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Autofit/>
          </a:bodyPr>
          <a:lstStyle/>
          <a:p>
            <a:pPr marL="0" marR="0" lvl="0" indent="0" defTabSz="914400" rtl="0" eaLnBrk="0" fontAlgn="base" latinLnBrk="0" hangingPunct="0">
              <a:lnSpc>
                <a:spcPct val="100000"/>
              </a:lnSpc>
              <a:spcBef>
                <a:spcPct val="0"/>
              </a:spcBef>
              <a:spcAft>
                <a:spcPts val="600"/>
              </a:spcAft>
              <a:buClrTx/>
              <a:buSzTx/>
              <a:buFontTx/>
              <a:buChar char="•"/>
              <a:tabLst/>
            </a:pPr>
            <a:r>
              <a:rPr kumimoji="0" lang="en-US" altLang="en-US" sz="1200" b="1" i="0" u="none" strike="noStrike" cap="none" normalizeH="0" baseline="0" dirty="0">
                <a:ln>
                  <a:noFill/>
                </a:ln>
                <a:effectLst/>
                <a:latin typeface="Arial" panose="020B0604020202020204" pitchFamily="34" charset="0"/>
              </a:rPr>
              <a:t>Expand into Global Markets</a:t>
            </a:r>
            <a:br>
              <a:rPr kumimoji="0" lang="en-US" altLang="en-US" sz="1200" b="0" i="0" u="none" strike="noStrike" cap="none" normalizeH="0" baseline="0" dirty="0">
                <a:ln>
                  <a:noFill/>
                </a:ln>
                <a:effectLst/>
                <a:latin typeface="Arial" panose="020B0604020202020204" pitchFamily="34" charset="0"/>
              </a:rPr>
            </a:br>
            <a:r>
              <a:rPr kumimoji="0" lang="en-US" altLang="en-US" sz="1200" b="0" i="0" u="none" strike="noStrike" cap="none" normalizeH="0" baseline="0" dirty="0">
                <a:ln>
                  <a:noFill/>
                </a:ln>
                <a:effectLst/>
                <a:latin typeface="Arial" panose="020B0604020202020204" pitchFamily="34" charset="0"/>
              </a:rPr>
              <a:t>One of the main objectives of international business strategy is to expand a company’s operations into foreign markets. This helps businesses reach new customers and increase their global presence.</a:t>
            </a:r>
            <a:br>
              <a:rPr kumimoji="0" lang="en-US" altLang="en-US" sz="1200" b="0" i="0" u="none" strike="noStrike" cap="none" normalizeH="0" baseline="0" dirty="0">
                <a:ln>
                  <a:noFill/>
                </a:ln>
                <a:effectLst/>
                <a:latin typeface="Arial" panose="020B0604020202020204" pitchFamily="34" charset="0"/>
              </a:rPr>
            </a:br>
            <a:r>
              <a:rPr kumimoji="0" lang="en-US" altLang="en-US" sz="1200" b="1" i="0" u="none" strike="noStrike" cap="none" normalizeH="0" baseline="0" dirty="0">
                <a:ln>
                  <a:noFill/>
                </a:ln>
                <a:effectLst/>
                <a:latin typeface="Arial" panose="020B0604020202020204" pitchFamily="34" charset="0"/>
              </a:rPr>
              <a:t>Example</a:t>
            </a:r>
            <a:r>
              <a:rPr kumimoji="0" lang="en-US" altLang="en-US" sz="1200" b="1" i="0" u="none" strike="noStrike" cap="none" normalizeH="0" baseline="0" dirty="0">
                <a:ln>
                  <a:noFill/>
                </a:ln>
                <a:solidFill>
                  <a:srgbClr val="FF0000"/>
                </a:solidFill>
                <a:effectLst/>
                <a:latin typeface="Arial" panose="020B0604020202020204" pitchFamily="34" charset="0"/>
              </a:rPr>
              <a:t>:</a:t>
            </a:r>
            <a:r>
              <a:rPr kumimoji="0" lang="en-US" altLang="en-US" sz="1200" b="0" i="0" u="none" strike="noStrike" cap="none" normalizeH="0" baseline="0" dirty="0">
                <a:ln>
                  <a:noFill/>
                </a:ln>
                <a:solidFill>
                  <a:srgbClr val="FF0000"/>
                </a:solidFill>
                <a:effectLst/>
                <a:latin typeface="Arial" panose="020B0604020202020204" pitchFamily="34" charset="0"/>
              </a:rPr>
              <a:t> Companies like Apple and Samsung sell their products in many countries to increase their customer base.</a:t>
            </a:r>
          </a:p>
          <a:p>
            <a:pPr marL="0" marR="0" lvl="0" indent="0" defTabSz="914400" rtl="0" eaLnBrk="0" fontAlgn="base" latinLnBrk="0" hangingPunct="0">
              <a:lnSpc>
                <a:spcPct val="100000"/>
              </a:lnSpc>
              <a:spcBef>
                <a:spcPct val="0"/>
              </a:spcBef>
              <a:spcAft>
                <a:spcPts val="600"/>
              </a:spcAft>
              <a:buClrTx/>
              <a:buSzTx/>
              <a:buFontTx/>
              <a:buChar char="•"/>
              <a:tabLst/>
            </a:pPr>
            <a:r>
              <a:rPr kumimoji="0" lang="en-US" altLang="en-US" sz="1200" b="1" i="0" u="none" strike="noStrike" cap="none" normalizeH="0" baseline="0" dirty="0">
                <a:ln>
                  <a:noFill/>
                </a:ln>
                <a:effectLst/>
                <a:latin typeface="Arial" panose="020B0604020202020204" pitchFamily="34" charset="0"/>
              </a:rPr>
              <a:t>Increase Global Market Share</a:t>
            </a:r>
            <a:br>
              <a:rPr kumimoji="0" lang="en-US" altLang="en-US" sz="1200" b="0" i="0" u="none" strike="noStrike" cap="none" normalizeH="0" baseline="0" dirty="0">
                <a:ln>
                  <a:noFill/>
                </a:ln>
                <a:effectLst/>
                <a:latin typeface="Arial" panose="020B0604020202020204" pitchFamily="34" charset="0"/>
              </a:rPr>
            </a:br>
            <a:r>
              <a:rPr kumimoji="0" lang="en-US" altLang="en-US" sz="1200" b="0" i="0" u="none" strike="noStrike" cap="none" normalizeH="0" baseline="0" dirty="0">
                <a:ln>
                  <a:noFill/>
                </a:ln>
                <a:effectLst/>
                <a:latin typeface="Arial" panose="020B0604020202020204" pitchFamily="34" charset="0"/>
              </a:rPr>
              <a:t>International strategies help companies compete in international markets and gain a larger share of the global market.</a:t>
            </a:r>
            <a:br>
              <a:rPr kumimoji="0" lang="en-US" altLang="en-US" sz="1200" b="0" i="0" u="none" strike="noStrike" cap="none" normalizeH="0" baseline="0" dirty="0">
                <a:ln>
                  <a:noFill/>
                </a:ln>
                <a:effectLst/>
                <a:latin typeface="Arial" panose="020B0604020202020204" pitchFamily="34" charset="0"/>
              </a:rPr>
            </a:br>
            <a:r>
              <a:rPr kumimoji="0" lang="en-US" altLang="en-US" sz="1200" b="1" i="0" u="none" strike="noStrike" cap="none" normalizeH="0" baseline="0" dirty="0">
                <a:ln>
                  <a:noFill/>
                </a:ln>
                <a:effectLst/>
                <a:latin typeface="Arial" panose="020B0604020202020204" pitchFamily="34" charset="0"/>
              </a:rPr>
              <a:t>Example:</a:t>
            </a:r>
            <a:r>
              <a:rPr kumimoji="0" lang="en-US" altLang="en-US" sz="1200" b="0" i="0" u="none" strike="noStrike" cap="none" normalizeH="0" baseline="0" dirty="0">
                <a:ln>
                  <a:noFill/>
                </a:ln>
                <a:effectLst/>
                <a:latin typeface="Arial" panose="020B0604020202020204" pitchFamily="34" charset="0"/>
              </a:rPr>
              <a:t> </a:t>
            </a:r>
            <a:r>
              <a:rPr kumimoji="0" lang="en-US" altLang="en-US" sz="1200" b="0" i="0" u="none" strike="noStrike" cap="none" normalizeH="0" baseline="0" dirty="0">
                <a:ln>
                  <a:noFill/>
                </a:ln>
                <a:solidFill>
                  <a:srgbClr val="FF0000"/>
                </a:solidFill>
                <a:effectLst/>
                <a:latin typeface="Arial" panose="020B0604020202020204" pitchFamily="34" charset="0"/>
              </a:rPr>
              <a:t>Coca-Cola sells beverages worldwide to maintain its strong global market position.</a:t>
            </a:r>
          </a:p>
          <a:p>
            <a:pPr marL="0" marR="0" lvl="0" indent="0" defTabSz="914400" rtl="0" eaLnBrk="0" fontAlgn="base" latinLnBrk="0" hangingPunct="0">
              <a:lnSpc>
                <a:spcPct val="100000"/>
              </a:lnSpc>
              <a:spcBef>
                <a:spcPct val="0"/>
              </a:spcBef>
              <a:spcAft>
                <a:spcPts val="600"/>
              </a:spcAft>
              <a:buClrTx/>
              <a:buSzTx/>
              <a:buFontTx/>
              <a:buChar char="•"/>
              <a:tabLst/>
            </a:pPr>
            <a:r>
              <a:rPr kumimoji="0" lang="en-US" altLang="en-US" sz="1200" b="1" i="0" u="none" strike="noStrike" cap="none" normalizeH="0" baseline="0" dirty="0">
                <a:ln>
                  <a:noFill/>
                </a:ln>
                <a:effectLst/>
                <a:latin typeface="Arial" panose="020B0604020202020204" pitchFamily="34" charset="0"/>
              </a:rPr>
              <a:t>Achieve Competitive Advantage</a:t>
            </a:r>
            <a:br>
              <a:rPr kumimoji="0" lang="en-US" altLang="en-US" sz="1200" b="0" i="0" u="none" strike="noStrike" cap="none" normalizeH="0" baseline="0" dirty="0">
                <a:ln>
                  <a:noFill/>
                </a:ln>
                <a:effectLst/>
                <a:latin typeface="Arial" panose="020B0604020202020204" pitchFamily="34" charset="0"/>
              </a:rPr>
            </a:br>
            <a:r>
              <a:rPr kumimoji="0" lang="en-US" altLang="en-US" sz="1200" b="0" i="0" u="none" strike="noStrike" cap="none" normalizeH="0" baseline="0" dirty="0">
                <a:ln>
                  <a:noFill/>
                </a:ln>
                <a:effectLst/>
                <a:latin typeface="Arial" panose="020B0604020202020204" pitchFamily="34" charset="0"/>
              </a:rPr>
              <a:t>Companies use international strategies to gain advantages over competitors by offering better products, lower prices, or innovative services in global markets.</a:t>
            </a:r>
            <a:br>
              <a:rPr kumimoji="0" lang="en-US" altLang="en-US" sz="1200" b="0" i="0" u="none" strike="noStrike" cap="none" normalizeH="0" baseline="0" dirty="0">
                <a:ln>
                  <a:noFill/>
                </a:ln>
                <a:effectLst/>
                <a:latin typeface="Arial" panose="020B0604020202020204" pitchFamily="34" charset="0"/>
              </a:rPr>
            </a:br>
            <a:r>
              <a:rPr kumimoji="0" lang="en-US" altLang="en-US" sz="1200" b="1" i="0" u="none" strike="noStrike" cap="none" normalizeH="0" baseline="0" dirty="0">
                <a:ln>
                  <a:noFill/>
                </a:ln>
                <a:effectLst/>
                <a:latin typeface="Arial" panose="020B0604020202020204" pitchFamily="34" charset="0"/>
              </a:rPr>
              <a:t>Example:</a:t>
            </a:r>
            <a:r>
              <a:rPr kumimoji="0" lang="en-US" altLang="en-US" sz="1200" b="0" i="0" u="none" strike="noStrike" cap="none" normalizeH="0" baseline="0" dirty="0">
                <a:ln>
                  <a:noFill/>
                </a:ln>
                <a:effectLst/>
                <a:latin typeface="Arial" panose="020B0604020202020204" pitchFamily="34" charset="0"/>
              </a:rPr>
              <a:t> </a:t>
            </a:r>
            <a:r>
              <a:rPr kumimoji="0" lang="en-US" altLang="en-US" sz="1200" b="0" i="0" u="none" strike="noStrike" cap="none" normalizeH="0" baseline="0" dirty="0">
                <a:ln>
                  <a:noFill/>
                </a:ln>
                <a:solidFill>
                  <a:srgbClr val="FF0000"/>
                </a:solidFill>
                <a:effectLst/>
                <a:latin typeface="Arial" panose="020B0604020202020204" pitchFamily="34" charset="0"/>
              </a:rPr>
              <a:t>Toyota competes globally by producing reliable and fuel-efficient vehicles</a:t>
            </a:r>
            <a:r>
              <a:rPr kumimoji="0" lang="en-US" altLang="en-US" sz="1200" b="0" i="0" u="none" strike="noStrike" cap="none" normalizeH="0" baseline="0" dirty="0">
                <a:ln>
                  <a:noFill/>
                </a:ln>
                <a:effectLst/>
                <a:latin typeface="Arial" panose="020B0604020202020204" pitchFamily="34" charset="0"/>
              </a:rPr>
              <a:t>.</a:t>
            </a:r>
          </a:p>
          <a:p>
            <a:pPr marL="0" marR="0" lvl="0" indent="0" defTabSz="914400" rtl="0" eaLnBrk="0" fontAlgn="base" latinLnBrk="0" hangingPunct="0">
              <a:lnSpc>
                <a:spcPct val="100000"/>
              </a:lnSpc>
              <a:spcBef>
                <a:spcPct val="0"/>
              </a:spcBef>
              <a:spcAft>
                <a:spcPts val="600"/>
              </a:spcAft>
              <a:buClrTx/>
              <a:buSzTx/>
              <a:buFontTx/>
              <a:buChar char="•"/>
              <a:tabLst/>
            </a:pPr>
            <a:r>
              <a:rPr kumimoji="0" lang="en-US" altLang="en-US" sz="1200" b="1" i="0" u="none" strike="noStrike" cap="none" normalizeH="0" baseline="0" dirty="0">
                <a:ln>
                  <a:noFill/>
                </a:ln>
                <a:effectLst/>
                <a:latin typeface="Arial" panose="020B0604020202020204" pitchFamily="34" charset="0"/>
              </a:rPr>
              <a:t>Reduce Production and Operating Costs</a:t>
            </a:r>
            <a:br>
              <a:rPr kumimoji="0" lang="en-US" altLang="en-US" sz="1200" b="0" i="0" u="none" strike="noStrike" cap="none" normalizeH="0" baseline="0" dirty="0">
                <a:ln>
                  <a:noFill/>
                </a:ln>
                <a:effectLst/>
                <a:latin typeface="Arial" panose="020B0604020202020204" pitchFamily="34" charset="0"/>
              </a:rPr>
            </a:br>
            <a:r>
              <a:rPr kumimoji="0" lang="en-US" altLang="en-US" sz="1200" b="0" i="0" u="none" strike="noStrike" cap="none" normalizeH="0" baseline="0" dirty="0">
                <a:ln>
                  <a:noFill/>
                </a:ln>
                <a:effectLst/>
                <a:latin typeface="Arial" panose="020B0604020202020204" pitchFamily="34" charset="0"/>
              </a:rPr>
              <a:t>Companies may shift production to countries where labor and resources are cheaper in order to reduce manufacturing costs and increase profitability.</a:t>
            </a:r>
            <a:br>
              <a:rPr kumimoji="0" lang="en-US" altLang="en-US" sz="1200" b="0" i="0" u="none" strike="noStrike" cap="none" normalizeH="0" baseline="0" dirty="0">
                <a:ln>
                  <a:noFill/>
                </a:ln>
                <a:effectLst/>
                <a:latin typeface="Arial" panose="020B0604020202020204" pitchFamily="34" charset="0"/>
              </a:rPr>
            </a:br>
            <a:r>
              <a:rPr kumimoji="0" lang="en-US" altLang="en-US" sz="1200" b="1" i="0" u="none" strike="noStrike" cap="none" normalizeH="0" baseline="0" dirty="0">
                <a:ln>
                  <a:noFill/>
                </a:ln>
                <a:effectLst/>
                <a:latin typeface="Arial" panose="020B0604020202020204" pitchFamily="34" charset="0"/>
              </a:rPr>
              <a:t>Example</a:t>
            </a:r>
            <a:r>
              <a:rPr kumimoji="0" lang="en-US" altLang="en-US" sz="1200" b="1" i="0" u="none" strike="noStrike" cap="none" normalizeH="0" baseline="0" dirty="0">
                <a:ln>
                  <a:noFill/>
                </a:ln>
                <a:solidFill>
                  <a:srgbClr val="FF0000"/>
                </a:solidFill>
                <a:effectLst/>
                <a:latin typeface="Arial" panose="020B0604020202020204" pitchFamily="34" charset="0"/>
              </a:rPr>
              <a:t>:</a:t>
            </a:r>
            <a:r>
              <a:rPr kumimoji="0" lang="en-US" altLang="en-US" sz="1200" b="0" i="0" u="none" strike="noStrike" cap="none" normalizeH="0" baseline="0" dirty="0">
                <a:ln>
                  <a:noFill/>
                </a:ln>
                <a:solidFill>
                  <a:srgbClr val="FF0000"/>
                </a:solidFill>
                <a:effectLst/>
                <a:latin typeface="Arial" panose="020B0604020202020204" pitchFamily="34" charset="0"/>
              </a:rPr>
              <a:t> Many technology companies manufacture products in countries with lower labor costs.</a:t>
            </a:r>
          </a:p>
          <a:p>
            <a:pPr marL="0" marR="0" lvl="0" indent="0" defTabSz="914400" rtl="0" eaLnBrk="0" fontAlgn="base" latinLnBrk="0" hangingPunct="0">
              <a:lnSpc>
                <a:spcPct val="100000"/>
              </a:lnSpc>
              <a:spcBef>
                <a:spcPct val="0"/>
              </a:spcBef>
              <a:spcAft>
                <a:spcPts val="600"/>
              </a:spcAft>
              <a:buClrTx/>
              <a:buSzTx/>
              <a:buFontTx/>
              <a:buChar char="•"/>
              <a:tabLst/>
            </a:pPr>
            <a:r>
              <a:rPr kumimoji="0" lang="en-US" altLang="en-US" sz="1200" b="1" i="0" u="none" strike="noStrike" cap="none" normalizeH="0" baseline="0" dirty="0">
                <a:ln>
                  <a:noFill/>
                </a:ln>
                <a:effectLst/>
                <a:latin typeface="Arial" panose="020B0604020202020204" pitchFamily="34" charset="0"/>
              </a:rPr>
              <a:t>Access Global Resources and Technology</a:t>
            </a:r>
            <a:br>
              <a:rPr kumimoji="0" lang="en-US" altLang="en-US" sz="1200" b="0" i="0" u="none" strike="noStrike" cap="none" normalizeH="0" baseline="0" dirty="0">
                <a:ln>
                  <a:noFill/>
                </a:ln>
                <a:effectLst/>
                <a:latin typeface="Arial" panose="020B0604020202020204" pitchFamily="34" charset="0"/>
              </a:rPr>
            </a:br>
            <a:r>
              <a:rPr kumimoji="0" lang="en-US" altLang="en-US" sz="1200" b="0" i="0" u="none" strike="noStrike" cap="none" normalizeH="0" baseline="0" dirty="0">
                <a:ln>
                  <a:noFill/>
                </a:ln>
                <a:effectLst/>
                <a:latin typeface="Arial" panose="020B0604020202020204" pitchFamily="34" charset="0"/>
              </a:rPr>
              <a:t>Expanding internationally allows companies to access resources, skilled labor, advanced technology, and raw materials available in different countries.</a:t>
            </a:r>
            <a:br>
              <a:rPr kumimoji="0" lang="en-US" altLang="en-US" sz="1200" b="0" i="0" u="none" strike="noStrike" cap="none" normalizeH="0" baseline="0" dirty="0">
                <a:ln>
                  <a:noFill/>
                </a:ln>
                <a:effectLst/>
                <a:latin typeface="Arial" panose="020B0604020202020204" pitchFamily="34" charset="0"/>
              </a:rPr>
            </a:br>
            <a:r>
              <a:rPr kumimoji="0" lang="en-US" altLang="en-US" sz="1200" b="1" i="0" u="none" strike="noStrike" cap="none" normalizeH="0" baseline="0" dirty="0">
                <a:ln>
                  <a:noFill/>
                </a:ln>
                <a:effectLst/>
                <a:latin typeface="Arial" panose="020B0604020202020204" pitchFamily="34" charset="0"/>
              </a:rPr>
              <a:t>Example:</a:t>
            </a:r>
            <a:r>
              <a:rPr kumimoji="0" lang="en-US" altLang="en-US" sz="1200" b="0" i="0" u="none" strike="noStrike" cap="none" normalizeH="0" baseline="0" dirty="0">
                <a:ln>
                  <a:noFill/>
                </a:ln>
                <a:effectLst/>
                <a:latin typeface="Arial" panose="020B0604020202020204" pitchFamily="34" charset="0"/>
              </a:rPr>
              <a:t> </a:t>
            </a:r>
            <a:r>
              <a:rPr kumimoji="0" lang="en-US" altLang="en-US" sz="1200" b="0" i="0" u="none" strike="noStrike" cap="none" normalizeH="0" baseline="0" dirty="0">
                <a:ln>
                  <a:noFill/>
                </a:ln>
                <a:solidFill>
                  <a:srgbClr val="FF0000"/>
                </a:solidFill>
                <a:effectLst/>
                <a:latin typeface="Arial" panose="020B0604020202020204" pitchFamily="34" charset="0"/>
              </a:rPr>
              <a:t>Automobile companies establish production plants in countries with strong manufacturing capabilities.</a:t>
            </a:r>
          </a:p>
          <a:p>
            <a:pPr marL="0" marR="0" lvl="0" indent="0" defTabSz="914400" rtl="0" eaLnBrk="0" fontAlgn="base" latinLnBrk="0" hangingPunct="0">
              <a:lnSpc>
                <a:spcPct val="100000"/>
              </a:lnSpc>
              <a:spcBef>
                <a:spcPct val="0"/>
              </a:spcBef>
              <a:spcAft>
                <a:spcPts val="600"/>
              </a:spcAft>
              <a:buClrTx/>
              <a:buSzTx/>
              <a:buFontTx/>
              <a:buChar char="•"/>
              <a:tabLst/>
            </a:pPr>
            <a:r>
              <a:rPr kumimoji="0" lang="en-US" altLang="en-US" sz="1200" b="1" i="0" u="none" strike="noStrike" cap="none" normalizeH="0" baseline="0" dirty="0">
                <a:ln>
                  <a:noFill/>
                </a:ln>
                <a:effectLst/>
                <a:latin typeface="Arial" panose="020B0604020202020204" pitchFamily="34" charset="0"/>
              </a:rPr>
              <a:t>Increase Profitability and Business Growth</a:t>
            </a:r>
            <a:br>
              <a:rPr kumimoji="0" lang="en-US" altLang="en-US" sz="1200" b="0" i="0" u="none" strike="noStrike" cap="none" normalizeH="0" baseline="0" dirty="0">
                <a:ln>
                  <a:noFill/>
                </a:ln>
                <a:effectLst/>
                <a:latin typeface="Arial" panose="020B0604020202020204" pitchFamily="34" charset="0"/>
              </a:rPr>
            </a:br>
            <a:r>
              <a:rPr kumimoji="0" lang="en-US" altLang="en-US" sz="1200" b="0" i="0" u="none" strike="noStrike" cap="none" normalizeH="0" baseline="0" dirty="0">
                <a:ln>
                  <a:noFill/>
                </a:ln>
                <a:effectLst/>
                <a:latin typeface="Arial" panose="020B0604020202020204" pitchFamily="34" charset="0"/>
              </a:rPr>
              <a:t>International business strategy helps companies grow faster by entering new markets and increasing sales worldwide.</a:t>
            </a:r>
            <a:br>
              <a:rPr kumimoji="0" lang="en-US" altLang="en-US" sz="1200" b="0" i="0" u="none" strike="noStrike" cap="none" normalizeH="0" baseline="0" dirty="0">
                <a:ln>
                  <a:noFill/>
                </a:ln>
                <a:effectLst/>
                <a:latin typeface="Arial" panose="020B0604020202020204" pitchFamily="34" charset="0"/>
              </a:rPr>
            </a:br>
            <a:r>
              <a:rPr kumimoji="0" lang="en-US" altLang="en-US" sz="1200" b="1" i="0" u="none" strike="noStrike" cap="none" normalizeH="0" baseline="0" dirty="0">
                <a:ln>
                  <a:noFill/>
                </a:ln>
                <a:effectLst/>
                <a:latin typeface="Arial" panose="020B0604020202020204" pitchFamily="34" charset="0"/>
              </a:rPr>
              <a:t>Example:</a:t>
            </a:r>
            <a:r>
              <a:rPr kumimoji="0" lang="en-US" altLang="en-US" sz="1200" b="0" i="0" u="none" strike="noStrike" cap="none" normalizeH="0" baseline="0" dirty="0">
                <a:ln>
                  <a:noFill/>
                </a:ln>
                <a:effectLst/>
                <a:latin typeface="Arial" panose="020B0604020202020204" pitchFamily="34" charset="0"/>
              </a:rPr>
              <a:t> </a:t>
            </a:r>
            <a:r>
              <a:rPr kumimoji="0" lang="en-US" altLang="en-US" sz="1200" b="0" i="0" u="none" strike="noStrike" cap="none" normalizeH="0" baseline="0" dirty="0">
                <a:ln>
                  <a:noFill/>
                </a:ln>
                <a:solidFill>
                  <a:srgbClr val="FF0000"/>
                </a:solidFill>
                <a:effectLst/>
                <a:latin typeface="Arial" panose="020B0604020202020204" pitchFamily="34" charset="0"/>
              </a:rPr>
              <a:t>Fast-food companies like McDonald’s generate a large portion of their revenue from international markets.</a:t>
            </a:r>
          </a:p>
        </p:txBody>
      </p:sp>
    </p:spTree>
    <p:extLst>
      <p:ext uri="{BB962C8B-B14F-4D97-AF65-F5344CB8AC3E}">
        <p14:creationId xmlns:p14="http://schemas.microsoft.com/office/powerpoint/2010/main" val="23402426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9DBA3C2-C92B-4CEB-868F-52A62295B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F1E73EB-CF48-0A25-7705-6CB3F6EB7086}"/>
              </a:ext>
            </a:extLst>
          </p:cNvPr>
          <p:cNvSpPr>
            <a:spLocks noGrp="1"/>
          </p:cNvSpPr>
          <p:nvPr>
            <p:ph type="title"/>
          </p:nvPr>
        </p:nvSpPr>
        <p:spPr>
          <a:xfrm>
            <a:off x="761997" y="323998"/>
            <a:ext cx="10668004" cy="532015"/>
          </a:xfrm>
        </p:spPr>
        <p:txBody>
          <a:bodyPr anchor="b">
            <a:normAutofit fontScale="90000"/>
          </a:bodyPr>
          <a:lstStyle/>
          <a:p>
            <a:pPr algn="ctr"/>
            <a:r>
              <a:rPr lang="en-US" sz="3600" dirty="0"/>
              <a:t>Importance of International Business Strate</a:t>
            </a:r>
            <a:endParaRPr lang="en-IN" sz="3600" dirty="0"/>
          </a:p>
        </p:txBody>
      </p:sp>
      <p:sp>
        <p:nvSpPr>
          <p:cNvPr id="4" name="Rectangle 1">
            <a:extLst>
              <a:ext uri="{FF2B5EF4-FFF2-40B4-BE49-F238E27FC236}">
                <a16:creationId xmlns:a16="http://schemas.microsoft.com/office/drawing/2014/main" id="{33AE60C3-E495-6CB7-637B-9B28738DBA8A}"/>
              </a:ext>
            </a:extLst>
          </p:cNvPr>
          <p:cNvSpPr>
            <a:spLocks noGrp="1" noChangeArrowheads="1"/>
          </p:cNvSpPr>
          <p:nvPr>
            <p:ph idx="1"/>
          </p:nvPr>
        </p:nvSpPr>
        <p:spPr bwMode="auto">
          <a:xfrm>
            <a:off x="206828" y="914400"/>
            <a:ext cx="11778343" cy="4767942"/>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Autofit/>
          </a:bodyPr>
          <a:lstStyle/>
          <a:p>
            <a:pPr marL="0" marR="0" lvl="0" indent="0" defTabSz="914400" rtl="0" eaLnBrk="0" fontAlgn="base" latinLnBrk="0" hangingPunct="0">
              <a:lnSpc>
                <a:spcPct val="100000"/>
              </a:lnSpc>
              <a:spcBef>
                <a:spcPct val="0"/>
              </a:spcBef>
              <a:spcAft>
                <a:spcPts val="600"/>
              </a:spcAft>
              <a:buClrTx/>
              <a:buSzTx/>
              <a:buFontTx/>
              <a:buChar char="•"/>
              <a:tabLst/>
            </a:pPr>
            <a:r>
              <a:rPr kumimoji="0" lang="en-US" altLang="en-US" sz="1400" b="1" i="0" u="none" strike="noStrike" cap="none" normalizeH="0" baseline="0" dirty="0">
                <a:ln>
                  <a:noFill/>
                </a:ln>
                <a:effectLst/>
                <a:latin typeface="Times New Roman" panose="02020603050405020304" pitchFamily="18" charset="0"/>
                <a:cs typeface="Times New Roman" panose="02020603050405020304" pitchFamily="18" charset="0"/>
              </a:rPr>
              <a:t> Helps Companies Compete in Global Markets</a:t>
            </a:r>
            <a:br>
              <a:rPr kumimoji="0" lang="en-US" altLang="en-US" sz="1400" b="0" i="0" u="none" strike="noStrike" cap="none" normalizeH="0" baseline="0" dirty="0">
                <a:ln>
                  <a:noFill/>
                </a:ln>
                <a:effectLst/>
                <a:latin typeface="Times New Roman" panose="02020603050405020304" pitchFamily="18" charset="0"/>
                <a:cs typeface="Times New Roman" panose="02020603050405020304" pitchFamily="18" charset="0"/>
              </a:rPr>
            </a:br>
            <a:r>
              <a:rPr kumimoji="0" lang="en-US" altLang="en-US" sz="1400" b="0" i="0" u="none" strike="noStrike" cap="none" normalizeH="0" baseline="0" dirty="0">
                <a:ln>
                  <a:noFill/>
                </a:ln>
                <a:effectLst/>
                <a:latin typeface="Times New Roman" panose="02020603050405020304" pitchFamily="18" charset="0"/>
                <a:cs typeface="Times New Roman" panose="02020603050405020304" pitchFamily="18" charset="0"/>
              </a:rPr>
              <a:t>International business strategy enables companies to compete effectively with other businesses operating in global markets. A well-planned strategy helps organizations understand international competition and develop methods to succeed in different countries.</a:t>
            </a:r>
            <a:br>
              <a:rPr kumimoji="0" lang="en-US" altLang="en-US" sz="1400" b="0" i="0" u="none" strike="noStrike" cap="none" normalizeH="0" baseline="0" dirty="0">
                <a:ln>
                  <a:noFill/>
                </a:ln>
                <a:effectLst/>
                <a:latin typeface="Times New Roman" panose="02020603050405020304" pitchFamily="18" charset="0"/>
                <a:cs typeface="Times New Roman" panose="02020603050405020304" pitchFamily="18" charset="0"/>
              </a:rPr>
            </a:br>
            <a:r>
              <a:rPr kumimoji="0" lang="en-US" altLang="en-US" sz="1400" b="1" i="0" u="none" strike="noStrike" cap="none" normalizeH="0" baseline="0" dirty="0">
                <a:ln>
                  <a:noFill/>
                </a:ln>
                <a:effectLst/>
                <a:latin typeface="Times New Roman" panose="02020603050405020304" pitchFamily="18" charset="0"/>
                <a:cs typeface="Times New Roman" panose="02020603050405020304" pitchFamily="18" charset="0"/>
              </a:rPr>
              <a:t>Example:</a:t>
            </a:r>
            <a:r>
              <a:rPr kumimoji="0" lang="en-US" altLang="en-US" sz="140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n-US" altLang="en-US" sz="1400" b="0"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Samsung competes with other smartphone companies in international markets by offering innovative products and competitive pricing</a:t>
            </a:r>
            <a:r>
              <a:rPr kumimoji="0" lang="en-US" altLang="en-US" sz="1400" b="0" i="0" u="none" strike="noStrike" cap="none" normalizeH="0" baseline="0" dirty="0">
                <a:ln>
                  <a:noFill/>
                </a:ln>
                <a:effectLst/>
                <a:latin typeface="Times New Roman" panose="02020603050405020304" pitchFamily="18" charset="0"/>
                <a:cs typeface="Times New Roman" panose="02020603050405020304" pitchFamily="18" charset="0"/>
              </a:rPr>
              <a:t>.</a:t>
            </a:r>
          </a:p>
          <a:p>
            <a:pPr marL="0" marR="0" lvl="0" indent="0" defTabSz="914400" rtl="0" eaLnBrk="0" fontAlgn="base" latinLnBrk="0" hangingPunct="0">
              <a:lnSpc>
                <a:spcPct val="100000"/>
              </a:lnSpc>
              <a:spcBef>
                <a:spcPct val="0"/>
              </a:spcBef>
              <a:spcAft>
                <a:spcPts val="600"/>
              </a:spcAft>
              <a:buClrTx/>
              <a:buSzTx/>
              <a:buFontTx/>
              <a:buChar char="•"/>
              <a:tabLst/>
            </a:pPr>
            <a:r>
              <a:rPr kumimoji="0" lang="en-US" altLang="en-US" sz="1400" b="1" i="0" u="none" strike="noStrike" cap="none" normalizeH="0" baseline="0" dirty="0">
                <a:ln>
                  <a:noFill/>
                </a:ln>
                <a:effectLst/>
                <a:latin typeface="Times New Roman" panose="02020603050405020304" pitchFamily="18" charset="0"/>
                <a:cs typeface="Times New Roman" panose="02020603050405020304" pitchFamily="18" charset="0"/>
              </a:rPr>
              <a:t> Expands Market Opportunities</a:t>
            </a:r>
            <a:br>
              <a:rPr kumimoji="0" lang="en-US" altLang="en-US" sz="1400" b="0" i="0" u="none" strike="noStrike" cap="none" normalizeH="0" baseline="0" dirty="0">
                <a:ln>
                  <a:noFill/>
                </a:ln>
                <a:effectLst/>
                <a:latin typeface="Times New Roman" panose="02020603050405020304" pitchFamily="18" charset="0"/>
                <a:cs typeface="Times New Roman" panose="02020603050405020304" pitchFamily="18" charset="0"/>
              </a:rPr>
            </a:br>
            <a:r>
              <a:rPr kumimoji="0" lang="en-US" altLang="en-US" sz="1400" b="0" i="0" u="none" strike="noStrike" cap="none" normalizeH="0" baseline="0" dirty="0">
                <a:ln>
                  <a:noFill/>
                </a:ln>
                <a:effectLst/>
                <a:latin typeface="Times New Roman" panose="02020603050405020304" pitchFamily="18" charset="0"/>
                <a:cs typeface="Times New Roman" panose="02020603050405020304" pitchFamily="18" charset="0"/>
              </a:rPr>
              <a:t>By adopting international strategies, companies can expand their operations into new markets and reach more customers across different countries. This helps increase sales and market presence.</a:t>
            </a:r>
            <a:br>
              <a:rPr kumimoji="0" lang="en-US" altLang="en-US" sz="1400" b="0" i="0" u="none" strike="noStrike" cap="none" normalizeH="0" baseline="0" dirty="0">
                <a:ln>
                  <a:noFill/>
                </a:ln>
                <a:effectLst/>
                <a:latin typeface="Times New Roman" panose="02020603050405020304" pitchFamily="18" charset="0"/>
                <a:cs typeface="Times New Roman" panose="02020603050405020304" pitchFamily="18" charset="0"/>
              </a:rPr>
            </a:br>
            <a:r>
              <a:rPr kumimoji="0" lang="en-US" altLang="en-US" sz="1400" b="1" i="0" u="none" strike="noStrike" cap="none" normalizeH="0" baseline="0" dirty="0">
                <a:ln>
                  <a:noFill/>
                </a:ln>
                <a:effectLst/>
                <a:latin typeface="Times New Roman" panose="02020603050405020304" pitchFamily="18" charset="0"/>
                <a:cs typeface="Times New Roman" panose="02020603050405020304" pitchFamily="18" charset="0"/>
              </a:rPr>
              <a:t>Example:</a:t>
            </a:r>
            <a:r>
              <a:rPr kumimoji="0" lang="en-US" altLang="en-US" sz="140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n-US" altLang="en-US" sz="1400" b="0"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Coca-Cola operates in more than 200 countries, allowing it to reach millions of consumers worldwide.</a:t>
            </a:r>
          </a:p>
          <a:p>
            <a:pPr marL="0" marR="0" lvl="0" indent="0" defTabSz="914400" rtl="0" eaLnBrk="0" fontAlgn="base" latinLnBrk="0" hangingPunct="0">
              <a:lnSpc>
                <a:spcPct val="100000"/>
              </a:lnSpc>
              <a:spcBef>
                <a:spcPct val="0"/>
              </a:spcBef>
              <a:spcAft>
                <a:spcPts val="600"/>
              </a:spcAft>
              <a:buClrTx/>
              <a:buSzTx/>
              <a:buFontTx/>
              <a:buChar char="•"/>
              <a:tabLst/>
            </a:pPr>
            <a:r>
              <a:rPr kumimoji="0" lang="en-US" altLang="en-US" sz="1400" b="1" i="0" u="none" strike="noStrike" cap="none" normalizeH="0" baseline="0" dirty="0">
                <a:ln>
                  <a:noFill/>
                </a:ln>
                <a:effectLst/>
                <a:latin typeface="Times New Roman" panose="02020603050405020304" pitchFamily="18" charset="0"/>
                <a:cs typeface="Times New Roman" panose="02020603050405020304" pitchFamily="18" charset="0"/>
              </a:rPr>
              <a:t> Improves Business Growth and Profitability</a:t>
            </a:r>
            <a:br>
              <a:rPr kumimoji="0" lang="en-US" altLang="en-US" sz="1400" b="0" i="0" u="none" strike="noStrike" cap="none" normalizeH="0" baseline="0" dirty="0">
                <a:ln>
                  <a:noFill/>
                </a:ln>
                <a:effectLst/>
                <a:latin typeface="Times New Roman" panose="02020603050405020304" pitchFamily="18" charset="0"/>
                <a:cs typeface="Times New Roman" panose="02020603050405020304" pitchFamily="18" charset="0"/>
              </a:rPr>
            </a:br>
            <a:r>
              <a:rPr kumimoji="0" lang="en-US" altLang="en-US" sz="1400" b="0" i="0" u="none" strike="noStrike" cap="none" normalizeH="0" baseline="0" dirty="0">
                <a:ln>
                  <a:noFill/>
                </a:ln>
                <a:effectLst/>
                <a:latin typeface="Times New Roman" panose="02020603050405020304" pitchFamily="18" charset="0"/>
                <a:cs typeface="Times New Roman" panose="02020603050405020304" pitchFamily="18" charset="0"/>
              </a:rPr>
              <a:t>International expansion helps companies increase revenue and profits by selling products and services to a larger customer base.</a:t>
            </a:r>
            <a:br>
              <a:rPr kumimoji="0" lang="en-US" altLang="en-US" sz="1400" b="0" i="0" u="none" strike="noStrike" cap="none" normalizeH="0" baseline="0" dirty="0">
                <a:ln>
                  <a:noFill/>
                </a:ln>
                <a:effectLst/>
                <a:latin typeface="Times New Roman" panose="02020603050405020304" pitchFamily="18" charset="0"/>
                <a:cs typeface="Times New Roman" panose="02020603050405020304" pitchFamily="18" charset="0"/>
              </a:rPr>
            </a:br>
            <a:r>
              <a:rPr kumimoji="0" lang="en-US" altLang="en-US" sz="1400" b="1" i="0" u="none" strike="noStrike" cap="none" normalizeH="0" baseline="0" dirty="0">
                <a:ln>
                  <a:noFill/>
                </a:ln>
                <a:effectLst/>
                <a:latin typeface="Times New Roman" panose="02020603050405020304" pitchFamily="18" charset="0"/>
                <a:cs typeface="Times New Roman" panose="02020603050405020304" pitchFamily="18" charset="0"/>
              </a:rPr>
              <a:t>Example:</a:t>
            </a:r>
            <a:r>
              <a:rPr kumimoji="0" lang="en-US" altLang="en-US" sz="140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n-US" altLang="en-US" sz="1400" b="0"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McDonald's earns a large share of its revenue from international markets outside the United States.</a:t>
            </a:r>
          </a:p>
          <a:p>
            <a:pPr marL="0" marR="0" lvl="0" indent="0" defTabSz="914400" rtl="0" eaLnBrk="0" fontAlgn="base" latinLnBrk="0" hangingPunct="0">
              <a:lnSpc>
                <a:spcPct val="100000"/>
              </a:lnSpc>
              <a:spcBef>
                <a:spcPct val="0"/>
              </a:spcBef>
              <a:spcAft>
                <a:spcPts val="600"/>
              </a:spcAft>
              <a:buClrTx/>
              <a:buSzTx/>
              <a:buFontTx/>
              <a:buChar char="•"/>
              <a:tabLst/>
            </a:pPr>
            <a:r>
              <a:rPr kumimoji="0" lang="en-US" altLang="en-US" sz="1400" b="1" i="0" u="none" strike="noStrike" cap="none" normalizeH="0" baseline="0" dirty="0">
                <a:ln>
                  <a:noFill/>
                </a:ln>
                <a:effectLst/>
                <a:latin typeface="Times New Roman" panose="02020603050405020304" pitchFamily="18" charset="0"/>
                <a:cs typeface="Times New Roman" panose="02020603050405020304" pitchFamily="18" charset="0"/>
              </a:rPr>
              <a:t> Helps Utilize Global Resources Efficiently</a:t>
            </a:r>
            <a:br>
              <a:rPr kumimoji="0" lang="en-US" altLang="en-US" sz="1400" b="0" i="0" u="none" strike="noStrike" cap="none" normalizeH="0" baseline="0" dirty="0">
                <a:ln>
                  <a:noFill/>
                </a:ln>
                <a:effectLst/>
                <a:latin typeface="Times New Roman" panose="02020603050405020304" pitchFamily="18" charset="0"/>
                <a:cs typeface="Times New Roman" panose="02020603050405020304" pitchFamily="18" charset="0"/>
              </a:rPr>
            </a:br>
            <a:r>
              <a:rPr kumimoji="0" lang="en-US" altLang="en-US" sz="1400" b="0" i="0" u="none" strike="noStrike" cap="none" normalizeH="0" baseline="0" dirty="0">
                <a:ln>
                  <a:noFill/>
                </a:ln>
                <a:effectLst/>
                <a:latin typeface="Times New Roman" panose="02020603050405020304" pitchFamily="18" charset="0"/>
                <a:cs typeface="Times New Roman" panose="02020603050405020304" pitchFamily="18" charset="0"/>
              </a:rPr>
              <a:t>International business strategies allow companies to access resources such as raw materials, skilled labor, and advanced technology from different countries.</a:t>
            </a:r>
            <a:br>
              <a:rPr kumimoji="0" lang="en-US" altLang="en-US" sz="1400" b="0" i="0" u="none" strike="noStrike" cap="none" normalizeH="0" baseline="0" dirty="0">
                <a:ln>
                  <a:noFill/>
                </a:ln>
                <a:effectLst/>
                <a:latin typeface="Times New Roman" panose="02020603050405020304" pitchFamily="18" charset="0"/>
                <a:cs typeface="Times New Roman" panose="02020603050405020304" pitchFamily="18" charset="0"/>
              </a:rPr>
            </a:br>
            <a:r>
              <a:rPr kumimoji="0" lang="en-US" altLang="en-US" sz="1400" b="1" i="0" u="none" strike="noStrike" cap="none" normalizeH="0" baseline="0" dirty="0">
                <a:ln>
                  <a:noFill/>
                </a:ln>
                <a:effectLst/>
                <a:latin typeface="Times New Roman" panose="02020603050405020304" pitchFamily="18" charset="0"/>
                <a:cs typeface="Times New Roman" panose="02020603050405020304" pitchFamily="18" charset="0"/>
              </a:rPr>
              <a:t>Example:</a:t>
            </a:r>
            <a:r>
              <a:rPr kumimoji="0" lang="en-US" altLang="en-US" sz="140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n-US" altLang="en-US" sz="1400" b="0"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Automobile companies manufacture vehicles in countries with strong industrial capabilities.</a:t>
            </a:r>
          </a:p>
          <a:p>
            <a:pPr marL="0" marR="0" lvl="0" indent="0" defTabSz="914400" rtl="0" eaLnBrk="0" fontAlgn="base" latinLnBrk="0" hangingPunct="0">
              <a:lnSpc>
                <a:spcPct val="100000"/>
              </a:lnSpc>
              <a:spcBef>
                <a:spcPct val="0"/>
              </a:spcBef>
              <a:spcAft>
                <a:spcPts val="600"/>
              </a:spcAft>
              <a:buClrTx/>
              <a:buSzTx/>
              <a:buFontTx/>
              <a:buChar char="•"/>
              <a:tabLst/>
            </a:pPr>
            <a:r>
              <a:rPr kumimoji="0" lang="en-US" altLang="en-US" sz="1400" b="1" i="0" u="none" strike="noStrike" cap="none" normalizeH="0" baseline="0" dirty="0">
                <a:ln>
                  <a:noFill/>
                </a:ln>
                <a:effectLst/>
                <a:latin typeface="Times New Roman" panose="02020603050405020304" pitchFamily="18" charset="0"/>
                <a:cs typeface="Times New Roman" panose="02020603050405020304" pitchFamily="18" charset="0"/>
              </a:rPr>
              <a:t> Reduces Business Risk Through Market Diversification</a:t>
            </a:r>
            <a:br>
              <a:rPr kumimoji="0" lang="en-US" altLang="en-US" sz="1400" b="0" i="0" u="none" strike="noStrike" cap="none" normalizeH="0" baseline="0" dirty="0">
                <a:ln>
                  <a:noFill/>
                </a:ln>
                <a:effectLst/>
                <a:latin typeface="Times New Roman" panose="02020603050405020304" pitchFamily="18" charset="0"/>
                <a:cs typeface="Times New Roman" panose="02020603050405020304" pitchFamily="18" charset="0"/>
              </a:rPr>
            </a:br>
            <a:r>
              <a:rPr kumimoji="0" lang="en-US" altLang="en-US" sz="1400" b="0" i="0" u="none" strike="noStrike" cap="none" normalizeH="0" baseline="0" dirty="0">
                <a:ln>
                  <a:noFill/>
                </a:ln>
                <a:effectLst/>
                <a:latin typeface="Times New Roman" panose="02020603050405020304" pitchFamily="18" charset="0"/>
                <a:cs typeface="Times New Roman" panose="02020603050405020304" pitchFamily="18" charset="0"/>
              </a:rPr>
              <a:t>Operating in multiple countries helps companies reduce risks because economic problems in one country may be balanced by strong performance in other markets.</a:t>
            </a:r>
            <a:br>
              <a:rPr kumimoji="0" lang="en-US" altLang="en-US" sz="1400" b="0" i="0" u="none" strike="noStrike" cap="none" normalizeH="0" baseline="0" dirty="0">
                <a:ln>
                  <a:noFill/>
                </a:ln>
                <a:effectLst/>
                <a:latin typeface="Times New Roman" panose="02020603050405020304" pitchFamily="18" charset="0"/>
                <a:cs typeface="Times New Roman" panose="02020603050405020304" pitchFamily="18" charset="0"/>
              </a:rPr>
            </a:br>
            <a:r>
              <a:rPr kumimoji="0" lang="en-US" altLang="en-US" sz="1400" b="1" i="0" u="none" strike="noStrike" cap="none" normalizeH="0" baseline="0" dirty="0">
                <a:ln>
                  <a:noFill/>
                </a:ln>
                <a:effectLst/>
                <a:latin typeface="Times New Roman" panose="02020603050405020304" pitchFamily="18" charset="0"/>
                <a:cs typeface="Times New Roman" panose="02020603050405020304" pitchFamily="18" charset="0"/>
              </a:rPr>
              <a:t>Example:</a:t>
            </a:r>
            <a:r>
              <a:rPr kumimoji="0" lang="en-US" altLang="en-US" sz="140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n-US" altLang="en-US" sz="1400" b="0"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A multinational company selling products in several countries is less affected by economic slowdown in one market.</a:t>
            </a:r>
          </a:p>
          <a:p>
            <a:pPr marL="0" marR="0" lvl="0" indent="0" defTabSz="914400" rtl="0" eaLnBrk="0" fontAlgn="base" latinLnBrk="0" hangingPunct="0">
              <a:lnSpc>
                <a:spcPct val="100000"/>
              </a:lnSpc>
              <a:spcBef>
                <a:spcPct val="0"/>
              </a:spcBef>
              <a:spcAft>
                <a:spcPts val="600"/>
              </a:spcAft>
              <a:buClrTx/>
              <a:buSzTx/>
              <a:buFontTx/>
              <a:buChar char="•"/>
              <a:tabLst/>
            </a:pPr>
            <a:r>
              <a:rPr kumimoji="0" lang="en-US" altLang="en-US" sz="1400" b="1" i="0" u="none" strike="noStrike" cap="none" normalizeH="0" baseline="0" dirty="0">
                <a:ln>
                  <a:noFill/>
                </a:ln>
                <a:effectLst/>
                <a:latin typeface="Times New Roman" panose="02020603050405020304" pitchFamily="18" charset="0"/>
                <a:cs typeface="Times New Roman" panose="02020603050405020304" pitchFamily="18" charset="0"/>
              </a:rPr>
              <a:t> Encourages Innovation and Knowledge Sharing</a:t>
            </a:r>
            <a:br>
              <a:rPr kumimoji="0" lang="en-US" altLang="en-US" sz="1400" b="0" i="0" u="none" strike="noStrike" cap="none" normalizeH="0" baseline="0" dirty="0">
                <a:ln>
                  <a:noFill/>
                </a:ln>
                <a:effectLst/>
                <a:latin typeface="Times New Roman" panose="02020603050405020304" pitchFamily="18" charset="0"/>
                <a:cs typeface="Times New Roman" panose="02020603050405020304" pitchFamily="18" charset="0"/>
              </a:rPr>
            </a:br>
            <a:r>
              <a:rPr kumimoji="0" lang="en-US" altLang="en-US" sz="1400" b="0" i="0" u="none" strike="noStrike" cap="none" normalizeH="0" baseline="0" dirty="0">
                <a:ln>
                  <a:noFill/>
                </a:ln>
                <a:effectLst/>
                <a:latin typeface="Times New Roman" panose="02020603050405020304" pitchFamily="18" charset="0"/>
                <a:cs typeface="Times New Roman" panose="02020603050405020304" pitchFamily="18" charset="0"/>
              </a:rPr>
              <a:t>International operations expose companies to new ideas, technologies, and management practices that encourage innovation and improvement.</a:t>
            </a:r>
            <a:br>
              <a:rPr kumimoji="0" lang="en-US" altLang="en-US" sz="1400" b="0" i="0" u="none" strike="noStrike" cap="none" normalizeH="0" baseline="0" dirty="0">
                <a:ln>
                  <a:noFill/>
                </a:ln>
                <a:effectLst/>
                <a:latin typeface="Times New Roman" panose="02020603050405020304" pitchFamily="18" charset="0"/>
                <a:cs typeface="Times New Roman" panose="02020603050405020304" pitchFamily="18" charset="0"/>
              </a:rPr>
            </a:br>
            <a:r>
              <a:rPr kumimoji="0" lang="en-US" altLang="en-US" sz="1400" b="1" i="0" u="none" strike="noStrike" cap="none" normalizeH="0" baseline="0" dirty="0">
                <a:ln>
                  <a:noFill/>
                </a:ln>
                <a:effectLst/>
                <a:latin typeface="Times New Roman" panose="02020603050405020304" pitchFamily="18" charset="0"/>
                <a:cs typeface="Times New Roman" panose="02020603050405020304" pitchFamily="18" charset="0"/>
              </a:rPr>
              <a:t>Example:</a:t>
            </a:r>
            <a:r>
              <a:rPr kumimoji="0" lang="en-US" altLang="en-US" sz="140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n-US" altLang="en-US" sz="1400" b="0"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Global technology companies collaborate with international research centers to develop new products</a:t>
            </a:r>
            <a:r>
              <a:rPr kumimoji="0" lang="en-US" altLang="en-US" sz="1400" b="0" i="0" u="none" strike="noStrike" cap="none" normalizeH="0" baseline="0" dirty="0">
                <a:ln>
                  <a:noFill/>
                </a:ln>
                <a:solidFill>
                  <a:srgbClr val="FF0000"/>
                </a:solidFill>
                <a:effectLst/>
                <a:latin typeface="Arial" panose="020B0604020202020204" pitchFamily="34" charset="0"/>
              </a:rPr>
              <a:t>.</a:t>
            </a:r>
          </a:p>
        </p:txBody>
      </p:sp>
      <p:sp>
        <p:nvSpPr>
          <p:cNvPr id="11" name="Freeform: Shape 10">
            <a:extLst>
              <a:ext uri="{FF2B5EF4-FFF2-40B4-BE49-F238E27FC236}">
                <a16:creationId xmlns:a16="http://schemas.microsoft.com/office/drawing/2014/main" id="{0A5C11C9-65D2-491A-A266-6ADBD2CB44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006736"/>
            <a:ext cx="12191998" cy="851265"/>
          </a:xfrm>
          <a:custGeom>
            <a:avLst/>
            <a:gdLst>
              <a:gd name="connsiteX0" fmla="*/ 619389 w 12191998"/>
              <a:gd name="connsiteY0" fmla="*/ 0 h 851265"/>
              <a:gd name="connsiteX1" fmla="*/ 687652 w 12191998"/>
              <a:gd name="connsiteY1" fmla="*/ 3175 h 851265"/>
              <a:gd name="connsiteX2" fmla="*/ 747977 w 12191998"/>
              <a:gd name="connsiteY2" fmla="*/ 9525 h 851265"/>
              <a:gd name="connsiteX3" fmla="*/ 800364 w 12191998"/>
              <a:gd name="connsiteY3" fmla="*/ 20637 h 851265"/>
              <a:gd name="connsiteX4" fmla="*/ 846402 w 12191998"/>
              <a:gd name="connsiteY4" fmla="*/ 36512 h 851265"/>
              <a:gd name="connsiteX5" fmla="*/ 887677 w 12191998"/>
              <a:gd name="connsiteY5" fmla="*/ 52387 h 851265"/>
              <a:gd name="connsiteX6" fmla="*/ 924189 w 12191998"/>
              <a:gd name="connsiteY6" fmla="*/ 68262 h 851265"/>
              <a:gd name="connsiteX7" fmla="*/ 962289 w 12191998"/>
              <a:gd name="connsiteY7" fmla="*/ 87312 h 851265"/>
              <a:gd name="connsiteX8" fmla="*/ 1000389 w 12191998"/>
              <a:gd name="connsiteY8" fmla="*/ 106362 h 851265"/>
              <a:gd name="connsiteX9" fmla="*/ 1036902 w 12191998"/>
              <a:gd name="connsiteY9" fmla="*/ 125412 h 851265"/>
              <a:gd name="connsiteX10" fmla="*/ 1078177 w 12191998"/>
              <a:gd name="connsiteY10" fmla="*/ 141287 h 851265"/>
              <a:gd name="connsiteX11" fmla="*/ 1124214 w 12191998"/>
              <a:gd name="connsiteY11" fmla="*/ 155575 h 851265"/>
              <a:gd name="connsiteX12" fmla="*/ 1176602 w 12191998"/>
              <a:gd name="connsiteY12" fmla="*/ 166687 h 851265"/>
              <a:gd name="connsiteX13" fmla="*/ 1236927 w 12191998"/>
              <a:gd name="connsiteY13" fmla="*/ 174625 h 851265"/>
              <a:gd name="connsiteX14" fmla="*/ 1305189 w 12191998"/>
              <a:gd name="connsiteY14" fmla="*/ 176212 h 851265"/>
              <a:gd name="connsiteX15" fmla="*/ 1373452 w 12191998"/>
              <a:gd name="connsiteY15" fmla="*/ 174625 h 851265"/>
              <a:gd name="connsiteX16" fmla="*/ 1433777 w 12191998"/>
              <a:gd name="connsiteY16" fmla="*/ 166687 h 851265"/>
              <a:gd name="connsiteX17" fmla="*/ 1486164 w 12191998"/>
              <a:gd name="connsiteY17" fmla="*/ 155575 h 851265"/>
              <a:gd name="connsiteX18" fmla="*/ 1532202 w 12191998"/>
              <a:gd name="connsiteY18" fmla="*/ 141287 h 851265"/>
              <a:gd name="connsiteX19" fmla="*/ 1573477 w 12191998"/>
              <a:gd name="connsiteY19" fmla="*/ 125412 h 851265"/>
              <a:gd name="connsiteX20" fmla="*/ 1609989 w 12191998"/>
              <a:gd name="connsiteY20" fmla="*/ 106362 h 851265"/>
              <a:gd name="connsiteX21" fmla="*/ 1648089 w 12191998"/>
              <a:gd name="connsiteY21" fmla="*/ 87312 h 851265"/>
              <a:gd name="connsiteX22" fmla="*/ 1686189 w 12191998"/>
              <a:gd name="connsiteY22" fmla="*/ 68262 h 851265"/>
              <a:gd name="connsiteX23" fmla="*/ 1722702 w 12191998"/>
              <a:gd name="connsiteY23" fmla="*/ 52387 h 851265"/>
              <a:gd name="connsiteX24" fmla="*/ 1763977 w 12191998"/>
              <a:gd name="connsiteY24" fmla="*/ 36512 h 851265"/>
              <a:gd name="connsiteX25" fmla="*/ 1810014 w 12191998"/>
              <a:gd name="connsiteY25" fmla="*/ 20637 h 851265"/>
              <a:gd name="connsiteX26" fmla="*/ 1862402 w 12191998"/>
              <a:gd name="connsiteY26" fmla="*/ 9525 h 851265"/>
              <a:gd name="connsiteX27" fmla="*/ 1922727 w 12191998"/>
              <a:gd name="connsiteY27" fmla="*/ 3175 h 851265"/>
              <a:gd name="connsiteX28" fmla="*/ 1990989 w 12191998"/>
              <a:gd name="connsiteY28" fmla="*/ 0 h 851265"/>
              <a:gd name="connsiteX29" fmla="*/ 2059252 w 12191998"/>
              <a:gd name="connsiteY29" fmla="*/ 3175 h 851265"/>
              <a:gd name="connsiteX30" fmla="*/ 2119577 w 12191998"/>
              <a:gd name="connsiteY30" fmla="*/ 9525 h 851265"/>
              <a:gd name="connsiteX31" fmla="*/ 2171964 w 12191998"/>
              <a:gd name="connsiteY31" fmla="*/ 20637 h 851265"/>
              <a:gd name="connsiteX32" fmla="*/ 2218002 w 12191998"/>
              <a:gd name="connsiteY32" fmla="*/ 36512 h 851265"/>
              <a:gd name="connsiteX33" fmla="*/ 2259277 w 12191998"/>
              <a:gd name="connsiteY33" fmla="*/ 52387 h 851265"/>
              <a:gd name="connsiteX34" fmla="*/ 2295789 w 12191998"/>
              <a:gd name="connsiteY34" fmla="*/ 68262 h 851265"/>
              <a:gd name="connsiteX35" fmla="*/ 2333889 w 12191998"/>
              <a:gd name="connsiteY35" fmla="*/ 87312 h 851265"/>
              <a:gd name="connsiteX36" fmla="*/ 2371989 w 12191998"/>
              <a:gd name="connsiteY36" fmla="*/ 106362 h 851265"/>
              <a:gd name="connsiteX37" fmla="*/ 2408502 w 12191998"/>
              <a:gd name="connsiteY37" fmla="*/ 125412 h 851265"/>
              <a:gd name="connsiteX38" fmla="*/ 2449777 w 12191998"/>
              <a:gd name="connsiteY38" fmla="*/ 141287 h 851265"/>
              <a:gd name="connsiteX39" fmla="*/ 2495814 w 12191998"/>
              <a:gd name="connsiteY39" fmla="*/ 155575 h 851265"/>
              <a:gd name="connsiteX40" fmla="*/ 2548202 w 12191998"/>
              <a:gd name="connsiteY40" fmla="*/ 166687 h 851265"/>
              <a:gd name="connsiteX41" fmla="*/ 2608527 w 12191998"/>
              <a:gd name="connsiteY41" fmla="*/ 174625 h 851265"/>
              <a:gd name="connsiteX42" fmla="*/ 2676789 w 12191998"/>
              <a:gd name="connsiteY42" fmla="*/ 176212 h 851265"/>
              <a:gd name="connsiteX43" fmla="*/ 2745052 w 12191998"/>
              <a:gd name="connsiteY43" fmla="*/ 174625 h 851265"/>
              <a:gd name="connsiteX44" fmla="*/ 2805377 w 12191998"/>
              <a:gd name="connsiteY44" fmla="*/ 166687 h 851265"/>
              <a:gd name="connsiteX45" fmla="*/ 2857764 w 12191998"/>
              <a:gd name="connsiteY45" fmla="*/ 155575 h 851265"/>
              <a:gd name="connsiteX46" fmla="*/ 2903802 w 12191998"/>
              <a:gd name="connsiteY46" fmla="*/ 141287 h 851265"/>
              <a:gd name="connsiteX47" fmla="*/ 2945077 w 12191998"/>
              <a:gd name="connsiteY47" fmla="*/ 125412 h 851265"/>
              <a:gd name="connsiteX48" fmla="*/ 2981589 w 12191998"/>
              <a:gd name="connsiteY48" fmla="*/ 106362 h 851265"/>
              <a:gd name="connsiteX49" fmla="*/ 3019689 w 12191998"/>
              <a:gd name="connsiteY49" fmla="*/ 87312 h 851265"/>
              <a:gd name="connsiteX50" fmla="*/ 3057789 w 12191998"/>
              <a:gd name="connsiteY50" fmla="*/ 68262 h 851265"/>
              <a:gd name="connsiteX51" fmla="*/ 3094302 w 12191998"/>
              <a:gd name="connsiteY51" fmla="*/ 52387 h 851265"/>
              <a:gd name="connsiteX52" fmla="*/ 3135577 w 12191998"/>
              <a:gd name="connsiteY52" fmla="*/ 36512 h 851265"/>
              <a:gd name="connsiteX53" fmla="*/ 3181614 w 12191998"/>
              <a:gd name="connsiteY53" fmla="*/ 20637 h 851265"/>
              <a:gd name="connsiteX54" fmla="*/ 3234002 w 12191998"/>
              <a:gd name="connsiteY54" fmla="*/ 9525 h 851265"/>
              <a:gd name="connsiteX55" fmla="*/ 3294327 w 12191998"/>
              <a:gd name="connsiteY55" fmla="*/ 3175 h 851265"/>
              <a:gd name="connsiteX56" fmla="*/ 3361002 w 12191998"/>
              <a:gd name="connsiteY56" fmla="*/ 0 h 851265"/>
              <a:gd name="connsiteX57" fmla="*/ 3430852 w 12191998"/>
              <a:gd name="connsiteY57" fmla="*/ 3175 h 851265"/>
              <a:gd name="connsiteX58" fmla="*/ 3491177 w 12191998"/>
              <a:gd name="connsiteY58" fmla="*/ 9525 h 851265"/>
              <a:gd name="connsiteX59" fmla="*/ 3543564 w 12191998"/>
              <a:gd name="connsiteY59" fmla="*/ 20637 h 851265"/>
              <a:gd name="connsiteX60" fmla="*/ 3589602 w 12191998"/>
              <a:gd name="connsiteY60" fmla="*/ 36512 h 851265"/>
              <a:gd name="connsiteX61" fmla="*/ 3630877 w 12191998"/>
              <a:gd name="connsiteY61" fmla="*/ 52387 h 851265"/>
              <a:gd name="connsiteX62" fmla="*/ 3667389 w 12191998"/>
              <a:gd name="connsiteY62" fmla="*/ 68262 h 851265"/>
              <a:gd name="connsiteX63" fmla="*/ 3705489 w 12191998"/>
              <a:gd name="connsiteY63" fmla="*/ 87312 h 851265"/>
              <a:gd name="connsiteX64" fmla="*/ 3743589 w 12191998"/>
              <a:gd name="connsiteY64" fmla="*/ 106362 h 851265"/>
              <a:gd name="connsiteX65" fmla="*/ 3780102 w 12191998"/>
              <a:gd name="connsiteY65" fmla="*/ 125412 h 851265"/>
              <a:gd name="connsiteX66" fmla="*/ 3821377 w 12191998"/>
              <a:gd name="connsiteY66" fmla="*/ 141287 h 851265"/>
              <a:gd name="connsiteX67" fmla="*/ 3867414 w 12191998"/>
              <a:gd name="connsiteY67" fmla="*/ 155575 h 851265"/>
              <a:gd name="connsiteX68" fmla="*/ 3919802 w 12191998"/>
              <a:gd name="connsiteY68" fmla="*/ 166687 h 851265"/>
              <a:gd name="connsiteX69" fmla="*/ 3980127 w 12191998"/>
              <a:gd name="connsiteY69" fmla="*/ 174625 h 851265"/>
              <a:gd name="connsiteX70" fmla="*/ 4048389 w 12191998"/>
              <a:gd name="connsiteY70" fmla="*/ 176212 h 851265"/>
              <a:gd name="connsiteX71" fmla="*/ 4116652 w 12191998"/>
              <a:gd name="connsiteY71" fmla="*/ 174625 h 851265"/>
              <a:gd name="connsiteX72" fmla="*/ 4176977 w 12191998"/>
              <a:gd name="connsiteY72" fmla="*/ 166687 h 851265"/>
              <a:gd name="connsiteX73" fmla="*/ 4229364 w 12191998"/>
              <a:gd name="connsiteY73" fmla="*/ 155575 h 851265"/>
              <a:gd name="connsiteX74" fmla="*/ 4275402 w 12191998"/>
              <a:gd name="connsiteY74" fmla="*/ 141287 h 851265"/>
              <a:gd name="connsiteX75" fmla="*/ 4316677 w 12191998"/>
              <a:gd name="connsiteY75" fmla="*/ 125412 h 851265"/>
              <a:gd name="connsiteX76" fmla="*/ 4353189 w 12191998"/>
              <a:gd name="connsiteY76" fmla="*/ 106362 h 851265"/>
              <a:gd name="connsiteX77" fmla="*/ 4429389 w 12191998"/>
              <a:gd name="connsiteY77" fmla="*/ 68262 h 851265"/>
              <a:gd name="connsiteX78" fmla="*/ 4465902 w 12191998"/>
              <a:gd name="connsiteY78" fmla="*/ 52387 h 851265"/>
              <a:gd name="connsiteX79" fmla="*/ 4507177 w 12191998"/>
              <a:gd name="connsiteY79" fmla="*/ 36512 h 851265"/>
              <a:gd name="connsiteX80" fmla="*/ 4553216 w 12191998"/>
              <a:gd name="connsiteY80" fmla="*/ 20637 h 851265"/>
              <a:gd name="connsiteX81" fmla="*/ 4605602 w 12191998"/>
              <a:gd name="connsiteY81" fmla="*/ 9525 h 851265"/>
              <a:gd name="connsiteX82" fmla="*/ 4665928 w 12191998"/>
              <a:gd name="connsiteY82" fmla="*/ 3175 h 851265"/>
              <a:gd name="connsiteX83" fmla="*/ 4734189 w 12191998"/>
              <a:gd name="connsiteY83" fmla="*/ 0 h 851265"/>
              <a:gd name="connsiteX84" fmla="*/ 4802453 w 12191998"/>
              <a:gd name="connsiteY84" fmla="*/ 3175 h 851265"/>
              <a:gd name="connsiteX85" fmla="*/ 4862777 w 12191998"/>
              <a:gd name="connsiteY85" fmla="*/ 9525 h 851265"/>
              <a:gd name="connsiteX86" fmla="*/ 4915165 w 12191998"/>
              <a:gd name="connsiteY86" fmla="*/ 20637 h 851265"/>
              <a:gd name="connsiteX87" fmla="*/ 4961202 w 12191998"/>
              <a:gd name="connsiteY87" fmla="*/ 36512 h 851265"/>
              <a:gd name="connsiteX88" fmla="*/ 5002478 w 12191998"/>
              <a:gd name="connsiteY88" fmla="*/ 52387 h 851265"/>
              <a:gd name="connsiteX89" fmla="*/ 5038989 w 12191998"/>
              <a:gd name="connsiteY89" fmla="*/ 68262 h 851265"/>
              <a:gd name="connsiteX90" fmla="*/ 5077091 w 12191998"/>
              <a:gd name="connsiteY90" fmla="*/ 87312 h 851265"/>
              <a:gd name="connsiteX91" fmla="*/ 5115189 w 12191998"/>
              <a:gd name="connsiteY91" fmla="*/ 106362 h 851265"/>
              <a:gd name="connsiteX92" fmla="*/ 5151702 w 12191998"/>
              <a:gd name="connsiteY92" fmla="*/ 125412 h 851265"/>
              <a:gd name="connsiteX93" fmla="*/ 5192978 w 12191998"/>
              <a:gd name="connsiteY93" fmla="*/ 141287 h 851265"/>
              <a:gd name="connsiteX94" fmla="*/ 5239014 w 12191998"/>
              <a:gd name="connsiteY94" fmla="*/ 155575 h 851265"/>
              <a:gd name="connsiteX95" fmla="*/ 5291401 w 12191998"/>
              <a:gd name="connsiteY95" fmla="*/ 166687 h 851265"/>
              <a:gd name="connsiteX96" fmla="*/ 5351727 w 12191998"/>
              <a:gd name="connsiteY96" fmla="*/ 174625 h 851265"/>
              <a:gd name="connsiteX97" fmla="*/ 5410199 w 12191998"/>
              <a:gd name="connsiteY97" fmla="*/ 175985 h 851265"/>
              <a:gd name="connsiteX98" fmla="*/ 5468671 w 12191998"/>
              <a:gd name="connsiteY98" fmla="*/ 174625 h 851265"/>
              <a:gd name="connsiteX99" fmla="*/ 5528996 w 12191998"/>
              <a:gd name="connsiteY99" fmla="*/ 166687 h 851265"/>
              <a:gd name="connsiteX100" fmla="*/ 5581383 w 12191998"/>
              <a:gd name="connsiteY100" fmla="*/ 155575 h 851265"/>
              <a:gd name="connsiteX101" fmla="*/ 5627421 w 12191998"/>
              <a:gd name="connsiteY101" fmla="*/ 141287 h 851265"/>
              <a:gd name="connsiteX102" fmla="*/ 5668696 w 12191998"/>
              <a:gd name="connsiteY102" fmla="*/ 125412 h 851265"/>
              <a:gd name="connsiteX103" fmla="*/ 5705210 w 12191998"/>
              <a:gd name="connsiteY103" fmla="*/ 106362 h 851265"/>
              <a:gd name="connsiteX104" fmla="*/ 5743308 w 12191998"/>
              <a:gd name="connsiteY104" fmla="*/ 87312 h 851265"/>
              <a:gd name="connsiteX105" fmla="*/ 5781408 w 12191998"/>
              <a:gd name="connsiteY105" fmla="*/ 68262 h 851265"/>
              <a:gd name="connsiteX106" fmla="*/ 5817921 w 12191998"/>
              <a:gd name="connsiteY106" fmla="*/ 52387 h 851265"/>
              <a:gd name="connsiteX107" fmla="*/ 5859196 w 12191998"/>
              <a:gd name="connsiteY107" fmla="*/ 36512 h 851265"/>
              <a:gd name="connsiteX108" fmla="*/ 5905234 w 12191998"/>
              <a:gd name="connsiteY108" fmla="*/ 20637 h 851265"/>
              <a:gd name="connsiteX109" fmla="*/ 5957621 w 12191998"/>
              <a:gd name="connsiteY109" fmla="*/ 9525 h 851265"/>
              <a:gd name="connsiteX110" fmla="*/ 6017948 w 12191998"/>
              <a:gd name="connsiteY110" fmla="*/ 3175 h 851265"/>
              <a:gd name="connsiteX111" fmla="*/ 6086210 w 12191998"/>
              <a:gd name="connsiteY111" fmla="*/ 0 h 851265"/>
              <a:gd name="connsiteX112" fmla="*/ 6095999 w 12191998"/>
              <a:gd name="connsiteY112" fmla="*/ 455 h 851265"/>
              <a:gd name="connsiteX113" fmla="*/ 6105789 w 12191998"/>
              <a:gd name="connsiteY113" fmla="*/ 0 h 851265"/>
              <a:gd name="connsiteX114" fmla="*/ 6174052 w 12191998"/>
              <a:gd name="connsiteY114" fmla="*/ 3175 h 851265"/>
              <a:gd name="connsiteX115" fmla="*/ 6234377 w 12191998"/>
              <a:gd name="connsiteY115" fmla="*/ 9525 h 851265"/>
              <a:gd name="connsiteX116" fmla="*/ 6286764 w 12191998"/>
              <a:gd name="connsiteY116" fmla="*/ 20637 h 851265"/>
              <a:gd name="connsiteX117" fmla="*/ 6332802 w 12191998"/>
              <a:gd name="connsiteY117" fmla="*/ 36512 h 851265"/>
              <a:gd name="connsiteX118" fmla="*/ 6374077 w 12191998"/>
              <a:gd name="connsiteY118" fmla="*/ 52387 h 851265"/>
              <a:gd name="connsiteX119" fmla="*/ 6410589 w 12191998"/>
              <a:gd name="connsiteY119" fmla="*/ 68262 h 851265"/>
              <a:gd name="connsiteX120" fmla="*/ 6448689 w 12191998"/>
              <a:gd name="connsiteY120" fmla="*/ 87312 h 851265"/>
              <a:gd name="connsiteX121" fmla="*/ 6486789 w 12191998"/>
              <a:gd name="connsiteY121" fmla="*/ 106362 h 851265"/>
              <a:gd name="connsiteX122" fmla="*/ 6523302 w 12191998"/>
              <a:gd name="connsiteY122" fmla="*/ 125412 h 851265"/>
              <a:gd name="connsiteX123" fmla="*/ 6564577 w 12191998"/>
              <a:gd name="connsiteY123" fmla="*/ 141287 h 851265"/>
              <a:gd name="connsiteX124" fmla="*/ 6610614 w 12191998"/>
              <a:gd name="connsiteY124" fmla="*/ 155575 h 851265"/>
              <a:gd name="connsiteX125" fmla="*/ 6663002 w 12191998"/>
              <a:gd name="connsiteY125" fmla="*/ 166687 h 851265"/>
              <a:gd name="connsiteX126" fmla="*/ 6723327 w 12191998"/>
              <a:gd name="connsiteY126" fmla="*/ 174625 h 851265"/>
              <a:gd name="connsiteX127" fmla="*/ 6781799 w 12191998"/>
              <a:gd name="connsiteY127" fmla="*/ 175985 h 851265"/>
              <a:gd name="connsiteX128" fmla="*/ 6840271 w 12191998"/>
              <a:gd name="connsiteY128" fmla="*/ 174625 h 851265"/>
              <a:gd name="connsiteX129" fmla="*/ 6900596 w 12191998"/>
              <a:gd name="connsiteY129" fmla="*/ 166687 h 851265"/>
              <a:gd name="connsiteX130" fmla="*/ 6952983 w 12191998"/>
              <a:gd name="connsiteY130" fmla="*/ 155575 h 851265"/>
              <a:gd name="connsiteX131" fmla="*/ 6999021 w 12191998"/>
              <a:gd name="connsiteY131" fmla="*/ 141287 h 851265"/>
              <a:gd name="connsiteX132" fmla="*/ 7040296 w 12191998"/>
              <a:gd name="connsiteY132" fmla="*/ 125412 h 851265"/>
              <a:gd name="connsiteX133" fmla="*/ 7076808 w 12191998"/>
              <a:gd name="connsiteY133" fmla="*/ 106362 h 851265"/>
              <a:gd name="connsiteX134" fmla="*/ 7114908 w 12191998"/>
              <a:gd name="connsiteY134" fmla="*/ 87312 h 851265"/>
              <a:gd name="connsiteX135" fmla="*/ 7153008 w 12191998"/>
              <a:gd name="connsiteY135" fmla="*/ 68262 h 851265"/>
              <a:gd name="connsiteX136" fmla="*/ 7189521 w 12191998"/>
              <a:gd name="connsiteY136" fmla="*/ 52387 h 851265"/>
              <a:gd name="connsiteX137" fmla="*/ 7230796 w 12191998"/>
              <a:gd name="connsiteY137" fmla="*/ 36512 h 851265"/>
              <a:gd name="connsiteX138" fmla="*/ 7276833 w 12191998"/>
              <a:gd name="connsiteY138" fmla="*/ 20637 h 851265"/>
              <a:gd name="connsiteX139" fmla="*/ 7329221 w 12191998"/>
              <a:gd name="connsiteY139" fmla="*/ 9525 h 851265"/>
              <a:gd name="connsiteX140" fmla="*/ 7389546 w 12191998"/>
              <a:gd name="connsiteY140" fmla="*/ 3175 h 851265"/>
              <a:gd name="connsiteX141" fmla="*/ 7457808 w 12191998"/>
              <a:gd name="connsiteY141" fmla="*/ 0 h 851265"/>
              <a:gd name="connsiteX142" fmla="*/ 7526071 w 12191998"/>
              <a:gd name="connsiteY142" fmla="*/ 3175 h 851265"/>
              <a:gd name="connsiteX143" fmla="*/ 7586396 w 12191998"/>
              <a:gd name="connsiteY143" fmla="*/ 9525 h 851265"/>
              <a:gd name="connsiteX144" fmla="*/ 7638783 w 12191998"/>
              <a:gd name="connsiteY144" fmla="*/ 20637 h 851265"/>
              <a:gd name="connsiteX145" fmla="*/ 7684821 w 12191998"/>
              <a:gd name="connsiteY145" fmla="*/ 36512 h 851265"/>
              <a:gd name="connsiteX146" fmla="*/ 7726096 w 12191998"/>
              <a:gd name="connsiteY146" fmla="*/ 52387 h 851265"/>
              <a:gd name="connsiteX147" fmla="*/ 7762608 w 12191998"/>
              <a:gd name="connsiteY147" fmla="*/ 68262 h 851265"/>
              <a:gd name="connsiteX148" fmla="*/ 7800708 w 12191998"/>
              <a:gd name="connsiteY148" fmla="*/ 87312 h 851265"/>
              <a:gd name="connsiteX149" fmla="*/ 7838808 w 12191998"/>
              <a:gd name="connsiteY149" fmla="*/ 106362 h 851265"/>
              <a:gd name="connsiteX150" fmla="*/ 7875321 w 12191998"/>
              <a:gd name="connsiteY150" fmla="*/ 125412 h 851265"/>
              <a:gd name="connsiteX151" fmla="*/ 7916596 w 12191998"/>
              <a:gd name="connsiteY151" fmla="*/ 141287 h 851265"/>
              <a:gd name="connsiteX152" fmla="*/ 7962633 w 12191998"/>
              <a:gd name="connsiteY152" fmla="*/ 155575 h 851265"/>
              <a:gd name="connsiteX153" fmla="*/ 8015021 w 12191998"/>
              <a:gd name="connsiteY153" fmla="*/ 166687 h 851265"/>
              <a:gd name="connsiteX154" fmla="*/ 8075346 w 12191998"/>
              <a:gd name="connsiteY154" fmla="*/ 174625 h 851265"/>
              <a:gd name="connsiteX155" fmla="*/ 8143608 w 12191998"/>
              <a:gd name="connsiteY155" fmla="*/ 176212 h 851265"/>
              <a:gd name="connsiteX156" fmla="*/ 8211871 w 12191998"/>
              <a:gd name="connsiteY156" fmla="*/ 174625 h 851265"/>
              <a:gd name="connsiteX157" fmla="*/ 8272196 w 12191998"/>
              <a:gd name="connsiteY157" fmla="*/ 166687 h 851265"/>
              <a:gd name="connsiteX158" fmla="*/ 8324583 w 12191998"/>
              <a:gd name="connsiteY158" fmla="*/ 155575 h 851265"/>
              <a:gd name="connsiteX159" fmla="*/ 8370621 w 12191998"/>
              <a:gd name="connsiteY159" fmla="*/ 141287 h 851265"/>
              <a:gd name="connsiteX160" fmla="*/ 8411896 w 12191998"/>
              <a:gd name="connsiteY160" fmla="*/ 125412 h 851265"/>
              <a:gd name="connsiteX161" fmla="*/ 8448408 w 12191998"/>
              <a:gd name="connsiteY161" fmla="*/ 106362 h 851265"/>
              <a:gd name="connsiteX162" fmla="*/ 8486508 w 12191998"/>
              <a:gd name="connsiteY162" fmla="*/ 87312 h 851265"/>
              <a:gd name="connsiteX163" fmla="*/ 8524608 w 12191998"/>
              <a:gd name="connsiteY163" fmla="*/ 68262 h 851265"/>
              <a:gd name="connsiteX164" fmla="*/ 8561120 w 12191998"/>
              <a:gd name="connsiteY164" fmla="*/ 52387 h 851265"/>
              <a:gd name="connsiteX165" fmla="*/ 8602396 w 12191998"/>
              <a:gd name="connsiteY165" fmla="*/ 36512 h 851265"/>
              <a:gd name="connsiteX166" fmla="*/ 8648432 w 12191998"/>
              <a:gd name="connsiteY166" fmla="*/ 20637 h 851265"/>
              <a:gd name="connsiteX167" fmla="*/ 8700820 w 12191998"/>
              <a:gd name="connsiteY167" fmla="*/ 9525 h 851265"/>
              <a:gd name="connsiteX168" fmla="*/ 8761146 w 12191998"/>
              <a:gd name="connsiteY168" fmla="*/ 3175 h 851265"/>
              <a:gd name="connsiteX169" fmla="*/ 8827820 w 12191998"/>
              <a:gd name="connsiteY169" fmla="*/ 0 h 851265"/>
              <a:gd name="connsiteX170" fmla="*/ 8897670 w 12191998"/>
              <a:gd name="connsiteY170" fmla="*/ 3175 h 851265"/>
              <a:gd name="connsiteX171" fmla="*/ 8957996 w 12191998"/>
              <a:gd name="connsiteY171" fmla="*/ 9525 h 851265"/>
              <a:gd name="connsiteX172" fmla="*/ 9010382 w 12191998"/>
              <a:gd name="connsiteY172" fmla="*/ 20637 h 851265"/>
              <a:gd name="connsiteX173" fmla="*/ 9056420 w 12191998"/>
              <a:gd name="connsiteY173" fmla="*/ 36512 h 851265"/>
              <a:gd name="connsiteX174" fmla="*/ 9097696 w 12191998"/>
              <a:gd name="connsiteY174" fmla="*/ 52387 h 851265"/>
              <a:gd name="connsiteX175" fmla="*/ 9134208 w 12191998"/>
              <a:gd name="connsiteY175" fmla="*/ 68262 h 851265"/>
              <a:gd name="connsiteX176" fmla="*/ 9172308 w 12191998"/>
              <a:gd name="connsiteY176" fmla="*/ 87312 h 851265"/>
              <a:gd name="connsiteX177" fmla="*/ 9210408 w 12191998"/>
              <a:gd name="connsiteY177" fmla="*/ 106362 h 851265"/>
              <a:gd name="connsiteX178" fmla="*/ 9246920 w 12191998"/>
              <a:gd name="connsiteY178" fmla="*/ 125412 h 851265"/>
              <a:gd name="connsiteX179" fmla="*/ 9288196 w 12191998"/>
              <a:gd name="connsiteY179" fmla="*/ 141287 h 851265"/>
              <a:gd name="connsiteX180" fmla="*/ 9334232 w 12191998"/>
              <a:gd name="connsiteY180" fmla="*/ 155575 h 851265"/>
              <a:gd name="connsiteX181" fmla="*/ 9386620 w 12191998"/>
              <a:gd name="connsiteY181" fmla="*/ 166687 h 851265"/>
              <a:gd name="connsiteX182" fmla="*/ 9446946 w 12191998"/>
              <a:gd name="connsiteY182" fmla="*/ 174625 h 851265"/>
              <a:gd name="connsiteX183" fmla="*/ 9515208 w 12191998"/>
              <a:gd name="connsiteY183" fmla="*/ 176212 h 851265"/>
              <a:gd name="connsiteX184" fmla="*/ 9583470 w 12191998"/>
              <a:gd name="connsiteY184" fmla="*/ 174625 h 851265"/>
              <a:gd name="connsiteX185" fmla="*/ 9643796 w 12191998"/>
              <a:gd name="connsiteY185" fmla="*/ 166687 h 851265"/>
              <a:gd name="connsiteX186" fmla="*/ 9696182 w 12191998"/>
              <a:gd name="connsiteY186" fmla="*/ 155575 h 851265"/>
              <a:gd name="connsiteX187" fmla="*/ 9742220 w 12191998"/>
              <a:gd name="connsiteY187" fmla="*/ 141287 h 851265"/>
              <a:gd name="connsiteX188" fmla="*/ 9783496 w 12191998"/>
              <a:gd name="connsiteY188" fmla="*/ 125412 h 851265"/>
              <a:gd name="connsiteX189" fmla="*/ 9820008 w 12191998"/>
              <a:gd name="connsiteY189" fmla="*/ 106362 h 851265"/>
              <a:gd name="connsiteX190" fmla="*/ 9896208 w 12191998"/>
              <a:gd name="connsiteY190" fmla="*/ 68262 h 851265"/>
              <a:gd name="connsiteX191" fmla="*/ 9932720 w 12191998"/>
              <a:gd name="connsiteY191" fmla="*/ 52387 h 851265"/>
              <a:gd name="connsiteX192" fmla="*/ 9973996 w 12191998"/>
              <a:gd name="connsiteY192" fmla="*/ 36512 h 851265"/>
              <a:gd name="connsiteX193" fmla="*/ 10020032 w 12191998"/>
              <a:gd name="connsiteY193" fmla="*/ 20637 h 851265"/>
              <a:gd name="connsiteX194" fmla="*/ 10072420 w 12191998"/>
              <a:gd name="connsiteY194" fmla="*/ 9525 h 851265"/>
              <a:gd name="connsiteX195" fmla="*/ 10132746 w 12191998"/>
              <a:gd name="connsiteY195" fmla="*/ 3175 h 851265"/>
              <a:gd name="connsiteX196" fmla="*/ 10201008 w 12191998"/>
              <a:gd name="connsiteY196" fmla="*/ 0 h 851265"/>
              <a:gd name="connsiteX197" fmla="*/ 10269270 w 12191998"/>
              <a:gd name="connsiteY197" fmla="*/ 3175 h 851265"/>
              <a:gd name="connsiteX198" fmla="*/ 10329596 w 12191998"/>
              <a:gd name="connsiteY198" fmla="*/ 9525 h 851265"/>
              <a:gd name="connsiteX199" fmla="*/ 10381982 w 12191998"/>
              <a:gd name="connsiteY199" fmla="*/ 20637 h 851265"/>
              <a:gd name="connsiteX200" fmla="*/ 10428020 w 12191998"/>
              <a:gd name="connsiteY200" fmla="*/ 36512 h 851265"/>
              <a:gd name="connsiteX201" fmla="*/ 10469296 w 12191998"/>
              <a:gd name="connsiteY201" fmla="*/ 52387 h 851265"/>
              <a:gd name="connsiteX202" fmla="*/ 10505808 w 12191998"/>
              <a:gd name="connsiteY202" fmla="*/ 68262 h 851265"/>
              <a:gd name="connsiteX203" fmla="*/ 10543908 w 12191998"/>
              <a:gd name="connsiteY203" fmla="*/ 87312 h 851265"/>
              <a:gd name="connsiteX204" fmla="*/ 10582008 w 12191998"/>
              <a:gd name="connsiteY204" fmla="*/ 106362 h 851265"/>
              <a:gd name="connsiteX205" fmla="*/ 10618520 w 12191998"/>
              <a:gd name="connsiteY205" fmla="*/ 125412 h 851265"/>
              <a:gd name="connsiteX206" fmla="*/ 10659796 w 12191998"/>
              <a:gd name="connsiteY206" fmla="*/ 141287 h 851265"/>
              <a:gd name="connsiteX207" fmla="*/ 10705832 w 12191998"/>
              <a:gd name="connsiteY207" fmla="*/ 155575 h 851265"/>
              <a:gd name="connsiteX208" fmla="*/ 10758220 w 12191998"/>
              <a:gd name="connsiteY208" fmla="*/ 166687 h 851265"/>
              <a:gd name="connsiteX209" fmla="*/ 10818546 w 12191998"/>
              <a:gd name="connsiteY209" fmla="*/ 174625 h 851265"/>
              <a:gd name="connsiteX210" fmla="*/ 10886808 w 12191998"/>
              <a:gd name="connsiteY210" fmla="*/ 176212 h 851265"/>
              <a:gd name="connsiteX211" fmla="*/ 10955070 w 12191998"/>
              <a:gd name="connsiteY211" fmla="*/ 174625 h 851265"/>
              <a:gd name="connsiteX212" fmla="*/ 11015396 w 12191998"/>
              <a:gd name="connsiteY212" fmla="*/ 166687 h 851265"/>
              <a:gd name="connsiteX213" fmla="*/ 11067782 w 12191998"/>
              <a:gd name="connsiteY213" fmla="*/ 155575 h 851265"/>
              <a:gd name="connsiteX214" fmla="*/ 11113820 w 12191998"/>
              <a:gd name="connsiteY214" fmla="*/ 141287 h 851265"/>
              <a:gd name="connsiteX215" fmla="*/ 11155096 w 12191998"/>
              <a:gd name="connsiteY215" fmla="*/ 125412 h 851265"/>
              <a:gd name="connsiteX216" fmla="*/ 11191608 w 12191998"/>
              <a:gd name="connsiteY216" fmla="*/ 106362 h 851265"/>
              <a:gd name="connsiteX217" fmla="*/ 11229708 w 12191998"/>
              <a:gd name="connsiteY217" fmla="*/ 87312 h 851265"/>
              <a:gd name="connsiteX218" fmla="*/ 11267808 w 12191998"/>
              <a:gd name="connsiteY218" fmla="*/ 68262 h 851265"/>
              <a:gd name="connsiteX219" fmla="*/ 11304320 w 12191998"/>
              <a:gd name="connsiteY219" fmla="*/ 52387 h 851265"/>
              <a:gd name="connsiteX220" fmla="*/ 11345596 w 12191998"/>
              <a:gd name="connsiteY220" fmla="*/ 36512 h 851265"/>
              <a:gd name="connsiteX221" fmla="*/ 11391632 w 12191998"/>
              <a:gd name="connsiteY221" fmla="*/ 20637 h 851265"/>
              <a:gd name="connsiteX222" fmla="*/ 11444020 w 12191998"/>
              <a:gd name="connsiteY222" fmla="*/ 9525 h 851265"/>
              <a:gd name="connsiteX223" fmla="*/ 11504346 w 12191998"/>
              <a:gd name="connsiteY223" fmla="*/ 3175 h 851265"/>
              <a:gd name="connsiteX224" fmla="*/ 11572608 w 12191998"/>
              <a:gd name="connsiteY224" fmla="*/ 0 h 851265"/>
              <a:gd name="connsiteX225" fmla="*/ 11640870 w 12191998"/>
              <a:gd name="connsiteY225" fmla="*/ 3175 h 851265"/>
              <a:gd name="connsiteX226" fmla="*/ 11701196 w 12191998"/>
              <a:gd name="connsiteY226" fmla="*/ 9525 h 851265"/>
              <a:gd name="connsiteX227" fmla="*/ 11753582 w 12191998"/>
              <a:gd name="connsiteY227" fmla="*/ 20637 h 851265"/>
              <a:gd name="connsiteX228" fmla="*/ 11799620 w 12191998"/>
              <a:gd name="connsiteY228" fmla="*/ 36512 h 851265"/>
              <a:gd name="connsiteX229" fmla="*/ 11840896 w 12191998"/>
              <a:gd name="connsiteY229" fmla="*/ 52387 h 851265"/>
              <a:gd name="connsiteX230" fmla="*/ 11877408 w 12191998"/>
              <a:gd name="connsiteY230" fmla="*/ 68262 h 851265"/>
              <a:gd name="connsiteX231" fmla="*/ 11915508 w 12191998"/>
              <a:gd name="connsiteY231" fmla="*/ 87312 h 851265"/>
              <a:gd name="connsiteX232" fmla="*/ 11953608 w 12191998"/>
              <a:gd name="connsiteY232" fmla="*/ 106362 h 851265"/>
              <a:gd name="connsiteX233" fmla="*/ 11990120 w 12191998"/>
              <a:gd name="connsiteY233" fmla="*/ 125412 h 851265"/>
              <a:gd name="connsiteX234" fmla="*/ 12031396 w 12191998"/>
              <a:gd name="connsiteY234" fmla="*/ 141287 h 851265"/>
              <a:gd name="connsiteX235" fmla="*/ 12077432 w 12191998"/>
              <a:gd name="connsiteY235" fmla="*/ 155575 h 851265"/>
              <a:gd name="connsiteX236" fmla="*/ 12129820 w 12191998"/>
              <a:gd name="connsiteY236" fmla="*/ 166688 h 851265"/>
              <a:gd name="connsiteX237" fmla="*/ 12190146 w 12191998"/>
              <a:gd name="connsiteY237" fmla="*/ 174625 h 851265"/>
              <a:gd name="connsiteX238" fmla="*/ 12191998 w 12191998"/>
              <a:gd name="connsiteY238" fmla="*/ 174668 h 851265"/>
              <a:gd name="connsiteX239" fmla="*/ 12191998 w 12191998"/>
              <a:gd name="connsiteY239" fmla="*/ 851265 h 851265"/>
              <a:gd name="connsiteX240" fmla="*/ 0 w 12191998"/>
              <a:gd name="connsiteY240" fmla="*/ 851265 h 851265"/>
              <a:gd name="connsiteX241" fmla="*/ 0 w 12191998"/>
              <a:gd name="connsiteY241" fmla="*/ 174668 h 851265"/>
              <a:gd name="connsiteX242" fmla="*/ 1852 w 12191998"/>
              <a:gd name="connsiteY242" fmla="*/ 174625 h 851265"/>
              <a:gd name="connsiteX243" fmla="*/ 62177 w 12191998"/>
              <a:gd name="connsiteY243" fmla="*/ 166687 h 851265"/>
              <a:gd name="connsiteX244" fmla="*/ 114564 w 12191998"/>
              <a:gd name="connsiteY244" fmla="*/ 155575 h 851265"/>
              <a:gd name="connsiteX245" fmla="*/ 160602 w 12191998"/>
              <a:gd name="connsiteY245" fmla="*/ 141287 h 851265"/>
              <a:gd name="connsiteX246" fmla="*/ 201877 w 12191998"/>
              <a:gd name="connsiteY246" fmla="*/ 125412 h 851265"/>
              <a:gd name="connsiteX247" fmla="*/ 238389 w 12191998"/>
              <a:gd name="connsiteY247" fmla="*/ 106362 h 851265"/>
              <a:gd name="connsiteX248" fmla="*/ 276489 w 12191998"/>
              <a:gd name="connsiteY248" fmla="*/ 87312 h 851265"/>
              <a:gd name="connsiteX249" fmla="*/ 314589 w 12191998"/>
              <a:gd name="connsiteY249" fmla="*/ 68262 h 851265"/>
              <a:gd name="connsiteX250" fmla="*/ 351102 w 12191998"/>
              <a:gd name="connsiteY250" fmla="*/ 52387 h 851265"/>
              <a:gd name="connsiteX251" fmla="*/ 392377 w 12191998"/>
              <a:gd name="connsiteY251" fmla="*/ 36512 h 851265"/>
              <a:gd name="connsiteX252" fmla="*/ 438414 w 12191998"/>
              <a:gd name="connsiteY252" fmla="*/ 20637 h 851265"/>
              <a:gd name="connsiteX253" fmla="*/ 490802 w 12191998"/>
              <a:gd name="connsiteY253" fmla="*/ 9525 h 851265"/>
              <a:gd name="connsiteX254" fmla="*/ 551127 w 12191998"/>
              <a:gd name="connsiteY254" fmla="*/ 3175 h 851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Lst>
            <a:rect l="l" t="t" r="r" b="b"/>
            <a:pathLst>
              <a:path w="12191998" h="851265">
                <a:moveTo>
                  <a:pt x="619389" y="0"/>
                </a:moveTo>
                <a:lnTo>
                  <a:pt x="687652" y="3175"/>
                </a:lnTo>
                <a:lnTo>
                  <a:pt x="747977" y="9525"/>
                </a:lnTo>
                <a:lnTo>
                  <a:pt x="800364" y="20637"/>
                </a:lnTo>
                <a:lnTo>
                  <a:pt x="846402" y="36512"/>
                </a:lnTo>
                <a:lnTo>
                  <a:pt x="887677" y="52387"/>
                </a:lnTo>
                <a:lnTo>
                  <a:pt x="924189" y="68262"/>
                </a:lnTo>
                <a:lnTo>
                  <a:pt x="962289" y="87312"/>
                </a:lnTo>
                <a:lnTo>
                  <a:pt x="1000389" y="106362"/>
                </a:lnTo>
                <a:lnTo>
                  <a:pt x="1036902" y="125412"/>
                </a:lnTo>
                <a:lnTo>
                  <a:pt x="1078177" y="141287"/>
                </a:lnTo>
                <a:lnTo>
                  <a:pt x="1124214" y="155575"/>
                </a:lnTo>
                <a:lnTo>
                  <a:pt x="1176602" y="166687"/>
                </a:lnTo>
                <a:lnTo>
                  <a:pt x="1236927" y="174625"/>
                </a:lnTo>
                <a:lnTo>
                  <a:pt x="1305189" y="176212"/>
                </a:lnTo>
                <a:lnTo>
                  <a:pt x="1373452" y="174625"/>
                </a:lnTo>
                <a:lnTo>
                  <a:pt x="1433777" y="166687"/>
                </a:lnTo>
                <a:lnTo>
                  <a:pt x="1486164" y="155575"/>
                </a:lnTo>
                <a:lnTo>
                  <a:pt x="1532202" y="141287"/>
                </a:lnTo>
                <a:lnTo>
                  <a:pt x="1573477" y="125412"/>
                </a:lnTo>
                <a:lnTo>
                  <a:pt x="1609989" y="106362"/>
                </a:lnTo>
                <a:lnTo>
                  <a:pt x="1648089" y="87312"/>
                </a:lnTo>
                <a:lnTo>
                  <a:pt x="1686189" y="68262"/>
                </a:lnTo>
                <a:lnTo>
                  <a:pt x="1722702" y="52387"/>
                </a:lnTo>
                <a:lnTo>
                  <a:pt x="1763977" y="36512"/>
                </a:lnTo>
                <a:lnTo>
                  <a:pt x="1810014" y="20637"/>
                </a:lnTo>
                <a:lnTo>
                  <a:pt x="1862402" y="9525"/>
                </a:lnTo>
                <a:lnTo>
                  <a:pt x="1922727" y="3175"/>
                </a:lnTo>
                <a:lnTo>
                  <a:pt x="1990989" y="0"/>
                </a:lnTo>
                <a:lnTo>
                  <a:pt x="2059252" y="3175"/>
                </a:lnTo>
                <a:lnTo>
                  <a:pt x="2119577" y="9525"/>
                </a:lnTo>
                <a:lnTo>
                  <a:pt x="2171964" y="20637"/>
                </a:lnTo>
                <a:lnTo>
                  <a:pt x="2218002" y="36512"/>
                </a:lnTo>
                <a:lnTo>
                  <a:pt x="2259277" y="52387"/>
                </a:lnTo>
                <a:lnTo>
                  <a:pt x="2295789" y="68262"/>
                </a:lnTo>
                <a:lnTo>
                  <a:pt x="2333889" y="87312"/>
                </a:lnTo>
                <a:lnTo>
                  <a:pt x="2371989" y="106362"/>
                </a:lnTo>
                <a:lnTo>
                  <a:pt x="2408502" y="125412"/>
                </a:lnTo>
                <a:lnTo>
                  <a:pt x="2449777" y="141287"/>
                </a:lnTo>
                <a:lnTo>
                  <a:pt x="2495814" y="155575"/>
                </a:lnTo>
                <a:lnTo>
                  <a:pt x="2548202" y="166687"/>
                </a:lnTo>
                <a:lnTo>
                  <a:pt x="2608527" y="174625"/>
                </a:lnTo>
                <a:lnTo>
                  <a:pt x="2676789" y="176212"/>
                </a:lnTo>
                <a:lnTo>
                  <a:pt x="2745052" y="174625"/>
                </a:lnTo>
                <a:lnTo>
                  <a:pt x="2805377" y="166687"/>
                </a:lnTo>
                <a:lnTo>
                  <a:pt x="2857764" y="155575"/>
                </a:lnTo>
                <a:lnTo>
                  <a:pt x="2903802" y="141287"/>
                </a:lnTo>
                <a:lnTo>
                  <a:pt x="2945077" y="125412"/>
                </a:lnTo>
                <a:lnTo>
                  <a:pt x="2981589" y="106362"/>
                </a:lnTo>
                <a:lnTo>
                  <a:pt x="3019689" y="87312"/>
                </a:lnTo>
                <a:lnTo>
                  <a:pt x="3057789" y="68262"/>
                </a:lnTo>
                <a:lnTo>
                  <a:pt x="3094302" y="52387"/>
                </a:lnTo>
                <a:lnTo>
                  <a:pt x="3135577" y="36512"/>
                </a:lnTo>
                <a:lnTo>
                  <a:pt x="3181614" y="20637"/>
                </a:lnTo>
                <a:lnTo>
                  <a:pt x="3234002" y="9525"/>
                </a:lnTo>
                <a:lnTo>
                  <a:pt x="3294327" y="3175"/>
                </a:lnTo>
                <a:lnTo>
                  <a:pt x="3361002" y="0"/>
                </a:lnTo>
                <a:lnTo>
                  <a:pt x="3430852" y="3175"/>
                </a:lnTo>
                <a:lnTo>
                  <a:pt x="3491177" y="9525"/>
                </a:lnTo>
                <a:lnTo>
                  <a:pt x="3543564" y="20637"/>
                </a:lnTo>
                <a:lnTo>
                  <a:pt x="3589602" y="36512"/>
                </a:lnTo>
                <a:lnTo>
                  <a:pt x="3630877" y="52387"/>
                </a:lnTo>
                <a:lnTo>
                  <a:pt x="3667389" y="68262"/>
                </a:lnTo>
                <a:lnTo>
                  <a:pt x="3705489" y="87312"/>
                </a:lnTo>
                <a:lnTo>
                  <a:pt x="3743589" y="106362"/>
                </a:lnTo>
                <a:lnTo>
                  <a:pt x="3780102" y="125412"/>
                </a:lnTo>
                <a:lnTo>
                  <a:pt x="3821377" y="141287"/>
                </a:lnTo>
                <a:lnTo>
                  <a:pt x="3867414" y="155575"/>
                </a:lnTo>
                <a:lnTo>
                  <a:pt x="3919802" y="166687"/>
                </a:lnTo>
                <a:lnTo>
                  <a:pt x="3980127" y="174625"/>
                </a:lnTo>
                <a:lnTo>
                  <a:pt x="4048389" y="176212"/>
                </a:lnTo>
                <a:lnTo>
                  <a:pt x="4116652" y="174625"/>
                </a:lnTo>
                <a:lnTo>
                  <a:pt x="4176977" y="166687"/>
                </a:lnTo>
                <a:lnTo>
                  <a:pt x="4229364" y="155575"/>
                </a:lnTo>
                <a:lnTo>
                  <a:pt x="4275402" y="141287"/>
                </a:lnTo>
                <a:lnTo>
                  <a:pt x="4316677" y="125412"/>
                </a:lnTo>
                <a:lnTo>
                  <a:pt x="4353189" y="106362"/>
                </a:lnTo>
                <a:lnTo>
                  <a:pt x="4429389" y="68262"/>
                </a:lnTo>
                <a:lnTo>
                  <a:pt x="4465902" y="52387"/>
                </a:lnTo>
                <a:lnTo>
                  <a:pt x="4507177" y="36512"/>
                </a:lnTo>
                <a:lnTo>
                  <a:pt x="4553216" y="20637"/>
                </a:lnTo>
                <a:lnTo>
                  <a:pt x="4605602" y="9525"/>
                </a:lnTo>
                <a:lnTo>
                  <a:pt x="4665928" y="3175"/>
                </a:lnTo>
                <a:lnTo>
                  <a:pt x="4734189" y="0"/>
                </a:lnTo>
                <a:lnTo>
                  <a:pt x="4802453" y="3175"/>
                </a:lnTo>
                <a:lnTo>
                  <a:pt x="4862777" y="9525"/>
                </a:lnTo>
                <a:lnTo>
                  <a:pt x="4915165" y="20637"/>
                </a:lnTo>
                <a:lnTo>
                  <a:pt x="4961202" y="36512"/>
                </a:lnTo>
                <a:lnTo>
                  <a:pt x="5002478" y="52387"/>
                </a:lnTo>
                <a:lnTo>
                  <a:pt x="5038989" y="68262"/>
                </a:lnTo>
                <a:lnTo>
                  <a:pt x="5077091" y="87312"/>
                </a:lnTo>
                <a:lnTo>
                  <a:pt x="5115189" y="106362"/>
                </a:lnTo>
                <a:lnTo>
                  <a:pt x="5151702" y="125412"/>
                </a:lnTo>
                <a:lnTo>
                  <a:pt x="5192978" y="141287"/>
                </a:lnTo>
                <a:lnTo>
                  <a:pt x="5239014" y="155575"/>
                </a:lnTo>
                <a:lnTo>
                  <a:pt x="5291401" y="166687"/>
                </a:lnTo>
                <a:lnTo>
                  <a:pt x="5351727" y="174625"/>
                </a:lnTo>
                <a:lnTo>
                  <a:pt x="5410199" y="175985"/>
                </a:lnTo>
                <a:lnTo>
                  <a:pt x="5468671" y="174625"/>
                </a:lnTo>
                <a:lnTo>
                  <a:pt x="5528996" y="166687"/>
                </a:lnTo>
                <a:lnTo>
                  <a:pt x="5581383" y="155575"/>
                </a:lnTo>
                <a:lnTo>
                  <a:pt x="5627421" y="141287"/>
                </a:lnTo>
                <a:lnTo>
                  <a:pt x="5668696" y="125412"/>
                </a:lnTo>
                <a:lnTo>
                  <a:pt x="5705210" y="106362"/>
                </a:lnTo>
                <a:lnTo>
                  <a:pt x="5743308" y="87312"/>
                </a:lnTo>
                <a:lnTo>
                  <a:pt x="5781408" y="68262"/>
                </a:lnTo>
                <a:lnTo>
                  <a:pt x="5817921" y="52387"/>
                </a:lnTo>
                <a:lnTo>
                  <a:pt x="5859196" y="36512"/>
                </a:lnTo>
                <a:lnTo>
                  <a:pt x="5905234" y="20637"/>
                </a:lnTo>
                <a:lnTo>
                  <a:pt x="5957621" y="9525"/>
                </a:lnTo>
                <a:lnTo>
                  <a:pt x="6017948" y="3175"/>
                </a:lnTo>
                <a:lnTo>
                  <a:pt x="6086210" y="0"/>
                </a:lnTo>
                <a:lnTo>
                  <a:pt x="6095999" y="455"/>
                </a:lnTo>
                <a:lnTo>
                  <a:pt x="6105789" y="0"/>
                </a:lnTo>
                <a:lnTo>
                  <a:pt x="6174052" y="3175"/>
                </a:lnTo>
                <a:lnTo>
                  <a:pt x="6234377" y="9525"/>
                </a:lnTo>
                <a:lnTo>
                  <a:pt x="6286764" y="20637"/>
                </a:lnTo>
                <a:lnTo>
                  <a:pt x="6332802" y="36512"/>
                </a:lnTo>
                <a:lnTo>
                  <a:pt x="6374077" y="52387"/>
                </a:lnTo>
                <a:lnTo>
                  <a:pt x="6410589" y="68262"/>
                </a:lnTo>
                <a:lnTo>
                  <a:pt x="6448689" y="87312"/>
                </a:lnTo>
                <a:lnTo>
                  <a:pt x="6486789" y="106362"/>
                </a:lnTo>
                <a:lnTo>
                  <a:pt x="6523302" y="125412"/>
                </a:lnTo>
                <a:lnTo>
                  <a:pt x="6564577" y="141287"/>
                </a:lnTo>
                <a:lnTo>
                  <a:pt x="6610614" y="155575"/>
                </a:lnTo>
                <a:lnTo>
                  <a:pt x="6663002" y="166687"/>
                </a:lnTo>
                <a:lnTo>
                  <a:pt x="6723327" y="174625"/>
                </a:lnTo>
                <a:lnTo>
                  <a:pt x="6781799" y="175985"/>
                </a:lnTo>
                <a:lnTo>
                  <a:pt x="6840271" y="174625"/>
                </a:lnTo>
                <a:lnTo>
                  <a:pt x="6900596" y="166687"/>
                </a:lnTo>
                <a:lnTo>
                  <a:pt x="6952983" y="155575"/>
                </a:lnTo>
                <a:lnTo>
                  <a:pt x="6999021" y="141287"/>
                </a:lnTo>
                <a:lnTo>
                  <a:pt x="7040296" y="125412"/>
                </a:lnTo>
                <a:lnTo>
                  <a:pt x="7076808" y="106362"/>
                </a:lnTo>
                <a:lnTo>
                  <a:pt x="7114908" y="87312"/>
                </a:lnTo>
                <a:lnTo>
                  <a:pt x="7153008" y="68262"/>
                </a:lnTo>
                <a:lnTo>
                  <a:pt x="7189521" y="52387"/>
                </a:lnTo>
                <a:lnTo>
                  <a:pt x="7230796" y="36512"/>
                </a:lnTo>
                <a:lnTo>
                  <a:pt x="7276833" y="20637"/>
                </a:lnTo>
                <a:lnTo>
                  <a:pt x="7329221" y="9525"/>
                </a:lnTo>
                <a:lnTo>
                  <a:pt x="7389546" y="3175"/>
                </a:lnTo>
                <a:lnTo>
                  <a:pt x="7457808" y="0"/>
                </a:lnTo>
                <a:lnTo>
                  <a:pt x="7526071" y="3175"/>
                </a:lnTo>
                <a:lnTo>
                  <a:pt x="7586396" y="9525"/>
                </a:lnTo>
                <a:lnTo>
                  <a:pt x="7638783" y="20637"/>
                </a:lnTo>
                <a:lnTo>
                  <a:pt x="7684821" y="36512"/>
                </a:lnTo>
                <a:lnTo>
                  <a:pt x="7726096" y="52387"/>
                </a:lnTo>
                <a:lnTo>
                  <a:pt x="7762608" y="68262"/>
                </a:lnTo>
                <a:lnTo>
                  <a:pt x="7800708" y="87312"/>
                </a:lnTo>
                <a:lnTo>
                  <a:pt x="7838808" y="106362"/>
                </a:lnTo>
                <a:lnTo>
                  <a:pt x="7875321" y="125412"/>
                </a:lnTo>
                <a:lnTo>
                  <a:pt x="7916596" y="141287"/>
                </a:lnTo>
                <a:lnTo>
                  <a:pt x="7962633" y="155575"/>
                </a:lnTo>
                <a:lnTo>
                  <a:pt x="8015021" y="166687"/>
                </a:lnTo>
                <a:lnTo>
                  <a:pt x="8075346" y="174625"/>
                </a:lnTo>
                <a:lnTo>
                  <a:pt x="8143608" y="176212"/>
                </a:lnTo>
                <a:lnTo>
                  <a:pt x="8211871" y="174625"/>
                </a:lnTo>
                <a:lnTo>
                  <a:pt x="8272196" y="166687"/>
                </a:lnTo>
                <a:lnTo>
                  <a:pt x="8324583" y="155575"/>
                </a:lnTo>
                <a:lnTo>
                  <a:pt x="8370621" y="141287"/>
                </a:lnTo>
                <a:lnTo>
                  <a:pt x="8411896" y="125412"/>
                </a:lnTo>
                <a:lnTo>
                  <a:pt x="8448408" y="106362"/>
                </a:lnTo>
                <a:lnTo>
                  <a:pt x="8486508" y="87312"/>
                </a:lnTo>
                <a:lnTo>
                  <a:pt x="8524608" y="68262"/>
                </a:lnTo>
                <a:lnTo>
                  <a:pt x="8561120" y="52387"/>
                </a:lnTo>
                <a:lnTo>
                  <a:pt x="8602396" y="36512"/>
                </a:lnTo>
                <a:lnTo>
                  <a:pt x="8648432" y="20637"/>
                </a:lnTo>
                <a:lnTo>
                  <a:pt x="8700820" y="9525"/>
                </a:lnTo>
                <a:lnTo>
                  <a:pt x="8761146" y="3175"/>
                </a:lnTo>
                <a:lnTo>
                  <a:pt x="8827820" y="0"/>
                </a:lnTo>
                <a:lnTo>
                  <a:pt x="8897670" y="3175"/>
                </a:lnTo>
                <a:lnTo>
                  <a:pt x="8957996" y="9525"/>
                </a:lnTo>
                <a:lnTo>
                  <a:pt x="9010382" y="20637"/>
                </a:lnTo>
                <a:lnTo>
                  <a:pt x="9056420" y="36512"/>
                </a:lnTo>
                <a:lnTo>
                  <a:pt x="9097696" y="52387"/>
                </a:lnTo>
                <a:lnTo>
                  <a:pt x="9134208" y="68262"/>
                </a:lnTo>
                <a:lnTo>
                  <a:pt x="9172308" y="87312"/>
                </a:lnTo>
                <a:lnTo>
                  <a:pt x="9210408" y="106362"/>
                </a:lnTo>
                <a:lnTo>
                  <a:pt x="9246920" y="125412"/>
                </a:lnTo>
                <a:lnTo>
                  <a:pt x="9288196" y="141287"/>
                </a:lnTo>
                <a:lnTo>
                  <a:pt x="9334232" y="155575"/>
                </a:lnTo>
                <a:lnTo>
                  <a:pt x="9386620" y="166687"/>
                </a:lnTo>
                <a:lnTo>
                  <a:pt x="9446946" y="174625"/>
                </a:lnTo>
                <a:lnTo>
                  <a:pt x="9515208" y="176212"/>
                </a:lnTo>
                <a:lnTo>
                  <a:pt x="9583470" y="174625"/>
                </a:lnTo>
                <a:lnTo>
                  <a:pt x="9643796" y="166687"/>
                </a:lnTo>
                <a:lnTo>
                  <a:pt x="9696182" y="155575"/>
                </a:lnTo>
                <a:lnTo>
                  <a:pt x="9742220" y="141287"/>
                </a:lnTo>
                <a:lnTo>
                  <a:pt x="9783496" y="125412"/>
                </a:lnTo>
                <a:lnTo>
                  <a:pt x="9820008" y="106362"/>
                </a:lnTo>
                <a:lnTo>
                  <a:pt x="9896208" y="68262"/>
                </a:lnTo>
                <a:lnTo>
                  <a:pt x="9932720" y="52387"/>
                </a:lnTo>
                <a:lnTo>
                  <a:pt x="9973996" y="36512"/>
                </a:lnTo>
                <a:lnTo>
                  <a:pt x="10020032" y="20637"/>
                </a:lnTo>
                <a:lnTo>
                  <a:pt x="10072420" y="9525"/>
                </a:lnTo>
                <a:lnTo>
                  <a:pt x="10132746" y="3175"/>
                </a:lnTo>
                <a:lnTo>
                  <a:pt x="10201008" y="0"/>
                </a:lnTo>
                <a:lnTo>
                  <a:pt x="10269270" y="3175"/>
                </a:lnTo>
                <a:lnTo>
                  <a:pt x="10329596" y="9525"/>
                </a:lnTo>
                <a:lnTo>
                  <a:pt x="10381982" y="20637"/>
                </a:lnTo>
                <a:lnTo>
                  <a:pt x="10428020" y="36512"/>
                </a:lnTo>
                <a:lnTo>
                  <a:pt x="10469296" y="52387"/>
                </a:lnTo>
                <a:lnTo>
                  <a:pt x="10505808" y="68262"/>
                </a:lnTo>
                <a:lnTo>
                  <a:pt x="10543908" y="87312"/>
                </a:lnTo>
                <a:lnTo>
                  <a:pt x="10582008" y="106362"/>
                </a:lnTo>
                <a:lnTo>
                  <a:pt x="10618520" y="125412"/>
                </a:lnTo>
                <a:lnTo>
                  <a:pt x="10659796" y="141287"/>
                </a:lnTo>
                <a:lnTo>
                  <a:pt x="10705832" y="155575"/>
                </a:lnTo>
                <a:lnTo>
                  <a:pt x="10758220" y="166687"/>
                </a:lnTo>
                <a:lnTo>
                  <a:pt x="10818546" y="174625"/>
                </a:lnTo>
                <a:lnTo>
                  <a:pt x="10886808" y="176212"/>
                </a:lnTo>
                <a:lnTo>
                  <a:pt x="10955070" y="174625"/>
                </a:lnTo>
                <a:lnTo>
                  <a:pt x="11015396" y="166687"/>
                </a:lnTo>
                <a:lnTo>
                  <a:pt x="11067782" y="155575"/>
                </a:lnTo>
                <a:lnTo>
                  <a:pt x="11113820" y="141287"/>
                </a:lnTo>
                <a:lnTo>
                  <a:pt x="11155096" y="125412"/>
                </a:lnTo>
                <a:lnTo>
                  <a:pt x="11191608" y="106362"/>
                </a:lnTo>
                <a:lnTo>
                  <a:pt x="11229708" y="87312"/>
                </a:lnTo>
                <a:lnTo>
                  <a:pt x="11267808" y="68262"/>
                </a:lnTo>
                <a:lnTo>
                  <a:pt x="11304320" y="52387"/>
                </a:lnTo>
                <a:lnTo>
                  <a:pt x="11345596" y="36512"/>
                </a:lnTo>
                <a:lnTo>
                  <a:pt x="11391632" y="20637"/>
                </a:lnTo>
                <a:lnTo>
                  <a:pt x="11444020" y="9525"/>
                </a:lnTo>
                <a:lnTo>
                  <a:pt x="11504346" y="3175"/>
                </a:lnTo>
                <a:lnTo>
                  <a:pt x="11572608" y="0"/>
                </a:lnTo>
                <a:lnTo>
                  <a:pt x="11640870" y="3175"/>
                </a:lnTo>
                <a:lnTo>
                  <a:pt x="11701196" y="9525"/>
                </a:lnTo>
                <a:lnTo>
                  <a:pt x="11753582" y="20637"/>
                </a:lnTo>
                <a:lnTo>
                  <a:pt x="11799620" y="36512"/>
                </a:lnTo>
                <a:lnTo>
                  <a:pt x="11840896" y="52387"/>
                </a:lnTo>
                <a:lnTo>
                  <a:pt x="11877408" y="68262"/>
                </a:lnTo>
                <a:lnTo>
                  <a:pt x="11915508" y="87312"/>
                </a:lnTo>
                <a:lnTo>
                  <a:pt x="11953608" y="106362"/>
                </a:lnTo>
                <a:lnTo>
                  <a:pt x="11990120" y="125412"/>
                </a:lnTo>
                <a:lnTo>
                  <a:pt x="12031396" y="141287"/>
                </a:lnTo>
                <a:lnTo>
                  <a:pt x="12077432" y="155575"/>
                </a:lnTo>
                <a:lnTo>
                  <a:pt x="12129820" y="166688"/>
                </a:lnTo>
                <a:lnTo>
                  <a:pt x="12190146" y="174625"/>
                </a:lnTo>
                <a:lnTo>
                  <a:pt x="12191998" y="174668"/>
                </a:lnTo>
                <a:lnTo>
                  <a:pt x="12191998" y="851265"/>
                </a:lnTo>
                <a:lnTo>
                  <a:pt x="0" y="851265"/>
                </a:lnTo>
                <a:lnTo>
                  <a:pt x="0" y="174668"/>
                </a:lnTo>
                <a:lnTo>
                  <a:pt x="1852" y="174625"/>
                </a:lnTo>
                <a:lnTo>
                  <a:pt x="62177" y="166687"/>
                </a:lnTo>
                <a:lnTo>
                  <a:pt x="114564" y="155575"/>
                </a:lnTo>
                <a:lnTo>
                  <a:pt x="160602" y="141287"/>
                </a:lnTo>
                <a:lnTo>
                  <a:pt x="201877" y="125412"/>
                </a:lnTo>
                <a:lnTo>
                  <a:pt x="238389" y="106362"/>
                </a:lnTo>
                <a:lnTo>
                  <a:pt x="276489" y="87312"/>
                </a:lnTo>
                <a:lnTo>
                  <a:pt x="314589" y="68262"/>
                </a:lnTo>
                <a:lnTo>
                  <a:pt x="351102" y="52387"/>
                </a:lnTo>
                <a:lnTo>
                  <a:pt x="392377" y="36512"/>
                </a:lnTo>
                <a:lnTo>
                  <a:pt x="438414" y="20637"/>
                </a:lnTo>
                <a:lnTo>
                  <a:pt x="490802" y="9525"/>
                </a:lnTo>
                <a:lnTo>
                  <a:pt x="551127" y="3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4395319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444086-6122-41F3-D07A-E21BC7BDCD7E}"/>
              </a:ext>
            </a:extLst>
          </p:cNvPr>
          <p:cNvSpPr>
            <a:spLocks noGrp="1"/>
          </p:cNvSpPr>
          <p:nvPr>
            <p:ph type="title"/>
          </p:nvPr>
        </p:nvSpPr>
        <p:spPr>
          <a:xfrm>
            <a:off x="1251678" y="382385"/>
            <a:ext cx="5984274" cy="1492132"/>
          </a:xfrm>
        </p:spPr>
        <p:txBody>
          <a:bodyPr>
            <a:normAutofit/>
          </a:bodyPr>
          <a:lstStyle/>
          <a:p>
            <a:r>
              <a:rPr lang="en-IN" dirty="0"/>
              <a:t>Entry Strategy</a:t>
            </a:r>
          </a:p>
        </p:txBody>
      </p:sp>
      <p:sp>
        <p:nvSpPr>
          <p:cNvPr id="3" name="Content Placeholder 2">
            <a:extLst>
              <a:ext uri="{FF2B5EF4-FFF2-40B4-BE49-F238E27FC236}">
                <a16:creationId xmlns:a16="http://schemas.microsoft.com/office/drawing/2014/main" id="{4EA116D4-EE3F-B330-339B-9F2D36390152}"/>
              </a:ext>
            </a:extLst>
          </p:cNvPr>
          <p:cNvSpPr>
            <a:spLocks noGrp="1"/>
          </p:cNvSpPr>
          <p:nvPr>
            <p:ph idx="1"/>
          </p:nvPr>
        </p:nvSpPr>
        <p:spPr>
          <a:xfrm>
            <a:off x="870857" y="1371600"/>
            <a:ext cx="6618514" cy="5192486"/>
          </a:xfrm>
        </p:spPr>
        <p:txBody>
          <a:bodyPr>
            <a:normAutofit/>
          </a:bodyPr>
          <a:lstStyle/>
          <a:p>
            <a:pPr>
              <a:lnSpc>
                <a:spcPct val="100000"/>
              </a:lnSpc>
            </a:pPr>
            <a:r>
              <a:rPr lang="en-US" sz="1600" b="1" dirty="0">
                <a:solidFill>
                  <a:schemeClr val="tx1"/>
                </a:solidFill>
                <a:latin typeface="Times New Roman" panose="02020603050405020304" pitchFamily="18" charset="0"/>
                <a:cs typeface="Times New Roman" panose="02020603050405020304" pitchFamily="18" charset="0"/>
              </a:rPr>
              <a:t>Entry strategy</a:t>
            </a:r>
            <a:r>
              <a:rPr lang="en-US" sz="1600" dirty="0">
                <a:solidFill>
                  <a:schemeClr val="tx1"/>
                </a:solidFill>
                <a:latin typeface="Times New Roman" panose="02020603050405020304" pitchFamily="18" charset="0"/>
                <a:cs typeface="Times New Roman" panose="02020603050405020304" pitchFamily="18" charset="0"/>
              </a:rPr>
              <a:t> refers to the method or approach used by a company to enter and establish its business operations in a foreign market. When companies expand internationally, they must carefully choose how they will introduce their products or services in another country. The choice of entry strategy depends on several factors such as investment cost, level of risk, market potential, government regulations, and the company’s long-term business objectives.</a:t>
            </a:r>
          </a:p>
          <a:p>
            <a:pPr>
              <a:lnSpc>
                <a:spcPct val="100000"/>
              </a:lnSpc>
            </a:pPr>
            <a:r>
              <a:rPr lang="en-US" sz="1600" dirty="0">
                <a:solidFill>
                  <a:schemeClr val="tx1"/>
                </a:solidFill>
                <a:latin typeface="Times New Roman" panose="02020603050405020304" pitchFamily="18" charset="0"/>
                <a:cs typeface="Times New Roman" panose="02020603050405020304" pitchFamily="18" charset="0"/>
              </a:rPr>
              <a:t>Selecting the right entry strategy is important because it determines how much control a company has over its operations, the amount of resources required, and the level of risk involved in entering the foreign market. Companies may choose simple strategies such as exporting or more complex strategies such as joint ventures and wholly owned subsidiaries depending on their goals and capabilities.</a:t>
            </a:r>
          </a:p>
          <a:p>
            <a:pPr>
              <a:lnSpc>
                <a:spcPct val="100000"/>
              </a:lnSpc>
            </a:pPr>
            <a:r>
              <a:rPr lang="en-US" sz="1600" b="1" dirty="0">
                <a:solidFill>
                  <a:schemeClr val="tx1"/>
                </a:solidFill>
                <a:latin typeface="Times New Roman" panose="02020603050405020304" pitchFamily="18" charset="0"/>
                <a:cs typeface="Times New Roman" panose="02020603050405020304" pitchFamily="18" charset="0"/>
              </a:rPr>
              <a:t>Example:</a:t>
            </a:r>
            <a:br>
              <a:rPr lang="en-US" sz="1600" dirty="0">
                <a:solidFill>
                  <a:schemeClr val="tx1"/>
                </a:solidFill>
                <a:latin typeface="Times New Roman" panose="02020603050405020304" pitchFamily="18" charset="0"/>
                <a:cs typeface="Times New Roman" panose="02020603050405020304" pitchFamily="18" charset="0"/>
              </a:rPr>
            </a:br>
            <a:r>
              <a:rPr lang="en-US" sz="1600" dirty="0">
                <a:solidFill>
                  <a:srgbClr val="FF0000"/>
                </a:solidFill>
                <a:latin typeface="Times New Roman" panose="02020603050405020304" pitchFamily="18" charset="0"/>
                <a:cs typeface="Times New Roman" panose="02020603050405020304" pitchFamily="18" charset="0"/>
              </a:rPr>
              <a:t>A clothing company from India may first enter the European market by exporting its products through local distributors before establishing its own stores in those countries</a:t>
            </a:r>
          </a:p>
          <a:p>
            <a:pPr>
              <a:lnSpc>
                <a:spcPct val="100000"/>
              </a:lnSpc>
            </a:pPr>
            <a:endParaRPr lang="en-IN" sz="1600" dirty="0">
              <a:solidFill>
                <a:schemeClr val="tx1"/>
              </a:solidFill>
              <a:latin typeface="Times New Roman" panose="02020603050405020304" pitchFamily="18" charset="0"/>
              <a:cs typeface="Times New Roman" panose="02020603050405020304" pitchFamily="18" charset="0"/>
            </a:endParaRPr>
          </a:p>
        </p:txBody>
      </p:sp>
      <p:pic>
        <p:nvPicPr>
          <p:cNvPr id="3074" name="Picture 2">
            <a:extLst>
              <a:ext uri="{FF2B5EF4-FFF2-40B4-BE49-F238E27FC236}">
                <a16:creationId xmlns:a16="http://schemas.microsoft.com/office/drawing/2014/main" id="{E3162D36-656B-AF81-F33D-1FAC3317F2E5}"/>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616773" y="298807"/>
            <a:ext cx="4178808" cy="62603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167263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9DBA3C2-C92B-4CEB-868F-52A62295B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7CD8DD0-F21C-3FC6-015F-3F04A54D11EC}"/>
              </a:ext>
            </a:extLst>
          </p:cNvPr>
          <p:cNvSpPr>
            <a:spLocks noGrp="1"/>
          </p:cNvSpPr>
          <p:nvPr>
            <p:ph type="title"/>
          </p:nvPr>
        </p:nvSpPr>
        <p:spPr>
          <a:xfrm>
            <a:off x="761996" y="382386"/>
            <a:ext cx="10548261" cy="621932"/>
          </a:xfrm>
        </p:spPr>
        <p:txBody>
          <a:bodyPr anchor="b">
            <a:normAutofit fontScale="90000"/>
          </a:bodyPr>
          <a:lstStyle/>
          <a:p>
            <a:pPr algn="ctr"/>
            <a:r>
              <a:rPr lang="en-IN" dirty="0"/>
              <a:t>Types of Entry Strategies</a:t>
            </a:r>
          </a:p>
        </p:txBody>
      </p:sp>
      <p:sp>
        <p:nvSpPr>
          <p:cNvPr id="3" name="Content Placeholder 2">
            <a:extLst>
              <a:ext uri="{FF2B5EF4-FFF2-40B4-BE49-F238E27FC236}">
                <a16:creationId xmlns:a16="http://schemas.microsoft.com/office/drawing/2014/main" id="{EEF7AB39-509E-FD14-F7F6-0C1BA8B0ABE9}"/>
              </a:ext>
            </a:extLst>
          </p:cNvPr>
          <p:cNvSpPr>
            <a:spLocks noGrp="1"/>
          </p:cNvSpPr>
          <p:nvPr>
            <p:ph idx="1"/>
          </p:nvPr>
        </p:nvSpPr>
        <p:spPr>
          <a:xfrm>
            <a:off x="217715" y="1121229"/>
            <a:ext cx="11691256" cy="4713514"/>
          </a:xfrm>
        </p:spPr>
        <p:txBody>
          <a:bodyPr>
            <a:normAutofit fontScale="92500" lnSpcReduction="10000"/>
          </a:bodyPr>
          <a:lstStyle/>
          <a:p>
            <a:pPr>
              <a:lnSpc>
                <a:spcPct val="100000"/>
              </a:lnSpc>
            </a:pPr>
            <a:r>
              <a:rPr lang="en-US" sz="1400" dirty="0">
                <a:latin typeface="Times New Roman" panose="02020603050405020304" pitchFamily="18" charset="0"/>
                <a:cs typeface="Times New Roman" panose="02020603050405020304" pitchFamily="18" charset="0"/>
              </a:rPr>
              <a:t>Companies use different entry strategies to enter foreign markets depending on their investment capacity, risk tolerance, and long-term business goals. Each strategy provides a different level of control, cost, and risk for the company. Selecting the appropriate entry strategy helps businesses expand internationally while minimizing potential risks.</a:t>
            </a:r>
          </a:p>
          <a:p>
            <a:pPr>
              <a:lnSpc>
                <a:spcPct val="100000"/>
              </a:lnSpc>
            </a:pPr>
            <a:r>
              <a:rPr lang="en-US" sz="1400" dirty="0">
                <a:latin typeface="Times New Roman" panose="02020603050405020304" pitchFamily="18" charset="0"/>
                <a:cs typeface="Times New Roman" panose="02020603050405020304" pitchFamily="18" charset="0"/>
              </a:rPr>
              <a:t>The most common types of entry strategies used in international business are:</a:t>
            </a:r>
          </a:p>
          <a:p>
            <a:pPr>
              <a:lnSpc>
                <a:spcPct val="100000"/>
              </a:lnSpc>
            </a:pPr>
            <a:r>
              <a:rPr lang="en-US" sz="1400" b="1" dirty="0">
                <a:latin typeface="Times New Roman" panose="02020603050405020304" pitchFamily="18" charset="0"/>
                <a:cs typeface="Times New Roman" panose="02020603050405020304" pitchFamily="18" charset="0"/>
              </a:rPr>
              <a:t>Exporting</a:t>
            </a:r>
            <a:br>
              <a:rPr lang="en-US"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Exporting is the process of selling products manufactured in one country to customers in another country. It is the simplest and least risky method of entering foreign markets because companies do not need to establish production facilities abroad.</a:t>
            </a:r>
            <a:br>
              <a:rPr lang="en-US" sz="1400" dirty="0">
                <a:latin typeface="Times New Roman" panose="02020603050405020304" pitchFamily="18" charset="0"/>
                <a:cs typeface="Times New Roman" panose="02020603050405020304" pitchFamily="18" charset="0"/>
              </a:rPr>
            </a:br>
            <a:r>
              <a:rPr lang="en-US" sz="1400" b="1" dirty="0">
                <a:latin typeface="Times New Roman" panose="02020603050405020304" pitchFamily="18" charset="0"/>
                <a:cs typeface="Times New Roman" panose="02020603050405020304" pitchFamily="18" charset="0"/>
              </a:rPr>
              <a:t>Example:</a:t>
            </a:r>
            <a:r>
              <a:rPr lang="en-US" sz="1400" dirty="0">
                <a:latin typeface="Times New Roman" panose="02020603050405020304" pitchFamily="18" charset="0"/>
                <a:cs typeface="Times New Roman" panose="02020603050405020304" pitchFamily="18" charset="0"/>
              </a:rPr>
              <a:t> </a:t>
            </a:r>
            <a:r>
              <a:rPr lang="en-US" sz="1400" dirty="0">
                <a:solidFill>
                  <a:srgbClr val="FF0000"/>
                </a:solidFill>
                <a:latin typeface="Times New Roman" panose="02020603050405020304" pitchFamily="18" charset="0"/>
                <a:cs typeface="Times New Roman" panose="02020603050405020304" pitchFamily="18" charset="0"/>
              </a:rPr>
              <a:t>Indian textile companies export garments to the United States and Europe.</a:t>
            </a:r>
          </a:p>
          <a:p>
            <a:pPr>
              <a:lnSpc>
                <a:spcPct val="100000"/>
              </a:lnSpc>
            </a:pPr>
            <a:r>
              <a:rPr lang="en-US" sz="1400" b="1" dirty="0">
                <a:latin typeface="Times New Roman" panose="02020603050405020304" pitchFamily="18" charset="0"/>
                <a:cs typeface="Times New Roman" panose="02020603050405020304" pitchFamily="18" charset="0"/>
              </a:rPr>
              <a:t>Licensing</a:t>
            </a:r>
            <a:br>
              <a:rPr lang="en-US"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Licensing is an agreement in which a company allows a foreign firm to use its technology, brand name, patent, or trademark in exchange for royalties or fees.</a:t>
            </a:r>
            <a:br>
              <a:rPr lang="en-US" sz="1400" dirty="0">
                <a:latin typeface="Times New Roman" panose="02020603050405020304" pitchFamily="18" charset="0"/>
                <a:cs typeface="Times New Roman" panose="02020603050405020304" pitchFamily="18" charset="0"/>
              </a:rPr>
            </a:br>
            <a:r>
              <a:rPr lang="en-US" sz="1400" b="1" dirty="0">
                <a:latin typeface="Times New Roman" panose="02020603050405020304" pitchFamily="18" charset="0"/>
                <a:cs typeface="Times New Roman" panose="02020603050405020304" pitchFamily="18" charset="0"/>
              </a:rPr>
              <a:t>Example:</a:t>
            </a:r>
            <a:r>
              <a:rPr lang="en-US" sz="1400" dirty="0">
                <a:latin typeface="Times New Roman" panose="02020603050405020304" pitchFamily="18" charset="0"/>
                <a:cs typeface="Times New Roman" panose="02020603050405020304" pitchFamily="18" charset="0"/>
              </a:rPr>
              <a:t> </a:t>
            </a:r>
            <a:r>
              <a:rPr lang="en-US" sz="1400" dirty="0">
                <a:solidFill>
                  <a:srgbClr val="FF0000"/>
                </a:solidFill>
                <a:latin typeface="Times New Roman" panose="02020603050405020304" pitchFamily="18" charset="0"/>
                <a:cs typeface="Times New Roman" panose="02020603050405020304" pitchFamily="18" charset="0"/>
              </a:rPr>
              <a:t>A pharmaceutical company may license its medicine formula to another company in a foreign country.</a:t>
            </a:r>
          </a:p>
          <a:p>
            <a:pPr>
              <a:lnSpc>
                <a:spcPct val="100000"/>
              </a:lnSpc>
            </a:pPr>
            <a:r>
              <a:rPr lang="en-US" sz="1400" b="1" dirty="0">
                <a:latin typeface="Times New Roman" panose="02020603050405020304" pitchFamily="18" charset="0"/>
                <a:cs typeface="Times New Roman" panose="02020603050405020304" pitchFamily="18" charset="0"/>
              </a:rPr>
              <a:t>Franchising</a:t>
            </a:r>
            <a:br>
              <a:rPr lang="en-US"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Franchising is a business arrangement where a company allows a foreign partner to use its brand name, business model, and operational methods to run a business.</a:t>
            </a:r>
            <a:br>
              <a:rPr lang="en-US" sz="1400" dirty="0">
                <a:latin typeface="Times New Roman" panose="02020603050405020304" pitchFamily="18" charset="0"/>
                <a:cs typeface="Times New Roman" panose="02020603050405020304" pitchFamily="18" charset="0"/>
              </a:rPr>
            </a:br>
            <a:r>
              <a:rPr lang="en-US" sz="1400" b="1" dirty="0">
                <a:latin typeface="Times New Roman" panose="02020603050405020304" pitchFamily="18" charset="0"/>
                <a:cs typeface="Times New Roman" panose="02020603050405020304" pitchFamily="18" charset="0"/>
              </a:rPr>
              <a:t>Example</a:t>
            </a:r>
            <a:r>
              <a:rPr lang="en-US" sz="1400" b="1" dirty="0">
                <a:solidFill>
                  <a:srgbClr val="FF0000"/>
                </a:solidFill>
                <a:latin typeface="Times New Roman" panose="02020603050405020304" pitchFamily="18" charset="0"/>
                <a:cs typeface="Times New Roman" panose="02020603050405020304" pitchFamily="18" charset="0"/>
              </a:rPr>
              <a:t>:</a:t>
            </a:r>
            <a:r>
              <a:rPr lang="en-US" sz="1400" dirty="0">
                <a:solidFill>
                  <a:srgbClr val="FF0000"/>
                </a:solidFill>
                <a:latin typeface="Times New Roman" panose="02020603050405020304" pitchFamily="18" charset="0"/>
                <a:cs typeface="Times New Roman" panose="02020603050405020304" pitchFamily="18" charset="0"/>
              </a:rPr>
              <a:t> McDonald's expands internationally through franchising.</a:t>
            </a:r>
          </a:p>
          <a:p>
            <a:pPr>
              <a:lnSpc>
                <a:spcPct val="100000"/>
              </a:lnSpc>
            </a:pPr>
            <a:r>
              <a:rPr lang="en-US" sz="1400" b="1" dirty="0">
                <a:latin typeface="Times New Roman" panose="02020603050405020304" pitchFamily="18" charset="0"/>
                <a:cs typeface="Times New Roman" panose="02020603050405020304" pitchFamily="18" charset="0"/>
              </a:rPr>
              <a:t>Joint Venture</a:t>
            </a:r>
            <a:br>
              <a:rPr lang="en-US"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A joint venture is a partnership between two or more companies from different countries that share investment, risks, and profits to operate a business together.</a:t>
            </a:r>
            <a:br>
              <a:rPr lang="en-US" sz="1400" dirty="0">
                <a:latin typeface="Times New Roman" panose="02020603050405020304" pitchFamily="18" charset="0"/>
                <a:cs typeface="Times New Roman" panose="02020603050405020304" pitchFamily="18" charset="0"/>
              </a:rPr>
            </a:br>
            <a:r>
              <a:rPr lang="en-US" sz="1400" b="1" dirty="0">
                <a:latin typeface="Times New Roman" panose="02020603050405020304" pitchFamily="18" charset="0"/>
                <a:cs typeface="Times New Roman" panose="02020603050405020304" pitchFamily="18" charset="0"/>
              </a:rPr>
              <a:t>Example:</a:t>
            </a:r>
            <a:r>
              <a:rPr lang="en-US" sz="1400" dirty="0">
                <a:latin typeface="Times New Roman" panose="02020603050405020304" pitchFamily="18" charset="0"/>
                <a:cs typeface="Times New Roman" panose="02020603050405020304" pitchFamily="18" charset="0"/>
              </a:rPr>
              <a:t> </a:t>
            </a:r>
            <a:r>
              <a:rPr lang="en-US" sz="1400" dirty="0">
                <a:solidFill>
                  <a:srgbClr val="FF0000"/>
                </a:solidFill>
                <a:latin typeface="Times New Roman" panose="02020603050405020304" pitchFamily="18" charset="0"/>
                <a:cs typeface="Times New Roman" panose="02020603050405020304" pitchFamily="18" charset="0"/>
              </a:rPr>
              <a:t>Starbucks partnered with Tata Group to operate Starbucks stores in India.</a:t>
            </a:r>
          </a:p>
          <a:p>
            <a:pPr>
              <a:lnSpc>
                <a:spcPct val="100000"/>
              </a:lnSpc>
            </a:pPr>
            <a:r>
              <a:rPr lang="en-US" sz="1400" b="1" dirty="0">
                <a:latin typeface="Times New Roman" panose="02020603050405020304" pitchFamily="18" charset="0"/>
                <a:cs typeface="Times New Roman" panose="02020603050405020304" pitchFamily="18" charset="0"/>
              </a:rPr>
              <a:t>Wholly Owned Subsidiary</a:t>
            </a:r>
            <a:br>
              <a:rPr lang="en-US"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A wholly owned subsidiary is when a company establishes or acquires a business in another country and owns 100% of its operations. This provides full control but requires significant investment.</a:t>
            </a:r>
            <a:br>
              <a:rPr lang="en-US" sz="1400" dirty="0">
                <a:latin typeface="Times New Roman" panose="02020603050405020304" pitchFamily="18" charset="0"/>
                <a:cs typeface="Times New Roman" panose="02020603050405020304" pitchFamily="18" charset="0"/>
              </a:rPr>
            </a:br>
            <a:r>
              <a:rPr lang="en-US" sz="1400" b="1" dirty="0">
                <a:latin typeface="Times New Roman" panose="02020603050405020304" pitchFamily="18" charset="0"/>
                <a:cs typeface="Times New Roman" panose="02020603050405020304" pitchFamily="18" charset="0"/>
              </a:rPr>
              <a:t>Example:</a:t>
            </a:r>
            <a:r>
              <a:rPr lang="en-US" sz="1400" dirty="0">
                <a:latin typeface="Times New Roman" panose="02020603050405020304" pitchFamily="18" charset="0"/>
                <a:cs typeface="Times New Roman" panose="02020603050405020304" pitchFamily="18" charset="0"/>
              </a:rPr>
              <a:t> </a:t>
            </a:r>
            <a:r>
              <a:rPr lang="en-US" sz="1400" dirty="0">
                <a:solidFill>
                  <a:srgbClr val="FF0000"/>
                </a:solidFill>
                <a:latin typeface="Times New Roman" panose="02020603050405020304" pitchFamily="18" charset="0"/>
                <a:cs typeface="Times New Roman" panose="02020603050405020304" pitchFamily="18" charset="0"/>
              </a:rPr>
              <a:t>Toyota establishing manufacturing plants in foreign countries.</a:t>
            </a:r>
          </a:p>
          <a:p>
            <a:pPr>
              <a:lnSpc>
                <a:spcPct val="100000"/>
              </a:lnSpc>
            </a:pPr>
            <a:endParaRPr lang="en-IN" sz="1400" dirty="0">
              <a:latin typeface="Times New Roman" panose="02020603050405020304" pitchFamily="18" charset="0"/>
              <a:cs typeface="Times New Roman" panose="02020603050405020304" pitchFamily="18" charset="0"/>
            </a:endParaRPr>
          </a:p>
        </p:txBody>
      </p:sp>
      <p:sp>
        <p:nvSpPr>
          <p:cNvPr id="10" name="Freeform: Shape 9">
            <a:extLst>
              <a:ext uri="{FF2B5EF4-FFF2-40B4-BE49-F238E27FC236}">
                <a16:creationId xmlns:a16="http://schemas.microsoft.com/office/drawing/2014/main" id="{0A5C11C9-65D2-491A-A266-6ADBD2CB44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006736"/>
            <a:ext cx="12191998" cy="851265"/>
          </a:xfrm>
          <a:custGeom>
            <a:avLst/>
            <a:gdLst>
              <a:gd name="connsiteX0" fmla="*/ 619389 w 12191998"/>
              <a:gd name="connsiteY0" fmla="*/ 0 h 851265"/>
              <a:gd name="connsiteX1" fmla="*/ 687652 w 12191998"/>
              <a:gd name="connsiteY1" fmla="*/ 3175 h 851265"/>
              <a:gd name="connsiteX2" fmla="*/ 747977 w 12191998"/>
              <a:gd name="connsiteY2" fmla="*/ 9525 h 851265"/>
              <a:gd name="connsiteX3" fmla="*/ 800364 w 12191998"/>
              <a:gd name="connsiteY3" fmla="*/ 20637 h 851265"/>
              <a:gd name="connsiteX4" fmla="*/ 846402 w 12191998"/>
              <a:gd name="connsiteY4" fmla="*/ 36512 h 851265"/>
              <a:gd name="connsiteX5" fmla="*/ 887677 w 12191998"/>
              <a:gd name="connsiteY5" fmla="*/ 52387 h 851265"/>
              <a:gd name="connsiteX6" fmla="*/ 924189 w 12191998"/>
              <a:gd name="connsiteY6" fmla="*/ 68262 h 851265"/>
              <a:gd name="connsiteX7" fmla="*/ 962289 w 12191998"/>
              <a:gd name="connsiteY7" fmla="*/ 87312 h 851265"/>
              <a:gd name="connsiteX8" fmla="*/ 1000389 w 12191998"/>
              <a:gd name="connsiteY8" fmla="*/ 106362 h 851265"/>
              <a:gd name="connsiteX9" fmla="*/ 1036902 w 12191998"/>
              <a:gd name="connsiteY9" fmla="*/ 125412 h 851265"/>
              <a:gd name="connsiteX10" fmla="*/ 1078177 w 12191998"/>
              <a:gd name="connsiteY10" fmla="*/ 141287 h 851265"/>
              <a:gd name="connsiteX11" fmla="*/ 1124214 w 12191998"/>
              <a:gd name="connsiteY11" fmla="*/ 155575 h 851265"/>
              <a:gd name="connsiteX12" fmla="*/ 1176602 w 12191998"/>
              <a:gd name="connsiteY12" fmla="*/ 166687 h 851265"/>
              <a:gd name="connsiteX13" fmla="*/ 1236927 w 12191998"/>
              <a:gd name="connsiteY13" fmla="*/ 174625 h 851265"/>
              <a:gd name="connsiteX14" fmla="*/ 1305189 w 12191998"/>
              <a:gd name="connsiteY14" fmla="*/ 176212 h 851265"/>
              <a:gd name="connsiteX15" fmla="*/ 1373452 w 12191998"/>
              <a:gd name="connsiteY15" fmla="*/ 174625 h 851265"/>
              <a:gd name="connsiteX16" fmla="*/ 1433777 w 12191998"/>
              <a:gd name="connsiteY16" fmla="*/ 166687 h 851265"/>
              <a:gd name="connsiteX17" fmla="*/ 1486164 w 12191998"/>
              <a:gd name="connsiteY17" fmla="*/ 155575 h 851265"/>
              <a:gd name="connsiteX18" fmla="*/ 1532202 w 12191998"/>
              <a:gd name="connsiteY18" fmla="*/ 141287 h 851265"/>
              <a:gd name="connsiteX19" fmla="*/ 1573477 w 12191998"/>
              <a:gd name="connsiteY19" fmla="*/ 125412 h 851265"/>
              <a:gd name="connsiteX20" fmla="*/ 1609989 w 12191998"/>
              <a:gd name="connsiteY20" fmla="*/ 106362 h 851265"/>
              <a:gd name="connsiteX21" fmla="*/ 1648089 w 12191998"/>
              <a:gd name="connsiteY21" fmla="*/ 87312 h 851265"/>
              <a:gd name="connsiteX22" fmla="*/ 1686189 w 12191998"/>
              <a:gd name="connsiteY22" fmla="*/ 68262 h 851265"/>
              <a:gd name="connsiteX23" fmla="*/ 1722702 w 12191998"/>
              <a:gd name="connsiteY23" fmla="*/ 52387 h 851265"/>
              <a:gd name="connsiteX24" fmla="*/ 1763977 w 12191998"/>
              <a:gd name="connsiteY24" fmla="*/ 36512 h 851265"/>
              <a:gd name="connsiteX25" fmla="*/ 1810014 w 12191998"/>
              <a:gd name="connsiteY25" fmla="*/ 20637 h 851265"/>
              <a:gd name="connsiteX26" fmla="*/ 1862402 w 12191998"/>
              <a:gd name="connsiteY26" fmla="*/ 9525 h 851265"/>
              <a:gd name="connsiteX27" fmla="*/ 1922727 w 12191998"/>
              <a:gd name="connsiteY27" fmla="*/ 3175 h 851265"/>
              <a:gd name="connsiteX28" fmla="*/ 1990989 w 12191998"/>
              <a:gd name="connsiteY28" fmla="*/ 0 h 851265"/>
              <a:gd name="connsiteX29" fmla="*/ 2059252 w 12191998"/>
              <a:gd name="connsiteY29" fmla="*/ 3175 h 851265"/>
              <a:gd name="connsiteX30" fmla="*/ 2119577 w 12191998"/>
              <a:gd name="connsiteY30" fmla="*/ 9525 h 851265"/>
              <a:gd name="connsiteX31" fmla="*/ 2171964 w 12191998"/>
              <a:gd name="connsiteY31" fmla="*/ 20637 h 851265"/>
              <a:gd name="connsiteX32" fmla="*/ 2218002 w 12191998"/>
              <a:gd name="connsiteY32" fmla="*/ 36512 h 851265"/>
              <a:gd name="connsiteX33" fmla="*/ 2259277 w 12191998"/>
              <a:gd name="connsiteY33" fmla="*/ 52387 h 851265"/>
              <a:gd name="connsiteX34" fmla="*/ 2295789 w 12191998"/>
              <a:gd name="connsiteY34" fmla="*/ 68262 h 851265"/>
              <a:gd name="connsiteX35" fmla="*/ 2333889 w 12191998"/>
              <a:gd name="connsiteY35" fmla="*/ 87312 h 851265"/>
              <a:gd name="connsiteX36" fmla="*/ 2371989 w 12191998"/>
              <a:gd name="connsiteY36" fmla="*/ 106362 h 851265"/>
              <a:gd name="connsiteX37" fmla="*/ 2408502 w 12191998"/>
              <a:gd name="connsiteY37" fmla="*/ 125412 h 851265"/>
              <a:gd name="connsiteX38" fmla="*/ 2449777 w 12191998"/>
              <a:gd name="connsiteY38" fmla="*/ 141287 h 851265"/>
              <a:gd name="connsiteX39" fmla="*/ 2495814 w 12191998"/>
              <a:gd name="connsiteY39" fmla="*/ 155575 h 851265"/>
              <a:gd name="connsiteX40" fmla="*/ 2548202 w 12191998"/>
              <a:gd name="connsiteY40" fmla="*/ 166687 h 851265"/>
              <a:gd name="connsiteX41" fmla="*/ 2608527 w 12191998"/>
              <a:gd name="connsiteY41" fmla="*/ 174625 h 851265"/>
              <a:gd name="connsiteX42" fmla="*/ 2676789 w 12191998"/>
              <a:gd name="connsiteY42" fmla="*/ 176212 h 851265"/>
              <a:gd name="connsiteX43" fmla="*/ 2745052 w 12191998"/>
              <a:gd name="connsiteY43" fmla="*/ 174625 h 851265"/>
              <a:gd name="connsiteX44" fmla="*/ 2805377 w 12191998"/>
              <a:gd name="connsiteY44" fmla="*/ 166687 h 851265"/>
              <a:gd name="connsiteX45" fmla="*/ 2857764 w 12191998"/>
              <a:gd name="connsiteY45" fmla="*/ 155575 h 851265"/>
              <a:gd name="connsiteX46" fmla="*/ 2903802 w 12191998"/>
              <a:gd name="connsiteY46" fmla="*/ 141287 h 851265"/>
              <a:gd name="connsiteX47" fmla="*/ 2945077 w 12191998"/>
              <a:gd name="connsiteY47" fmla="*/ 125412 h 851265"/>
              <a:gd name="connsiteX48" fmla="*/ 2981589 w 12191998"/>
              <a:gd name="connsiteY48" fmla="*/ 106362 h 851265"/>
              <a:gd name="connsiteX49" fmla="*/ 3019689 w 12191998"/>
              <a:gd name="connsiteY49" fmla="*/ 87312 h 851265"/>
              <a:gd name="connsiteX50" fmla="*/ 3057789 w 12191998"/>
              <a:gd name="connsiteY50" fmla="*/ 68262 h 851265"/>
              <a:gd name="connsiteX51" fmla="*/ 3094302 w 12191998"/>
              <a:gd name="connsiteY51" fmla="*/ 52387 h 851265"/>
              <a:gd name="connsiteX52" fmla="*/ 3135577 w 12191998"/>
              <a:gd name="connsiteY52" fmla="*/ 36512 h 851265"/>
              <a:gd name="connsiteX53" fmla="*/ 3181614 w 12191998"/>
              <a:gd name="connsiteY53" fmla="*/ 20637 h 851265"/>
              <a:gd name="connsiteX54" fmla="*/ 3234002 w 12191998"/>
              <a:gd name="connsiteY54" fmla="*/ 9525 h 851265"/>
              <a:gd name="connsiteX55" fmla="*/ 3294327 w 12191998"/>
              <a:gd name="connsiteY55" fmla="*/ 3175 h 851265"/>
              <a:gd name="connsiteX56" fmla="*/ 3361002 w 12191998"/>
              <a:gd name="connsiteY56" fmla="*/ 0 h 851265"/>
              <a:gd name="connsiteX57" fmla="*/ 3430852 w 12191998"/>
              <a:gd name="connsiteY57" fmla="*/ 3175 h 851265"/>
              <a:gd name="connsiteX58" fmla="*/ 3491177 w 12191998"/>
              <a:gd name="connsiteY58" fmla="*/ 9525 h 851265"/>
              <a:gd name="connsiteX59" fmla="*/ 3543564 w 12191998"/>
              <a:gd name="connsiteY59" fmla="*/ 20637 h 851265"/>
              <a:gd name="connsiteX60" fmla="*/ 3589602 w 12191998"/>
              <a:gd name="connsiteY60" fmla="*/ 36512 h 851265"/>
              <a:gd name="connsiteX61" fmla="*/ 3630877 w 12191998"/>
              <a:gd name="connsiteY61" fmla="*/ 52387 h 851265"/>
              <a:gd name="connsiteX62" fmla="*/ 3667389 w 12191998"/>
              <a:gd name="connsiteY62" fmla="*/ 68262 h 851265"/>
              <a:gd name="connsiteX63" fmla="*/ 3705489 w 12191998"/>
              <a:gd name="connsiteY63" fmla="*/ 87312 h 851265"/>
              <a:gd name="connsiteX64" fmla="*/ 3743589 w 12191998"/>
              <a:gd name="connsiteY64" fmla="*/ 106362 h 851265"/>
              <a:gd name="connsiteX65" fmla="*/ 3780102 w 12191998"/>
              <a:gd name="connsiteY65" fmla="*/ 125412 h 851265"/>
              <a:gd name="connsiteX66" fmla="*/ 3821377 w 12191998"/>
              <a:gd name="connsiteY66" fmla="*/ 141287 h 851265"/>
              <a:gd name="connsiteX67" fmla="*/ 3867414 w 12191998"/>
              <a:gd name="connsiteY67" fmla="*/ 155575 h 851265"/>
              <a:gd name="connsiteX68" fmla="*/ 3919802 w 12191998"/>
              <a:gd name="connsiteY68" fmla="*/ 166687 h 851265"/>
              <a:gd name="connsiteX69" fmla="*/ 3980127 w 12191998"/>
              <a:gd name="connsiteY69" fmla="*/ 174625 h 851265"/>
              <a:gd name="connsiteX70" fmla="*/ 4048389 w 12191998"/>
              <a:gd name="connsiteY70" fmla="*/ 176212 h 851265"/>
              <a:gd name="connsiteX71" fmla="*/ 4116652 w 12191998"/>
              <a:gd name="connsiteY71" fmla="*/ 174625 h 851265"/>
              <a:gd name="connsiteX72" fmla="*/ 4176977 w 12191998"/>
              <a:gd name="connsiteY72" fmla="*/ 166687 h 851265"/>
              <a:gd name="connsiteX73" fmla="*/ 4229364 w 12191998"/>
              <a:gd name="connsiteY73" fmla="*/ 155575 h 851265"/>
              <a:gd name="connsiteX74" fmla="*/ 4275402 w 12191998"/>
              <a:gd name="connsiteY74" fmla="*/ 141287 h 851265"/>
              <a:gd name="connsiteX75" fmla="*/ 4316677 w 12191998"/>
              <a:gd name="connsiteY75" fmla="*/ 125412 h 851265"/>
              <a:gd name="connsiteX76" fmla="*/ 4353189 w 12191998"/>
              <a:gd name="connsiteY76" fmla="*/ 106362 h 851265"/>
              <a:gd name="connsiteX77" fmla="*/ 4429389 w 12191998"/>
              <a:gd name="connsiteY77" fmla="*/ 68262 h 851265"/>
              <a:gd name="connsiteX78" fmla="*/ 4465902 w 12191998"/>
              <a:gd name="connsiteY78" fmla="*/ 52387 h 851265"/>
              <a:gd name="connsiteX79" fmla="*/ 4507177 w 12191998"/>
              <a:gd name="connsiteY79" fmla="*/ 36512 h 851265"/>
              <a:gd name="connsiteX80" fmla="*/ 4553216 w 12191998"/>
              <a:gd name="connsiteY80" fmla="*/ 20637 h 851265"/>
              <a:gd name="connsiteX81" fmla="*/ 4605602 w 12191998"/>
              <a:gd name="connsiteY81" fmla="*/ 9525 h 851265"/>
              <a:gd name="connsiteX82" fmla="*/ 4665928 w 12191998"/>
              <a:gd name="connsiteY82" fmla="*/ 3175 h 851265"/>
              <a:gd name="connsiteX83" fmla="*/ 4734189 w 12191998"/>
              <a:gd name="connsiteY83" fmla="*/ 0 h 851265"/>
              <a:gd name="connsiteX84" fmla="*/ 4802453 w 12191998"/>
              <a:gd name="connsiteY84" fmla="*/ 3175 h 851265"/>
              <a:gd name="connsiteX85" fmla="*/ 4862777 w 12191998"/>
              <a:gd name="connsiteY85" fmla="*/ 9525 h 851265"/>
              <a:gd name="connsiteX86" fmla="*/ 4915165 w 12191998"/>
              <a:gd name="connsiteY86" fmla="*/ 20637 h 851265"/>
              <a:gd name="connsiteX87" fmla="*/ 4961202 w 12191998"/>
              <a:gd name="connsiteY87" fmla="*/ 36512 h 851265"/>
              <a:gd name="connsiteX88" fmla="*/ 5002478 w 12191998"/>
              <a:gd name="connsiteY88" fmla="*/ 52387 h 851265"/>
              <a:gd name="connsiteX89" fmla="*/ 5038989 w 12191998"/>
              <a:gd name="connsiteY89" fmla="*/ 68262 h 851265"/>
              <a:gd name="connsiteX90" fmla="*/ 5077091 w 12191998"/>
              <a:gd name="connsiteY90" fmla="*/ 87312 h 851265"/>
              <a:gd name="connsiteX91" fmla="*/ 5115189 w 12191998"/>
              <a:gd name="connsiteY91" fmla="*/ 106362 h 851265"/>
              <a:gd name="connsiteX92" fmla="*/ 5151702 w 12191998"/>
              <a:gd name="connsiteY92" fmla="*/ 125412 h 851265"/>
              <a:gd name="connsiteX93" fmla="*/ 5192978 w 12191998"/>
              <a:gd name="connsiteY93" fmla="*/ 141287 h 851265"/>
              <a:gd name="connsiteX94" fmla="*/ 5239014 w 12191998"/>
              <a:gd name="connsiteY94" fmla="*/ 155575 h 851265"/>
              <a:gd name="connsiteX95" fmla="*/ 5291401 w 12191998"/>
              <a:gd name="connsiteY95" fmla="*/ 166687 h 851265"/>
              <a:gd name="connsiteX96" fmla="*/ 5351727 w 12191998"/>
              <a:gd name="connsiteY96" fmla="*/ 174625 h 851265"/>
              <a:gd name="connsiteX97" fmla="*/ 5410199 w 12191998"/>
              <a:gd name="connsiteY97" fmla="*/ 175985 h 851265"/>
              <a:gd name="connsiteX98" fmla="*/ 5468671 w 12191998"/>
              <a:gd name="connsiteY98" fmla="*/ 174625 h 851265"/>
              <a:gd name="connsiteX99" fmla="*/ 5528996 w 12191998"/>
              <a:gd name="connsiteY99" fmla="*/ 166687 h 851265"/>
              <a:gd name="connsiteX100" fmla="*/ 5581383 w 12191998"/>
              <a:gd name="connsiteY100" fmla="*/ 155575 h 851265"/>
              <a:gd name="connsiteX101" fmla="*/ 5627421 w 12191998"/>
              <a:gd name="connsiteY101" fmla="*/ 141287 h 851265"/>
              <a:gd name="connsiteX102" fmla="*/ 5668696 w 12191998"/>
              <a:gd name="connsiteY102" fmla="*/ 125412 h 851265"/>
              <a:gd name="connsiteX103" fmla="*/ 5705210 w 12191998"/>
              <a:gd name="connsiteY103" fmla="*/ 106362 h 851265"/>
              <a:gd name="connsiteX104" fmla="*/ 5743308 w 12191998"/>
              <a:gd name="connsiteY104" fmla="*/ 87312 h 851265"/>
              <a:gd name="connsiteX105" fmla="*/ 5781408 w 12191998"/>
              <a:gd name="connsiteY105" fmla="*/ 68262 h 851265"/>
              <a:gd name="connsiteX106" fmla="*/ 5817921 w 12191998"/>
              <a:gd name="connsiteY106" fmla="*/ 52387 h 851265"/>
              <a:gd name="connsiteX107" fmla="*/ 5859196 w 12191998"/>
              <a:gd name="connsiteY107" fmla="*/ 36512 h 851265"/>
              <a:gd name="connsiteX108" fmla="*/ 5905234 w 12191998"/>
              <a:gd name="connsiteY108" fmla="*/ 20637 h 851265"/>
              <a:gd name="connsiteX109" fmla="*/ 5957621 w 12191998"/>
              <a:gd name="connsiteY109" fmla="*/ 9525 h 851265"/>
              <a:gd name="connsiteX110" fmla="*/ 6017948 w 12191998"/>
              <a:gd name="connsiteY110" fmla="*/ 3175 h 851265"/>
              <a:gd name="connsiteX111" fmla="*/ 6086210 w 12191998"/>
              <a:gd name="connsiteY111" fmla="*/ 0 h 851265"/>
              <a:gd name="connsiteX112" fmla="*/ 6095999 w 12191998"/>
              <a:gd name="connsiteY112" fmla="*/ 455 h 851265"/>
              <a:gd name="connsiteX113" fmla="*/ 6105789 w 12191998"/>
              <a:gd name="connsiteY113" fmla="*/ 0 h 851265"/>
              <a:gd name="connsiteX114" fmla="*/ 6174052 w 12191998"/>
              <a:gd name="connsiteY114" fmla="*/ 3175 h 851265"/>
              <a:gd name="connsiteX115" fmla="*/ 6234377 w 12191998"/>
              <a:gd name="connsiteY115" fmla="*/ 9525 h 851265"/>
              <a:gd name="connsiteX116" fmla="*/ 6286764 w 12191998"/>
              <a:gd name="connsiteY116" fmla="*/ 20637 h 851265"/>
              <a:gd name="connsiteX117" fmla="*/ 6332802 w 12191998"/>
              <a:gd name="connsiteY117" fmla="*/ 36512 h 851265"/>
              <a:gd name="connsiteX118" fmla="*/ 6374077 w 12191998"/>
              <a:gd name="connsiteY118" fmla="*/ 52387 h 851265"/>
              <a:gd name="connsiteX119" fmla="*/ 6410589 w 12191998"/>
              <a:gd name="connsiteY119" fmla="*/ 68262 h 851265"/>
              <a:gd name="connsiteX120" fmla="*/ 6448689 w 12191998"/>
              <a:gd name="connsiteY120" fmla="*/ 87312 h 851265"/>
              <a:gd name="connsiteX121" fmla="*/ 6486789 w 12191998"/>
              <a:gd name="connsiteY121" fmla="*/ 106362 h 851265"/>
              <a:gd name="connsiteX122" fmla="*/ 6523302 w 12191998"/>
              <a:gd name="connsiteY122" fmla="*/ 125412 h 851265"/>
              <a:gd name="connsiteX123" fmla="*/ 6564577 w 12191998"/>
              <a:gd name="connsiteY123" fmla="*/ 141287 h 851265"/>
              <a:gd name="connsiteX124" fmla="*/ 6610614 w 12191998"/>
              <a:gd name="connsiteY124" fmla="*/ 155575 h 851265"/>
              <a:gd name="connsiteX125" fmla="*/ 6663002 w 12191998"/>
              <a:gd name="connsiteY125" fmla="*/ 166687 h 851265"/>
              <a:gd name="connsiteX126" fmla="*/ 6723327 w 12191998"/>
              <a:gd name="connsiteY126" fmla="*/ 174625 h 851265"/>
              <a:gd name="connsiteX127" fmla="*/ 6781799 w 12191998"/>
              <a:gd name="connsiteY127" fmla="*/ 175985 h 851265"/>
              <a:gd name="connsiteX128" fmla="*/ 6840271 w 12191998"/>
              <a:gd name="connsiteY128" fmla="*/ 174625 h 851265"/>
              <a:gd name="connsiteX129" fmla="*/ 6900596 w 12191998"/>
              <a:gd name="connsiteY129" fmla="*/ 166687 h 851265"/>
              <a:gd name="connsiteX130" fmla="*/ 6952983 w 12191998"/>
              <a:gd name="connsiteY130" fmla="*/ 155575 h 851265"/>
              <a:gd name="connsiteX131" fmla="*/ 6999021 w 12191998"/>
              <a:gd name="connsiteY131" fmla="*/ 141287 h 851265"/>
              <a:gd name="connsiteX132" fmla="*/ 7040296 w 12191998"/>
              <a:gd name="connsiteY132" fmla="*/ 125412 h 851265"/>
              <a:gd name="connsiteX133" fmla="*/ 7076808 w 12191998"/>
              <a:gd name="connsiteY133" fmla="*/ 106362 h 851265"/>
              <a:gd name="connsiteX134" fmla="*/ 7114908 w 12191998"/>
              <a:gd name="connsiteY134" fmla="*/ 87312 h 851265"/>
              <a:gd name="connsiteX135" fmla="*/ 7153008 w 12191998"/>
              <a:gd name="connsiteY135" fmla="*/ 68262 h 851265"/>
              <a:gd name="connsiteX136" fmla="*/ 7189521 w 12191998"/>
              <a:gd name="connsiteY136" fmla="*/ 52387 h 851265"/>
              <a:gd name="connsiteX137" fmla="*/ 7230796 w 12191998"/>
              <a:gd name="connsiteY137" fmla="*/ 36512 h 851265"/>
              <a:gd name="connsiteX138" fmla="*/ 7276833 w 12191998"/>
              <a:gd name="connsiteY138" fmla="*/ 20637 h 851265"/>
              <a:gd name="connsiteX139" fmla="*/ 7329221 w 12191998"/>
              <a:gd name="connsiteY139" fmla="*/ 9525 h 851265"/>
              <a:gd name="connsiteX140" fmla="*/ 7389546 w 12191998"/>
              <a:gd name="connsiteY140" fmla="*/ 3175 h 851265"/>
              <a:gd name="connsiteX141" fmla="*/ 7457808 w 12191998"/>
              <a:gd name="connsiteY141" fmla="*/ 0 h 851265"/>
              <a:gd name="connsiteX142" fmla="*/ 7526071 w 12191998"/>
              <a:gd name="connsiteY142" fmla="*/ 3175 h 851265"/>
              <a:gd name="connsiteX143" fmla="*/ 7586396 w 12191998"/>
              <a:gd name="connsiteY143" fmla="*/ 9525 h 851265"/>
              <a:gd name="connsiteX144" fmla="*/ 7638783 w 12191998"/>
              <a:gd name="connsiteY144" fmla="*/ 20637 h 851265"/>
              <a:gd name="connsiteX145" fmla="*/ 7684821 w 12191998"/>
              <a:gd name="connsiteY145" fmla="*/ 36512 h 851265"/>
              <a:gd name="connsiteX146" fmla="*/ 7726096 w 12191998"/>
              <a:gd name="connsiteY146" fmla="*/ 52387 h 851265"/>
              <a:gd name="connsiteX147" fmla="*/ 7762608 w 12191998"/>
              <a:gd name="connsiteY147" fmla="*/ 68262 h 851265"/>
              <a:gd name="connsiteX148" fmla="*/ 7800708 w 12191998"/>
              <a:gd name="connsiteY148" fmla="*/ 87312 h 851265"/>
              <a:gd name="connsiteX149" fmla="*/ 7838808 w 12191998"/>
              <a:gd name="connsiteY149" fmla="*/ 106362 h 851265"/>
              <a:gd name="connsiteX150" fmla="*/ 7875321 w 12191998"/>
              <a:gd name="connsiteY150" fmla="*/ 125412 h 851265"/>
              <a:gd name="connsiteX151" fmla="*/ 7916596 w 12191998"/>
              <a:gd name="connsiteY151" fmla="*/ 141287 h 851265"/>
              <a:gd name="connsiteX152" fmla="*/ 7962633 w 12191998"/>
              <a:gd name="connsiteY152" fmla="*/ 155575 h 851265"/>
              <a:gd name="connsiteX153" fmla="*/ 8015021 w 12191998"/>
              <a:gd name="connsiteY153" fmla="*/ 166687 h 851265"/>
              <a:gd name="connsiteX154" fmla="*/ 8075346 w 12191998"/>
              <a:gd name="connsiteY154" fmla="*/ 174625 h 851265"/>
              <a:gd name="connsiteX155" fmla="*/ 8143608 w 12191998"/>
              <a:gd name="connsiteY155" fmla="*/ 176212 h 851265"/>
              <a:gd name="connsiteX156" fmla="*/ 8211871 w 12191998"/>
              <a:gd name="connsiteY156" fmla="*/ 174625 h 851265"/>
              <a:gd name="connsiteX157" fmla="*/ 8272196 w 12191998"/>
              <a:gd name="connsiteY157" fmla="*/ 166687 h 851265"/>
              <a:gd name="connsiteX158" fmla="*/ 8324583 w 12191998"/>
              <a:gd name="connsiteY158" fmla="*/ 155575 h 851265"/>
              <a:gd name="connsiteX159" fmla="*/ 8370621 w 12191998"/>
              <a:gd name="connsiteY159" fmla="*/ 141287 h 851265"/>
              <a:gd name="connsiteX160" fmla="*/ 8411896 w 12191998"/>
              <a:gd name="connsiteY160" fmla="*/ 125412 h 851265"/>
              <a:gd name="connsiteX161" fmla="*/ 8448408 w 12191998"/>
              <a:gd name="connsiteY161" fmla="*/ 106362 h 851265"/>
              <a:gd name="connsiteX162" fmla="*/ 8486508 w 12191998"/>
              <a:gd name="connsiteY162" fmla="*/ 87312 h 851265"/>
              <a:gd name="connsiteX163" fmla="*/ 8524608 w 12191998"/>
              <a:gd name="connsiteY163" fmla="*/ 68262 h 851265"/>
              <a:gd name="connsiteX164" fmla="*/ 8561120 w 12191998"/>
              <a:gd name="connsiteY164" fmla="*/ 52387 h 851265"/>
              <a:gd name="connsiteX165" fmla="*/ 8602396 w 12191998"/>
              <a:gd name="connsiteY165" fmla="*/ 36512 h 851265"/>
              <a:gd name="connsiteX166" fmla="*/ 8648432 w 12191998"/>
              <a:gd name="connsiteY166" fmla="*/ 20637 h 851265"/>
              <a:gd name="connsiteX167" fmla="*/ 8700820 w 12191998"/>
              <a:gd name="connsiteY167" fmla="*/ 9525 h 851265"/>
              <a:gd name="connsiteX168" fmla="*/ 8761146 w 12191998"/>
              <a:gd name="connsiteY168" fmla="*/ 3175 h 851265"/>
              <a:gd name="connsiteX169" fmla="*/ 8827820 w 12191998"/>
              <a:gd name="connsiteY169" fmla="*/ 0 h 851265"/>
              <a:gd name="connsiteX170" fmla="*/ 8897670 w 12191998"/>
              <a:gd name="connsiteY170" fmla="*/ 3175 h 851265"/>
              <a:gd name="connsiteX171" fmla="*/ 8957996 w 12191998"/>
              <a:gd name="connsiteY171" fmla="*/ 9525 h 851265"/>
              <a:gd name="connsiteX172" fmla="*/ 9010382 w 12191998"/>
              <a:gd name="connsiteY172" fmla="*/ 20637 h 851265"/>
              <a:gd name="connsiteX173" fmla="*/ 9056420 w 12191998"/>
              <a:gd name="connsiteY173" fmla="*/ 36512 h 851265"/>
              <a:gd name="connsiteX174" fmla="*/ 9097696 w 12191998"/>
              <a:gd name="connsiteY174" fmla="*/ 52387 h 851265"/>
              <a:gd name="connsiteX175" fmla="*/ 9134208 w 12191998"/>
              <a:gd name="connsiteY175" fmla="*/ 68262 h 851265"/>
              <a:gd name="connsiteX176" fmla="*/ 9172308 w 12191998"/>
              <a:gd name="connsiteY176" fmla="*/ 87312 h 851265"/>
              <a:gd name="connsiteX177" fmla="*/ 9210408 w 12191998"/>
              <a:gd name="connsiteY177" fmla="*/ 106362 h 851265"/>
              <a:gd name="connsiteX178" fmla="*/ 9246920 w 12191998"/>
              <a:gd name="connsiteY178" fmla="*/ 125412 h 851265"/>
              <a:gd name="connsiteX179" fmla="*/ 9288196 w 12191998"/>
              <a:gd name="connsiteY179" fmla="*/ 141287 h 851265"/>
              <a:gd name="connsiteX180" fmla="*/ 9334232 w 12191998"/>
              <a:gd name="connsiteY180" fmla="*/ 155575 h 851265"/>
              <a:gd name="connsiteX181" fmla="*/ 9386620 w 12191998"/>
              <a:gd name="connsiteY181" fmla="*/ 166687 h 851265"/>
              <a:gd name="connsiteX182" fmla="*/ 9446946 w 12191998"/>
              <a:gd name="connsiteY182" fmla="*/ 174625 h 851265"/>
              <a:gd name="connsiteX183" fmla="*/ 9515208 w 12191998"/>
              <a:gd name="connsiteY183" fmla="*/ 176212 h 851265"/>
              <a:gd name="connsiteX184" fmla="*/ 9583470 w 12191998"/>
              <a:gd name="connsiteY184" fmla="*/ 174625 h 851265"/>
              <a:gd name="connsiteX185" fmla="*/ 9643796 w 12191998"/>
              <a:gd name="connsiteY185" fmla="*/ 166687 h 851265"/>
              <a:gd name="connsiteX186" fmla="*/ 9696182 w 12191998"/>
              <a:gd name="connsiteY186" fmla="*/ 155575 h 851265"/>
              <a:gd name="connsiteX187" fmla="*/ 9742220 w 12191998"/>
              <a:gd name="connsiteY187" fmla="*/ 141287 h 851265"/>
              <a:gd name="connsiteX188" fmla="*/ 9783496 w 12191998"/>
              <a:gd name="connsiteY188" fmla="*/ 125412 h 851265"/>
              <a:gd name="connsiteX189" fmla="*/ 9820008 w 12191998"/>
              <a:gd name="connsiteY189" fmla="*/ 106362 h 851265"/>
              <a:gd name="connsiteX190" fmla="*/ 9896208 w 12191998"/>
              <a:gd name="connsiteY190" fmla="*/ 68262 h 851265"/>
              <a:gd name="connsiteX191" fmla="*/ 9932720 w 12191998"/>
              <a:gd name="connsiteY191" fmla="*/ 52387 h 851265"/>
              <a:gd name="connsiteX192" fmla="*/ 9973996 w 12191998"/>
              <a:gd name="connsiteY192" fmla="*/ 36512 h 851265"/>
              <a:gd name="connsiteX193" fmla="*/ 10020032 w 12191998"/>
              <a:gd name="connsiteY193" fmla="*/ 20637 h 851265"/>
              <a:gd name="connsiteX194" fmla="*/ 10072420 w 12191998"/>
              <a:gd name="connsiteY194" fmla="*/ 9525 h 851265"/>
              <a:gd name="connsiteX195" fmla="*/ 10132746 w 12191998"/>
              <a:gd name="connsiteY195" fmla="*/ 3175 h 851265"/>
              <a:gd name="connsiteX196" fmla="*/ 10201008 w 12191998"/>
              <a:gd name="connsiteY196" fmla="*/ 0 h 851265"/>
              <a:gd name="connsiteX197" fmla="*/ 10269270 w 12191998"/>
              <a:gd name="connsiteY197" fmla="*/ 3175 h 851265"/>
              <a:gd name="connsiteX198" fmla="*/ 10329596 w 12191998"/>
              <a:gd name="connsiteY198" fmla="*/ 9525 h 851265"/>
              <a:gd name="connsiteX199" fmla="*/ 10381982 w 12191998"/>
              <a:gd name="connsiteY199" fmla="*/ 20637 h 851265"/>
              <a:gd name="connsiteX200" fmla="*/ 10428020 w 12191998"/>
              <a:gd name="connsiteY200" fmla="*/ 36512 h 851265"/>
              <a:gd name="connsiteX201" fmla="*/ 10469296 w 12191998"/>
              <a:gd name="connsiteY201" fmla="*/ 52387 h 851265"/>
              <a:gd name="connsiteX202" fmla="*/ 10505808 w 12191998"/>
              <a:gd name="connsiteY202" fmla="*/ 68262 h 851265"/>
              <a:gd name="connsiteX203" fmla="*/ 10543908 w 12191998"/>
              <a:gd name="connsiteY203" fmla="*/ 87312 h 851265"/>
              <a:gd name="connsiteX204" fmla="*/ 10582008 w 12191998"/>
              <a:gd name="connsiteY204" fmla="*/ 106362 h 851265"/>
              <a:gd name="connsiteX205" fmla="*/ 10618520 w 12191998"/>
              <a:gd name="connsiteY205" fmla="*/ 125412 h 851265"/>
              <a:gd name="connsiteX206" fmla="*/ 10659796 w 12191998"/>
              <a:gd name="connsiteY206" fmla="*/ 141287 h 851265"/>
              <a:gd name="connsiteX207" fmla="*/ 10705832 w 12191998"/>
              <a:gd name="connsiteY207" fmla="*/ 155575 h 851265"/>
              <a:gd name="connsiteX208" fmla="*/ 10758220 w 12191998"/>
              <a:gd name="connsiteY208" fmla="*/ 166687 h 851265"/>
              <a:gd name="connsiteX209" fmla="*/ 10818546 w 12191998"/>
              <a:gd name="connsiteY209" fmla="*/ 174625 h 851265"/>
              <a:gd name="connsiteX210" fmla="*/ 10886808 w 12191998"/>
              <a:gd name="connsiteY210" fmla="*/ 176212 h 851265"/>
              <a:gd name="connsiteX211" fmla="*/ 10955070 w 12191998"/>
              <a:gd name="connsiteY211" fmla="*/ 174625 h 851265"/>
              <a:gd name="connsiteX212" fmla="*/ 11015396 w 12191998"/>
              <a:gd name="connsiteY212" fmla="*/ 166687 h 851265"/>
              <a:gd name="connsiteX213" fmla="*/ 11067782 w 12191998"/>
              <a:gd name="connsiteY213" fmla="*/ 155575 h 851265"/>
              <a:gd name="connsiteX214" fmla="*/ 11113820 w 12191998"/>
              <a:gd name="connsiteY214" fmla="*/ 141287 h 851265"/>
              <a:gd name="connsiteX215" fmla="*/ 11155096 w 12191998"/>
              <a:gd name="connsiteY215" fmla="*/ 125412 h 851265"/>
              <a:gd name="connsiteX216" fmla="*/ 11191608 w 12191998"/>
              <a:gd name="connsiteY216" fmla="*/ 106362 h 851265"/>
              <a:gd name="connsiteX217" fmla="*/ 11229708 w 12191998"/>
              <a:gd name="connsiteY217" fmla="*/ 87312 h 851265"/>
              <a:gd name="connsiteX218" fmla="*/ 11267808 w 12191998"/>
              <a:gd name="connsiteY218" fmla="*/ 68262 h 851265"/>
              <a:gd name="connsiteX219" fmla="*/ 11304320 w 12191998"/>
              <a:gd name="connsiteY219" fmla="*/ 52387 h 851265"/>
              <a:gd name="connsiteX220" fmla="*/ 11345596 w 12191998"/>
              <a:gd name="connsiteY220" fmla="*/ 36512 h 851265"/>
              <a:gd name="connsiteX221" fmla="*/ 11391632 w 12191998"/>
              <a:gd name="connsiteY221" fmla="*/ 20637 h 851265"/>
              <a:gd name="connsiteX222" fmla="*/ 11444020 w 12191998"/>
              <a:gd name="connsiteY222" fmla="*/ 9525 h 851265"/>
              <a:gd name="connsiteX223" fmla="*/ 11504346 w 12191998"/>
              <a:gd name="connsiteY223" fmla="*/ 3175 h 851265"/>
              <a:gd name="connsiteX224" fmla="*/ 11572608 w 12191998"/>
              <a:gd name="connsiteY224" fmla="*/ 0 h 851265"/>
              <a:gd name="connsiteX225" fmla="*/ 11640870 w 12191998"/>
              <a:gd name="connsiteY225" fmla="*/ 3175 h 851265"/>
              <a:gd name="connsiteX226" fmla="*/ 11701196 w 12191998"/>
              <a:gd name="connsiteY226" fmla="*/ 9525 h 851265"/>
              <a:gd name="connsiteX227" fmla="*/ 11753582 w 12191998"/>
              <a:gd name="connsiteY227" fmla="*/ 20637 h 851265"/>
              <a:gd name="connsiteX228" fmla="*/ 11799620 w 12191998"/>
              <a:gd name="connsiteY228" fmla="*/ 36512 h 851265"/>
              <a:gd name="connsiteX229" fmla="*/ 11840896 w 12191998"/>
              <a:gd name="connsiteY229" fmla="*/ 52387 h 851265"/>
              <a:gd name="connsiteX230" fmla="*/ 11877408 w 12191998"/>
              <a:gd name="connsiteY230" fmla="*/ 68262 h 851265"/>
              <a:gd name="connsiteX231" fmla="*/ 11915508 w 12191998"/>
              <a:gd name="connsiteY231" fmla="*/ 87312 h 851265"/>
              <a:gd name="connsiteX232" fmla="*/ 11953608 w 12191998"/>
              <a:gd name="connsiteY232" fmla="*/ 106362 h 851265"/>
              <a:gd name="connsiteX233" fmla="*/ 11990120 w 12191998"/>
              <a:gd name="connsiteY233" fmla="*/ 125412 h 851265"/>
              <a:gd name="connsiteX234" fmla="*/ 12031396 w 12191998"/>
              <a:gd name="connsiteY234" fmla="*/ 141287 h 851265"/>
              <a:gd name="connsiteX235" fmla="*/ 12077432 w 12191998"/>
              <a:gd name="connsiteY235" fmla="*/ 155575 h 851265"/>
              <a:gd name="connsiteX236" fmla="*/ 12129820 w 12191998"/>
              <a:gd name="connsiteY236" fmla="*/ 166688 h 851265"/>
              <a:gd name="connsiteX237" fmla="*/ 12190146 w 12191998"/>
              <a:gd name="connsiteY237" fmla="*/ 174625 h 851265"/>
              <a:gd name="connsiteX238" fmla="*/ 12191998 w 12191998"/>
              <a:gd name="connsiteY238" fmla="*/ 174668 h 851265"/>
              <a:gd name="connsiteX239" fmla="*/ 12191998 w 12191998"/>
              <a:gd name="connsiteY239" fmla="*/ 851265 h 851265"/>
              <a:gd name="connsiteX240" fmla="*/ 0 w 12191998"/>
              <a:gd name="connsiteY240" fmla="*/ 851265 h 851265"/>
              <a:gd name="connsiteX241" fmla="*/ 0 w 12191998"/>
              <a:gd name="connsiteY241" fmla="*/ 174668 h 851265"/>
              <a:gd name="connsiteX242" fmla="*/ 1852 w 12191998"/>
              <a:gd name="connsiteY242" fmla="*/ 174625 h 851265"/>
              <a:gd name="connsiteX243" fmla="*/ 62177 w 12191998"/>
              <a:gd name="connsiteY243" fmla="*/ 166687 h 851265"/>
              <a:gd name="connsiteX244" fmla="*/ 114564 w 12191998"/>
              <a:gd name="connsiteY244" fmla="*/ 155575 h 851265"/>
              <a:gd name="connsiteX245" fmla="*/ 160602 w 12191998"/>
              <a:gd name="connsiteY245" fmla="*/ 141287 h 851265"/>
              <a:gd name="connsiteX246" fmla="*/ 201877 w 12191998"/>
              <a:gd name="connsiteY246" fmla="*/ 125412 h 851265"/>
              <a:gd name="connsiteX247" fmla="*/ 238389 w 12191998"/>
              <a:gd name="connsiteY247" fmla="*/ 106362 h 851265"/>
              <a:gd name="connsiteX248" fmla="*/ 276489 w 12191998"/>
              <a:gd name="connsiteY248" fmla="*/ 87312 h 851265"/>
              <a:gd name="connsiteX249" fmla="*/ 314589 w 12191998"/>
              <a:gd name="connsiteY249" fmla="*/ 68262 h 851265"/>
              <a:gd name="connsiteX250" fmla="*/ 351102 w 12191998"/>
              <a:gd name="connsiteY250" fmla="*/ 52387 h 851265"/>
              <a:gd name="connsiteX251" fmla="*/ 392377 w 12191998"/>
              <a:gd name="connsiteY251" fmla="*/ 36512 h 851265"/>
              <a:gd name="connsiteX252" fmla="*/ 438414 w 12191998"/>
              <a:gd name="connsiteY252" fmla="*/ 20637 h 851265"/>
              <a:gd name="connsiteX253" fmla="*/ 490802 w 12191998"/>
              <a:gd name="connsiteY253" fmla="*/ 9525 h 851265"/>
              <a:gd name="connsiteX254" fmla="*/ 551127 w 12191998"/>
              <a:gd name="connsiteY254" fmla="*/ 3175 h 851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Lst>
            <a:rect l="l" t="t" r="r" b="b"/>
            <a:pathLst>
              <a:path w="12191998" h="851265">
                <a:moveTo>
                  <a:pt x="619389" y="0"/>
                </a:moveTo>
                <a:lnTo>
                  <a:pt x="687652" y="3175"/>
                </a:lnTo>
                <a:lnTo>
                  <a:pt x="747977" y="9525"/>
                </a:lnTo>
                <a:lnTo>
                  <a:pt x="800364" y="20637"/>
                </a:lnTo>
                <a:lnTo>
                  <a:pt x="846402" y="36512"/>
                </a:lnTo>
                <a:lnTo>
                  <a:pt x="887677" y="52387"/>
                </a:lnTo>
                <a:lnTo>
                  <a:pt x="924189" y="68262"/>
                </a:lnTo>
                <a:lnTo>
                  <a:pt x="962289" y="87312"/>
                </a:lnTo>
                <a:lnTo>
                  <a:pt x="1000389" y="106362"/>
                </a:lnTo>
                <a:lnTo>
                  <a:pt x="1036902" y="125412"/>
                </a:lnTo>
                <a:lnTo>
                  <a:pt x="1078177" y="141287"/>
                </a:lnTo>
                <a:lnTo>
                  <a:pt x="1124214" y="155575"/>
                </a:lnTo>
                <a:lnTo>
                  <a:pt x="1176602" y="166687"/>
                </a:lnTo>
                <a:lnTo>
                  <a:pt x="1236927" y="174625"/>
                </a:lnTo>
                <a:lnTo>
                  <a:pt x="1305189" y="176212"/>
                </a:lnTo>
                <a:lnTo>
                  <a:pt x="1373452" y="174625"/>
                </a:lnTo>
                <a:lnTo>
                  <a:pt x="1433777" y="166687"/>
                </a:lnTo>
                <a:lnTo>
                  <a:pt x="1486164" y="155575"/>
                </a:lnTo>
                <a:lnTo>
                  <a:pt x="1532202" y="141287"/>
                </a:lnTo>
                <a:lnTo>
                  <a:pt x="1573477" y="125412"/>
                </a:lnTo>
                <a:lnTo>
                  <a:pt x="1609989" y="106362"/>
                </a:lnTo>
                <a:lnTo>
                  <a:pt x="1648089" y="87312"/>
                </a:lnTo>
                <a:lnTo>
                  <a:pt x="1686189" y="68262"/>
                </a:lnTo>
                <a:lnTo>
                  <a:pt x="1722702" y="52387"/>
                </a:lnTo>
                <a:lnTo>
                  <a:pt x="1763977" y="36512"/>
                </a:lnTo>
                <a:lnTo>
                  <a:pt x="1810014" y="20637"/>
                </a:lnTo>
                <a:lnTo>
                  <a:pt x="1862402" y="9525"/>
                </a:lnTo>
                <a:lnTo>
                  <a:pt x="1922727" y="3175"/>
                </a:lnTo>
                <a:lnTo>
                  <a:pt x="1990989" y="0"/>
                </a:lnTo>
                <a:lnTo>
                  <a:pt x="2059252" y="3175"/>
                </a:lnTo>
                <a:lnTo>
                  <a:pt x="2119577" y="9525"/>
                </a:lnTo>
                <a:lnTo>
                  <a:pt x="2171964" y="20637"/>
                </a:lnTo>
                <a:lnTo>
                  <a:pt x="2218002" y="36512"/>
                </a:lnTo>
                <a:lnTo>
                  <a:pt x="2259277" y="52387"/>
                </a:lnTo>
                <a:lnTo>
                  <a:pt x="2295789" y="68262"/>
                </a:lnTo>
                <a:lnTo>
                  <a:pt x="2333889" y="87312"/>
                </a:lnTo>
                <a:lnTo>
                  <a:pt x="2371989" y="106362"/>
                </a:lnTo>
                <a:lnTo>
                  <a:pt x="2408502" y="125412"/>
                </a:lnTo>
                <a:lnTo>
                  <a:pt x="2449777" y="141287"/>
                </a:lnTo>
                <a:lnTo>
                  <a:pt x="2495814" y="155575"/>
                </a:lnTo>
                <a:lnTo>
                  <a:pt x="2548202" y="166687"/>
                </a:lnTo>
                <a:lnTo>
                  <a:pt x="2608527" y="174625"/>
                </a:lnTo>
                <a:lnTo>
                  <a:pt x="2676789" y="176212"/>
                </a:lnTo>
                <a:lnTo>
                  <a:pt x="2745052" y="174625"/>
                </a:lnTo>
                <a:lnTo>
                  <a:pt x="2805377" y="166687"/>
                </a:lnTo>
                <a:lnTo>
                  <a:pt x="2857764" y="155575"/>
                </a:lnTo>
                <a:lnTo>
                  <a:pt x="2903802" y="141287"/>
                </a:lnTo>
                <a:lnTo>
                  <a:pt x="2945077" y="125412"/>
                </a:lnTo>
                <a:lnTo>
                  <a:pt x="2981589" y="106362"/>
                </a:lnTo>
                <a:lnTo>
                  <a:pt x="3019689" y="87312"/>
                </a:lnTo>
                <a:lnTo>
                  <a:pt x="3057789" y="68262"/>
                </a:lnTo>
                <a:lnTo>
                  <a:pt x="3094302" y="52387"/>
                </a:lnTo>
                <a:lnTo>
                  <a:pt x="3135577" y="36512"/>
                </a:lnTo>
                <a:lnTo>
                  <a:pt x="3181614" y="20637"/>
                </a:lnTo>
                <a:lnTo>
                  <a:pt x="3234002" y="9525"/>
                </a:lnTo>
                <a:lnTo>
                  <a:pt x="3294327" y="3175"/>
                </a:lnTo>
                <a:lnTo>
                  <a:pt x="3361002" y="0"/>
                </a:lnTo>
                <a:lnTo>
                  <a:pt x="3430852" y="3175"/>
                </a:lnTo>
                <a:lnTo>
                  <a:pt x="3491177" y="9525"/>
                </a:lnTo>
                <a:lnTo>
                  <a:pt x="3543564" y="20637"/>
                </a:lnTo>
                <a:lnTo>
                  <a:pt x="3589602" y="36512"/>
                </a:lnTo>
                <a:lnTo>
                  <a:pt x="3630877" y="52387"/>
                </a:lnTo>
                <a:lnTo>
                  <a:pt x="3667389" y="68262"/>
                </a:lnTo>
                <a:lnTo>
                  <a:pt x="3705489" y="87312"/>
                </a:lnTo>
                <a:lnTo>
                  <a:pt x="3743589" y="106362"/>
                </a:lnTo>
                <a:lnTo>
                  <a:pt x="3780102" y="125412"/>
                </a:lnTo>
                <a:lnTo>
                  <a:pt x="3821377" y="141287"/>
                </a:lnTo>
                <a:lnTo>
                  <a:pt x="3867414" y="155575"/>
                </a:lnTo>
                <a:lnTo>
                  <a:pt x="3919802" y="166687"/>
                </a:lnTo>
                <a:lnTo>
                  <a:pt x="3980127" y="174625"/>
                </a:lnTo>
                <a:lnTo>
                  <a:pt x="4048389" y="176212"/>
                </a:lnTo>
                <a:lnTo>
                  <a:pt x="4116652" y="174625"/>
                </a:lnTo>
                <a:lnTo>
                  <a:pt x="4176977" y="166687"/>
                </a:lnTo>
                <a:lnTo>
                  <a:pt x="4229364" y="155575"/>
                </a:lnTo>
                <a:lnTo>
                  <a:pt x="4275402" y="141287"/>
                </a:lnTo>
                <a:lnTo>
                  <a:pt x="4316677" y="125412"/>
                </a:lnTo>
                <a:lnTo>
                  <a:pt x="4353189" y="106362"/>
                </a:lnTo>
                <a:lnTo>
                  <a:pt x="4429389" y="68262"/>
                </a:lnTo>
                <a:lnTo>
                  <a:pt x="4465902" y="52387"/>
                </a:lnTo>
                <a:lnTo>
                  <a:pt x="4507177" y="36512"/>
                </a:lnTo>
                <a:lnTo>
                  <a:pt x="4553216" y="20637"/>
                </a:lnTo>
                <a:lnTo>
                  <a:pt x="4605602" y="9525"/>
                </a:lnTo>
                <a:lnTo>
                  <a:pt x="4665928" y="3175"/>
                </a:lnTo>
                <a:lnTo>
                  <a:pt x="4734189" y="0"/>
                </a:lnTo>
                <a:lnTo>
                  <a:pt x="4802453" y="3175"/>
                </a:lnTo>
                <a:lnTo>
                  <a:pt x="4862777" y="9525"/>
                </a:lnTo>
                <a:lnTo>
                  <a:pt x="4915165" y="20637"/>
                </a:lnTo>
                <a:lnTo>
                  <a:pt x="4961202" y="36512"/>
                </a:lnTo>
                <a:lnTo>
                  <a:pt x="5002478" y="52387"/>
                </a:lnTo>
                <a:lnTo>
                  <a:pt x="5038989" y="68262"/>
                </a:lnTo>
                <a:lnTo>
                  <a:pt x="5077091" y="87312"/>
                </a:lnTo>
                <a:lnTo>
                  <a:pt x="5115189" y="106362"/>
                </a:lnTo>
                <a:lnTo>
                  <a:pt x="5151702" y="125412"/>
                </a:lnTo>
                <a:lnTo>
                  <a:pt x="5192978" y="141287"/>
                </a:lnTo>
                <a:lnTo>
                  <a:pt x="5239014" y="155575"/>
                </a:lnTo>
                <a:lnTo>
                  <a:pt x="5291401" y="166687"/>
                </a:lnTo>
                <a:lnTo>
                  <a:pt x="5351727" y="174625"/>
                </a:lnTo>
                <a:lnTo>
                  <a:pt x="5410199" y="175985"/>
                </a:lnTo>
                <a:lnTo>
                  <a:pt x="5468671" y="174625"/>
                </a:lnTo>
                <a:lnTo>
                  <a:pt x="5528996" y="166687"/>
                </a:lnTo>
                <a:lnTo>
                  <a:pt x="5581383" y="155575"/>
                </a:lnTo>
                <a:lnTo>
                  <a:pt x="5627421" y="141287"/>
                </a:lnTo>
                <a:lnTo>
                  <a:pt x="5668696" y="125412"/>
                </a:lnTo>
                <a:lnTo>
                  <a:pt x="5705210" y="106362"/>
                </a:lnTo>
                <a:lnTo>
                  <a:pt x="5743308" y="87312"/>
                </a:lnTo>
                <a:lnTo>
                  <a:pt x="5781408" y="68262"/>
                </a:lnTo>
                <a:lnTo>
                  <a:pt x="5817921" y="52387"/>
                </a:lnTo>
                <a:lnTo>
                  <a:pt x="5859196" y="36512"/>
                </a:lnTo>
                <a:lnTo>
                  <a:pt x="5905234" y="20637"/>
                </a:lnTo>
                <a:lnTo>
                  <a:pt x="5957621" y="9525"/>
                </a:lnTo>
                <a:lnTo>
                  <a:pt x="6017948" y="3175"/>
                </a:lnTo>
                <a:lnTo>
                  <a:pt x="6086210" y="0"/>
                </a:lnTo>
                <a:lnTo>
                  <a:pt x="6095999" y="455"/>
                </a:lnTo>
                <a:lnTo>
                  <a:pt x="6105789" y="0"/>
                </a:lnTo>
                <a:lnTo>
                  <a:pt x="6174052" y="3175"/>
                </a:lnTo>
                <a:lnTo>
                  <a:pt x="6234377" y="9525"/>
                </a:lnTo>
                <a:lnTo>
                  <a:pt x="6286764" y="20637"/>
                </a:lnTo>
                <a:lnTo>
                  <a:pt x="6332802" y="36512"/>
                </a:lnTo>
                <a:lnTo>
                  <a:pt x="6374077" y="52387"/>
                </a:lnTo>
                <a:lnTo>
                  <a:pt x="6410589" y="68262"/>
                </a:lnTo>
                <a:lnTo>
                  <a:pt x="6448689" y="87312"/>
                </a:lnTo>
                <a:lnTo>
                  <a:pt x="6486789" y="106362"/>
                </a:lnTo>
                <a:lnTo>
                  <a:pt x="6523302" y="125412"/>
                </a:lnTo>
                <a:lnTo>
                  <a:pt x="6564577" y="141287"/>
                </a:lnTo>
                <a:lnTo>
                  <a:pt x="6610614" y="155575"/>
                </a:lnTo>
                <a:lnTo>
                  <a:pt x="6663002" y="166687"/>
                </a:lnTo>
                <a:lnTo>
                  <a:pt x="6723327" y="174625"/>
                </a:lnTo>
                <a:lnTo>
                  <a:pt x="6781799" y="175985"/>
                </a:lnTo>
                <a:lnTo>
                  <a:pt x="6840271" y="174625"/>
                </a:lnTo>
                <a:lnTo>
                  <a:pt x="6900596" y="166687"/>
                </a:lnTo>
                <a:lnTo>
                  <a:pt x="6952983" y="155575"/>
                </a:lnTo>
                <a:lnTo>
                  <a:pt x="6999021" y="141287"/>
                </a:lnTo>
                <a:lnTo>
                  <a:pt x="7040296" y="125412"/>
                </a:lnTo>
                <a:lnTo>
                  <a:pt x="7076808" y="106362"/>
                </a:lnTo>
                <a:lnTo>
                  <a:pt x="7114908" y="87312"/>
                </a:lnTo>
                <a:lnTo>
                  <a:pt x="7153008" y="68262"/>
                </a:lnTo>
                <a:lnTo>
                  <a:pt x="7189521" y="52387"/>
                </a:lnTo>
                <a:lnTo>
                  <a:pt x="7230796" y="36512"/>
                </a:lnTo>
                <a:lnTo>
                  <a:pt x="7276833" y="20637"/>
                </a:lnTo>
                <a:lnTo>
                  <a:pt x="7329221" y="9525"/>
                </a:lnTo>
                <a:lnTo>
                  <a:pt x="7389546" y="3175"/>
                </a:lnTo>
                <a:lnTo>
                  <a:pt x="7457808" y="0"/>
                </a:lnTo>
                <a:lnTo>
                  <a:pt x="7526071" y="3175"/>
                </a:lnTo>
                <a:lnTo>
                  <a:pt x="7586396" y="9525"/>
                </a:lnTo>
                <a:lnTo>
                  <a:pt x="7638783" y="20637"/>
                </a:lnTo>
                <a:lnTo>
                  <a:pt x="7684821" y="36512"/>
                </a:lnTo>
                <a:lnTo>
                  <a:pt x="7726096" y="52387"/>
                </a:lnTo>
                <a:lnTo>
                  <a:pt x="7762608" y="68262"/>
                </a:lnTo>
                <a:lnTo>
                  <a:pt x="7800708" y="87312"/>
                </a:lnTo>
                <a:lnTo>
                  <a:pt x="7838808" y="106362"/>
                </a:lnTo>
                <a:lnTo>
                  <a:pt x="7875321" y="125412"/>
                </a:lnTo>
                <a:lnTo>
                  <a:pt x="7916596" y="141287"/>
                </a:lnTo>
                <a:lnTo>
                  <a:pt x="7962633" y="155575"/>
                </a:lnTo>
                <a:lnTo>
                  <a:pt x="8015021" y="166687"/>
                </a:lnTo>
                <a:lnTo>
                  <a:pt x="8075346" y="174625"/>
                </a:lnTo>
                <a:lnTo>
                  <a:pt x="8143608" y="176212"/>
                </a:lnTo>
                <a:lnTo>
                  <a:pt x="8211871" y="174625"/>
                </a:lnTo>
                <a:lnTo>
                  <a:pt x="8272196" y="166687"/>
                </a:lnTo>
                <a:lnTo>
                  <a:pt x="8324583" y="155575"/>
                </a:lnTo>
                <a:lnTo>
                  <a:pt x="8370621" y="141287"/>
                </a:lnTo>
                <a:lnTo>
                  <a:pt x="8411896" y="125412"/>
                </a:lnTo>
                <a:lnTo>
                  <a:pt x="8448408" y="106362"/>
                </a:lnTo>
                <a:lnTo>
                  <a:pt x="8486508" y="87312"/>
                </a:lnTo>
                <a:lnTo>
                  <a:pt x="8524608" y="68262"/>
                </a:lnTo>
                <a:lnTo>
                  <a:pt x="8561120" y="52387"/>
                </a:lnTo>
                <a:lnTo>
                  <a:pt x="8602396" y="36512"/>
                </a:lnTo>
                <a:lnTo>
                  <a:pt x="8648432" y="20637"/>
                </a:lnTo>
                <a:lnTo>
                  <a:pt x="8700820" y="9525"/>
                </a:lnTo>
                <a:lnTo>
                  <a:pt x="8761146" y="3175"/>
                </a:lnTo>
                <a:lnTo>
                  <a:pt x="8827820" y="0"/>
                </a:lnTo>
                <a:lnTo>
                  <a:pt x="8897670" y="3175"/>
                </a:lnTo>
                <a:lnTo>
                  <a:pt x="8957996" y="9525"/>
                </a:lnTo>
                <a:lnTo>
                  <a:pt x="9010382" y="20637"/>
                </a:lnTo>
                <a:lnTo>
                  <a:pt x="9056420" y="36512"/>
                </a:lnTo>
                <a:lnTo>
                  <a:pt x="9097696" y="52387"/>
                </a:lnTo>
                <a:lnTo>
                  <a:pt x="9134208" y="68262"/>
                </a:lnTo>
                <a:lnTo>
                  <a:pt x="9172308" y="87312"/>
                </a:lnTo>
                <a:lnTo>
                  <a:pt x="9210408" y="106362"/>
                </a:lnTo>
                <a:lnTo>
                  <a:pt x="9246920" y="125412"/>
                </a:lnTo>
                <a:lnTo>
                  <a:pt x="9288196" y="141287"/>
                </a:lnTo>
                <a:lnTo>
                  <a:pt x="9334232" y="155575"/>
                </a:lnTo>
                <a:lnTo>
                  <a:pt x="9386620" y="166687"/>
                </a:lnTo>
                <a:lnTo>
                  <a:pt x="9446946" y="174625"/>
                </a:lnTo>
                <a:lnTo>
                  <a:pt x="9515208" y="176212"/>
                </a:lnTo>
                <a:lnTo>
                  <a:pt x="9583470" y="174625"/>
                </a:lnTo>
                <a:lnTo>
                  <a:pt x="9643796" y="166687"/>
                </a:lnTo>
                <a:lnTo>
                  <a:pt x="9696182" y="155575"/>
                </a:lnTo>
                <a:lnTo>
                  <a:pt x="9742220" y="141287"/>
                </a:lnTo>
                <a:lnTo>
                  <a:pt x="9783496" y="125412"/>
                </a:lnTo>
                <a:lnTo>
                  <a:pt x="9820008" y="106362"/>
                </a:lnTo>
                <a:lnTo>
                  <a:pt x="9896208" y="68262"/>
                </a:lnTo>
                <a:lnTo>
                  <a:pt x="9932720" y="52387"/>
                </a:lnTo>
                <a:lnTo>
                  <a:pt x="9973996" y="36512"/>
                </a:lnTo>
                <a:lnTo>
                  <a:pt x="10020032" y="20637"/>
                </a:lnTo>
                <a:lnTo>
                  <a:pt x="10072420" y="9525"/>
                </a:lnTo>
                <a:lnTo>
                  <a:pt x="10132746" y="3175"/>
                </a:lnTo>
                <a:lnTo>
                  <a:pt x="10201008" y="0"/>
                </a:lnTo>
                <a:lnTo>
                  <a:pt x="10269270" y="3175"/>
                </a:lnTo>
                <a:lnTo>
                  <a:pt x="10329596" y="9525"/>
                </a:lnTo>
                <a:lnTo>
                  <a:pt x="10381982" y="20637"/>
                </a:lnTo>
                <a:lnTo>
                  <a:pt x="10428020" y="36512"/>
                </a:lnTo>
                <a:lnTo>
                  <a:pt x="10469296" y="52387"/>
                </a:lnTo>
                <a:lnTo>
                  <a:pt x="10505808" y="68262"/>
                </a:lnTo>
                <a:lnTo>
                  <a:pt x="10543908" y="87312"/>
                </a:lnTo>
                <a:lnTo>
                  <a:pt x="10582008" y="106362"/>
                </a:lnTo>
                <a:lnTo>
                  <a:pt x="10618520" y="125412"/>
                </a:lnTo>
                <a:lnTo>
                  <a:pt x="10659796" y="141287"/>
                </a:lnTo>
                <a:lnTo>
                  <a:pt x="10705832" y="155575"/>
                </a:lnTo>
                <a:lnTo>
                  <a:pt x="10758220" y="166687"/>
                </a:lnTo>
                <a:lnTo>
                  <a:pt x="10818546" y="174625"/>
                </a:lnTo>
                <a:lnTo>
                  <a:pt x="10886808" y="176212"/>
                </a:lnTo>
                <a:lnTo>
                  <a:pt x="10955070" y="174625"/>
                </a:lnTo>
                <a:lnTo>
                  <a:pt x="11015396" y="166687"/>
                </a:lnTo>
                <a:lnTo>
                  <a:pt x="11067782" y="155575"/>
                </a:lnTo>
                <a:lnTo>
                  <a:pt x="11113820" y="141287"/>
                </a:lnTo>
                <a:lnTo>
                  <a:pt x="11155096" y="125412"/>
                </a:lnTo>
                <a:lnTo>
                  <a:pt x="11191608" y="106362"/>
                </a:lnTo>
                <a:lnTo>
                  <a:pt x="11229708" y="87312"/>
                </a:lnTo>
                <a:lnTo>
                  <a:pt x="11267808" y="68262"/>
                </a:lnTo>
                <a:lnTo>
                  <a:pt x="11304320" y="52387"/>
                </a:lnTo>
                <a:lnTo>
                  <a:pt x="11345596" y="36512"/>
                </a:lnTo>
                <a:lnTo>
                  <a:pt x="11391632" y="20637"/>
                </a:lnTo>
                <a:lnTo>
                  <a:pt x="11444020" y="9525"/>
                </a:lnTo>
                <a:lnTo>
                  <a:pt x="11504346" y="3175"/>
                </a:lnTo>
                <a:lnTo>
                  <a:pt x="11572608" y="0"/>
                </a:lnTo>
                <a:lnTo>
                  <a:pt x="11640870" y="3175"/>
                </a:lnTo>
                <a:lnTo>
                  <a:pt x="11701196" y="9525"/>
                </a:lnTo>
                <a:lnTo>
                  <a:pt x="11753582" y="20637"/>
                </a:lnTo>
                <a:lnTo>
                  <a:pt x="11799620" y="36512"/>
                </a:lnTo>
                <a:lnTo>
                  <a:pt x="11840896" y="52387"/>
                </a:lnTo>
                <a:lnTo>
                  <a:pt x="11877408" y="68262"/>
                </a:lnTo>
                <a:lnTo>
                  <a:pt x="11915508" y="87312"/>
                </a:lnTo>
                <a:lnTo>
                  <a:pt x="11953608" y="106362"/>
                </a:lnTo>
                <a:lnTo>
                  <a:pt x="11990120" y="125412"/>
                </a:lnTo>
                <a:lnTo>
                  <a:pt x="12031396" y="141287"/>
                </a:lnTo>
                <a:lnTo>
                  <a:pt x="12077432" y="155575"/>
                </a:lnTo>
                <a:lnTo>
                  <a:pt x="12129820" y="166688"/>
                </a:lnTo>
                <a:lnTo>
                  <a:pt x="12190146" y="174625"/>
                </a:lnTo>
                <a:lnTo>
                  <a:pt x="12191998" y="174668"/>
                </a:lnTo>
                <a:lnTo>
                  <a:pt x="12191998" y="851265"/>
                </a:lnTo>
                <a:lnTo>
                  <a:pt x="0" y="851265"/>
                </a:lnTo>
                <a:lnTo>
                  <a:pt x="0" y="174668"/>
                </a:lnTo>
                <a:lnTo>
                  <a:pt x="1852" y="174625"/>
                </a:lnTo>
                <a:lnTo>
                  <a:pt x="62177" y="166687"/>
                </a:lnTo>
                <a:lnTo>
                  <a:pt x="114564" y="155575"/>
                </a:lnTo>
                <a:lnTo>
                  <a:pt x="160602" y="141287"/>
                </a:lnTo>
                <a:lnTo>
                  <a:pt x="201877" y="125412"/>
                </a:lnTo>
                <a:lnTo>
                  <a:pt x="238389" y="106362"/>
                </a:lnTo>
                <a:lnTo>
                  <a:pt x="276489" y="87312"/>
                </a:lnTo>
                <a:lnTo>
                  <a:pt x="314589" y="68262"/>
                </a:lnTo>
                <a:lnTo>
                  <a:pt x="351102" y="52387"/>
                </a:lnTo>
                <a:lnTo>
                  <a:pt x="392377" y="36512"/>
                </a:lnTo>
                <a:lnTo>
                  <a:pt x="438414" y="20637"/>
                </a:lnTo>
                <a:lnTo>
                  <a:pt x="490802" y="9525"/>
                </a:lnTo>
                <a:lnTo>
                  <a:pt x="551127" y="3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559325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A77D789-9DE0-43A3-B196-F13CFECFAC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340B5E3-342F-5C95-8AB2-7F1C63E78FEF}"/>
              </a:ext>
            </a:extLst>
          </p:cNvPr>
          <p:cNvSpPr>
            <a:spLocks noGrp="1"/>
          </p:cNvSpPr>
          <p:nvPr>
            <p:ph type="title"/>
          </p:nvPr>
        </p:nvSpPr>
        <p:spPr>
          <a:xfrm>
            <a:off x="765051" y="382385"/>
            <a:ext cx="6015897" cy="1492132"/>
          </a:xfrm>
        </p:spPr>
        <p:txBody>
          <a:bodyPr>
            <a:normAutofit/>
          </a:bodyPr>
          <a:lstStyle/>
          <a:p>
            <a:r>
              <a:rPr lang="en-IN" dirty="0"/>
              <a:t>Exporting</a:t>
            </a:r>
          </a:p>
        </p:txBody>
      </p:sp>
      <p:sp>
        <p:nvSpPr>
          <p:cNvPr id="11" name="Rectangle 10">
            <a:extLst>
              <a:ext uri="{FF2B5EF4-FFF2-40B4-BE49-F238E27FC236}">
                <a16:creationId xmlns:a16="http://schemas.microsoft.com/office/drawing/2014/main" id="{F9BC648B-BC3C-4674-B1FD-2F9F1C6D75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3" name="Content Placeholder 2">
            <a:extLst>
              <a:ext uri="{FF2B5EF4-FFF2-40B4-BE49-F238E27FC236}">
                <a16:creationId xmlns:a16="http://schemas.microsoft.com/office/drawing/2014/main" id="{022CCC5E-8275-C912-C087-DA24B305BB4B}"/>
              </a:ext>
            </a:extLst>
          </p:cNvPr>
          <p:cNvSpPr>
            <a:spLocks noGrp="1"/>
          </p:cNvSpPr>
          <p:nvPr>
            <p:ph idx="1"/>
          </p:nvPr>
        </p:nvSpPr>
        <p:spPr>
          <a:xfrm>
            <a:off x="283464" y="1336173"/>
            <a:ext cx="7064828" cy="5139442"/>
          </a:xfrm>
        </p:spPr>
        <p:txBody>
          <a:bodyPr>
            <a:normAutofit lnSpcReduction="10000"/>
          </a:bodyPr>
          <a:lstStyle/>
          <a:p>
            <a:pPr>
              <a:lnSpc>
                <a:spcPct val="100000"/>
              </a:lnSpc>
            </a:pPr>
            <a:r>
              <a:rPr lang="en-US" sz="1800" b="1" dirty="0">
                <a:latin typeface="Times New Roman" panose="02020603050405020304" pitchFamily="18" charset="0"/>
                <a:cs typeface="Times New Roman" panose="02020603050405020304" pitchFamily="18" charset="0"/>
              </a:rPr>
              <a:t>Exporting</a:t>
            </a:r>
            <a:r>
              <a:rPr lang="en-US" sz="1800" dirty="0">
                <a:latin typeface="Times New Roman" panose="02020603050405020304" pitchFamily="18" charset="0"/>
                <a:cs typeface="Times New Roman" panose="02020603050405020304" pitchFamily="18" charset="0"/>
              </a:rPr>
              <a:t> is one of the most common and simplest methods used by companies to enter international markets. It refers to the process of selling goods or services produced in one country to customers located in another country. In this method, companies manufacture their products in the home country and then transport them to foreign markets for sale. Exporting allows businesses to expand their market reach without making large investments in foreign production facilities.</a:t>
            </a:r>
          </a:p>
          <a:p>
            <a:pPr>
              <a:lnSpc>
                <a:spcPct val="100000"/>
              </a:lnSpc>
            </a:pPr>
            <a:r>
              <a:rPr lang="en-US" sz="1800" dirty="0">
                <a:latin typeface="Times New Roman" panose="02020603050405020304" pitchFamily="18" charset="0"/>
                <a:cs typeface="Times New Roman" panose="02020603050405020304" pitchFamily="18" charset="0"/>
              </a:rPr>
              <a:t>Exporting is considered a low-risk entry strategy because companies do not need to establish manufacturing plants or offices in the foreign country. Instead, they can sell their products through local distributors, agents, or international trade partners. However, companies must still deal with transportation costs, tariffs, and international trade regulations when exporting products.</a:t>
            </a:r>
          </a:p>
          <a:p>
            <a:pPr>
              <a:lnSpc>
                <a:spcPct val="100000"/>
              </a:lnSpc>
            </a:pPr>
            <a:r>
              <a:rPr lang="en-US" sz="1800" b="1" dirty="0">
                <a:latin typeface="Times New Roman" panose="02020603050405020304" pitchFamily="18" charset="0"/>
                <a:cs typeface="Times New Roman" panose="02020603050405020304" pitchFamily="18" charset="0"/>
              </a:rPr>
              <a:t>Example:</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Indian textile companies export garments and fabrics to countries such as the United States, the United Kingdom, and Germany. This allows them to reach international customers while continuing production in India.</a:t>
            </a:r>
          </a:p>
          <a:p>
            <a:pPr>
              <a:lnSpc>
                <a:spcPct val="100000"/>
              </a:lnSpc>
            </a:pPr>
            <a:endParaRPr lang="en-IN" sz="1800" dirty="0">
              <a:latin typeface="Times New Roman" panose="02020603050405020304" pitchFamily="18" charset="0"/>
              <a:cs typeface="Times New Roman" panose="02020603050405020304" pitchFamily="18" charset="0"/>
            </a:endParaRPr>
          </a:p>
        </p:txBody>
      </p:sp>
      <p:pic>
        <p:nvPicPr>
          <p:cNvPr id="5" name="Picture 4" descr="Line of grocery carts">
            <a:extLst>
              <a:ext uri="{FF2B5EF4-FFF2-40B4-BE49-F238E27FC236}">
                <a16:creationId xmlns:a16="http://schemas.microsoft.com/office/drawing/2014/main" id="{43B923E5-97C2-71D0-FC87-B8E33D3A46EA}"/>
              </a:ext>
            </a:extLst>
          </p:cNvPr>
          <p:cNvPicPr>
            <a:picLocks noChangeAspect="1"/>
          </p:cNvPicPr>
          <p:nvPr/>
        </p:nvPicPr>
        <p:blipFill>
          <a:blip r:embed="rId2"/>
          <a:srcRect l="41235" r="12024" b="-1"/>
          <a:stretch>
            <a:fillRect/>
          </a:stretch>
        </p:blipFill>
        <p:spPr>
          <a:xfrm>
            <a:off x="7389812" y="10"/>
            <a:ext cx="4802188" cy="6857990"/>
          </a:xfrm>
          <a:custGeom>
            <a:avLst/>
            <a:gdLst/>
            <a:ahLst/>
            <a:cxnLst/>
            <a:rect l="l" t="t" r="r" b="b"/>
            <a:pathLst>
              <a:path w="4802188" h="6858000">
                <a:moveTo>
                  <a:pt x="0" y="0"/>
                </a:moveTo>
                <a:lnTo>
                  <a:pt x="4802188" y="0"/>
                </a:lnTo>
                <a:lnTo>
                  <a:pt x="4802188" y="6858000"/>
                </a:lnTo>
                <a:lnTo>
                  <a:pt x="0" y="6858000"/>
                </a:lnTo>
                <a:lnTo>
                  <a:pt x="4763" y="6791325"/>
                </a:lnTo>
                <a:lnTo>
                  <a:pt x="12700" y="6735762"/>
                </a:lnTo>
                <a:lnTo>
                  <a:pt x="22225" y="6683375"/>
                </a:lnTo>
                <a:lnTo>
                  <a:pt x="38100" y="6640512"/>
                </a:lnTo>
                <a:lnTo>
                  <a:pt x="53975" y="6597650"/>
                </a:lnTo>
                <a:lnTo>
                  <a:pt x="73025" y="6561137"/>
                </a:lnTo>
                <a:lnTo>
                  <a:pt x="92075" y="6523037"/>
                </a:lnTo>
                <a:lnTo>
                  <a:pt x="109538" y="6488112"/>
                </a:lnTo>
                <a:lnTo>
                  <a:pt x="127000" y="6448425"/>
                </a:lnTo>
                <a:lnTo>
                  <a:pt x="142875" y="6407150"/>
                </a:lnTo>
                <a:lnTo>
                  <a:pt x="157163" y="6361112"/>
                </a:lnTo>
                <a:lnTo>
                  <a:pt x="168275" y="6311900"/>
                </a:lnTo>
                <a:lnTo>
                  <a:pt x="176213" y="6251575"/>
                </a:lnTo>
                <a:lnTo>
                  <a:pt x="179388" y="6183312"/>
                </a:lnTo>
                <a:lnTo>
                  <a:pt x="176213" y="6113462"/>
                </a:lnTo>
                <a:lnTo>
                  <a:pt x="168275" y="6056312"/>
                </a:lnTo>
                <a:lnTo>
                  <a:pt x="157163" y="6003925"/>
                </a:lnTo>
                <a:lnTo>
                  <a:pt x="142875" y="5956300"/>
                </a:lnTo>
                <a:lnTo>
                  <a:pt x="127000" y="5915025"/>
                </a:lnTo>
                <a:lnTo>
                  <a:pt x="107950" y="5876925"/>
                </a:lnTo>
                <a:lnTo>
                  <a:pt x="88900" y="5840412"/>
                </a:lnTo>
                <a:lnTo>
                  <a:pt x="69850" y="5802312"/>
                </a:lnTo>
                <a:lnTo>
                  <a:pt x="52388" y="5762625"/>
                </a:lnTo>
                <a:lnTo>
                  <a:pt x="34925" y="5721350"/>
                </a:lnTo>
                <a:lnTo>
                  <a:pt x="20638" y="5675312"/>
                </a:lnTo>
                <a:lnTo>
                  <a:pt x="11113" y="5622925"/>
                </a:lnTo>
                <a:lnTo>
                  <a:pt x="1588" y="5562600"/>
                </a:lnTo>
                <a:lnTo>
                  <a:pt x="0" y="5494337"/>
                </a:lnTo>
                <a:lnTo>
                  <a:pt x="1588" y="5426075"/>
                </a:lnTo>
                <a:lnTo>
                  <a:pt x="11113" y="5365750"/>
                </a:lnTo>
                <a:lnTo>
                  <a:pt x="20638" y="5313362"/>
                </a:lnTo>
                <a:lnTo>
                  <a:pt x="34925" y="5268912"/>
                </a:lnTo>
                <a:lnTo>
                  <a:pt x="52388" y="5226050"/>
                </a:lnTo>
                <a:lnTo>
                  <a:pt x="69850" y="5186362"/>
                </a:lnTo>
                <a:lnTo>
                  <a:pt x="88900" y="5149850"/>
                </a:lnTo>
                <a:lnTo>
                  <a:pt x="107950" y="5114925"/>
                </a:lnTo>
                <a:lnTo>
                  <a:pt x="127000" y="5075237"/>
                </a:lnTo>
                <a:lnTo>
                  <a:pt x="142875" y="5033962"/>
                </a:lnTo>
                <a:lnTo>
                  <a:pt x="157163" y="4987925"/>
                </a:lnTo>
                <a:lnTo>
                  <a:pt x="168275" y="4935537"/>
                </a:lnTo>
                <a:lnTo>
                  <a:pt x="176213" y="4875212"/>
                </a:lnTo>
                <a:lnTo>
                  <a:pt x="179388" y="4806950"/>
                </a:lnTo>
                <a:lnTo>
                  <a:pt x="176213" y="4738687"/>
                </a:lnTo>
                <a:lnTo>
                  <a:pt x="168275" y="4678362"/>
                </a:lnTo>
                <a:lnTo>
                  <a:pt x="157163" y="4625975"/>
                </a:lnTo>
                <a:lnTo>
                  <a:pt x="142875" y="4579937"/>
                </a:lnTo>
                <a:lnTo>
                  <a:pt x="127000" y="4537075"/>
                </a:lnTo>
                <a:lnTo>
                  <a:pt x="107950" y="4498975"/>
                </a:lnTo>
                <a:lnTo>
                  <a:pt x="69850" y="4424362"/>
                </a:lnTo>
                <a:lnTo>
                  <a:pt x="52388" y="4386262"/>
                </a:lnTo>
                <a:lnTo>
                  <a:pt x="34925" y="4343400"/>
                </a:lnTo>
                <a:lnTo>
                  <a:pt x="20638" y="4297362"/>
                </a:lnTo>
                <a:lnTo>
                  <a:pt x="11113" y="4244975"/>
                </a:lnTo>
                <a:lnTo>
                  <a:pt x="1588" y="4186237"/>
                </a:lnTo>
                <a:lnTo>
                  <a:pt x="0" y="4116387"/>
                </a:lnTo>
                <a:lnTo>
                  <a:pt x="1588" y="4048125"/>
                </a:lnTo>
                <a:lnTo>
                  <a:pt x="11113" y="3987800"/>
                </a:lnTo>
                <a:lnTo>
                  <a:pt x="20638" y="3935412"/>
                </a:lnTo>
                <a:lnTo>
                  <a:pt x="34925" y="3890962"/>
                </a:lnTo>
                <a:lnTo>
                  <a:pt x="52388" y="3848100"/>
                </a:lnTo>
                <a:lnTo>
                  <a:pt x="69850" y="3811587"/>
                </a:lnTo>
                <a:lnTo>
                  <a:pt x="107950" y="3736975"/>
                </a:lnTo>
                <a:lnTo>
                  <a:pt x="127000" y="3697287"/>
                </a:lnTo>
                <a:lnTo>
                  <a:pt x="142875" y="3656012"/>
                </a:lnTo>
                <a:lnTo>
                  <a:pt x="157163" y="3609975"/>
                </a:lnTo>
                <a:lnTo>
                  <a:pt x="168275" y="3557587"/>
                </a:lnTo>
                <a:lnTo>
                  <a:pt x="176213" y="3497262"/>
                </a:lnTo>
                <a:lnTo>
                  <a:pt x="179388" y="3427412"/>
                </a:lnTo>
                <a:lnTo>
                  <a:pt x="176213" y="3360737"/>
                </a:lnTo>
                <a:lnTo>
                  <a:pt x="168275" y="3300412"/>
                </a:lnTo>
                <a:lnTo>
                  <a:pt x="157163" y="3248025"/>
                </a:lnTo>
                <a:lnTo>
                  <a:pt x="142875" y="3201987"/>
                </a:lnTo>
                <a:lnTo>
                  <a:pt x="127000" y="3160712"/>
                </a:lnTo>
                <a:lnTo>
                  <a:pt x="107950" y="3121025"/>
                </a:lnTo>
                <a:lnTo>
                  <a:pt x="88900" y="3084512"/>
                </a:lnTo>
                <a:lnTo>
                  <a:pt x="69850" y="3046412"/>
                </a:lnTo>
                <a:lnTo>
                  <a:pt x="52388" y="3009900"/>
                </a:lnTo>
                <a:lnTo>
                  <a:pt x="34925" y="2967037"/>
                </a:lnTo>
                <a:lnTo>
                  <a:pt x="20638" y="2922587"/>
                </a:lnTo>
                <a:lnTo>
                  <a:pt x="11113" y="2868612"/>
                </a:lnTo>
                <a:lnTo>
                  <a:pt x="1588" y="2809875"/>
                </a:lnTo>
                <a:lnTo>
                  <a:pt x="0" y="2741612"/>
                </a:lnTo>
                <a:lnTo>
                  <a:pt x="1588" y="2671762"/>
                </a:lnTo>
                <a:lnTo>
                  <a:pt x="11113" y="2613025"/>
                </a:lnTo>
                <a:lnTo>
                  <a:pt x="20638" y="2560637"/>
                </a:lnTo>
                <a:lnTo>
                  <a:pt x="34925" y="2513012"/>
                </a:lnTo>
                <a:lnTo>
                  <a:pt x="52388" y="2471737"/>
                </a:lnTo>
                <a:lnTo>
                  <a:pt x="69850" y="2433637"/>
                </a:lnTo>
                <a:lnTo>
                  <a:pt x="88900" y="2395537"/>
                </a:lnTo>
                <a:lnTo>
                  <a:pt x="107950" y="2359025"/>
                </a:lnTo>
                <a:lnTo>
                  <a:pt x="127000" y="2319337"/>
                </a:lnTo>
                <a:lnTo>
                  <a:pt x="142875" y="2278062"/>
                </a:lnTo>
                <a:lnTo>
                  <a:pt x="157163" y="2232025"/>
                </a:lnTo>
                <a:lnTo>
                  <a:pt x="168275" y="2179637"/>
                </a:lnTo>
                <a:lnTo>
                  <a:pt x="176213" y="2119312"/>
                </a:lnTo>
                <a:lnTo>
                  <a:pt x="179388" y="2051050"/>
                </a:lnTo>
                <a:lnTo>
                  <a:pt x="176213" y="1982787"/>
                </a:lnTo>
                <a:lnTo>
                  <a:pt x="168275" y="1922462"/>
                </a:lnTo>
                <a:lnTo>
                  <a:pt x="157163" y="1870075"/>
                </a:lnTo>
                <a:lnTo>
                  <a:pt x="142875" y="1824037"/>
                </a:lnTo>
                <a:lnTo>
                  <a:pt x="127000" y="1782762"/>
                </a:lnTo>
                <a:lnTo>
                  <a:pt x="107950" y="1743075"/>
                </a:lnTo>
                <a:lnTo>
                  <a:pt x="88900" y="1708150"/>
                </a:lnTo>
                <a:lnTo>
                  <a:pt x="69850" y="1671637"/>
                </a:lnTo>
                <a:lnTo>
                  <a:pt x="52388" y="1631950"/>
                </a:lnTo>
                <a:lnTo>
                  <a:pt x="34925" y="1589087"/>
                </a:lnTo>
                <a:lnTo>
                  <a:pt x="20638" y="1544637"/>
                </a:lnTo>
                <a:lnTo>
                  <a:pt x="11113" y="1492250"/>
                </a:lnTo>
                <a:lnTo>
                  <a:pt x="1588" y="1431925"/>
                </a:lnTo>
                <a:lnTo>
                  <a:pt x="0" y="1363662"/>
                </a:lnTo>
                <a:lnTo>
                  <a:pt x="1588" y="1295400"/>
                </a:lnTo>
                <a:lnTo>
                  <a:pt x="11113" y="1235075"/>
                </a:lnTo>
                <a:lnTo>
                  <a:pt x="20638" y="1182687"/>
                </a:lnTo>
                <a:lnTo>
                  <a:pt x="34925" y="1136650"/>
                </a:lnTo>
                <a:lnTo>
                  <a:pt x="52388" y="1095375"/>
                </a:lnTo>
                <a:lnTo>
                  <a:pt x="69850" y="1055687"/>
                </a:lnTo>
                <a:lnTo>
                  <a:pt x="88900" y="1017587"/>
                </a:lnTo>
                <a:lnTo>
                  <a:pt x="107950" y="981075"/>
                </a:lnTo>
                <a:lnTo>
                  <a:pt x="127000" y="942975"/>
                </a:lnTo>
                <a:lnTo>
                  <a:pt x="142875" y="901700"/>
                </a:lnTo>
                <a:lnTo>
                  <a:pt x="157163" y="854075"/>
                </a:lnTo>
                <a:lnTo>
                  <a:pt x="168275" y="801687"/>
                </a:lnTo>
                <a:lnTo>
                  <a:pt x="176213" y="744537"/>
                </a:lnTo>
                <a:lnTo>
                  <a:pt x="179388" y="673100"/>
                </a:lnTo>
                <a:lnTo>
                  <a:pt x="176213" y="606425"/>
                </a:lnTo>
                <a:lnTo>
                  <a:pt x="168275" y="546100"/>
                </a:lnTo>
                <a:lnTo>
                  <a:pt x="157163" y="496887"/>
                </a:lnTo>
                <a:lnTo>
                  <a:pt x="142875" y="450850"/>
                </a:lnTo>
                <a:lnTo>
                  <a:pt x="127000" y="409575"/>
                </a:lnTo>
                <a:lnTo>
                  <a:pt x="109538" y="369887"/>
                </a:lnTo>
                <a:lnTo>
                  <a:pt x="92075" y="334962"/>
                </a:lnTo>
                <a:lnTo>
                  <a:pt x="73025" y="296862"/>
                </a:lnTo>
                <a:lnTo>
                  <a:pt x="53975" y="260350"/>
                </a:lnTo>
                <a:lnTo>
                  <a:pt x="38100" y="217487"/>
                </a:lnTo>
                <a:lnTo>
                  <a:pt x="22225" y="174625"/>
                </a:lnTo>
                <a:lnTo>
                  <a:pt x="12700" y="122237"/>
                </a:lnTo>
                <a:lnTo>
                  <a:pt x="4763" y="66675"/>
                </a:lnTo>
                <a:close/>
              </a:path>
            </a:pathLst>
          </a:custGeom>
        </p:spPr>
      </p:pic>
    </p:spTree>
    <p:extLst>
      <p:ext uri="{BB962C8B-B14F-4D97-AF65-F5344CB8AC3E}">
        <p14:creationId xmlns:p14="http://schemas.microsoft.com/office/powerpoint/2010/main" val="13992257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4103" name="Rectangle 4102">
            <a:extLst>
              <a:ext uri="{FF2B5EF4-FFF2-40B4-BE49-F238E27FC236}">
                <a16:creationId xmlns:a16="http://schemas.microsoft.com/office/drawing/2014/main" id="{CA77D789-9DE0-43A3-B196-F13CFECFAC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E9530FA-26FE-B1D1-091A-D42B573026C9}"/>
              </a:ext>
            </a:extLst>
          </p:cNvPr>
          <p:cNvSpPr>
            <a:spLocks noGrp="1"/>
          </p:cNvSpPr>
          <p:nvPr>
            <p:ph type="title"/>
          </p:nvPr>
        </p:nvSpPr>
        <p:spPr>
          <a:xfrm>
            <a:off x="765051" y="382385"/>
            <a:ext cx="6015897" cy="1492132"/>
          </a:xfrm>
        </p:spPr>
        <p:txBody>
          <a:bodyPr>
            <a:normAutofit/>
          </a:bodyPr>
          <a:lstStyle/>
          <a:p>
            <a:r>
              <a:rPr lang="en-IN" dirty="0"/>
              <a:t>Licensing</a:t>
            </a:r>
          </a:p>
        </p:txBody>
      </p:sp>
      <p:sp>
        <p:nvSpPr>
          <p:cNvPr id="4105" name="Rectangle 4104">
            <a:extLst>
              <a:ext uri="{FF2B5EF4-FFF2-40B4-BE49-F238E27FC236}">
                <a16:creationId xmlns:a16="http://schemas.microsoft.com/office/drawing/2014/main" id="{F9BC648B-BC3C-4674-B1FD-2F9F1C6D75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3" name="Content Placeholder 2">
            <a:extLst>
              <a:ext uri="{FF2B5EF4-FFF2-40B4-BE49-F238E27FC236}">
                <a16:creationId xmlns:a16="http://schemas.microsoft.com/office/drawing/2014/main" id="{358507D9-3B9B-2E83-23F5-E42E79295309}"/>
              </a:ext>
            </a:extLst>
          </p:cNvPr>
          <p:cNvSpPr>
            <a:spLocks noGrp="1"/>
          </p:cNvSpPr>
          <p:nvPr>
            <p:ph idx="1"/>
          </p:nvPr>
        </p:nvSpPr>
        <p:spPr>
          <a:xfrm>
            <a:off x="219825" y="1410148"/>
            <a:ext cx="7106347" cy="4957095"/>
          </a:xfrm>
        </p:spPr>
        <p:txBody>
          <a:bodyPr>
            <a:normAutofit lnSpcReduction="10000"/>
          </a:bodyPr>
          <a:lstStyle/>
          <a:p>
            <a:pPr>
              <a:lnSpc>
                <a:spcPct val="100000"/>
              </a:lnSpc>
            </a:pPr>
            <a:r>
              <a:rPr lang="en-US" sz="1800" b="1" dirty="0">
                <a:latin typeface="Times New Roman" panose="02020603050405020304" pitchFamily="18" charset="0"/>
                <a:cs typeface="Times New Roman" panose="02020603050405020304" pitchFamily="18" charset="0"/>
              </a:rPr>
              <a:t>Licensing</a:t>
            </a:r>
            <a:r>
              <a:rPr lang="en-US" sz="1800" dirty="0">
                <a:latin typeface="Times New Roman" panose="02020603050405020304" pitchFamily="18" charset="0"/>
                <a:cs typeface="Times New Roman" panose="02020603050405020304" pitchFamily="18" charset="0"/>
              </a:rPr>
              <a:t> is an entry strategy in international business where a company (known as the </a:t>
            </a:r>
            <a:r>
              <a:rPr lang="en-US" sz="1800" b="1" dirty="0">
                <a:latin typeface="Times New Roman" panose="02020603050405020304" pitchFamily="18" charset="0"/>
                <a:cs typeface="Times New Roman" panose="02020603050405020304" pitchFamily="18" charset="0"/>
              </a:rPr>
              <a:t>licensor</a:t>
            </a:r>
            <a:r>
              <a:rPr lang="en-US" sz="1800" dirty="0">
                <a:latin typeface="Times New Roman" panose="02020603050405020304" pitchFamily="18" charset="0"/>
                <a:cs typeface="Times New Roman" panose="02020603050405020304" pitchFamily="18" charset="0"/>
              </a:rPr>
              <a:t>) allows a foreign company (known as the </a:t>
            </a:r>
            <a:r>
              <a:rPr lang="en-US" sz="1800" b="1" dirty="0">
                <a:latin typeface="Times New Roman" panose="02020603050405020304" pitchFamily="18" charset="0"/>
                <a:cs typeface="Times New Roman" panose="02020603050405020304" pitchFamily="18" charset="0"/>
              </a:rPr>
              <a:t>licensee</a:t>
            </a:r>
            <a:r>
              <a:rPr lang="en-US" sz="1800" dirty="0">
                <a:latin typeface="Times New Roman" panose="02020603050405020304" pitchFamily="18" charset="0"/>
                <a:cs typeface="Times New Roman" panose="02020603050405020304" pitchFamily="18" charset="0"/>
              </a:rPr>
              <a:t>) to use its intellectual property such as technology, patents, trademarks, brand name, or production processes for a specific period of time. In return, the licensee pays a fee or royalty to the licensor. This method allows companies to expand into foreign markets without making large investments in production facilities or operations.</a:t>
            </a:r>
          </a:p>
          <a:p>
            <a:pPr>
              <a:lnSpc>
                <a:spcPct val="100000"/>
              </a:lnSpc>
            </a:pPr>
            <a:r>
              <a:rPr lang="en-US" sz="1800" dirty="0">
                <a:latin typeface="Times New Roman" panose="02020603050405020304" pitchFamily="18" charset="0"/>
                <a:cs typeface="Times New Roman" panose="02020603050405020304" pitchFamily="18" charset="0"/>
              </a:rPr>
              <a:t>Licensing is often used when a company wants to enter a foreign market quickly while reducing financial risks. It also helps companies take advantage of local market knowledge and distribution networks provided by the licensee. However, one disadvantage of licensing is that the licensor has less control over the production and marketing of its products in the foreign market.</a:t>
            </a:r>
          </a:p>
          <a:p>
            <a:pPr>
              <a:lnSpc>
                <a:spcPct val="100000"/>
              </a:lnSpc>
            </a:pPr>
            <a:r>
              <a:rPr lang="en-US" sz="1800" b="1" dirty="0">
                <a:latin typeface="Times New Roman" panose="02020603050405020304" pitchFamily="18" charset="0"/>
                <a:cs typeface="Times New Roman" panose="02020603050405020304" pitchFamily="18" charset="0"/>
              </a:rPr>
              <a:t>Example:</a:t>
            </a:r>
            <a:br>
              <a:rPr lang="en-US" sz="1800" dirty="0">
                <a:latin typeface="Times New Roman" panose="02020603050405020304" pitchFamily="18" charset="0"/>
                <a:cs typeface="Times New Roman" panose="02020603050405020304" pitchFamily="18" charset="0"/>
              </a:rPr>
            </a:br>
            <a:r>
              <a:rPr lang="en-US" sz="1800" dirty="0">
                <a:solidFill>
                  <a:srgbClr val="FF0000"/>
                </a:solidFill>
                <a:latin typeface="Times New Roman" panose="02020603050405020304" pitchFamily="18" charset="0"/>
                <a:cs typeface="Times New Roman" panose="02020603050405020304" pitchFamily="18" charset="0"/>
              </a:rPr>
              <a:t>A pharmaceutical company may license its drug formula to a foreign company so that the foreign company can manufacture and sell the medicine in its own country while paying royalties to the original company.</a:t>
            </a:r>
          </a:p>
          <a:p>
            <a:pPr>
              <a:lnSpc>
                <a:spcPct val="100000"/>
              </a:lnSpc>
            </a:pPr>
            <a:endParaRPr lang="en-IN" sz="1800" dirty="0">
              <a:latin typeface="Times New Roman" panose="02020603050405020304" pitchFamily="18" charset="0"/>
              <a:cs typeface="Times New Roman" panose="02020603050405020304" pitchFamily="18" charset="0"/>
            </a:endParaRPr>
          </a:p>
        </p:txBody>
      </p:sp>
      <p:pic>
        <p:nvPicPr>
          <p:cNvPr id="4098" name="Picture 2">
            <a:extLst>
              <a:ext uri="{FF2B5EF4-FFF2-40B4-BE49-F238E27FC236}">
                <a16:creationId xmlns:a16="http://schemas.microsoft.com/office/drawing/2014/main" id="{068398AF-4315-878A-5164-91D10560DBA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9355"/>
          <a:stretch>
            <a:fillRect/>
          </a:stretch>
        </p:blipFill>
        <p:spPr bwMode="auto">
          <a:xfrm>
            <a:off x="7389812" y="10"/>
            <a:ext cx="4802188" cy="6857990"/>
          </a:xfrm>
          <a:custGeom>
            <a:avLst/>
            <a:gdLst/>
            <a:ahLst/>
            <a:cxnLst/>
            <a:rect l="l" t="t" r="r" b="b"/>
            <a:pathLst>
              <a:path w="4802188" h="6858000">
                <a:moveTo>
                  <a:pt x="0" y="0"/>
                </a:moveTo>
                <a:lnTo>
                  <a:pt x="4802188" y="0"/>
                </a:lnTo>
                <a:lnTo>
                  <a:pt x="4802188" y="6858000"/>
                </a:lnTo>
                <a:lnTo>
                  <a:pt x="0" y="6858000"/>
                </a:lnTo>
                <a:lnTo>
                  <a:pt x="4763" y="6791325"/>
                </a:lnTo>
                <a:lnTo>
                  <a:pt x="12700" y="6735762"/>
                </a:lnTo>
                <a:lnTo>
                  <a:pt x="22225" y="6683375"/>
                </a:lnTo>
                <a:lnTo>
                  <a:pt x="38100" y="6640512"/>
                </a:lnTo>
                <a:lnTo>
                  <a:pt x="53975" y="6597650"/>
                </a:lnTo>
                <a:lnTo>
                  <a:pt x="73025" y="6561137"/>
                </a:lnTo>
                <a:lnTo>
                  <a:pt x="92075" y="6523037"/>
                </a:lnTo>
                <a:lnTo>
                  <a:pt x="109538" y="6488112"/>
                </a:lnTo>
                <a:lnTo>
                  <a:pt x="127000" y="6448425"/>
                </a:lnTo>
                <a:lnTo>
                  <a:pt x="142875" y="6407150"/>
                </a:lnTo>
                <a:lnTo>
                  <a:pt x="157163" y="6361112"/>
                </a:lnTo>
                <a:lnTo>
                  <a:pt x="168275" y="6311900"/>
                </a:lnTo>
                <a:lnTo>
                  <a:pt x="176213" y="6251575"/>
                </a:lnTo>
                <a:lnTo>
                  <a:pt x="179388" y="6183312"/>
                </a:lnTo>
                <a:lnTo>
                  <a:pt x="176213" y="6113462"/>
                </a:lnTo>
                <a:lnTo>
                  <a:pt x="168275" y="6056312"/>
                </a:lnTo>
                <a:lnTo>
                  <a:pt x="157163" y="6003925"/>
                </a:lnTo>
                <a:lnTo>
                  <a:pt x="142875" y="5956300"/>
                </a:lnTo>
                <a:lnTo>
                  <a:pt x="127000" y="5915025"/>
                </a:lnTo>
                <a:lnTo>
                  <a:pt x="107950" y="5876925"/>
                </a:lnTo>
                <a:lnTo>
                  <a:pt x="88900" y="5840412"/>
                </a:lnTo>
                <a:lnTo>
                  <a:pt x="69850" y="5802312"/>
                </a:lnTo>
                <a:lnTo>
                  <a:pt x="52388" y="5762625"/>
                </a:lnTo>
                <a:lnTo>
                  <a:pt x="34925" y="5721350"/>
                </a:lnTo>
                <a:lnTo>
                  <a:pt x="20638" y="5675312"/>
                </a:lnTo>
                <a:lnTo>
                  <a:pt x="11113" y="5622925"/>
                </a:lnTo>
                <a:lnTo>
                  <a:pt x="1588" y="5562600"/>
                </a:lnTo>
                <a:lnTo>
                  <a:pt x="0" y="5494337"/>
                </a:lnTo>
                <a:lnTo>
                  <a:pt x="1588" y="5426075"/>
                </a:lnTo>
                <a:lnTo>
                  <a:pt x="11113" y="5365750"/>
                </a:lnTo>
                <a:lnTo>
                  <a:pt x="20638" y="5313362"/>
                </a:lnTo>
                <a:lnTo>
                  <a:pt x="34925" y="5268912"/>
                </a:lnTo>
                <a:lnTo>
                  <a:pt x="52388" y="5226050"/>
                </a:lnTo>
                <a:lnTo>
                  <a:pt x="69850" y="5186362"/>
                </a:lnTo>
                <a:lnTo>
                  <a:pt x="88900" y="5149850"/>
                </a:lnTo>
                <a:lnTo>
                  <a:pt x="107950" y="5114925"/>
                </a:lnTo>
                <a:lnTo>
                  <a:pt x="127000" y="5075237"/>
                </a:lnTo>
                <a:lnTo>
                  <a:pt x="142875" y="5033962"/>
                </a:lnTo>
                <a:lnTo>
                  <a:pt x="157163" y="4987925"/>
                </a:lnTo>
                <a:lnTo>
                  <a:pt x="168275" y="4935537"/>
                </a:lnTo>
                <a:lnTo>
                  <a:pt x="176213" y="4875212"/>
                </a:lnTo>
                <a:lnTo>
                  <a:pt x="179388" y="4806950"/>
                </a:lnTo>
                <a:lnTo>
                  <a:pt x="176213" y="4738687"/>
                </a:lnTo>
                <a:lnTo>
                  <a:pt x="168275" y="4678362"/>
                </a:lnTo>
                <a:lnTo>
                  <a:pt x="157163" y="4625975"/>
                </a:lnTo>
                <a:lnTo>
                  <a:pt x="142875" y="4579937"/>
                </a:lnTo>
                <a:lnTo>
                  <a:pt x="127000" y="4537075"/>
                </a:lnTo>
                <a:lnTo>
                  <a:pt x="107950" y="4498975"/>
                </a:lnTo>
                <a:lnTo>
                  <a:pt x="69850" y="4424362"/>
                </a:lnTo>
                <a:lnTo>
                  <a:pt x="52388" y="4386262"/>
                </a:lnTo>
                <a:lnTo>
                  <a:pt x="34925" y="4343400"/>
                </a:lnTo>
                <a:lnTo>
                  <a:pt x="20638" y="4297362"/>
                </a:lnTo>
                <a:lnTo>
                  <a:pt x="11113" y="4244975"/>
                </a:lnTo>
                <a:lnTo>
                  <a:pt x="1588" y="4186237"/>
                </a:lnTo>
                <a:lnTo>
                  <a:pt x="0" y="4116387"/>
                </a:lnTo>
                <a:lnTo>
                  <a:pt x="1588" y="4048125"/>
                </a:lnTo>
                <a:lnTo>
                  <a:pt x="11113" y="3987800"/>
                </a:lnTo>
                <a:lnTo>
                  <a:pt x="20638" y="3935412"/>
                </a:lnTo>
                <a:lnTo>
                  <a:pt x="34925" y="3890962"/>
                </a:lnTo>
                <a:lnTo>
                  <a:pt x="52388" y="3848100"/>
                </a:lnTo>
                <a:lnTo>
                  <a:pt x="69850" y="3811587"/>
                </a:lnTo>
                <a:lnTo>
                  <a:pt x="107950" y="3736975"/>
                </a:lnTo>
                <a:lnTo>
                  <a:pt x="127000" y="3697287"/>
                </a:lnTo>
                <a:lnTo>
                  <a:pt x="142875" y="3656012"/>
                </a:lnTo>
                <a:lnTo>
                  <a:pt x="157163" y="3609975"/>
                </a:lnTo>
                <a:lnTo>
                  <a:pt x="168275" y="3557587"/>
                </a:lnTo>
                <a:lnTo>
                  <a:pt x="176213" y="3497262"/>
                </a:lnTo>
                <a:lnTo>
                  <a:pt x="179388" y="3427412"/>
                </a:lnTo>
                <a:lnTo>
                  <a:pt x="176213" y="3360737"/>
                </a:lnTo>
                <a:lnTo>
                  <a:pt x="168275" y="3300412"/>
                </a:lnTo>
                <a:lnTo>
                  <a:pt x="157163" y="3248025"/>
                </a:lnTo>
                <a:lnTo>
                  <a:pt x="142875" y="3201987"/>
                </a:lnTo>
                <a:lnTo>
                  <a:pt x="127000" y="3160712"/>
                </a:lnTo>
                <a:lnTo>
                  <a:pt x="107950" y="3121025"/>
                </a:lnTo>
                <a:lnTo>
                  <a:pt x="88900" y="3084512"/>
                </a:lnTo>
                <a:lnTo>
                  <a:pt x="69850" y="3046412"/>
                </a:lnTo>
                <a:lnTo>
                  <a:pt x="52388" y="3009900"/>
                </a:lnTo>
                <a:lnTo>
                  <a:pt x="34925" y="2967037"/>
                </a:lnTo>
                <a:lnTo>
                  <a:pt x="20638" y="2922587"/>
                </a:lnTo>
                <a:lnTo>
                  <a:pt x="11113" y="2868612"/>
                </a:lnTo>
                <a:lnTo>
                  <a:pt x="1588" y="2809875"/>
                </a:lnTo>
                <a:lnTo>
                  <a:pt x="0" y="2741612"/>
                </a:lnTo>
                <a:lnTo>
                  <a:pt x="1588" y="2671762"/>
                </a:lnTo>
                <a:lnTo>
                  <a:pt x="11113" y="2613025"/>
                </a:lnTo>
                <a:lnTo>
                  <a:pt x="20638" y="2560637"/>
                </a:lnTo>
                <a:lnTo>
                  <a:pt x="34925" y="2513012"/>
                </a:lnTo>
                <a:lnTo>
                  <a:pt x="52388" y="2471737"/>
                </a:lnTo>
                <a:lnTo>
                  <a:pt x="69850" y="2433637"/>
                </a:lnTo>
                <a:lnTo>
                  <a:pt x="88900" y="2395537"/>
                </a:lnTo>
                <a:lnTo>
                  <a:pt x="107950" y="2359025"/>
                </a:lnTo>
                <a:lnTo>
                  <a:pt x="127000" y="2319337"/>
                </a:lnTo>
                <a:lnTo>
                  <a:pt x="142875" y="2278062"/>
                </a:lnTo>
                <a:lnTo>
                  <a:pt x="157163" y="2232025"/>
                </a:lnTo>
                <a:lnTo>
                  <a:pt x="168275" y="2179637"/>
                </a:lnTo>
                <a:lnTo>
                  <a:pt x="176213" y="2119312"/>
                </a:lnTo>
                <a:lnTo>
                  <a:pt x="179388" y="2051050"/>
                </a:lnTo>
                <a:lnTo>
                  <a:pt x="176213" y="1982787"/>
                </a:lnTo>
                <a:lnTo>
                  <a:pt x="168275" y="1922462"/>
                </a:lnTo>
                <a:lnTo>
                  <a:pt x="157163" y="1870075"/>
                </a:lnTo>
                <a:lnTo>
                  <a:pt x="142875" y="1824037"/>
                </a:lnTo>
                <a:lnTo>
                  <a:pt x="127000" y="1782762"/>
                </a:lnTo>
                <a:lnTo>
                  <a:pt x="107950" y="1743075"/>
                </a:lnTo>
                <a:lnTo>
                  <a:pt x="88900" y="1708150"/>
                </a:lnTo>
                <a:lnTo>
                  <a:pt x="69850" y="1671637"/>
                </a:lnTo>
                <a:lnTo>
                  <a:pt x="52388" y="1631950"/>
                </a:lnTo>
                <a:lnTo>
                  <a:pt x="34925" y="1589087"/>
                </a:lnTo>
                <a:lnTo>
                  <a:pt x="20638" y="1544637"/>
                </a:lnTo>
                <a:lnTo>
                  <a:pt x="11113" y="1492250"/>
                </a:lnTo>
                <a:lnTo>
                  <a:pt x="1588" y="1431925"/>
                </a:lnTo>
                <a:lnTo>
                  <a:pt x="0" y="1363662"/>
                </a:lnTo>
                <a:lnTo>
                  <a:pt x="1588" y="1295400"/>
                </a:lnTo>
                <a:lnTo>
                  <a:pt x="11113" y="1235075"/>
                </a:lnTo>
                <a:lnTo>
                  <a:pt x="20638" y="1182687"/>
                </a:lnTo>
                <a:lnTo>
                  <a:pt x="34925" y="1136650"/>
                </a:lnTo>
                <a:lnTo>
                  <a:pt x="52388" y="1095375"/>
                </a:lnTo>
                <a:lnTo>
                  <a:pt x="69850" y="1055687"/>
                </a:lnTo>
                <a:lnTo>
                  <a:pt x="88900" y="1017587"/>
                </a:lnTo>
                <a:lnTo>
                  <a:pt x="107950" y="981075"/>
                </a:lnTo>
                <a:lnTo>
                  <a:pt x="127000" y="942975"/>
                </a:lnTo>
                <a:lnTo>
                  <a:pt x="142875" y="901700"/>
                </a:lnTo>
                <a:lnTo>
                  <a:pt x="157163" y="854075"/>
                </a:lnTo>
                <a:lnTo>
                  <a:pt x="168275" y="801687"/>
                </a:lnTo>
                <a:lnTo>
                  <a:pt x="176213" y="744537"/>
                </a:lnTo>
                <a:lnTo>
                  <a:pt x="179388" y="673100"/>
                </a:lnTo>
                <a:lnTo>
                  <a:pt x="176213" y="606425"/>
                </a:lnTo>
                <a:lnTo>
                  <a:pt x="168275" y="546100"/>
                </a:lnTo>
                <a:lnTo>
                  <a:pt x="157163" y="496887"/>
                </a:lnTo>
                <a:lnTo>
                  <a:pt x="142875" y="450850"/>
                </a:lnTo>
                <a:lnTo>
                  <a:pt x="127000" y="409575"/>
                </a:lnTo>
                <a:lnTo>
                  <a:pt x="109538" y="369887"/>
                </a:lnTo>
                <a:lnTo>
                  <a:pt x="92075" y="334962"/>
                </a:lnTo>
                <a:lnTo>
                  <a:pt x="73025" y="296862"/>
                </a:lnTo>
                <a:lnTo>
                  <a:pt x="53975" y="260350"/>
                </a:lnTo>
                <a:lnTo>
                  <a:pt x="38100" y="217487"/>
                </a:lnTo>
                <a:lnTo>
                  <a:pt x="22225" y="174625"/>
                </a:lnTo>
                <a:lnTo>
                  <a:pt x="12700" y="122237"/>
                </a:lnTo>
                <a:lnTo>
                  <a:pt x="4763" y="66675"/>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46909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CA77D789-9DE0-43A3-B196-F13CFECFAC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1668920-6931-952C-D89E-22D98BAD2453}"/>
              </a:ext>
            </a:extLst>
          </p:cNvPr>
          <p:cNvSpPr>
            <a:spLocks noGrp="1"/>
          </p:cNvSpPr>
          <p:nvPr>
            <p:ph type="title"/>
          </p:nvPr>
        </p:nvSpPr>
        <p:spPr>
          <a:xfrm>
            <a:off x="765051" y="382385"/>
            <a:ext cx="6015897" cy="1492132"/>
          </a:xfrm>
        </p:spPr>
        <p:txBody>
          <a:bodyPr>
            <a:normAutofit/>
          </a:bodyPr>
          <a:lstStyle/>
          <a:p>
            <a:r>
              <a:rPr lang="en-IN" dirty="0"/>
              <a:t>Franchising</a:t>
            </a:r>
          </a:p>
        </p:txBody>
      </p:sp>
      <p:sp>
        <p:nvSpPr>
          <p:cNvPr id="1033" name="Rectangle 1032">
            <a:extLst>
              <a:ext uri="{FF2B5EF4-FFF2-40B4-BE49-F238E27FC236}">
                <a16:creationId xmlns:a16="http://schemas.microsoft.com/office/drawing/2014/main" id="{F9BC648B-BC3C-4674-B1FD-2F9F1C6D75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3" name="Content Placeholder 2">
            <a:extLst>
              <a:ext uri="{FF2B5EF4-FFF2-40B4-BE49-F238E27FC236}">
                <a16:creationId xmlns:a16="http://schemas.microsoft.com/office/drawing/2014/main" id="{19AF2190-92DD-65DC-3743-91D2595872DB}"/>
              </a:ext>
            </a:extLst>
          </p:cNvPr>
          <p:cNvSpPr>
            <a:spLocks noGrp="1"/>
          </p:cNvSpPr>
          <p:nvPr>
            <p:ph idx="1"/>
          </p:nvPr>
        </p:nvSpPr>
        <p:spPr>
          <a:xfrm>
            <a:off x="283464" y="1426128"/>
            <a:ext cx="7014957" cy="4749566"/>
          </a:xfrm>
        </p:spPr>
        <p:txBody>
          <a:bodyPr>
            <a:normAutofit fontScale="92500"/>
          </a:bodyPr>
          <a:lstStyle/>
          <a:p>
            <a:pPr>
              <a:lnSpc>
                <a:spcPct val="100000"/>
              </a:lnSpc>
            </a:pPr>
            <a:r>
              <a:rPr lang="en-US" sz="1800" b="1" dirty="0">
                <a:latin typeface="Times New Roman" panose="02020603050405020304" pitchFamily="18" charset="0"/>
                <a:cs typeface="Times New Roman" panose="02020603050405020304" pitchFamily="18" charset="0"/>
              </a:rPr>
              <a:t>Franchising</a:t>
            </a:r>
            <a:r>
              <a:rPr lang="en-US" sz="1800" dirty="0">
                <a:latin typeface="Times New Roman" panose="02020603050405020304" pitchFamily="18" charset="0"/>
                <a:cs typeface="Times New Roman" panose="02020603050405020304" pitchFamily="18" charset="0"/>
              </a:rPr>
              <a:t> is an entry strategy in international business where a company (known as the </a:t>
            </a:r>
            <a:r>
              <a:rPr lang="en-US" sz="1800" b="1" dirty="0">
                <a:latin typeface="Times New Roman" panose="02020603050405020304" pitchFamily="18" charset="0"/>
                <a:cs typeface="Times New Roman" panose="02020603050405020304" pitchFamily="18" charset="0"/>
              </a:rPr>
              <a:t>franchisor</a:t>
            </a:r>
            <a:r>
              <a:rPr lang="en-US" sz="1800" dirty="0">
                <a:latin typeface="Times New Roman" panose="02020603050405020304" pitchFamily="18" charset="0"/>
                <a:cs typeface="Times New Roman" panose="02020603050405020304" pitchFamily="18" charset="0"/>
              </a:rPr>
              <a:t>) allows a foreign partner (known as the </a:t>
            </a:r>
            <a:r>
              <a:rPr lang="en-US" sz="1800" b="1" dirty="0">
                <a:latin typeface="Times New Roman" panose="02020603050405020304" pitchFamily="18" charset="0"/>
                <a:cs typeface="Times New Roman" panose="02020603050405020304" pitchFamily="18" charset="0"/>
              </a:rPr>
              <a:t>franchisee</a:t>
            </a:r>
            <a:r>
              <a:rPr lang="en-US" sz="1800" dirty="0">
                <a:latin typeface="Times New Roman" panose="02020603050405020304" pitchFamily="18" charset="0"/>
                <a:cs typeface="Times New Roman" panose="02020603050405020304" pitchFamily="18" charset="0"/>
              </a:rPr>
              <a:t>) to use its brand name, business model, products, and operational methods to run a business. In return, the franchisee pays fees or royalties to the franchisor. This method is commonly used by companies in the service industry such as restaurants, hotels, and retail businesses.</a:t>
            </a:r>
          </a:p>
          <a:p>
            <a:pPr>
              <a:lnSpc>
                <a:spcPct val="100000"/>
              </a:lnSpc>
            </a:pPr>
            <a:r>
              <a:rPr lang="en-US" sz="1800" dirty="0">
                <a:latin typeface="Times New Roman" panose="02020603050405020304" pitchFamily="18" charset="0"/>
                <a:cs typeface="Times New Roman" panose="02020603050405020304" pitchFamily="18" charset="0"/>
              </a:rPr>
              <a:t>Franchising helps companies expand internationally with lower investment and reduced risk because the franchisee is responsible for managing the local business operations. The franchisor provides training, marketing support, and business guidelines to ensure that the business maintains the same quality and standards worldwide. However, franchising requires strict control to maintain brand reputation and service quality.</a:t>
            </a:r>
          </a:p>
          <a:p>
            <a:pPr>
              <a:lnSpc>
                <a:spcPct val="100000"/>
              </a:lnSpc>
            </a:pPr>
            <a:r>
              <a:rPr lang="en-US" sz="1800" b="1" dirty="0">
                <a:latin typeface="Times New Roman" panose="02020603050405020304" pitchFamily="18" charset="0"/>
                <a:cs typeface="Times New Roman" panose="02020603050405020304" pitchFamily="18" charset="0"/>
              </a:rPr>
              <a:t>Example:</a:t>
            </a:r>
            <a:br>
              <a:rPr lang="en-US" sz="1800" dirty="0">
                <a:latin typeface="Times New Roman" panose="02020603050405020304" pitchFamily="18" charset="0"/>
                <a:cs typeface="Times New Roman" panose="02020603050405020304" pitchFamily="18" charset="0"/>
              </a:rPr>
            </a:br>
            <a:r>
              <a:rPr lang="en-US" sz="1800" dirty="0">
                <a:solidFill>
                  <a:srgbClr val="FF0000"/>
                </a:solidFill>
                <a:latin typeface="Times New Roman" panose="02020603050405020304" pitchFamily="18" charset="0"/>
                <a:cs typeface="Times New Roman" panose="02020603050405020304" pitchFamily="18" charset="0"/>
              </a:rPr>
              <a:t>McDonald’s expands its restaurants around the world through franchising. Local entrepreneurs operate McDonald’s outlets using the company’s brand name, menu, and business system while paying franchise fees to the company.</a:t>
            </a:r>
          </a:p>
          <a:p>
            <a:pPr>
              <a:lnSpc>
                <a:spcPct val="100000"/>
              </a:lnSpc>
            </a:pPr>
            <a:endParaRPr lang="en-IN" sz="1800" dirty="0">
              <a:latin typeface="Times New Roman" panose="02020603050405020304" pitchFamily="18" charset="0"/>
              <a:cs typeface="Times New Roman" panose="02020603050405020304" pitchFamily="18" charset="0"/>
            </a:endParaRPr>
          </a:p>
        </p:txBody>
      </p:sp>
      <p:pic>
        <p:nvPicPr>
          <p:cNvPr id="1026" name="Picture 2">
            <a:extLst>
              <a:ext uri="{FF2B5EF4-FFF2-40B4-BE49-F238E27FC236}">
                <a16:creationId xmlns:a16="http://schemas.microsoft.com/office/drawing/2014/main" id="{DC0A0842-387D-AAB0-6C78-4D2A1CF5A29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38296" r="24941"/>
          <a:stretch>
            <a:fillRect/>
          </a:stretch>
        </p:blipFill>
        <p:spPr bwMode="auto">
          <a:xfrm>
            <a:off x="7389812" y="10"/>
            <a:ext cx="4802188" cy="6857990"/>
          </a:xfrm>
          <a:custGeom>
            <a:avLst/>
            <a:gdLst/>
            <a:ahLst/>
            <a:cxnLst/>
            <a:rect l="l" t="t" r="r" b="b"/>
            <a:pathLst>
              <a:path w="4802188" h="6858000">
                <a:moveTo>
                  <a:pt x="0" y="0"/>
                </a:moveTo>
                <a:lnTo>
                  <a:pt x="4802188" y="0"/>
                </a:lnTo>
                <a:lnTo>
                  <a:pt x="4802188" y="6858000"/>
                </a:lnTo>
                <a:lnTo>
                  <a:pt x="0" y="6858000"/>
                </a:lnTo>
                <a:lnTo>
                  <a:pt x="4763" y="6791325"/>
                </a:lnTo>
                <a:lnTo>
                  <a:pt x="12700" y="6735762"/>
                </a:lnTo>
                <a:lnTo>
                  <a:pt x="22225" y="6683375"/>
                </a:lnTo>
                <a:lnTo>
                  <a:pt x="38100" y="6640512"/>
                </a:lnTo>
                <a:lnTo>
                  <a:pt x="53975" y="6597650"/>
                </a:lnTo>
                <a:lnTo>
                  <a:pt x="73025" y="6561137"/>
                </a:lnTo>
                <a:lnTo>
                  <a:pt x="92075" y="6523037"/>
                </a:lnTo>
                <a:lnTo>
                  <a:pt x="109538" y="6488112"/>
                </a:lnTo>
                <a:lnTo>
                  <a:pt x="127000" y="6448425"/>
                </a:lnTo>
                <a:lnTo>
                  <a:pt x="142875" y="6407150"/>
                </a:lnTo>
                <a:lnTo>
                  <a:pt x="157163" y="6361112"/>
                </a:lnTo>
                <a:lnTo>
                  <a:pt x="168275" y="6311900"/>
                </a:lnTo>
                <a:lnTo>
                  <a:pt x="176213" y="6251575"/>
                </a:lnTo>
                <a:lnTo>
                  <a:pt x="179388" y="6183312"/>
                </a:lnTo>
                <a:lnTo>
                  <a:pt x="176213" y="6113462"/>
                </a:lnTo>
                <a:lnTo>
                  <a:pt x="168275" y="6056312"/>
                </a:lnTo>
                <a:lnTo>
                  <a:pt x="157163" y="6003925"/>
                </a:lnTo>
                <a:lnTo>
                  <a:pt x="142875" y="5956300"/>
                </a:lnTo>
                <a:lnTo>
                  <a:pt x="127000" y="5915025"/>
                </a:lnTo>
                <a:lnTo>
                  <a:pt x="107950" y="5876925"/>
                </a:lnTo>
                <a:lnTo>
                  <a:pt x="88900" y="5840412"/>
                </a:lnTo>
                <a:lnTo>
                  <a:pt x="69850" y="5802312"/>
                </a:lnTo>
                <a:lnTo>
                  <a:pt x="52388" y="5762625"/>
                </a:lnTo>
                <a:lnTo>
                  <a:pt x="34925" y="5721350"/>
                </a:lnTo>
                <a:lnTo>
                  <a:pt x="20638" y="5675312"/>
                </a:lnTo>
                <a:lnTo>
                  <a:pt x="11113" y="5622925"/>
                </a:lnTo>
                <a:lnTo>
                  <a:pt x="1588" y="5562600"/>
                </a:lnTo>
                <a:lnTo>
                  <a:pt x="0" y="5494337"/>
                </a:lnTo>
                <a:lnTo>
                  <a:pt x="1588" y="5426075"/>
                </a:lnTo>
                <a:lnTo>
                  <a:pt x="11113" y="5365750"/>
                </a:lnTo>
                <a:lnTo>
                  <a:pt x="20638" y="5313362"/>
                </a:lnTo>
                <a:lnTo>
                  <a:pt x="34925" y="5268912"/>
                </a:lnTo>
                <a:lnTo>
                  <a:pt x="52388" y="5226050"/>
                </a:lnTo>
                <a:lnTo>
                  <a:pt x="69850" y="5186362"/>
                </a:lnTo>
                <a:lnTo>
                  <a:pt x="88900" y="5149850"/>
                </a:lnTo>
                <a:lnTo>
                  <a:pt x="107950" y="5114925"/>
                </a:lnTo>
                <a:lnTo>
                  <a:pt x="127000" y="5075237"/>
                </a:lnTo>
                <a:lnTo>
                  <a:pt x="142875" y="5033962"/>
                </a:lnTo>
                <a:lnTo>
                  <a:pt x="157163" y="4987925"/>
                </a:lnTo>
                <a:lnTo>
                  <a:pt x="168275" y="4935537"/>
                </a:lnTo>
                <a:lnTo>
                  <a:pt x="176213" y="4875212"/>
                </a:lnTo>
                <a:lnTo>
                  <a:pt x="179388" y="4806950"/>
                </a:lnTo>
                <a:lnTo>
                  <a:pt x="176213" y="4738687"/>
                </a:lnTo>
                <a:lnTo>
                  <a:pt x="168275" y="4678362"/>
                </a:lnTo>
                <a:lnTo>
                  <a:pt x="157163" y="4625975"/>
                </a:lnTo>
                <a:lnTo>
                  <a:pt x="142875" y="4579937"/>
                </a:lnTo>
                <a:lnTo>
                  <a:pt x="127000" y="4537075"/>
                </a:lnTo>
                <a:lnTo>
                  <a:pt x="107950" y="4498975"/>
                </a:lnTo>
                <a:lnTo>
                  <a:pt x="69850" y="4424362"/>
                </a:lnTo>
                <a:lnTo>
                  <a:pt x="52388" y="4386262"/>
                </a:lnTo>
                <a:lnTo>
                  <a:pt x="34925" y="4343400"/>
                </a:lnTo>
                <a:lnTo>
                  <a:pt x="20638" y="4297362"/>
                </a:lnTo>
                <a:lnTo>
                  <a:pt x="11113" y="4244975"/>
                </a:lnTo>
                <a:lnTo>
                  <a:pt x="1588" y="4186237"/>
                </a:lnTo>
                <a:lnTo>
                  <a:pt x="0" y="4116387"/>
                </a:lnTo>
                <a:lnTo>
                  <a:pt x="1588" y="4048125"/>
                </a:lnTo>
                <a:lnTo>
                  <a:pt x="11113" y="3987800"/>
                </a:lnTo>
                <a:lnTo>
                  <a:pt x="20638" y="3935412"/>
                </a:lnTo>
                <a:lnTo>
                  <a:pt x="34925" y="3890962"/>
                </a:lnTo>
                <a:lnTo>
                  <a:pt x="52388" y="3848100"/>
                </a:lnTo>
                <a:lnTo>
                  <a:pt x="69850" y="3811587"/>
                </a:lnTo>
                <a:lnTo>
                  <a:pt x="107950" y="3736975"/>
                </a:lnTo>
                <a:lnTo>
                  <a:pt x="127000" y="3697287"/>
                </a:lnTo>
                <a:lnTo>
                  <a:pt x="142875" y="3656012"/>
                </a:lnTo>
                <a:lnTo>
                  <a:pt x="157163" y="3609975"/>
                </a:lnTo>
                <a:lnTo>
                  <a:pt x="168275" y="3557587"/>
                </a:lnTo>
                <a:lnTo>
                  <a:pt x="176213" y="3497262"/>
                </a:lnTo>
                <a:lnTo>
                  <a:pt x="179388" y="3427412"/>
                </a:lnTo>
                <a:lnTo>
                  <a:pt x="176213" y="3360737"/>
                </a:lnTo>
                <a:lnTo>
                  <a:pt x="168275" y="3300412"/>
                </a:lnTo>
                <a:lnTo>
                  <a:pt x="157163" y="3248025"/>
                </a:lnTo>
                <a:lnTo>
                  <a:pt x="142875" y="3201987"/>
                </a:lnTo>
                <a:lnTo>
                  <a:pt x="127000" y="3160712"/>
                </a:lnTo>
                <a:lnTo>
                  <a:pt x="107950" y="3121025"/>
                </a:lnTo>
                <a:lnTo>
                  <a:pt x="88900" y="3084512"/>
                </a:lnTo>
                <a:lnTo>
                  <a:pt x="69850" y="3046412"/>
                </a:lnTo>
                <a:lnTo>
                  <a:pt x="52388" y="3009900"/>
                </a:lnTo>
                <a:lnTo>
                  <a:pt x="34925" y="2967037"/>
                </a:lnTo>
                <a:lnTo>
                  <a:pt x="20638" y="2922587"/>
                </a:lnTo>
                <a:lnTo>
                  <a:pt x="11113" y="2868612"/>
                </a:lnTo>
                <a:lnTo>
                  <a:pt x="1588" y="2809875"/>
                </a:lnTo>
                <a:lnTo>
                  <a:pt x="0" y="2741612"/>
                </a:lnTo>
                <a:lnTo>
                  <a:pt x="1588" y="2671762"/>
                </a:lnTo>
                <a:lnTo>
                  <a:pt x="11113" y="2613025"/>
                </a:lnTo>
                <a:lnTo>
                  <a:pt x="20638" y="2560637"/>
                </a:lnTo>
                <a:lnTo>
                  <a:pt x="34925" y="2513012"/>
                </a:lnTo>
                <a:lnTo>
                  <a:pt x="52388" y="2471737"/>
                </a:lnTo>
                <a:lnTo>
                  <a:pt x="69850" y="2433637"/>
                </a:lnTo>
                <a:lnTo>
                  <a:pt x="88900" y="2395537"/>
                </a:lnTo>
                <a:lnTo>
                  <a:pt x="107950" y="2359025"/>
                </a:lnTo>
                <a:lnTo>
                  <a:pt x="127000" y="2319337"/>
                </a:lnTo>
                <a:lnTo>
                  <a:pt x="142875" y="2278062"/>
                </a:lnTo>
                <a:lnTo>
                  <a:pt x="157163" y="2232025"/>
                </a:lnTo>
                <a:lnTo>
                  <a:pt x="168275" y="2179637"/>
                </a:lnTo>
                <a:lnTo>
                  <a:pt x="176213" y="2119312"/>
                </a:lnTo>
                <a:lnTo>
                  <a:pt x="179388" y="2051050"/>
                </a:lnTo>
                <a:lnTo>
                  <a:pt x="176213" y="1982787"/>
                </a:lnTo>
                <a:lnTo>
                  <a:pt x="168275" y="1922462"/>
                </a:lnTo>
                <a:lnTo>
                  <a:pt x="157163" y="1870075"/>
                </a:lnTo>
                <a:lnTo>
                  <a:pt x="142875" y="1824037"/>
                </a:lnTo>
                <a:lnTo>
                  <a:pt x="127000" y="1782762"/>
                </a:lnTo>
                <a:lnTo>
                  <a:pt x="107950" y="1743075"/>
                </a:lnTo>
                <a:lnTo>
                  <a:pt x="88900" y="1708150"/>
                </a:lnTo>
                <a:lnTo>
                  <a:pt x="69850" y="1671637"/>
                </a:lnTo>
                <a:lnTo>
                  <a:pt x="52388" y="1631950"/>
                </a:lnTo>
                <a:lnTo>
                  <a:pt x="34925" y="1589087"/>
                </a:lnTo>
                <a:lnTo>
                  <a:pt x="20638" y="1544637"/>
                </a:lnTo>
                <a:lnTo>
                  <a:pt x="11113" y="1492250"/>
                </a:lnTo>
                <a:lnTo>
                  <a:pt x="1588" y="1431925"/>
                </a:lnTo>
                <a:lnTo>
                  <a:pt x="0" y="1363662"/>
                </a:lnTo>
                <a:lnTo>
                  <a:pt x="1588" y="1295400"/>
                </a:lnTo>
                <a:lnTo>
                  <a:pt x="11113" y="1235075"/>
                </a:lnTo>
                <a:lnTo>
                  <a:pt x="20638" y="1182687"/>
                </a:lnTo>
                <a:lnTo>
                  <a:pt x="34925" y="1136650"/>
                </a:lnTo>
                <a:lnTo>
                  <a:pt x="52388" y="1095375"/>
                </a:lnTo>
                <a:lnTo>
                  <a:pt x="69850" y="1055687"/>
                </a:lnTo>
                <a:lnTo>
                  <a:pt x="88900" y="1017587"/>
                </a:lnTo>
                <a:lnTo>
                  <a:pt x="107950" y="981075"/>
                </a:lnTo>
                <a:lnTo>
                  <a:pt x="127000" y="942975"/>
                </a:lnTo>
                <a:lnTo>
                  <a:pt x="142875" y="901700"/>
                </a:lnTo>
                <a:lnTo>
                  <a:pt x="157163" y="854075"/>
                </a:lnTo>
                <a:lnTo>
                  <a:pt x="168275" y="801687"/>
                </a:lnTo>
                <a:lnTo>
                  <a:pt x="176213" y="744537"/>
                </a:lnTo>
                <a:lnTo>
                  <a:pt x="179388" y="673100"/>
                </a:lnTo>
                <a:lnTo>
                  <a:pt x="176213" y="606425"/>
                </a:lnTo>
                <a:lnTo>
                  <a:pt x="168275" y="546100"/>
                </a:lnTo>
                <a:lnTo>
                  <a:pt x="157163" y="496887"/>
                </a:lnTo>
                <a:lnTo>
                  <a:pt x="142875" y="450850"/>
                </a:lnTo>
                <a:lnTo>
                  <a:pt x="127000" y="409575"/>
                </a:lnTo>
                <a:lnTo>
                  <a:pt x="109538" y="369887"/>
                </a:lnTo>
                <a:lnTo>
                  <a:pt x="92075" y="334962"/>
                </a:lnTo>
                <a:lnTo>
                  <a:pt x="73025" y="296862"/>
                </a:lnTo>
                <a:lnTo>
                  <a:pt x="53975" y="260350"/>
                </a:lnTo>
                <a:lnTo>
                  <a:pt x="38100" y="217487"/>
                </a:lnTo>
                <a:lnTo>
                  <a:pt x="22225" y="174625"/>
                </a:lnTo>
                <a:lnTo>
                  <a:pt x="12700" y="122237"/>
                </a:lnTo>
                <a:lnTo>
                  <a:pt x="4763" y="66675"/>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133207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74BD3A9-25D1-4691-BE05-149182EC4C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2" name="Freeform 10">
            <a:extLst>
              <a:ext uri="{FF2B5EF4-FFF2-40B4-BE49-F238E27FC236}">
                <a16:creationId xmlns:a16="http://schemas.microsoft.com/office/drawing/2014/main" id="{8D49CF1A-01DD-4115-A6BB-CFA8F70453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0" y="0"/>
            <a:ext cx="7569200" cy="6858000"/>
          </a:xfrm>
          <a:custGeom>
            <a:avLst/>
            <a:gdLst>
              <a:gd name="connsiteX0" fmla="*/ 0 w 7569200"/>
              <a:gd name="connsiteY0" fmla="*/ 0 h 6858000"/>
              <a:gd name="connsiteX1" fmla="*/ 7389812 w 7569200"/>
              <a:gd name="connsiteY1" fmla="*/ 0 h 6858000"/>
              <a:gd name="connsiteX2" fmla="*/ 7394575 w 7569200"/>
              <a:gd name="connsiteY2" fmla="*/ 66675 h 6858000"/>
              <a:gd name="connsiteX3" fmla="*/ 7402512 w 7569200"/>
              <a:gd name="connsiteY3" fmla="*/ 122237 h 6858000"/>
              <a:gd name="connsiteX4" fmla="*/ 7412037 w 7569200"/>
              <a:gd name="connsiteY4" fmla="*/ 174625 h 6858000"/>
              <a:gd name="connsiteX5" fmla="*/ 7427912 w 7569200"/>
              <a:gd name="connsiteY5" fmla="*/ 217487 h 6858000"/>
              <a:gd name="connsiteX6" fmla="*/ 7443787 w 7569200"/>
              <a:gd name="connsiteY6" fmla="*/ 260350 h 6858000"/>
              <a:gd name="connsiteX7" fmla="*/ 7462837 w 7569200"/>
              <a:gd name="connsiteY7" fmla="*/ 296862 h 6858000"/>
              <a:gd name="connsiteX8" fmla="*/ 7481887 w 7569200"/>
              <a:gd name="connsiteY8" fmla="*/ 334962 h 6858000"/>
              <a:gd name="connsiteX9" fmla="*/ 7499350 w 7569200"/>
              <a:gd name="connsiteY9" fmla="*/ 369887 h 6858000"/>
              <a:gd name="connsiteX10" fmla="*/ 7516812 w 7569200"/>
              <a:gd name="connsiteY10" fmla="*/ 409575 h 6858000"/>
              <a:gd name="connsiteX11" fmla="*/ 7532687 w 7569200"/>
              <a:gd name="connsiteY11" fmla="*/ 450850 h 6858000"/>
              <a:gd name="connsiteX12" fmla="*/ 7546975 w 7569200"/>
              <a:gd name="connsiteY12" fmla="*/ 496887 h 6858000"/>
              <a:gd name="connsiteX13" fmla="*/ 7558087 w 7569200"/>
              <a:gd name="connsiteY13" fmla="*/ 546100 h 6858000"/>
              <a:gd name="connsiteX14" fmla="*/ 7566025 w 7569200"/>
              <a:gd name="connsiteY14" fmla="*/ 606425 h 6858000"/>
              <a:gd name="connsiteX15" fmla="*/ 7569200 w 7569200"/>
              <a:gd name="connsiteY15" fmla="*/ 673100 h 6858000"/>
              <a:gd name="connsiteX16" fmla="*/ 7566025 w 7569200"/>
              <a:gd name="connsiteY16" fmla="*/ 744537 h 6858000"/>
              <a:gd name="connsiteX17" fmla="*/ 7558087 w 7569200"/>
              <a:gd name="connsiteY17" fmla="*/ 801687 h 6858000"/>
              <a:gd name="connsiteX18" fmla="*/ 7546975 w 7569200"/>
              <a:gd name="connsiteY18" fmla="*/ 854075 h 6858000"/>
              <a:gd name="connsiteX19" fmla="*/ 7532687 w 7569200"/>
              <a:gd name="connsiteY19" fmla="*/ 901700 h 6858000"/>
              <a:gd name="connsiteX20" fmla="*/ 7516812 w 7569200"/>
              <a:gd name="connsiteY20" fmla="*/ 942975 h 6858000"/>
              <a:gd name="connsiteX21" fmla="*/ 7497762 w 7569200"/>
              <a:gd name="connsiteY21" fmla="*/ 981075 h 6858000"/>
              <a:gd name="connsiteX22" fmla="*/ 7478712 w 7569200"/>
              <a:gd name="connsiteY22" fmla="*/ 1017587 h 6858000"/>
              <a:gd name="connsiteX23" fmla="*/ 7459662 w 7569200"/>
              <a:gd name="connsiteY23" fmla="*/ 1055687 h 6858000"/>
              <a:gd name="connsiteX24" fmla="*/ 7442200 w 7569200"/>
              <a:gd name="connsiteY24" fmla="*/ 1095375 h 6858000"/>
              <a:gd name="connsiteX25" fmla="*/ 7424737 w 7569200"/>
              <a:gd name="connsiteY25" fmla="*/ 1136650 h 6858000"/>
              <a:gd name="connsiteX26" fmla="*/ 7410450 w 7569200"/>
              <a:gd name="connsiteY26" fmla="*/ 1182687 h 6858000"/>
              <a:gd name="connsiteX27" fmla="*/ 7400925 w 7569200"/>
              <a:gd name="connsiteY27" fmla="*/ 1235075 h 6858000"/>
              <a:gd name="connsiteX28" fmla="*/ 7391400 w 7569200"/>
              <a:gd name="connsiteY28" fmla="*/ 1295400 h 6858000"/>
              <a:gd name="connsiteX29" fmla="*/ 7389812 w 7569200"/>
              <a:gd name="connsiteY29" fmla="*/ 1363662 h 6858000"/>
              <a:gd name="connsiteX30" fmla="*/ 7391400 w 7569200"/>
              <a:gd name="connsiteY30" fmla="*/ 1431925 h 6858000"/>
              <a:gd name="connsiteX31" fmla="*/ 7400925 w 7569200"/>
              <a:gd name="connsiteY31" fmla="*/ 1492250 h 6858000"/>
              <a:gd name="connsiteX32" fmla="*/ 7410450 w 7569200"/>
              <a:gd name="connsiteY32" fmla="*/ 1544637 h 6858000"/>
              <a:gd name="connsiteX33" fmla="*/ 7424737 w 7569200"/>
              <a:gd name="connsiteY33" fmla="*/ 1589087 h 6858000"/>
              <a:gd name="connsiteX34" fmla="*/ 7442200 w 7569200"/>
              <a:gd name="connsiteY34" fmla="*/ 1631950 h 6858000"/>
              <a:gd name="connsiteX35" fmla="*/ 7459662 w 7569200"/>
              <a:gd name="connsiteY35" fmla="*/ 1671637 h 6858000"/>
              <a:gd name="connsiteX36" fmla="*/ 7478712 w 7569200"/>
              <a:gd name="connsiteY36" fmla="*/ 1708150 h 6858000"/>
              <a:gd name="connsiteX37" fmla="*/ 7497762 w 7569200"/>
              <a:gd name="connsiteY37" fmla="*/ 1743075 h 6858000"/>
              <a:gd name="connsiteX38" fmla="*/ 7516812 w 7569200"/>
              <a:gd name="connsiteY38" fmla="*/ 1782762 h 6858000"/>
              <a:gd name="connsiteX39" fmla="*/ 7532687 w 7569200"/>
              <a:gd name="connsiteY39" fmla="*/ 1824037 h 6858000"/>
              <a:gd name="connsiteX40" fmla="*/ 7546975 w 7569200"/>
              <a:gd name="connsiteY40" fmla="*/ 1870075 h 6858000"/>
              <a:gd name="connsiteX41" fmla="*/ 7558087 w 7569200"/>
              <a:gd name="connsiteY41" fmla="*/ 1922462 h 6858000"/>
              <a:gd name="connsiteX42" fmla="*/ 7566025 w 7569200"/>
              <a:gd name="connsiteY42" fmla="*/ 1982787 h 6858000"/>
              <a:gd name="connsiteX43" fmla="*/ 7569200 w 7569200"/>
              <a:gd name="connsiteY43" fmla="*/ 2051050 h 6858000"/>
              <a:gd name="connsiteX44" fmla="*/ 7566025 w 7569200"/>
              <a:gd name="connsiteY44" fmla="*/ 2119312 h 6858000"/>
              <a:gd name="connsiteX45" fmla="*/ 7558087 w 7569200"/>
              <a:gd name="connsiteY45" fmla="*/ 2179637 h 6858000"/>
              <a:gd name="connsiteX46" fmla="*/ 7546975 w 7569200"/>
              <a:gd name="connsiteY46" fmla="*/ 2232025 h 6858000"/>
              <a:gd name="connsiteX47" fmla="*/ 7532687 w 7569200"/>
              <a:gd name="connsiteY47" fmla="*/ 2278062 h 6858000"/>
              <a:gd name="connsiteX48" fmla="*/ 7516812 w 7569200"/>
              <a:gd name="connsiteY48" fmla="*/ 2319337 h 6858000"/>
              <a:gd name="connsiteX49" fmla="*/ 7497762 w 7569200"/>
              <a:gd name="connsiteY49" fmla="*/ 2359025 h 6858000"/>
              <a:gd name="connsiteX50" fmla="*/ 7478712 w 7569200"/>
              <a:gd name="connsiteY50" fmla="*/ 2395537 h 6858000"/>
              <a:gd name="connsiteX51" fmla="*/ 7459662 w 7569200"/>
              <a:gd name="connsiteY51" fmla="*/ 2433637 h 6858000"/>
              <a:gd name="connsiteX52" fmla="*/ 7442200 w 7569200"/>
              <a:gd name="connsiteY52" fmla="*/ 2471737 h 6858000"/>
              <a:gd name="connsiteX53" fmla="*/ 7424737 w 7569200"/>
              <a:gd name="connsiteY53" fmla="*/ 2513012 h 6858000"/>
              <a:gd name="connsiteX54" fmla="*/ 7410450 w 7569200"/>
              <a:gd name="connsiteY54" fmla="*/ 2560637 h 6858000"/>
              <a:gd name="connsiteX55" fmla="*/ 7400925 w 7569200"/>
              <a:gd name="connsiteY55" fmla="*/ 2613025 h 6858000"/>
              <a:gd name="connsiteX56" fmla="*/ 7391400 w 7569200"/>
              <a:gd name="connsiteY56" fmla="*/ 2671762 h 6858000"/>
              <a:gd name="connsiteX57" fmla="*/ 7389812 w 7569200"/>
              <a:gd name="connsiteY57" fmla="*/ 2741612 h 6858000"/>
              <a:gd name="connsiteX58" fmla="*/ 7391400 w 7569200"/>
              <a:gd name="connsiteY58" fmla="*/ 2809875 h 6858000"/>
              <a:gd name="connsiteX59" fmla="*/ 7400925 w 7569200"/>
              <a:gd name="connsiteY59" fmla="*/ 2868612 h 6858000"/>
              <a:gd name="connsiteX60" fmla="*/ 7410450 w 7569200"/>
              <a:gd name="connsiteY60" fmla="*/ 2922587 h 6858000"/>
              <a:gd name="connsiteX61" fmla="*/ 7424737 w 7569200"/>
              <a:gd name="connsiteY61" fmla="*/ 2967037 h 6858000"/>
              <a:gd name="connsiteX62" fmla="*/ 7442200 w 7569200"/>
              <a:gd name="connsiteY62" fmla="*/ 3009900 h 6858000"/>
              <a:gd name="connsiteX63" fmla="*/ 7459662 w 7569200"/>
              <a:gd name="connsiteY63" fmla="*/ 3046412 h 6858000"/>
              <a:gd name="connsiteX64" fmla="*/ 7478712 w 7569200"/>
              <a:gd name="connsiteY64" fmla="*/ 3084512 h 6858000"/>
              <a:gd name="connsiteX65" fmla="*/ 7497762 w 7569200"/>
              <a:gd name="connsiteY65" fmla="*/ 3121025 h 6858000"/>
              <a:gd name="connsiteX66" fmla="*/ 7516812 w 7569200"/>
              <a:gd name="connsiteY66" fmla="*/ 3160712 h 6858000"/>
              <a:gd name="connsiteX67" fmla="*/ 7532687 w 7569200"/>
              <a:gd name="connsiteY67" fmla="*/ 3201987 h 6858000"/>
              <a:gd name="connsiteX68" fmla="*/ 7546975 w 7569200"/>
              <a:gd name="connsiteY68" fmla="*/ 3248025 h 6858000"/>
              <a:gd name="connsiteX69" fmla="*/ 7558087 w 7569200"/>
              <a:gd name="connsiteY69" fmla="*/ 3300412 h 6858000"/>
              <a:gd name="connsiteX70" fmla="*/ 7566025 w 7569200"/>
              <a:gd name="connsiteY70" fmla="*/ 3360737 h 6858000"/>
              <a:gd name="connsiteX71" fmla="*/ 7569200 w 7569200"/>
              <a:gd name="connsiteY71" fmla="*/ 3427412 h 6858000"/>
              <a:gd name="connsiteX72" fmla="*/ 7566025 w 7569200"/>
              <a:gd name="connsiteY72" fmla="*/ 3497262 h 6858000"/>
              <a:gd name="connsiteX73" fmla="*/ 7558087 w 7569200"/>
              <a:gd name="connsiteY73" fmla="*/ 3557587 h 6858000"/>
              <a:gd name="connsiteX74" fmla="*/ 7546975 w 7569200"/>
              <a:gd name="connsiteY74" fmla="*/ 3609975 h 6858000"/>
              <a:gd name="connsiteX75" fmla="*/ 7532687 w 7569200"/>
              <a:gd name="connsiteY75" fmla="*/ 3656012 h 6858000"/>
              <a:gd name="connsiteX76" fmla="*/ 7516812 w 7569200"/>
              <a:gd name="connsiteY76" fmla="*/ 3697287 h 6858000"/>
              <a:gd name="connsiteX77" fmla="*/ 7497762 w 7569200"/>
              <a:gd name="connsiteY77" fmla="*/ 3736975 h 6858000"/>
              <a:gd name="connsiteX78" fmla="*/ 7459662 w 7569200"/>
              <a:gd name="connsiteY78" fmla="*/ 3811587 h 6858000"/>
              <a:gd name="connsiteX79" fmla="*/ 7442200 w 7569200"/>
              <a:gd name="connsiteY79" fmla="*/ 3848100 h 6858000"/>
              <a:gd name="connsiteX80" fmla="*/ 7424737 w 7569200"/>
              <a:gd name="connsiteY80" fmla="*/ 3890962 h 6858000"/>
              <a:gd name="connsiteX81" fmla="*/ 7410450 w 7569200"/>
              <a:gd name="connsiteY81" fmla="*/ 3935412 h 6858000"/>
              <a:gd name="connsiteX82" fmla="*/ 7400925 w 7569200"/>
              <a:gd name="connsiteY82" fmla="*/ 3987800 h 6858000"/>
              <a:gd name="connsiteX83" fmla="*/ 7391400 w 7569200"/>
              <a:gd name="connsiteY83" fmla="*/ 4048125 h 6858000"/>
              <a:gd name="connsiteX84" fmla="*/ 7389812 w 7569200"/>
              <a:gd name="connsiteY84" fmla="*/ 4116387 h 6858000"/>
              <a:gd name="connsiteX85" fmla="*/ 7391400 w 7569200"/>
              <a:gd name="connsiteY85" fmla="*/ 4186237 h 6858000"/>
              <a:gd name="connsiteX86" fmla="*/ 7400925 w 7569200"/>
              <a:gd name="connsiteY86" fmla="*/ 4244975 h 6858000"/>
              <a:gd name="connsiteX87" fmla="*/ 7410450 w 7569200"/>
              <a:gd name="connsiteY87" fmla="*/ 4297362 h 6858000"/>
              <a:gd name="connsiteX88" fmla="*/ 7424737 w 7569200"/>
              <a:gd name="connsiteY88" fmla="*/ 4343400 h 6858000"/>
              <a:gd name="connsiteX89" fmla="*/ 7442200 w 7569200"/>
              <a:gd name="connsiteY89" fmla="*/ 4386262 h 6858000"/>
              <a:gd name="connsiteX90" fmla="*/ 7459662 w 7569200"/>
              <a:gd name="connsiteY90" fmla="*/ 4424362 h 6858000"/>
              <a:gd name="connsiteX91" fmla="*/ 7497762 w 7569200"/>
              <a:gd name="connsiteY91" fmla="*/ 4498975 h 6858000"/>
              <a:gd name="connsiteX92" fmla="*/ 7516812 w 7569200"/>
              <a:gd name="connsiteY92" fmla="*/ 4537075 h 6858000"/>
              <a:gd name="connsiteX93" fmla="*/ 7532687 w 7569200"/>
              <a:gd name="connsiteY93" fmla="*/ 4579937 h 6858000"/>
              <a:gd name="connsiteX94" fmla="*/ 7546975 w 7569200"/>
              <a:gd name="connsiteY94" fmla="*/ 4625975 h 6858000"/>
              <a:gd name="connsiteX95" fmla="*/ 7558087 w 7569200"/>
              <a:gd name="connsiteY95" fmla="*/ 4678362 h 6858000"/>
              <a:gd name="connsiteX96" fmla="*/ 7566025 w 7569200"/>
              <a:gd name="connsiteY96" fmla="*/ 4738687 h 6858000"/>
              <a:gd name="connsiteX97" fmla="*/ 7569200 w 7569200"/>
              <a:gd name="connsiteY97" fmla="*/ 4806950 h 6858000"/>
              <a:gd name="connsiteX98" fmla="*/ 7566025 w 7569200"/>
              <a:gd name="connsiteY98" fmla="*/ 4875212 h 6858000"/>
              <a:gd name="connsiteX99" fmla="*/ 7558087 w 7569200"/>
              <a:gd name="connsiteY99" fmla="*/ 4935537 h 6858000"/>
              <a:gd name="connsiteX100" fmla="*/ 7546975 w 7569200"/>
              <a:gd name="connsiteY100" fmla="*/ 4987925 h 6858000"/>
              <a:gd name="connsiteX101" fmla="*/ 7532687 w 7569200"/>
              <a:gd name="connsiteY101" fmla="*/ 5033962 h 6858000"/>
              <a:gd name="connsiteX102" fmla="*/ 7516812 w 7569200"/>
              <a:gd name="connsiteY102" fmla="*/ 5075237 h 6858000"/>
              <a:gd name="connsiteX103" fmla="*/ 7497762 w 7569200"/>
              <a:gd name="connsiteY103" fmla="*/ 5114925 h 6858000"/>
              <a:gd name="connsiteX104" fmla="*/ 7478712 w 7569200"/>
              <a:gd name="connsiteY104" fmla="*/ 5149850 h 6858000"/>
              <a:gd name="connsiteX105" fmla="*/ 7459662 w 7569200"/>
              <a:gd name="connsiteY105" fmla="*/ 5186362 h 6858000"/>
              <a:gd name="connsiteX106" fmla="*/ 7442200 w 7569200"/>
              <a:gd name="connsiteY106" fmla="*/ 5226050 h 6858000"/>
              <a:gd name="connsiteX107" fmla="*/ 7424737 w 7569200"/>
              <a:gd name="connsiteY107" fmla="*/ 5268912 h 6858000"/>
              <a:gd name="connsiteX108" fmla="*/ 7410450 w 7569200"/>
              <a:gd name="connsiteY108" fmla="*/ 5313362 h 6858000"/>
              <a:gd name="connsiteX109" fmla="*/ 7400925 w 7569200"/>
              <a:gd name="connsiteY109" fmla="*/ 5365750 h 6858000"/>
              <a:gd name="connsiteX110" fmla="*/ 7391400 w 7569200"/>
              <a:gd name="connsiteY110" fmla="*/ 5426075 h 6858000"/>
              <a:gd name="connsiteX111" fmla="*/ 7389812 w 7569200"/>
              <a:gd name="connsiteY111" fmla="*/ 5494337 h 6858000"/>
              <a:gd name="connsiteX112" fmla="*/ 7391400 w 7569200"/>
              <a:gd name="connsiteY112" fmla="*/ 5562600 h 6858000"/>
              <a:gd name="connsiteX113" fmla="*/ 7400925 w 7569200"/>
              <a:gd name="connsiteY113" fmla="*/ 5622925 h 6858000"/>
              <a:gd name="connsiteX114" fmla="*/ 7410450 w 7569200"/>
              <a:gd name="connsiteY114" fmla="*/ 5675312 h 6858000"/>
              <a:gd name="connsiteX115" fmla="*/ 7424737 w 7569200"/>
              <a:gd name="connsiteY115" fmla="*/ 5721350 h 6858000"/>
              <a:gd name="connsiteX116" fmla="*/ 7442200 w 7569200"/>
              <a:gd name="connsiteY116" fmla="*/ 5762625 h 6858000"/>
              <a:gd name="connsiteX117" fmla="*/ 7459662 w 7569200"/>
              <a:gd name="connsiteY117" fmla="*/ 5802312 h 6858000"/>
              <a:gd name="connsiteX118" fmla="*/ 7478712 w 7569200"/>
              <a:gd name="connsiteY118" fmla="*/ 5840412 h 6858000"/>
              <a:gd name="connsiteX119" fmla="*/ 7497762 w 7569200"/>
              <a:gd name="connsiteY119" fmla="*/ 5876925 h 6858000"/>
              <a:gd name="connsiteX120" fmla="*/ 7516812 w 7569200"/>
              <a:gd name="connsiteY120" fmla="*/ 5915025 h 6858000"/>
              <a:gd name="connsiteX121" fmla="*/ 7532687 w 7569200"/>
              <a:gd name="connsiteY121" fmla="*/ 5956300 h 6858000"/>
              <a:gd name="connsiteX122" fmla="*/ 7546975 w 7569200"/>
              <a:gd name="connsiteY122" fmla="*/ 6003925 h 6858000"/>
              <a:gd name="connsiteX123" fmla="*/ 7558087 w 7569200"/>
              <a:gd name="connsiteY123" fmla="*/ 6056312 h 6858000"/>
              <a:gd name="connsiteX124" fmla="*/ 7566025 w 7569200"/>
              <a:gd name="connsiteY124" fmla="*/ 6113462 h 6858000"/>
              <a:gd name="connsiteX125" fmla="*/ 7569200 w 7569200"/>
              <a:gd name="connsiteY125" fmla="*/ 6183312 h 6858000"/>
              <a:gd name="connsiteX126" fmla="*/ 7566025 w 7569200"/>
              <a:gd name="connsiteY126" fmla="*/ 6251575 h 6858000"/>
              <a:gd name="connsiteX127" fmla="*/ 7558087 w 7569200"/>
              <a:gd name="connsiteY127" fmla="*/ 6311900 h 6858000"/>
              <a:gd name="connsiteX128" fmla="*/ 7546975 w 7569200"/>
              <a:gd name="connsiteY128" fmla="*/ 6361112 h 6858000"/>
              <a:gd name="connsiteX129" fmla="*/ 7532687 w 7569200"/>
              <a:gd name="connsiteY129" fmla="*/ 6407150 h 6858000"/>
              <a:gd name="connsiteX130" fmla="*/ 7516812 w 7569200"/>
              <a:gd name="connsiteY130" fmla="*/ 6448425 h 6858000"/>
              <a:gd name="connsiteX131" fmla="*/ 7499350 w 7569200"/>
              <a:gd name="connsiteY131" fmla="*/ 6488112 h 6858000"/>
              <a:gd name="connsiteX132" fmla="*/ 7481887 w 7569200"/>
              <a:gd name="connsiteY132" fmla="*/ 6523037 h 6858000"/>
              <a:gd name="connsiteX133" fmla="*/ 7462837 w 7569200"/>
              <a:gd name="connsiteY133" fmla="*/ 6561137 h 6858000"/>
              <a:gd name="connsiteX134" fmla="*/ 7443787 w 7569200"/>
              <a:gd name="connsiteY134" fmla="*/ 6597650 h 6858000"/>
              <a:gd name="connsiteX135" fmla="*/ 7427912 w 7569200"/>
              <a:gd name="connsiteY135" fmla="*/ 6640512 h 6858000"/>
              <a:gd name="connsiteX136" fmla="*/ 7412037 w 7569200"/>
              <a:gd name="connsiteY136" fmla="*/ 6683375 h 6858000"/>
              <a:gd name="connsiteX137" fmla="*/ 7402512 w 7569200"/>
              <a:gd name="connsiteY137" fmla="*/ 6735762 h 6858000"/>
              <a:gd name="connsiteX138" fmla="*/ 7394575 w 7569200"/>
              <a:gd name="connsiteY138" fmla="*/ 6791325 h 6858000"/>
              <a:gd name="connsiteX139" fmla="*/ 7389812 w 7569200"/>
              <a:gd name="connsiteY139" fmla="*/ 6858000 h 6858000"/>
              <a:gd name="connsiteX140" fmla="*/ 0 w 7569200"/>
              <a:gd name="connsiteY140" fmla="*/ 6858000 h 6858000"/>
              <a:gd name="connsiteX141" fmla="*/ 0 w 7569200"/>
              <a:gd name="connsiteY141"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7569200" h="6858000">
                <a:moveTo>
                  <a:pt x="0" y="0"/>
                </a:moveTo>
                <a:lnTo>
                  <a:pt x="7389812" y="0"/>
                </a:lnTo>
                <a:lnTo>
                  <a:pt x="7394575" y="66675"/>
                </a:lnTo>
                <a:lnTo>
                  <a:pt x="7402512" y="122237"/>
                </a:lnTo>
                <a:lnTo>
                  <a:pt x="7412037" y="174625"/>
                </a:lnTo>
                <a:lnTo>
                  <a:pt x="7427912" y="217487"/>
                </a:lnTo>
                <a:lnTo>
                  <a:pt x="7443787" y="260350"/>
                </a:lnTo>
                <a:lnTo>
                  <a:pt x="7462837" y="296862"/>
                </a:lnTo>
                <a:lnTo>
                  <a:pt x="7481887" y="334962"/>
                </a:lnTo>
                <a:lnTo>
                  <a:pt x="7499350" y="369887"/>
                </a:lnTo>
                <a:lnTo>
                  <a:pt x="7516812" y="409575"/>
                </a:lnTo>
                <a:lnTo>
                  <a:pt x="7532687" y="450850"/>
                </a:lnTo>
                <a:lnTo>
                  <a:pt x="7546975" y="496887"/>
                </a:lnTo>
                <a:lnTo>
                  <a:pt x="7558087" y="546100"/>
                </a:lnTo>
                <a:lnTo>
                  <a:pt x="7566025" y="606425"/>
                </a:lnTo>
                <a:lnTo>
                  <a:pt x="7569200" y="673100"/>
                </a:lnTo>
                <a:lnTo>
                  <a:pt x="7566025" y="744537"/>
                </a:lnTo>
                <a:lnTo>
                  <a:pt x="7558087" y="801687"/>
                </a:lnTo>
                <a:lnTo>
                  <a:pt x="7546975" y="854075"/>
                </a:lnTo>
                <a:lnTo>
                  <a:pt x="7532687" y="901700"/>
                </a:lnTo>
                <a:lnTo>
                  <a:pt x="7516812" y="942975"/>
                </a:lnTo>
                <a:lnTo>
                  <a:pt x="7497762" y="981075"/>
                </a:lnTo>
                <a:lnTo>
                  <a:pt x="7478712" y="1017587"/>
                </a:lnTo>
                <a:lnTo>
                  <a:pt x="7459662" y="1055687"/>
                </a:lnTo>
                <a:lnTo>
                  <a:pt x="7442200" y="1095375"/>
                </a:lnTo>
                <a:lnTo>
                  <a:pt x="7424737" y="1136650"/>
                </a:lnTo>
                <a:lnTo>
                  <a:pt x="7410450" y="1182687"/>
                </a:lnTo>
                <a:lnTo>
                  <a:pt x="7400925" y="1235075"/>
                </a:lnTo>
                <a:lnTo>
                  <a:pt x="7391400" y="1295400"/>
                </a:lnTo>
                <a:lnTo>
                  <a:pt x="7389812" y="1363662"/>
                </a:lnTo>
                <a:lnTo>
                  <a:pt x="7391400" y="1431925"/>
                </a:lnTo>
                <a:lnTo>
                  <a:pt x="7400925" y="1492250"/>
                </a:lnTo>
                <a:lnTo>
                  <a:pt x="7410450" y="1544637"/>
                </a:lnTo>
                <a:lnTo>
                  <a:pt x="7424737" y="1589087"/>
                </a:lnTo>
                <a:lnTo>
                  <a:pt x="7442200" y="1631950"/>
                </a:lnTo>
                <a:lnTo>
                  <a:pt x="7459662" y="1671637"/>
                </a:lnTo>
                <a:lnTo>
                  <a:pt x="7478712" y="1708150"/>
                </a:lnTo>
                <a:lnTo>
                  <a:pt x="7497762" y="1743075"/>
                </a:lnTo>
                <a:lnTo>
                  <a:pt x="7516812" y="1782762"/>
                </a:lnTo>
                <a:lnTo>
                  <a:pt x="7532687" y="1824037"/>
                </a:lnTo>
                <a:lnTo>
                  <a:pt x="7546975" y="1870075"/>
                </a:lnTo>
                <a:lnTo>
                  <a:pt x="7558087" y="1922462"/>
                </a:lnTo>
                <a:lnTo>
                  <a:pt x="7566025" y="1982787"/>
                </a:lnTo>
                <a:lnTo>
                  <a:pt x="7569200" y="2051050"/>
                </a:lnTo>
                <a:lnTo>
                  <a:pt x="7566025" y="2119312"/>
                </a:lnTo>
                <a:lnTo>
                  <a:pt x="7558087" y="2179637"/>
                </a:lnTo>
                <a:lnTo>
                  <a:pt x="7546975" y="2232025"/>
                </a:lnTo>
                <a:lnTo>
                  <a:pt x="7532687" y="2278062"/>
                </a:lnTo>
                <a:lnTo>
                  <a:pt x="7516812" y="2319337"/>
                </a:lnTo>
                <a:lnTo>
                  <a:pt x="7497762" y="2359025"/>
                </a:lnTo>
                <a:lnTo>
                  <a:pt x="7478712" y="2395537"/>
                </a:lnTo>
                <a:lnTo>
                  <a:pt x="7459662" y="2433637"/>
                </a:lnTo>
                <a:lnTo>
                  <a:pt x="7442200" y="2471737"/>
                </a:lnTo>
                <a:lnTo>
                  <a:pt x="7424737" y="2513012"/>
                </a:lnTo>
                <a:lnTo>
                  <a:pt x="7410450" y="2560637"/>
                </a:lnTo>
                <a:lnTo>
                  <a:pt x="7400925" y="2613025"/>
                </a:lnTo>
                <a:lnTo>
                  <a:pt x="7391400" y="2671762"/>
                </a:lnTo>
                <a:lnTo>
                  <a:pt x="7389812" y="2741612"/>
                </a:lnTo>
                <a:lnTo>
                  <a:pt x="7391400" y="2809875"/>
                </a:lnTo>
                <a:lnTo>
                  <a:pt x="7400925" y="2868612"/>
                </a:lnTo>
                <a:lnTo>
                  <a:pt x="7410450" y="2922587"/>
                </a:lnTo>
                <a:lnTo>
                  <a:pt x="7424737" y="2967037"/>
                </a:lnTo>
                <a:lnTo>
                  <a:pt x="7442200" y="3009900"/>
                </a:lnTo>
                <a:lnTo>
                  <a:pt x="7459662" y="3046412"/>
                </a:lnTo>
                <a:lnTo>
                  <a:pt x="7478712" y="3084512"/>
                </a:lnTo>
                <a:lnTo>
                  <a:pt x="7497762" y="3121025"/>
                </a:lnTo>
                <a:lnTo>
                  <a:pt x="7516812" y="3160712"/>
                </a:lnTo>
                <a:lnTo>
                  <a:pt x="7532687" y="3201987"/>
                </a:lnTo>
                <a:lnTo>
                  <a:pt x="7546975" y="3248025"/>
                </a:lnTo>
                <a:lnTo>
                  <a:pt x="7558087" y="3300412"/>
                </a:lnTo>
                <a:lnTo>
                  <a:pt x="7566025" y="3360737"/>
                </a:lnTo>
                <a:lnTo>
                  <a:pt x="7569200" y="3427412"/>
                </a:lnTo>
                <a:lnTo>
                  <a:pt x="7566025" y="3497262"/>
                </a:lnTo>
                <a:lnTo>
                  <a:pt x="7558087" y="3557587"/>
                </a:lnTo>
                <a:lnTo>
                  <a:pt x="7546975" y="3609975"/>
                </a:lnTo>
                <a:lnTo>
                  <a:pt x="7532687" y="3656012"/>
                </a:lnTo>
                <a:lnTo>
                  <a:pt x="7516812" y="3697287"/>
                </a:lnTo>
                <a:lnTo>
                  <a:pt x="7497762" y="3736975"/>
                </a:lnTo>
                <a:lnTo>
                  <a:pt x="7459662" y="3811587"/>
                </a:lnTo>
                <a:lnTo>
                  <a:pt x="7442200" y="3848100"/>
                </a:lnTo>
                <a:lnTo>
                  <a:pt x="7424737" y="3890962"/>
                </a:lnTo>
                <a:lnTo>
                  <a:pt x="7410450" y="3935412"/>
                </a:lnTo>
                <a:lnTo>
                  <a:pt x="7400925" y="3987800"/>
                </a:lnTo>
                <a:lnTo>
                  <a:pt x="7391400" y="4048125"/>
                </a:lnTo>
                <a:lnTo>
                  <a:pt x="7389812" y="4116387"/>
                </a:lnTo>
                <a:lnTo>
                  <a:pt x="7391400" y="4186237"/>
                </a:lnTo>
                <a:lnTo>
                  <a:pt x="7400925" y="4244975"/>
                </a:lnTo>
                <a:lnTo>
                  <a:pt x="7410450" y="4297362"/>
                </a:lnTo>
                <a:lnTo>
                  <a:pt x="7424737" y="4343400"/>
                </a:lnTo>
                <a:lnTo>
                  <a:pt x="7442200" y="4386262"/>
                </a:lnTo>
                <a:lnTo>
                  <a:pt x="7459662" y="4424362"/>
                </a:lnTo>
                <a:lnTo>
                  <a:pt x="7497762" y="4498975"/>
                </a:lnTo>
                <a:lnTo>
                  <a:pt x="7516812" y="4537075"/>
                </a:lnTo>
                <a:lnTo>
                  <a:pt x="7532687" y="4579937"/>
                </a:lnTo>
                <a:lnTo>
                  <a:pt x="7546975" y="4625975"/>
                </a:lnTo>
                <a:lnTo>
                  <a:pt x="7558087" y="4678362"/>
                </a:lnTo>
                <a:lnTo>
                  <a:pt x="7566025" y="4738687"/>
                </a:lnTo>
                <a:lnTo>
                  <a:pt x="7569200" y="4806950"/>
                </a:lnTo>
                <a:lnTo>
                  <a:pt x="7566025" y="4875212"/>
                </a:lnTo>
                <a:lnTo>
                  <a:pt x="7558087" y="4935537"/>
                </a:lnTo>
                <a:lnTo>
                  <a:pt x="7546975" y="4987925"/>
                </a:lnTo>
                <a:lnTo>
                  <a:pt x="7532687" y="5033962"/>
                </a:lnTo>
                <a:lnTo>
                  <a:pt x="7516812" y="5075237"/>
                </a:lnTo>
                <a:lnTo>
                  <a:pt x="7497762" y="5114925"/>
                </a:lnTo>
                <a:lnTo>
                  <a:pt x="7478712" y="5149850"/>
                </a:lnTo>
                <a:lnTo>
                  <a:pt x="7459662" y="5186362"/>
                </a:lnTo>
                <a:lnTo>
                  <a:pt x="7442200" y="5226050"/>
                </a:lnTo>
                <a:lnTo>
                  <a:pt x="7424737" y="5268912"/>
                </a:lnTo>
                <a:lnTo>
                  <a:pt x="7410450" y="5313362"/>
                </a:lnTo>
                <a:lnTo>
                  <a:pt x="7400925" y="5365750"/>
                </a:lnTo>
                <a:lnTo>
                  <a:pt x="7391400" y="5426075"/>
                </a:lnTo>
                <a:lnTo>
                  <a:pt x="7389812" y="5494337"/>
                </a:lnTo>
                <a:lnTo>
                  <a:pt x="7391400" y="5562600"/>
                </a:lnTo>
                <a:lnTo>
                  <a:pt x="7400925" y="5622925"/>
                </a:lnTo>
                <a:lnTo>
                  <a:pt x="7410450" y="5675312"/>
                </a:lnTo>
                <a:lnTo>
                  <a:pt x="7424737" y="5721350"/>
                </a:lnTo>
                <a:lnTo>
                  <a:pt x="7442200" y="5762625"/>
                </a:lnTo>
                <a:lnTo>
                  <a:pt x="7459662" y="5802312"/>
                </a:lnTo>
                <a:lnTo>
                  <a:pt x="7478712" y="5840412"/>
                </a:lnTo>
                <a:lnTo>
                  <a:pt x="7497762" y="5876925"/>
                </a:lnTo>
                <a:lnTo>
                  <a:pt x="7516812" y="5915025"/>
                </a:lnTo>
                <a:lnTo>
                  <a:pt x="7532687" y="5956300"/>
                </a:lnTo>
                <a:lnTo>
                  <a:pt x="7546975" y="6003925"/>
                </a:lnTo>
                <a:lnTo>
                  <a:pt x="7558087" y="6056312"/>
                </a:lnTo>
                <a:lnTo>
                  <a:pt x="7566025" y="6113462"/>
                </a:lnTo>
                <a:lnTo>
                  <a:pt x="7569200" y="6183312"/>
                </a:lnTo>
                <a:lnTo>
                  <a:pt x="7566025" y="6251575"/>
                </a:lnTo>
                <a:lnTo>
                  <a:pt x="7558087" y="6311900"/>
                </a:lnTo>
                <a:lnTo>
                  <a:pt x="7546975" y="6361112"/>
                </a:lnTo>
                <a:lnTo>
                  <a:pt x="7532687" y="6407150"/>
                </a:lnTo>
                <a:lnTo>
                  <a:pt x="7516812" y="6448425"/>
                </a:lnTo>
                <a:lnTo>
                  <a:pt x="7499350" y="6488112"/>
                </a:lnTo>
                <a:lnTo>
                  <a:pt x="7481887" y="6523037"/>
                </a:lnTo>
                <a:lnTo>
                  <a:pt x="7462837" y="6561137"/>
                </a:lnTo>
                <a:lnTo>
                  <a:pt x="7443787" y="6597650"/>
                </a:lnTo>
                <a:lnTo>
                  <a:pt x="7427912" y="6640512"/>
                </a:lnTo>
                <a:lnTo>
                  <a:pt x="7412037" y="6683375"/>
                </a:lnTo>
                <a:lnTo>
                  <a:pt x="7402512" y="6735762"/>
                </a:lnTo>
                <a:lnTo>
                  <a:pt x="7394575" y="6791325"/>
                </a:lnTo>
                <a:lnTo>
                  <a:pt x="7389812" y="6858000"/>
                </a:lnTo>
                <a:lnTo>
                  <a:pt x="0" y="6858000"/>
                </a:lnTo>
                <a:lnTo>
                  <a:pt x="0" y="0"/>
                </a:lnTo>
                <a:close/>
              </a:path>
            </a:pathLst>
          </a:custGeom>
          <a:solidFill>
            <a:schemeClr val="bg2">
              <a:lumMod val="90000"/>
            </a:schemeClr>
          </a:solidFill>
          <a:ln w="0">
            <a:noFill/>
            <a:prstDash val="solid"/>
            <a:round/>
            <a:headEnd/>
            <a:tailEnd/>
          </a:ln>
        </p:spPr>
        <p:txBody>
          <a:bodyPr/>
          <a:lstStyle/>
          <a:p>
            <a:endParaRPr lang="en-IN"/>
          </a:p>
        </p:txBody>
      </p:sp>
      <p:sp>
        <p:nvSpPr>
          <p:cNvPr id="2" name="Title 1">
            <a:extLst>
              <a:ext uri="{FF2B5EF4-FFF2-40B4-BE49-F238E27FC236}">
                <a16:creationId xmlns:a16="http://schemas.microsoft.com/office/drawing/2014/main" id="{245DBD9D-FA46-CD79-FF39-F87FF36BDE3B}"/>
              </a:ext>
            </a:extLst>
          </p:cNvPr>
          <p:cNvSpPr>
            <a:spLocks noGrp="1"/>
          </p:cNvSpPr>
          <p:nvPr>
            <p:ph type="title"/>
          </p:nvPr>
        </p:nvSpPr>
        <p:spPr>
          <a:xfrm>
            <a:off x="754144" y="484631"/>
            <a:ext cx="6340519" cy="1638469"/>
          </a:xfrm>
        </p:spPr>
        <p:txBody>
          <a:bodyPr>
            <a:normAutofit/>
          </a:bodyPr>
          <a:lstStyle/>
          <a:p>
            <a:r>
              <a:rPr lang="en-IN" sz="4800" dirty="0"/>
              <a:t>Wholly Owned Subsidiary</a:t>
            </a:r>
          </a:p>
        </p:txBody>
      </p:sp>
      <p:sp>
        <p:nvSpPr>
          <p:cNvPr id="14" name="Rectangle 13">
            <a:extLst>
              <a:ext uri="{FF2B5EF4-FFF2-40B4-BE49-F238E27FC236}">
                <a16:creationId xmlns:a16="http://schemas.microsoft.com/office/drawing/2014/main" id="{5FDAFA16-9D2D-4BEC-89D0-B4EABEE911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3" name="Content Placeholder 2">
            <a:extLst>
              <a:ext uri="{FF2B5EF4-FFF2-40B4-BE49-F238E27FC236}">
                <a16:creationId xmlns:a16="http://schemas.microsoft.com/office/drawing/2014/main" id="{DEB82692-5B51-F7F3-C67C-AF58CC4D8D9D}"/>
              </a:ext>
            </a:extLst>
          </p:cNvPr>
          <p:cNvSpPr>
            <a:spLocks noGrp="1"/>
          </p:cNvSpPr>
          <p:nvPr>
            <p:ph idx="1"/>
          </p:nvPr>
        </p:nvSpPr>
        <p:spPr>
          <a:xfrm>
            <a:off x="402771" y="1948543"/>
            <a:ext cx="6792686" cy="4604657"/>
          </a:xfrm>
        </p:spPr>
        <p:txBody>
          <a:bodyPr>
            <a:normAutofit/>
          </a:bodyPr>
          <a:lstStyle/>
          <a:p>
            <a:pPr>
              <a:lnSpc>
                <a:spcPct val="100000"/>
              </a:lnSpc>
            </a:pPr>
            <a:r>
              <a:rPr lang="en-US" sz="1600" dirty="0">
                <a:solidFill>
                  <a:schemeClr val="tx1"/>
                </a:solidFill>
                <a:latin typeface="Times New Roman" panose="02020603050405020304" pitchFamily="18" charset="0"/>
                <a:cs typeface="Times New Roman" panose="02020603050405020304" pitchFamily="18" charset="0"/>
              </a:rPr>
              <a:t>A </a:t>
            </a:r>
            <a:r>
              <a:rPr lang="en-US" sz="1600" b="1" dirty="0">
                <a:solidFill>
                  <a:schemeClr val="tx1"/>
                </a:solidFill>
                <a:latin typeface="Times New Roman" panose="02020603050405020304" pitchFamily="18" charset="0"/>
                <a:cs typeface="Times New Roman" panose="02020603050405020304" pitchFamily="18" charset="0"/>
              </a:rPr>
              <a:t>wholly owned subsidiary</a:t>
            </a:r>
            <a:r>
              <a:rPr lang="en-US" sz="1600" dirty="0">
                <a:solidFill>
                  <a:schemeClr val="tx1"/>
                </a:solidFill>
                <a:latin typeface="Times New Roman" panose="02020603050405020304" pitchFamily="18" charset="0"/>
                <a:cs typeface="Times New Roman" panose="02020603050405020304" pitchFamily="18" charset="0"/>
              </a:rPr>
              <a:t> is an entry strategy in international business where a company owns </a:t>
            </a:r>
            <a:r>
              <a:rPr lang="en-US" sz="1600" b="1" dirty="0">
                <a:solidFill>
                  <a:schemeClr val="tx1"/>
                </a:solidFill>
                <a:latin typeface="Times New Roman" panose="02020603050405020304" pitchFamily="18" charset="0"/>
                <a:cs typeface="Times New Roman" panose="02020603050405020304" pitchFamily="18" charset="0"/>
              </a:rPr>
              <a:t>100% of the business operations in a foreign country</a:t>
            </a:r>
            <a:r>
              <a:rPr lang="en-US" sz="1600" dirty="0">
                <a:solidFill>
                  <a:schemeClr val="tx1"/>
                </a:solidFill>
                <a:latin typeface="Times New Roman" panose="02020603050405020304" pitchFamily="18" charset="0"/>
                <a:cs typeface="Times New Roman" panose="02020603050405020304" pitchFamily="18" charset="0"/>
              </a:rPr>
              <a:t>. In this method, the parent company has complete ownership and full control over production, marketing, management, and other business activities in the foreign market. Companies usually establish wholly owned subsidiaries either by setting up a new business facility in another country or by acquiring an existing foreign company.</a:t>
            </a:r>
          </a:p>
          <a:p>
            <a:pPr>
              <a:lnSpc>
                <a:spcPct val="100000"/>
              </a:lnSpc>
            </a:pPr>
            <a:r>
              <a:rPr lang="en-US" sz="1600" dirty="0">
                <a:solidFill>
                  <a:schemeClr val="tx1"/>
                </a:solidFill>
                <a:latin typeface="Times New Roman" panose="02020603050405020304" pitchFamily="18" charset="0"/>
                <a:cs typeface="Times New Roman" panose="02020603050405020304" pitchFamily="18" charset="0"/>
              </a:rPr>
              <a:t>This strategy provides companies with greater control over their international operations and helps maintain product quality, brand reputation, and management decisions. However, it requires a </a:t>
            </a:r>
            <a:r>
              <a:rPr lang="en-US" sz="1600" b="1" dirty="0">
                <a:solidFill>
                  <a:schemeClr val="tx1"/>
                </a:solidFill>
                <a:latin typeface="Times New Roman" panose="02020603050405020304" pitchFamily="18" charset="0"/>
                <a:cs typeface="Times New Roman" panose="02020603050405020304" pitchFamily="18" charset="0"/>
              </a:rPr>
              <a:t>large amount of investment and involves higher risks</a:t>
            </a:r>
            <a:r>
              <a:rPr lang="en-US" sz="1600" dirty="0">
                <a:solidFill>
                  <a:schemeClr val="tx1"/>
                </a:solidFill>
                <a:latin typeface="Times New Roman" panose="02020603050405020304" pitchFamily="18" charset="0"/>
                <a:cs typeface="Times New Roman" panose="02020603050405020304" pitchFamily="18" charset="0"/>
              </a:rPr>
              <a:t> because the company must handle all operational responsibilities and financial commitments in the foreign market.</a:t>
            </a:r>
          </a:p>
          <a:p>
            <a:pPr>
              <a:lnSpc>
                <a:spcPct val="100000"/>
              </a:lnSpc>
            </a:pPr>
            <a:r>
              <a:rPr lang="en-US" sz="1600" b="1" dirty="0">
                <a:solidFill>
                  <a:schemeClr val="tx1"/>
                </a:solidFill>
                <a:latin typeface="Times New Roman" panose="02020603050405020304" pitchFamily="18" charset="0"/>
                <a:cs typeface="Times New Roman" panose="02020603050405020304" pitchFamily="18" charset="0"/>
              </a:rPr>
              <a:t>Example:</a:t>
            </a:r>
            <a:br>
              <a:rPr lang="en-US" sz="1600" dirty="0">
                <a:solidFill>
                  <a:schemeClr val="tx1"/>
                </a:solidFill>
                <a:latin typeface="Times New Roman" panose="02020603050405020304" pitchFamily="18" charset="0"/>
                <a:cs typeface="Times New Roman" panose="02020603050405020304" pitchFamily="18" charset="0"/>
              </a:rPr>
            </a:br>
            <a:r>
              <a:rPr lang="en-US" sz="1600" dirty="0">
                <a:solidFill>
                  <a:srgbClr val="FF0000"/>
                </a:solidFill>
                <a:latin typeface="Times New Roman" panose="02020603050405020304" pitchFamily="18" charset="0"/>
                <a:cs typeface="Times New Roman" panose="02020603050405020304" pitchFamily="18" charset="0"/>
              </a:rPr>
              <a:t>Automobile companies such as Toyota establish wholly owned manufacturing plants in other countries to produce and sell vehicles while maintaining full control over their operations and quality standards.</a:t>
            </a:r>
          </a:p>
          <a:p>
            <a:pPr>
              <a:lnSpc>
                <a:spcPct val="100000"/>
              </a:lnSpc>
            </a:pPr>
            <a:endParaRPr lang="en-IN" sz="1400" dirty="0">
              <a:solidFill>
                <a:schemeClr val="tx1"/>
              </a:solidFill>
              <a:latin typeface="Times New Roman" panose="02020603050405020304" pitchFamily="18" charset="0"/>
              <a:cs typeface="Times New Roman" panose="02020603050405020304" pitchFamily="18" charset="0"/>
            </a:endParaRPr>
          </a:p>
        </p:txBody>
      </p:sp>
      <p:pic>
        <p:nvPicPr>
          <p:cNvPr id="7" name="Graphic 6" descr="Building">
            <a:extLst>
              <a:ext uri="{FF2B5EF4-FFF2-40B4-BE49-F238E27FC236}">
                <a16:creationId xmlns:a16="http://schemas.microsoft.com/office/drawing/2014/main" id="{8AB52BD5-E0E4-B8A6-AE3F-728B502B114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8050787" y="1600709"/>
            <a:ext cx="3656581" cy="3656581"/>
          </a:xfrm>
          <a:prstGeom prst="rect">
            <a:avLst/>
          </a:prstGeom>
        </p:spPr>
      </p:pic>
    </p:spTree>
    <p:extLst>
      <p:ext uri="{BB962C8B-B14F-4D97-AF65-F5344CB8AC3E}">
        <p14:creationId xmlns:p14="http://schemas.microsoft.com/office/powerpoint/2010/main" val="25851654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74BD3A9-25D1-4691-BE05-149182EC4C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2" name="Freeform 10">
            <a:extLst>
              <a:ext uri="{FF2B5EF4-FFF2-40B4-BE49-F238E27FC236}">
                <a16:creationId xmlns:a16="http://schemas.microsoft.com/office/drawing/2014/main" id="{8D49CF1A-01DD-4115-A6BB-CFA8F70453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0" y="0"/>
            <a:ext cx="7569200" cy="6858000"/>
          </a:xfrm>
          <a:custGeom>
            <a:avLst/>
            <a:gdLst>
              <a:gd name="connsiteX0" fmla="*/ 0 w 7569200"/>
              <a:gd name="connsiteY0" fmla="*/ 0 h 6858000"/>
              <a:gd name="connsiteX1" fmla="*/ 7389812 w 7569200"/>
              <a:gd name="connsiteY1" fmla="*/ 0 h 6858000"/>
              <a:gd name="connsiteX2" fmla="*/ 7394575 w 7569200"/>
              <a:gd name="connsiteY2" fmla="*/ 66675 h 6858000"/>
              <a:gd name="connsiteX3" fmla="*/ 7402512 w 7569200"/>
              <a:gd name="connsiteY3" fmla="*/ 122237 h 6858000"/>
              <a:gd name="connsiteX4" fmla="*/ 7412037 w 7569200"/>
              <a:gd name="connsiteY4" fmla="*/ 174625 h 6858000"/>
              <a:gd name="connsiteX5" fmla="*/ 7427912 w 7569200"/>
              <a:gd name="connsiteY5" fmla="*/ 217487 h 6858000"/>
              <a:gd name="connsiteX6" fmla="*/ 7443787 w 7569200"/>
              <a:gd name="connsiteY6" fmla="*/ 260350 h 6858000"/>
              <a:gd name="connsiteX7" fmla="*/ 7462837 w 7569200"/>
              <a:gd name="connsiteY7" fmla="*/ 296862 h 6858000"/>
              <a:gd name="connsiteX8" fmla="*/ 7481887 w 7569200"/>
              <a:gd name="connsiteY8" fmla="*/ 334962 h 6858000"/>
              <a:gd name="connsiteX9" fmla="*/ 7499350 w 7569200"/>
              <a:gd name="connsiteY9" fmla="*/ 369887 h 6858000"/>
              <a:gd name="connsiteX10" fmla="*/ 7516812 w 7569200"/>
              <a:gd name="connsiteY10" fmla="*/ 409575 h 6858000"/>
              <a:gd name="connsiteX11" fmla="*/ 7532687 w 7569200"/>
              <a:gd name="connsiteY11" fmla="*/ 450850 h 6858000"/>
              <a:gd name="connsiteX12" fmla="*/ 7546975 w 7569200"/>
              <a:gd name="connsiteY12" fmla="*/ 496887 h 6858000"/>
              <a:gd name="connsiteX13" fmla="*/ 7558087 w 7569200"/>
              <a:gd name="connsiteY13" fmla="*/ 546100 h 6858000"/>
              <a:gd name="connsiteX14" fmla="*/ 7566025 w 7569200"/>
              <a:gd name="connsiteY14" fmla="*/ 606425 h 6858000"/>
              <a:gd name="connsiteX15" fmla="*/ 7569200 w 7569200"/>
              <a:gd name="connsiteY15" fmla="*/ 673100 h 6858000"/>
              <a:gd name="connsiteX16" fmla="*/ 7566025 w 7569200"/>
              <a:gd name="connsiteY16" fmla="*/ 744537 h 6858000"/>
              <a:gd name="connsiteX17" fmla="*/ 7558087 w 7569200"/>
              <a:gd name="connsiteY17" fmla="*/ 801687 h 6858000"/>
              <a:gd name="connsiteX18" fmla="*/ 7546975 w 7569200"/>
              <a:gd name="connsiteY18" fmla="*/ 854075 h 6858000"/>
              <a:gd name="connsiteX19" fmla="*/ 7532687 w 7569200"/>
              <a:gd name="connsiteY19" fmla="*/ 901700 h 6858000"/>
              <a:gd name="connsiteX20" fmla="*/ 7516812 w 7569200"/>
              <a:gd name="connsiteY20" fmla="*/ 942975 h 6858000"/>
              <a:gd name="connsiteX21" fmla="*/ 7497762 w 7569200"/>
              <a:gd name="connsiteY21" fmla="*/ 981075 h 6858000"/>
              <a:gd name="connsiteX22" fmla="*/ 7478712 w 7569200"/>
              <a:gd name="connsiteY22" fmla="*/ 1017587 h 6858000"/>
              <a:gd name="connsiteX23" fmla="*/ 7459662 w 7569200"/>
              <a:gd name="connsiteY23" fmla="*/ 1055687 h 6858000"/>
              <a:gd name="connsiteX24" fmla="*/ 7442200 w 7569200"/>
              <a:gd name="connsiteY24" fmla="*/ 1095375 h 6858000"/>
              <a:gd name="connsiteX25" fmla="*/ 7424737 w 7569200"/>
              <a:gd name="connsiteY25" fmla="*/ 1136650 h 6858000"/>
              <a:gd name="connsiteX26" fmla="*/ 7410450 w 7569200"/>
              <a:gd name="connsiteY26" fmla="*/ 1182687 h 6858000"/>
              <a:gd name="connsiteX27" fmla="*/ 7400925 w 7569200"/>
              <a:gd name="connsiteY27" fmla="*/ 1235075 h 6858000"/>
              <a:gd name="connsiteX28" fmla="*/ 7391400 w 7569200"/>
              <a:gd name="connsiteY28" fmla="*/ 1295400 h 6858000"/>
              <a:gd name="connsiteX29" fmla="*/ 7389812 w 7569200"/>
              <a:gd name="connsiteY29" fmla="*/ 1363662 h 6858000"/>
              <a:gd name="connsiteX30" fmla="*/ 7391400 w 7569200"/>
              <a:gd name="connsiteY30" fmla="*/ 1431925 h 6858000"/>
              <a:gd name="connsiteX31" fmla="*/ 7400925 w 7569200"/>
              <a:gd name="connsiteY31" fmla="*/ 1492250 h 6858000"/>
              <a:gd name="connsiteX32" fmla="*/ 7410450 w 7569200"/>
              <a:gd name="connsiteY32" fmla="*/ 1544637 h 6858000"/>
              <a:gd name="connsiteX33" fmla="*/ 7424737 w 7569200"/>
              <a:gd name="connsiteY33" fmla="*/ 1589087 h 6858000"/>
              <a:gd name="connsiteX34" fmla="*/ 7442200 w 7569200"/>
              <a:gd name="connsiteY34" fmla="*/ 1631950 h 6858000"/>
              <a:gd name="connsiteX35" fmla="*/ 7459662 w 7569200"/>
              <a:gd name="connsiteY35" fmla="*/ 1671637 h 6858000"/>
              <a:gd name="connsiteX36" fmla="*/ 7478712 w 7569200"/>
              <a:gd name="connsiteY36" fmla="*/ 1708150 h 6858000"/>
              <a:gd name="connsiteX37" fmla="*/ 7497762 w 7569200"/>
              <a:gd name="connsiteY37" fmla="*/ 1743075 h 6858000"/>
              <a:gd name="connsiteX38" fmla="*/ 7516812 w 7569200"/>
              <a:gd name="connsiteY38" fmla="*/ 1782762 h 6858000"/>
              <a:gd name="connsiteX39" fmla="*/ 7532687 w 7569200"/>
              <a:gd name="connsiteY39" fmla="*/ 1824037 h 6858000"/>
              <a:gd name="connsiteX40" fmla="*/ 7546975 w 7569200"/>
              <a:gd name="connsiteY40" fmla="*/ 1870075 h 6858000"/>
              <a:gd name="connsiteX41" fmla="*/ 7558087 w 7569200"/>
              <a:gd name="connsiteY41" fmla="*/ 1922462 h 6858000"/>
              <a:gd name="connsiteX42" fmla="*/ 7566025 w 7569200"/>
              <a:gd name="connsiteY42" fmla="*/ 1982787 h 6858000"/>
              <a:gd name="connsiteX43" fmla="*/ 7569200 w 7569200"/>
              <a:gd name="connsiteY43" fmla="*/ 2051050 h 6858000"/>
              <a:gd name="connsiteX44" fmla="*/ 7566025 w 7569200"/>
              <a:gd name="connsiteY44" fmla="*/ 2119312 h 6858000"/>
              <a:gd name="connsiteX45" fmla="*/ 7558087 w 7569200"/>
              <a:gd name="connsiteY45" fmla="*/ 2179637 h 6858000"/>
              <a:gd name="connsiteX46" fmla="*/ 7546975 w 7569200"/>
              <a:gd name="connsiteY46" fmla="*/ 2232025 h 6858000"/>
              <a:gd name="connsiteX47" fmla="*/ 7532687 w 7569200"/>
              <a:gd name="connsiteY47" fmla="*/ 2278062 h 6858000"/>
              <a:gd name="connsiteX48" fmla="*/ 7516812 w 7569200"/>
              <a:gd name="connsiteY48" fmla="*/ 2319337 h 6858000"/>
              <a:gd name="connsiteX49" fmla="*/ 7497762 w 7569200"/>
              <a:gd name="connsiteY49" fmla="*/ 2359025 h 6858000"/>
              <a:gd name="connsiteX50" fmla="*/ 7478712 w 7569200"/>
              <a:gd name="connsiteY50" fmla="*/ 2395537 h 6858000"/>
              <a:gd name="connsiteX51" fmla="*/ 7459662 w 7569200"/>
              <a:gd name="connsiteY51" fmla="*/ 2433637 h 6858000"/>
              <a:gd name="connsiteX52" fmla="*/ 7442200 w 7569200"/>
              <a:gd name="connsiteY52" fmla="*/ 2471737 h 6858000"/>
              <a:gd name="connsiteX53" fmla="*/ 7424737 w 7569200"/>
              <a:gd name="connsiteY53" fmla="*/ 2513012 h 6858000"/>
              <a:gd name="connsiteX54" fmla="*/ 7410450 w 7569200"/>
              <a:gd name="connsiteY54" fmla="*/ 2560637 h 6858000"/>
              <a:gd name="connsiteX55" fmla="*/ 7400925 w 7569200"/>
              <a:gd name="connsiteY55" fmla="*/ 2613025 h 6858000"/>
              <a:gd name="connsiteX56" fmla="*/ 7391400 w 7569200"/>
              <a:gd name="connsiteY56" fmla="*/ 2671762 h 6858000"/>
              <a:gd name="connsiteX57" fmla="*/ 7389812 w 7569200"/>
              <a:gd name="connsiteY57" fmla="*/ 2741612 h 6858000"/>
              <a:gd name="connsiteX58" fmla="*/ 7391400 w 7569200"/>
              <a:gd name="connsiteY58" fmla="*/ 2809875 h 6858000"/>
              <a:gd name="connsiteX59" fmla="*/ 7400925 w 7569200"/>
              <a:gd name="connsiteY59" fmla="*/ 2868612 h 6858000"/>
              <a:gd name="connsiteX60" fmla="*/ 7410450 w 7569200"/>
              <a:gd name="connsiteY60" fmla="*/ 2922587 h 6858000"/>
              <a:gd name="connsiteX61" fmla="*/ 7424737 w 7569200"/>
              <a:gd name="connsiteY61" fmla="*/ 2967037 h 6858000"/>
              <a:gd name="connsiteX62" fmla="*/ 7442200 w 7569200"/>
              <a:gd name="connsiteY62" fmla="*/ 3009900 h 6858000"/>
              <a:gd name="connsiteX63" fmla="*/ 7459662 w 7569200"/>
              <a:gd name="connsiteY63" fmla="*/ 3046412 h 6858000"/>
              <a:gd name="connsiteX64" fmla="*/ 7478712 w 7569200"/>
              <a:gd name="connsiteY64" fmla="*/ 3084512 h 6858000"/>
              <a:gd name="connsiteX65" fmla="*/ 7497762 w 7569200"/>
              <a:gd name="connsiteY65" fmla="*/ 3121025 h 6858000"/>
              <a:gd name="connsiteX66" fmla="*/ 7516812 w 7569200"/>
              <a:gd name="connsiteY66" fmla="*/ 3160712 h 6858000"/>
              <a:gd name="connsiteX67" fmla="*/ 7532687 w 7569200"/>
              <a:gd name="connsiteY67" fmla="*/ 3201987 h 6858000"/>
              <a:gd name="connsiteX68" fmla="*/ 7546975 w 7569200"/>
              <a:gd name="connsiteY68" fmla="*/ 3248025 h 6858000"/>
              <a:gd name="connsiteX69" fmla="*/ 7558087 w 7569200"/>
              <a:gd name="connsiteY69" fmla="*/ 3300412 h 6858000"/>
              <a:gd name="connsiteX70" fmla="*/ 7566025 w 7569200"/>
              <a:gd name="connsiteY70" fmla="*/ 3360737 h 6858000"/>
              <a:gd name="connsiteX71" fmla="*/ 7569200 w 7569200"/>
              <a:gd name="connsiteY71" fmla="*/ 3427412 h 6858000"/>
              <a:gd name="connsiteX72" fmla="*/ 7566025 w 7569200"/>
              <a:gd name="connsiteY72" fmla="*/ 3497262 h 6858000"/>
              <a:gd name="connsiteX73" fmla="*/ 7558087 w 7569200"/>
              <a:gd name="connsiteY73" fmla="*/ 3557587 h 6858000"/>
              <a:gd name="connsiteX74" fmla="*/ 7546975 w 7569200"/>
              <a:gd name="connsiteY74" fmla="*/ 3609975 h 6858000"/>
              <a:gd name="connsiteX75" fmla="*/ 7532687 w 7569200"/>
              <a:gd name="connsiteY75" fmla="*/ 3656012 h 6858000"/>
              <a:gd name="connsiteX76" fmla="*/ 7516812 w 7569200"/>
              <a:gd name="connsiteY76" fmla="*/ 3697287 h 6858000"/>
              <a:gd name="connsiteX77" fmla="*/ 7497762 w 7569200"/>
              <a:gd name="connsiteY77" fmla="*/ 3736975 h 6858000"/>
              <a:gd name="connsiteX78" fmla="*/ 7459662 w 7569200"/>
              <a:gd name="connsiteY78" fmla="*/ 3811587 h 6858000"/>
              <a:gd name="connsiteX79" fmla="*/ 7442200 w 7569200"/>
              <a:gd name="connsiteY79" fmla="*/ 3848100 h 6858000"/>
              <a:gd name="connsiteX80" fmla="*/ 7424737 w 7569200"/>
              <a:gd name="connsiteY80" fmla="*/ 3890962 h 6858000"/>
              <a:gd name="connsiteX81" fmla="*/ 7410450 w 7569200"/>
              <a:gd name="connsiteY81" fmla="*/ 3935412 h 6858000"/>
              <a:gd name="connsiteX82" fmla="*/ 7400925 w 7569200"/>
              <a:gd name="connsiteY82" fmla="*/ 3987800 h 6858000"/>
              <a:gd name="connsiteX83" fmla="*/ 7391400 w 7569200"/>
              <a:gd name="connsiteY83" fmla="*/ 4048125 h 6858000"/>
              <a:gd name="connsiteX84" fmla="*/ 7389812 w 7569200"/>
              <a:gd name="connsiteY84" fmla="*/ 4116387 h 6858000"/>
              <a:gd name="connsiteX85" fmla="*/ 7391400 w 7569200"/>
              <a:gd name="connsiteY85" fmla="*/ 4186237 h 6858000"/>
              <a:gd name="connsiteX86" fmla="*/ 7400925 w 7569200"/>
              <a:gd name="connsiteY86" fmla="*/ 4244975 h 6858000"/>
              <a:gd name="connsiteX87" fmla="*/ 7410450 w 7569200"/>
              <a:gd name="connsiteY87" fmla="*/ 4297362 h 6858000"/>
              <a:gd name="connsiteX88" fmla="*/ 7424737 w 7569200"/>
              <a:gd name="connsiteY88" fmla="*/ 4343400 h 6858000"/>
              <a:gd name="connsiteX89" fmla="*/ 7442200 w 7569200"/>
              <a:gd name="connsiteY89" fmla="*/ 4386262 h 6858000"/>
              <a:gd name="connsiteX90" fmla="*/ 7459662 w 7569200"/>
              <a:gd name="connsiteY90" fmla="*/ 4424362 h 6858000"/>
              <a:gd name="connsiteX91" fmla="*/ 7497762 w 7569200"/>
              <a:gd name="connsiteY91" fmla="*/ 4498975 h 6858000"/>
              <a:gd name="connsiteX92" fmla="*/ 7516812 w 7569200"/>
              <a:gd name="connsiteY92" fmla="*/ 4537075 h 6858000"/>
              <a:gd name="connsiteX93" fmla="*/ 7532687 w 7569200"/>
              <a:gd name="connsiteY93" fmla="*/ 4579937 h 6858000"/>
              <a:gd name="connsiteX94" fmla="*/ 7546975 w 7569200"/>
              <a:gd name="connsiteY94" fmla="*/ 4625975 h 6858000"/>
              <a:gd name="connsiteX95" fmla="*/ 7558087 w 7569200"/>
              <a:gd name="connsiteY95" fmla="*/ 4678362 h 6858000"/>
              <a:gd name="connsiteX96" fmla="*/ 7566025 w 7569200"/>
              <a:gd name="connsiteY96" fmla="*/ 4738687 h 6858000"/>
              <a:gd name="connsiteX97" fmla="*/ 7569200 w 7569200"/>
              <a:gd name="connsiteY97" fmla="*/ 4806950 h 6858000"/>
              <a:gd name="connsiteX98" fmla="*/ 7566025 w 7569200"/>
              <a:gd name="connsiteY98" fmla="*/ 4875212 h 6858000"/>
              <a:gd name="connsiteX99" fmla="*/ 7558087 w 7569200"/>
              <a:gd name="connsiteY99" fmla="*/ 4935537 h 6858000"/>
              <a:gd name="connsiteX100" fmla="*/ 7546975 w 7569200"/>
              <a:gd name="connsiteY100" fmla="*/ 4987925 h 6858000"/>
              <a:gd name="connsiteX101" fmla="*/ 7532687 w 7569200"/>
              <a:gd name="connsiteY101" fmla="*/ 5033962 h 6858000"/>
              <a:gd name="connsiteX102" fmla="*/ 7516812 w 7569200"/>
              <a:gd name="connsiteY102" fmla="*/ 5075237 h 6858000"/>
              <a:gd name="connsiteX103" fmla="*/ 7497762 w 7569200"/>
              <a:gd name="connsiteY103" fmla="*/ 5114925 h 6858000"/>
              <a:gd name="connsiteX104" fmla="*/ 7478712 w 7569200"/>
              <a:gd name="connsiteY104" fmla="*/ 5149850 h 6858000"/>
              <a:gd name="connsiteX105" fmla="*/ 7459662 w 7569200"/>
              <a:gd name="connsiteY105" fmla="*/ 5186362 h 6858000"/>
              <a:gd name="connsiteX106" fmla="*/ 7442200 w 7569200"/>
              <a:gd name="connsiteY106" fmla="*/ 5226050 h 6858000"/>
              <a:gd name="connsiteX107" fmla="*/ 7424737 w 7569200"/>
              <a:gd name="connsiteY107" fmla="*/ 5268912 h 6858000"/>
              <a:gd name="connsiteX108" fmla="*/ 7410450 w 7569200"/>
              <a:gd name="connsiteY108" fmla="*/ 5313362 h 6858000"/>
              <a:gd name="connsiteX109" fmla="*/ 7400925 w 7569200"/>
              <a:gd name="connsiteY109" fmla="*/ 5365750 h 6858000"/>
              <a:gd name="connsiteX110" fmla="*/ 7391400 w 7569200"/>
              <a:gd name="connsiteY110" fmla="*/ 5426075 h 6858000"/>
              <a:gd name="connsiteX111" fmla="*/ 7389812 w 7569200"/>
              <a:gd name="connsiteY111" fmla="*/ 5494337 h 6858000"/>
              <a:gd name="connsiteX112" fmla="*/ 7391400 w 7569200"/>
              <a:gd name="connsiteY112" fmla="*/ 5562600 h 6858000"/>
              <a:gd name="connsiteX113" fmla="*/ 7400925 w 7569200"/>
              <a:gd name="connsiteY113" fmla="*/ 5622925 h 6858000"/>
              <a:gd name="connsiteX114" fmla="*/ 7410450 w 7569200"/>
              <a:gd name="connsiteY114" fmla="*/ 5675312 h 6858000"/>
              <a:gd name="connsiteX115" fmla="*/ 7424737 w 7569200"/>
              <a:gd name="connsiteY115" fmla="*/ 5721350 h 6858000"/>
              <a:gd name="connsiteX116" fmla="*/ 7442200 w 7569200"/>
              <a:gd name="connsiteY116" fmla="*/ 5762625 h 6858000"/>
              <a:gd name="connsiteX117" fmla="*/ 7459662 w 7569200"/>
              <a:gd name="connsiteY117" fmla="*/ 5802312 h 6858000"/>
              <a:gd name="connsiteX118" fmla="*/ 7478712 w 7569200"/>
              <a:gd name="connsiteY118" fmla="*/ 5840412 h 6858000"/>
              <a:gd name="connsiteX119" fmla="*/ 7497762 w 7569200"/>
              <a:gd name="connsiteY119" fmla="*/ 5876925 h 6858000"/>
              <a:gd name="connsiteX120" fmla="*/ 7516812 w 7569200"/>
              <a:gd name="connsiteY120" fmla="*/ 5915025 h 6858000"/>
              <a:gd name="connsiteX121" fmla="*/ 7532687 w 7569200"/>
              <a:gd name="connsiteY121" fmla="*/ 5956300 h 6858000"/>
              <a:gd name="connsiteX122" fmla="*/ 7546975 w 7569200"/>
              <a:gd name="connsiteY122" fmla="*/ 6003925 h 6858000"/>
              <a:gd name="connsiteX123" fmla="*/ 7558087 w 7569200"/>
              <a:gd name="connsiteY123" fmla="*/ 6056312 h 6858000"/>
              <a:gd name="connsiteX124" fmla="*/ 7566025 w 7569200"/>
              <a:gd name="connsiteY124" fmla="*/ 6113462 h 6858000"/>
              <a:gd name="connsiteX125" fmla="*/ 7569200 w 7569200"/>
              <a:gd name="connsiteY125" fmla="*/ 6183312 h 6858000"/>
              <a:gd name="connsiteX126" fmla="*/ 7566025 w 7569200"/>
              <a:gd name="connsiteY126" fmla="*/ 6251575 h 6858000"/>
              <a:gd name="connsiteX127" fmla="*/ 7558087 w 7569200"/>
              <a:gd name="connsiteY127" fmla="*/ 6311900 h 6858000"/>
              <a:gd name="connsiteX128" fmla="*/ 7546975 w 7569200"/>
              <a:gd name="connsiteY128" fmla="*/ 6361112 h 6858000"/>
              <a:gd name="connsiteX129" fmla="*/ 7532687 w 7569200"/>
              <a:gd name="connsiteY129" fmla="*/ 6407150 h 6858000"/>
              <a:gd name="connsiteX130" fmla="*/ 7516812 w 7569200"/>
              <a:gd name="connsiteY130" fmla="*/ 6448425 h 6858000"/>
              <a:gd name="connsiteX131" fmla="*/ 7499350 w 7569200"/>
              <a:gd name="connsiteY131" fmla="*/ 6488112 h 6858000"/>
              <a:gd name="connsiteX132" fmla="*/ 7481887 w 7569200"/>
              <a:gd name="connsiteY132" fmla="*/ 6523037 h 6858000"/>
              <a:gd name="connsiteX133" fmla="*/ 7462837 w 7569200"/>
              <a:gd name="connsiteY133" fmla="*/ 6561137 h 6858000"/>
              <a:gd name="connsiteX134" fmla="*/ 7443787 w 7569200"/>
              <a:gd name="connsiteY134" fmla="*/ 6597650 h 6858000"/>
              <a:gd name="connsiteX135" fmla="*/ 7427912 w 7569200"/>
              <a:gd name="connsiteY135" fmla="*/ 6640512 h 6858000"/>
              <a:gd name="connsiteX136" fmla="*/ 7412037 w 7569200"/>
              <a:gd name="connsiteY136" fmla="*/ 6683375 h 6858000"/>
              <a:gd name="connsiteX137" fmla="*/ 7402512 w 7569200"/>
              <a:gd name="connsiteY137" fmla="*/ 6735762 h 6858000"/>
              <a:gd name="connsiteX138" fmla="*/ 7394575 w 7569200"/>
              <a:gd name="connsiteY138" fmla="*/ 6791325 h 6858000"/>
              <a:gd name="connsiteX139" fmla="*/ 7389812 w 7569200"/>
              <a:gd name="connsiteY139" fmla="*/ 6858000 h 6858000"/>
              <a:gd name="connsiteX140" fmla="*/ 0 w 7569200"/>
              <a:gd name="connsiteY140" fmla="*/ 6858000 h 6858000"/>
              <a:gd name="connsiteX141" fmla="*/ 0 w 7569200"/>
              <a:gd name="connsiteY141"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7569200" h="6858000">
                <a:moveTo>
                  <a:pt x="0" y="0"/>
                </a:moveTo>
                <a:lnTo>
                  <a:pt x="7389812" y="0"/>
                </a:lnTo>
                <a:lnTo>
                  <a:pt x="7394575" y="66675"/>
                </a:lnTo>
                <a:lnTo>
                  <a:pt x="7402512" y="122237"/>
                </a:lnTo>
                <a:lnTo>
                  <a:pt x="7412037" y="174625"/>
                </a:lnTo>
                <a:lnTo>
                  <a:pt x="7427912" y="217487"/>
                </a:lnTo>
                <a:lnTo>
                  <a:pt x="7443787" y="260350"/>
                </a:lnTo>
                <a:lnTo>
                  <a:pt x="7462837" y="296862"/>
                </a:lnTo>
                <a:lnTo>
                  <a:pt x="7481887" y="334962"/>
                </a:lnTo>
                <a:lnTo>
                  <a:pt x="7499350" y="369887"/>
                </a:lnTo>
                <a:lnTo>
                  <a:pt x="7516812" y="409575"/>
                </a:lnTo>
                <a:lnTo>
                  <a:pt x="7532687" y="450850"/>
                </a:lnTo>
                <a:lnTo>
                  <a:pt x="7546975" y="496887"/>
                </a:lnTo>
                <a:lnTo>
                  <a:pt x="7558087" y="546100"/>
                </a:lnTo>
                <a:lnTo>
                  <a:pt x="7566025" y="606425"/>
                </a:lnTo>
                <a:lnTo>
                  <a:pt x="7569200" y="673100"/>
                </a:lnTo>
                <a:lnTo>
                  <a:pt x="7566025" y="744537"/>
                </a:lnTo>
                <a:lnTo>
                  <a:pt x="7558087" y="801687"/>
                </a:lnTo>
                <a:lnTo>
                  <a:pt x="7546975" y="854075"/>
                </a:lnTo>
                <a:lnTo>
                  <a:pt x="7532687" y="901700"/>
                </a:lnTo>
                <a:lnTo>
                  <a:pt x="7516812" y="942975"/>
                </a:lnTo>
                <a:lnTo>
                  <a:pt x="7497762" y="981075"/>
                </a:lnTo>
                <a:lnTo>
                  <a:pt x="7478712" y="1017587"/>
                </a:lnTo>
                <a:lnTo>
                  <a:pt x="7459662" y="1055687"/>
                </a:lnTo>
                <a:lnTo>
                  <a:pt x="7442200" y="1095375"/>
                </a:lnTo>
                <a:lnTo>
                  <a:pt x="7424737" y="1136650"/>
                </a:lnTo>
                <a:lnTo>
                  <a:pt x="7410450" y="1182687"/>
                </a:lnTo>
                <a:lnTo>
                  <a:pt x="7400925" y="1235075"/>
                </a:lnTo>
                <a:lnTo>
                  <a:pt x="7391400" y="1295400"/>
                </a:lnTo>
                <a:lnTo>
                  <a:pt x="7389812" y="1363662"/>
                </a:lnTo>
                <a:lnTo>
                  <a:pt x="7391400" y="1431925"/>
                </a:lnTo>
                <a:lnTo>
                  <a:pt x="7400925" y="1492250"/>
                </a:lnTo>
                <a:lnTo>
                  <a:pt x="7410450" y="1544637"/>
                </a:lnTo>
                <a:lnTo>
                  <a:pt x="7424737" y="1589087"/>
                </a:lnTo>
                <a:lnTo>
                  <a:pt x="7442200" y="1631950"/>
                </a:lnTo>
                <a:lnTo>
                  <a:pt x="7459662" y="1671637"/>
                </a:lnTo>
                <a:lnTo>
                  <a:pt x="7478712" y="1708150"/>
                </a:lnTo>
                <a:lnTo>
                  <a:pt x="7497762" y="1743075"/>
                </a:lnTo>
                <a:lnTo>
                  <a:pt x="7516812" y="1782762"/>
                </a:lnTo>
                <a:lnTo>
                  <a:pt x="7532687" y="1824037"/>
                </a:lnTo>
                <a:lnTo>
                  <a:pt x="7546975" y="1870075"/>
                </a:lnTo>
                <a:lnTo>
                  <a:pt x="7558087" y="1922462"/>
                </a:lnTo>
                <a:lnTo>
                  <a:pt x="7566025" y="1982787"/>
                </a:lnTo>
                <a:lnTo>
                  <a:pt x="7569200" y="2051050"/>
                </a:lnTo>
                <a:lnTo>
                  <a:pt x="7566025" y="2119312"/>
                </a:lnTo>
                <a:lnTo>
                  <a:pt x="7558087" y="2179637"/>
                </a:lnTo>
                <a:lnTo>
                  <a:pt x="7546975" y="2232025"/>
                </a:lnTo>
                <a:lnTo>
                  <a:pt x="7532687" y="2278062"/>
                </a:lnTo>
                <a:lnTo>
                  <a:pt x="7516812" y="2319337"/>
                </a:lnTo>
                <a:lnTo>
                  <a:pt x="7497762" y="2359025"/>
                </a:lnTo>
                <a:lnTo>
                  <a:pt x="7478712" y="2395537"/>
                </a:lnTo>
                <a:lnTo>
                  <a:pt x="7459662" y="2433637"/>
                </a:lnTo>
                <a:lnTo>
                  <a:pt x="7442200" y="2471737"/>
                </a:lnTo>
                <a:lnTo>
                  <a:pt x="7424737" y="2513012"/>
                </a:lnTo>
                <a:lnTo>
                  <a:pt x="7410450" y="2560637"/>
                </a:lnTo>
                <a:lnTo>
                  <a:pt x="7400925" y="2613025"/>
                </a:lnTo>
                <a:lnTo>
                  <a:pt x="7391400" y="2671762"/>
                </a:lnTo>
                <a:lnTo>
                  <a:pt x="7389812" y="2741612"/>
                </a:lnTo>
                <a:lnTo>
                  <a:pt x="7391400" y="2809875"/>
                </a:lnTo>
                <a:lnTo>
                  <a:pt x="7400925" y="2868612"/>
                </a:lnTo>
                <a:lnTo>
                  <a:pt x="7410450" y="2922587"/>
                </a:lnTo>
                <a:lnTo>
                  <a:pt x="7424737" y="2967037"/>
                </a:lnTo>
                <a:lnTo>
                  <a:pt x="7442200" y="3009900"/>
                </a:lnTo>
                <a:lnTo>
                  <a:pt x="7459662" y="3046412"/>
                </a:lnTo>
                <a:lnTo>
                  <a:pt x="7478712" y="3084512"/>
                </a:lnTo>
                <a:lnTo>
                  <a:pt x="7497762" y="3121025"/>
                </a:lnTo>
                <a:lnTo>
                  <a:pt x="7516812" y="3160712"/>
                </a:lnTo>
                <a:lnTo>
                  <a:pt x="7532687" y="3201987"/>
                </a:lnTo>
                <a:lnTo>
                  <a:pt x="7546975" y="3248025"/>
                </a:lnTo>
                <a:lnTo>
                  <a:pt x="7558087" y="3300412"/>
                </a:lnTo>
                <a:lnTo>
                  <a:pt x="7566025" y="3360737"/>
                </a:lnTo>
                <a:lnTo>
                  <a:pt x="7569200" y="3427412"/>
                </a:lnTo>
                <a:lnTo>
                  <a:pt x="7566025" y="3497262"/>
                </a:lnTo>
                <a:lnTo>
                  <a:pt x="7558087" y="3557587"/>
                </a:lnTo>
                <a:lnTo>
                  <a:pt x="7546975" y="3609975"/>
                </a:lnTo>
                <a:lnTo>
                  <a:pt x="7532687" y="3656012"/>
                </a:lnTo>
                <a:lnTo>
                  <a:pt x="7516812" y="3697287"/>
                </a:lnTo>
                <a:lnTo>
                  <a:pt x="7497762" y="3736975"/>
                </a:lnTo>
                <a:lnTo>
                  <a:pt x="7459662" y="3811587"/>
                </a:lnTo>
                <a:lnTo>
                  <a:pt x="7442200" y="3848100"/>
                </a:lnTo>
                <a:lnTo>
                  <a:pt x="7424737" y="3890962"/>
                </a:lnTo>
                <a:lnTo>
                  <a:pt x="7410450" y="3935412"/>
                </a:lnTo>
                <a:lnTo>
                  <a:pt x="7400925" y="3987800"/>
                </a:lnTo>
                <a:lnTo>
                  <a:pt x="7391400" y="4048125"/>
                </a:lnTo>
                <a:lnTo>
                  <a:pt x="7389812" y="4116387"/>
                </a:lnTo>
                <a:lnTo>
                  <a:pt x="7391400" y="4186237"/>
                </a:lnTo>
                <a:lnTo>
                  <a:pt x="7400925" y="4244975"/>
                </a:lnTo>
                <a:lnTo>
                  <a:pt x="7410450" y="4297362"/>
                </a:lnTo>
                <a:lnTo>
                  <a:pt x="7424737" y="4343400"/>
                </a:lnTo>
                <a:lnTo>
                  <a:pt x="7442200" y="4386262"/>
                </a:lnTo>
                <a:lnTo>
                  <a:pt x="7459662" y="4424362"/>
                </a:lnTo>
                <a:lnTo>
                  <a:pt x="7497762" y="4498975"/>
                </a:lnTo>
                <a:lnTo>
                  <a:pt x="7516812" y="4537075"/>
                </a:lnTo>
                <a:lnTo>
                  <a:pt x="7532687" y="4579937"/>
                </a:lnTo>
                <a:lnTo>
                  <a:pt x="7546975" y="4625975"/>
                </a:lnTo>
                <a:lnTo>
                  <a:pt x="7558087" y="4678362"/>
                </a:lnTo>
                <a:lnTo>
                  <a:pt x="7566025" y="4738687"/>
                </a:lnTo>
                <a:lnTo>
                  <a:pt x="7569200" y="4806950"/>
                </a:lnTo>
                <a:lnTo>
                  <a:pt x="7566025" y="4875212"/>
                </a:lnTo>
                <a:lnTo>
                  <a:pt x="7558087" y="4935537"/>
                </a:lnTo>
                <a:lnTo>
                  <a:pt x="7546975" y="4987925"/>
                </a:lnTo>
                <a:lnTo>
                  <a:pt x="7532687" y="5033962"/>
                </a:lnTo>
                <a:lnTo>
                  <a:pt x="7516812" y="5075237"/>
                </a:lnTo>
                <a:lnTo>
                  <a:pt x="7497762" y="5114925"/>
                </a:lnTo>
                <a:lnTo>
                  <a:pt x="7478712" y="5149850"/>
                </a:lnTo>
                <a:lnTo>
                  <a:pt x="7459662" y="5186362"/>
                </a:lnTo>
                <a:lnTo>
                  <a:pt x="7442200" y="5226050"/>
                </a:lnTo>
                <a:lnTo>
                  <a:pt x="7424737" y="5268912"/>
                </a:lnTo>
                <a:lnTo>
                  <a:pt x="7410450" y="5313362"/>
                </a:lnTo>
                <a:lnTo>
                  <a:pt x="7400925" y="5365750"/>
                </a:lnTo>
                <a:lnTo>
                  <a:pt x="7391400" y="5426075"/>
                </a:lnTo>
                <a:lnTo>
                  <a:pt x="7389812" y="5494337"/>
                </a:lnTo>
                <a:lnTo>
                  <a:pt x="7391400" y="5562600"/>
                </a:lnTo>
                <a:lnTo>
                  <a:pt x="7400925" y="5622925"/>
                </a:lnTo>
                <a:lnTo>
                  <a:pt x="7410450" y="5675312"/>
                </a:lnTo>
                <a:lnTo>
                  <a:pt x="7424737" y="5721350"/>
                </a:lnTo>
                <a:lnTo>
                  <a:pt x="7442200" y="5762625"/>
                </a:lnTo>
                <a:lnTo>
                  <a:pt x="7459662" y="5802312"/>
                </a:lnTo>
                <a:lnTo>
                  <a:pt x="7478712" y="5840412"/>
                </a:lnTo>
                <a:lnTo>
                  <a:pt x="7497762" y="5876925"/>
                </a:lnTo>
                <a:lnTo>
                  <a:pt x="7516812" y="5915025"/>
                </a:lnTo>
                <a:lnTo>
                  <a:pt x="7532687" y="5956300"/>
                </a:lnTo>
                <a:lnTo>
                  <a:pt x="7546975" y="6003925"/>
                </a:lnTo>
                <a:lnTo>
                  <a:pt x="7558087" y="6056312"/>
                </a:lnTo>
                <a:lnTo>
                  <a:pt x="7566025" y="6113462"/>
                </a:lnTo>
                <a:lnTo>
                  <a:pt x="7569200" y="6183312"/>
                </a:lnTo>
                <a:lnTo>
                  <a:pt x="7566025" y="6251575"/>
                </a:lnTo>
                <a:lnTo>
                  <a:pt x="7558087" y="6311900"/>
                </a:lnTo>
                <a:lnTo>
                  <a:pt x="7546975" y="6361112"/>
                </a:lnTo>
                <a:lnTo>
                  <a:pt x="7532687" y="6407150"/>
                </a:lnTo>
                <a:lnTo>
                  <a:pt x="7516812" y="6448425"/>
                </a:lnTo>
                <a:lnTo>
                  <a:pt x="7499350" y="6488112"/>
                </a:lnTo>
                <a:lnTo>
                  <a:pt x="7481887" y="6523037"/>
                </a:lnTo>
                <a:lnTo>
                  <a:pt x="7462837" y="6561137"/>
                </a:lnTo>
                <a:lnTo>
                  <a:pt x="7443787" y="6597650"/>
                </a:lnTo>
                <a:lnTo>
                  <a:pt x="7427912" y="6640512"/>
                </a:lnTo>
                <a:lnTo>
                  <a:pt x="7412037" y="6683375"/>
                </a:lnTo>
                <a:lnTo>
                  <a:pt x="7402512" y="6735762"/>
                </a:lnTo>
                <a:lnTo>
                  <a:pt x="7394575" y="6791325"/>
                </a:lnTo>
                <a:lnTo>
                  <a:pt x="7389812" y="6858000"/>
                </a:lnTo>
                <a:lnTo>
                  <a:pt x="0" y="6858000"/>
                </a:lnTo>
                <a:lnTo>
                  <a:pt x="0" y="0"/>
                </a:lnTo>
                <a:close/>
              </a:path>
            </a:pathLst>
          </a:custGeom>
          <a:solidFill>
            <a:schemeClr val="bg2">
              <a:lumMod val="90000"/>
            </a:schemeClr>
          </a:solidFill>
          <a:ln w="0">
            <a:noFill/>
            <a:prstDash val="solid"/>
            <a:round/>
            <a:headEnd/>
            <a:tailEnd/>
          </a:ln>
        </p:spPr>
        <p:txBody>
          <a:bodyPr/>
          <a:lstStyle/>
          <a:p>
            <a:endParaRPr lang="en-IN"/>
          </a:p>
        </p:txBody>
      </p:sp>
      <p:sp>
        <p:nvSpPr>
          <p:cNvPr id="2" name="Title 1">
            <a:extLst>
              <a:ext uri="{FF2B5EF4-FFF2-40B4-BE49-F238E27FC236}">
                <a16:creationId xmlns:a16="http://schemas.microsoft.com/office/drawing/2014/main" id="{4A590053-E211-6FA2-F9FC-CAB5818EA438}"/>
              </a:ext>
            </a:extLst>
          </p:cNvPr>
          <p:cNvSpPr>
            <a:spLocks noGrp="1"/>
          </p:cNvSpPr>
          <p:nvPr>
            <p:ph type="title"/>
          </p:nvPr>
        </p:nvSpPr>
        <p:spPr>
          <a:xfrm>
            <a:off x="754144" y="484631"/>
            <a:ext cx="6340519" cy="1638469"/>
          </a:xfrm>
        </p:spPr>
        <p:txBody>
          <a:bodyPr>
            <a:normAutofit/>
          </a:bodyPr>
          <a:lstStyle/>
          <a:p>
            <a:r>
              <a:rPr lang="en-IN" dirty="0"/>
              <a:t>Joint Venture</a:t>
            </a:r>
          </a:p>
        </p:txBody>
      </p:sp>
      <p:sp>
        <p:nvSpPr>
          <p:cNvPr id="14" name="Rectangle 13">
            <a:extLst>
              <a:ext uri="{FF2B5EF4-FFF2-40B4-BE49-F238E27FC236}">
                <a16:creationId xmlns:a16="http://schemas.microsoft.com/office/drawing/2014/main" id="{5FDAFA16-9D2D-4BEC-89D0-B4EABEE911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3" name="Content Placeholder 2">
            <a:extLst>
              <a:ext uri="{FF2B5EF4-FFF2-40B4-BE49-F238E27FC236}">
                <a16:creationId xmlns:a16="http://schemas.microsoft.com/office/drawing/2014/main" id="{D705EC3F-2261-F43E-23FC-DB43880B5F0A}"/>
              </a:ext>
            </a:extLst>
          </p:cNvPr>
          <p:cNvSpPr>
            <a:spLocks noGrp="1"/>
          </p:cNvSpPr>
          <p:nvPr>
            <p:ph idx="1"/>
          </p:nvPr>
        </p:nvSpPr>
        <p:spPr>
          <a:xfrm>
            <a:off x="402770" y="1426029"/>
            <a:ext cx="6811761" cy="5083627"/>
          </a:xfrm>
        </p:spPr>
        <p:txBody>
          <a:bodyPr>
            <a:normAutofit lnSpcReduction="10000"/>
          </a:bodyPr>
          <a:lstStyle/>
          <a:p>
            <a:pPr>
              <a:lnSpc>
                <a:spcPct val="100000"/>
              </a:lnSpc>
            </a:pPr>
            <a:r>
              <a:rPr lang="en-US" sz="1800" dirty="0">
                <a:solidFill>
                  <a:schemeClr val="tx1"/>
                </a:solidFill>
                <a:latin typeface="Times New Roman" panose="02020603050405020304" pitchFamily="18" charset="0"/>
                <a:cs typeface="Times New Roman" panose="02020603050405020304" pitchFamily="18" charset="0"/>
              </a:rPr>
              <a:t>A </a:t>
            </a:r>
            <a:r>
              <a:rPr lang="en-US" sz="1800" b="1" dirty="0">
                <a:solidFill>
                  <a:schemeClr val="tx1"/>
                </a:solidFill>
                <a:latin typeface="Times New Roman" panose="02020603050405020304" pitchFamily="18" charset="0"/>
                <a:cs typeface="Times New Roman" panose="02020603050405020304" pitchFamily="18" charset="0"/>
              </a:rPr>
              <a:t>joint venture</a:t>
            </a:r>
            <a:r>
              <a:rPr lang="en-US" sz="1800" dirty="0">
                <a:solidFill>
                  <a:schemeClr val="tx1"/>
                </a:solidFill>
                <a:latin typeface="Times New Roman" panose="02020603050405020304" pitchFamily="18" charset="0"/>
                <a:cs typeface="Times New Roman" panose="02020603050405020304" pitchFamily="18" charset="0"/>
              </a:rPr>
              <a:t> is an entry strategy in international business where two or more companies from different countries agree to establish a new business entity and share ownership, investment, risks, and profits. In this arrangement, the partner companies combine their resources, technology, and expertise to operate a business in a foreign market. Joint ventures are often used when companies want to enter a new market but prefer to share risks and responsibilities with a local partner.</a:t>
            </a:r>
          </a:p>
          <a:p>
            <a:pPr>
              <a:lnSpc>
                <a:spcPct val="100000"/>
              </a:lnSpc>
            </a:pPr>
            <a:r>
              <a:rPr lang="en-US" sz="1800" dirty="0">
                <a:solidFill>
                  <a:schemeClr val="tx1"/>
                </a:solidFill>
                <a:latin typeface="Times New Roman" panose="02020603050405020304" pitchFamily="18" charset="0"/>
                <a:cs typeface="Times New Roman" panose="02020603050405020304" pitchFamily="18" charset="0"/>
              </a:rPr>
              <a:t>Joint ventures are beneficial because the foreign partner usually has better knowledge of the local market, culture, government regulations, and business environment. This helps the international company operate more effectively in the foreign country. However, joint ventures may also face challenges such as conflicts between partners, differences in management styles, and disagreements over decision-making.</a:t>
            </a:r>
          </a:p>
          <a:p>
            <a:pPr>
              <a:lnSpc>
                <a:spcPct val="100000"/>
              </a:lnSpc>
            </a:pPr>
            <a:r>
              <a:rPr lang="en-US" sz="1800" b="1" dirty="0">
                <a:solidFill>
                  <a:schemeClr val="tx1"/>
                </a:solidFill>
                <a:latin typeface="Times New Roman" panose="02020603050405020304" pitchFamily="18" charset="0"/>
                <a:cs typeface="Times New Roman" panose="02020603050405020304" pitchFamily="18" charset="0"/>
              </a:rPr>
              <a:t>Example:</a:t>
            </a:r>
            <a:br>
              <a:rPr lang="en-US" sz="1800" dirty="0">
                <a:solidFill>
                  <a:schemeClr val="tx1"/>
                </a:solidFill>
                <a:latin typeface="Times New Roman" panose="02020603050405020304" pitchFamily="18" charset="0"/>
                <a:cs typeface="Times New Roman" panose="02020603050405020304" pitchFamily="18" charset="0"/>
              </a:rPr>
            </a:br>
            <a:r>
              <a:rPr lang="en-US" sz="1800" dirty="0">
                <a:solidFill>
                  <a:srgbClr val="FF0000"/>
                </a:solidFill>
                <a:latin typeface="Times New Roman" panose="02020603050405020304" pitchFamily="18" charset="0"/>
                <a:cs typeface="Times New Roman" panose="02020603050405020304" pitchFamily="18" charset="0"/>
              </a:rPr>
              <a:t>Starbucks entered the Indian market through a joint venture with the Tata Group, where both companies shared resources and worked together to expand the Starbucks brand in India.</a:t>
            </a:r>
          </a:p>
          <a:p>
            <a:pPr>
              <a:lnSpc>
                <a:spcPct val="100000"/>
              </a:lnSpc>
            </a:pPr>
            <a:endParaRPr lang="en-IN" sz="1800" dirty="0">
              <a:solidFill>
                <a:schemeClr val="tx1"/>
              </a:solidFill>
              <a:latin typeface="Times New Roman" panose="02020603050405020304" pitchFamily="18" charset="0"/>
              <a:cs typeface="Times New Roman" panose="02020603050405020304" pitchFamily="18" charset="0"/>
            </a:endParaRPr>
          </a:p>
        </p:txBody>
      </p:sp>
      <p:pic>
        <p:nvPicPr>
          <p:cNvPr id="7" name="Graphic 6" descr="Handshake">
            <a:extLst>
              <a:ext uri="{FF2B5EF4-FFF2-40B4-BE49-F238E27FC236}">
                <a16:creationId xmlns:a16="http://schemas.microsoft.com/office/drawing/2014/main" id="{187FC2ED-3827-22D2-5685-3404DD7E6BD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8050787" y="1600709"/>
            <a:ext cx="3656581" cy="3656581"/>
          </a:xfrm>
          <a:prstGeom prst="rect">
            <a:avLst/>
          </a:prstGeom>
        </p:spPr>
      </p:pic>
    </p:spTree>
    <p:extLst>
      <p:ext uri="{BB962C8B-B14F-4D97-AF65-F5344CB8AC3E}">
        <p14:creationId xmlns:p14="http://schemas.microsoft.com/office/powerpoint/2010/main" val="14606442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6" name="Picture 5" descr="A 3D pattern of ring shapes connected by lines">
            <a:extLst>
              <a:ext uri="{FF2B5EF4-FFF2-40B4-BE49-F238E27FC236}">
                <a16:creationId xmlns:a16="http://schemas.microsoft.com/office/drawing/2014/main" id="{9F9F31E0-9AE8-FC1C-4327-075C8E57346F}"/>
              </a:ext>
            </a:extLst>
          </p:cNvPr>
          <p:cNvPicPr>
            <a:picLocks noChangeAspect="1"/>
          </p:cNvPicPr>
          <p:nvPr/>
        </p:nvPicPr>
        <p:blipFill>
          <a:blip r:embed="rId2"/>
          <a:srcRect l="13735" r="46458"/>
          <a:stretch>
            <a:fillRect/>
          </a:stretch>
        </p:blipFill>
        <p:spPr>
          <a:xfrm>
            <a:off x="7338646" y="10"/>
            <a:ext cx="4853354" cy="6857990"/>
          </a:xfrm>
          <a:prstGeom prst="rect">
            <a:avLst/>
          </a:prstGeom>
        </p:spPr>
      </p:pic>
      <p:sp>
        <p:nvSpPr>
          <p:cNvPr id="10" name="Freeform 10">
            <a:extLst>
              <a:ext uri="{FF2B5EF4-FFF2-40B4-BE49-F238E27FC236}">
                <a16:creationId xmlns:a16="http://schemas.microsoft.com/office/drawing/2014/main" id="{E1CE536E-134A-4A35-900B-30F927D5B5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0" y="0"/>
            <a:ext cx="7569200" cy="6858000"/>
          </a:xfrm>
          <a:custGeom>
            <a:avLst/>
            <a:gdLst>
              <a:gd name="connsiteX0" fmla="*/ 0 w 7569200"/>
              <a:gd name="connsiteY0" fmla="*/ 0 h 6858000"/>
              <a:gd name="connsiteX1" fmla="*/ 7389812 w 7569200"/>
              <a:gd name="connsiteY1" fmla="*/ 0 h 6858000"/>
              <a:gd name="connsiteX2" fmla="*/ 7394575 w 7569200"/>
              <a:gd name="connsiteY2" fmla="*/ 66675 h 6858000"/>
              <a:gd name="connsiteX3" fmla="*/ 7402512 w 7569200"/>
              <a:gd name="connsiteY3" fmla="*/ 122237 h 6858000"/>
              <a:gd name="connsiteX4" fmla="*/ 7412037 w 7569200"/>
              <a:gd name="connsiteY4" fmla="*/ 174625 h 6858000"/>
              <a:gd name="connsiteX5" fmla="*/ 7427912 w 7569200"/>
              <a:gd name="connsiteY5" fmla="*/ 217487 h 6858000"/>
              <a:gd name="connsiteX6" fmla="*/ 7443787 w 7569200"/>
              <a:gd name="connsiteY6" fmla="*/ 260350 h 6858000"/>
              <a:gd name="connsiteX7" fmla="*/ 7462837 w 7569200"/>
              <a:gd name="connsiteY7" fmla="*/ 296862 h 6858000"/>
              <a:gd name="connsiteX8" fmla="*/ 7481887 w 7569200"/>
              <a:gd name="connsiteY8" fmla="*/ 334962 h 6858000"/>
              <a:gd name="connsiteX9" fmla="*/ 7499350 w 7569200"/>
              <a:gd name="connsiteY9" fmla="*/ 369887 h 6858000"/>
              <a:gd name="connsiteX10" fmla="*/ 7516812 w 7569200"/>
              <a:gd name="connsiteY10" fmla="*/ 409575 h 6858000"/>
              <a:gd name="connsiteX11" fmla="*/ 7532687 w 7569200"/>
              <a:gd name="connsiteY11" fmla="*/ 450850 h 6858000"/>
              <a:gd name="connsiteX12" fmla="*/ 7546975 w 7569200"/>
              <a:gd name="connsiteY12" fmla="*/ 496887 h 6858000"/>
              <a:gd name="connsiteX13" fmla="*/ 7558087 w 7569200"/>
              <a:gd name="connsiteY13" fmla="*/ 546100 h 6858000"/>
              <a:gd name="connsiteX14" fmla="*/ 7566025 w 7569200"/>
              <a:gd name="connsiteY14" fmla="*/ 606425 h 6858000"/>
              <a:gd name="connsiteX15" fmla="*/ 7569200 w 7569200"/>
              <a:gd name="connsiteY15" fmla="*/ 673100 h 6858000"/>
              <a:gd name="connsiteX16" fmla="*/ 7566025 w 7569200"/>
              <a:gd name="connsiteY16" fmla="*/ 744537 h 6858000"/>
              <a:gd name="connsiteX17" fmla="*/ 7558087 w 7569200"/>
              <a:gd name="connsiteY17" fmla="*/ 801687 h 6858000"/>
              <a:gd name="connsiteX18" fmla="*/ 7546975 w 7569200"/>
              <a:gd name="connsiteY18" fmla="*/ 854075 h 6858000"/>
              <a:gd name="connsiteX19" fmla="*/ 7532687 w 7569200"/>
              <a:gd name="connsiteY19" fmla="*/ 901700 h 6858000"/>
              <a:gd name="connsiteX20" fmla="*/ 7516812 w 7569200"/>
              <a:gd name="connsiteY20" fmla="*/ 942975 h 6858000"/>
              <a:gd name="connsiteX21" fmla="*/ 7497762 w 7569200"/>
              <a:gd name="connsiteY21" fmla="*/ 981075 h 6858000"/>
              <a:gd name="connsiteX22" fmla="*/ 7478712 w 7569200"/>
              <a:gd name="connsiteY22" fmla="*/ 1017587 h 6858000"/>
              <a:gd name="connsiteX23" fmla="*/ 7459662 w 7569200"/>
              <a:gd name="connsiteY23" fmla="*/ 1055687 h 6858000"/>
              <a:gd name="connsiteX24" fmla="*/ 7442200 w 7569200"/>
              <a:gd name="connsiteY24" fmla="*/ 1095375 h 6858000"/>
              <a:gd name="connsiteX25" fmla="*/ 7424737 w 7569200"/>
              <a:gd name="connsiteY25" fmla="*/ 1136650 h 6858000"/>
              <a:gd name="connsiteX26" fmla="*/ 7410450 w 7569200"/>
              <a:gd name="connsiteY26" fmla="*/ 1182687 h 6858000"/>
              <a:gd name="connsiteX27" fmla="*/ 7400925 w 7569200"/>
              <a:gd name="connsiteY27" fmla="*/ 1235075 h 6858000"/>
              <a:gd name="connsiteX28" fmla="*/ 7391400 w 7569200"/>
              <a:gd name="connsiteY28" fmla="*/ 1295400 h 6858000"/>
              <a:gd name="connsiteX29" fmla="*/ 7389812 w 7569200"/>
              <a:gd name="connsiteY29" fmla="*/ 1363662 h 6858000"/>
              <a:gd name="connsiteX30" fmla="*/ 7391400 w 7569200"/>
              <a:gd name="connsiteY30" fmla="*/ 1431925 h 6858000"/>
              <a:gd name="connsiteX31" fmla="*/ 7400925 w 7569200"/>
              <a:gd name="connsiteY31" fmla="*/ 1492250 h 6858000"/>
              <a:gd name="connsiteX32" fmla="*/ 7410450 w 7569200"/>
              <a:gd name="connsiteY32" fmla="*/ 1544637 h 6858000"/>
              <a:gd name="connsiteX33" fmla="*/ 7424737 w 7569200"/>
              <a:gd name="connsiteY33" fmla="*/ 1589087 h 6858000"/>
              <a:gd name="connsiteX34" fmla="*/ 7442200 w 7569200"/>
              <a:gd name="connsiteY34" fmla="*/ 1631950 h 6858000"/>
              <a:gd name="connsiteX35" fmla="*/ 7459662 w 7569200"/>
              <a:gd name="connsiteY35" fmla="*/ 1671637 h 6858000"/>
              <a:gd name="connsiteX36" fmla="*/ 7478712 w 7569200"/>
              <a:gd name="connsiteY36" fmla="*/ 1708150 h 6858000"/>
              <a:gd name="connsiteX37" fmla="*/ 7497762 w 7569200"/>
              <a:gd name="connsiteY37" fmla="*/ 1743075 h 6858000"/>
              <a:gd name="connsiteX38" fmla="*/ 7516812 w 7569200"/>
              <a:gd name="connsiteY38" fmla="*/ 1782762 h 6858000"/>
              <a:gd name="connsiteX39" fmla="*/ 7532687 w 7569200"/>
              <a:gd name="connsiteY39" fmla="*/ 1824037 h 6858000"/>
              <a:gd name="connsiteX40" fmla="*/ 7546975 w 7569200"/>
              <a:gd name="connsiteY40" fmla="*/ 1870075 h 6858000"/>
              <a:gd name="connsiteX41" fmla="*/ 7558087 w 7569200"/>
              <a:gd name="connsiteY41" fmla="*/ 1922462 h 6858000"/>
              <a:gd name="connsiteX42" fmla="*/ 7566025 w 7569200"/>
              <a:gd name="connsiteY42" fmla="*/ 1982787 h 6858000"/>
              <a:gd name="connsiteX43" fmla="*/ 7569200 w 7569200"/>
              <a:gd name="connsiteY43" fmla="*/ 2051050 h 6858000"/>
              <a:gd name="connsiteX44" fmla="*/ 7566025 w 7569200"/>
              <a:gd name="connsiteY44" fmla="*/ 2119312 h 6858000"/>
              <a:gd name="connsiteX45" fmla="*/ 7558087 w 7569200"/>
              <a:gd name="connsiteY45" fmla="*/ 2179637 h 6858000"/>
              <a:gd name="connsiteX46" fmla="*/ 7546975 w 7569200"/>
              <a:gd name="connsiteY46" fmla="*/ 2232025 h 6858000"/>
              <a:gd name="connsiteX47" fmla="*/ 7532687 w 7569200"/>
              <a:gd name="connsiteY47" fmla="*/ 2278062 h 6858000"/>
              <a:gd name="connsiteX48" fmla="*/ 7516812 w 7569200"/>
              <a:gd name="connsiteY48" fmla="*/ 2319337 h 6858000"/>
              <a:gd name="connsiteX49" fmla="*/ 7497762 w 7569200"/>
              <a:gd name="connsiteY49" fmla="*/ 2359025 h 6858000"/>
              <a:gd name="connsiteX50" fmla="*/ 7478712 w 7569200"/>
              <a:gd name="connsiteY50" fmla="*/ 2395537 h 6858000"/>
              <a:gd name="connsiteX51" fmla="*/ 7459662 w 7569200"/>
              <a:gd name="connsiteY51" fmla="*/ 2433637 h 6858000"/>
              <a:gd name="connsiteX52" fmla="*/ 7442200 w 7569200"/>
              <a:gd name="connsiteY52" fmla="*/ 2471737 h 6858000"/>
              <a:gd name="connsiteX53" fmla="*/ 7424737 w 7569200"/>
              <a:gd name="connsiteY53" fmla="*/ 2513012 h 6858000"/>
              <a:gd name="connsiteX54" fmla="*/ 7410450 w 7569200"/>
              <a:gd name="connsiteY54" fmla="*/ 2560637 h 6858000"/>
              <a:gd name="connsiteX55" fmla="*/ 7400925 w 7569200"/>
              <a:gd name="connsiteY55" fmla="*/ 2613025 h 6858000"/>
              <a:gd name="connsiteX56" fmla="*/ 7391400 w 7569200"/>
              <a:gd name="connsiteY56" fmla="*/ 2671762 h 6858000"/>
              <a:gd name="connsiteX57" fmla="*/ 7389812 w 7569200"/>
              <a:gd name="connsiteY57" fmla="*/ 2741612 h 6858000"/>
              <a:gd name="connsiteX58" fmla="*/ 7391400 w 7569200"/>
              <a:gd name="connsiteY58" fmla="*/ 2809875 h 6858000"/>
              <a:gd name="connsiteX59" fmla="*/ 7400925 w 7569200"/>
              <a:gd name="connsiteY59" fmla="*/ 2868612 h 6858000"/>
              <a:gd name="connsiteX60" fmla="*/ 7410450 w 7569200"/>
              <a:gd name="connsiteY60" fmla="*/ 2922587 h 6858000"/>
              <a:gd name="connsiteX61" fmla="*/ 7424737 w 7569200"/>
              <a:gd name="connsiteY61" fmla="*/ 2967037 h 6858000"/>
              <a:gd name="connsiteX62" fmla="*/ 7442200 w 7569200"/>
              <a:gd name="connsiteY62" fmla="*/ 3009900 h 6858000"/>
              <a:gd name="connsiteX63" fmla="*/ 7459662 w 7569200"/>
              <a:gd name="connsiteY63" fmla="*/ 3046412 h 6858000"/>
              <a:gd name="connsiteX64" fmla="*/ 7478712 w 7569200"/>
              <a:gd name="connsiteY64" fmla="*/ 3084512 h 6858000"/>
              <a:gd name="connsiteX65" fmla="*/ 7497762 w 7569200"/>
              <a:gd name="connsiteY65" fmla="*/ 3121025 h 6858000"/>
              <a:gd name="connsiteX66" fmla="*/ 7516812 w 7569200"/>
              <a:gd name="connsiteY66" fmla="*/ 3160712 h 6858000"/>
              <a:gd name="connsiteX67" fmla="*/ 7532687 w 7569200"/>
              <a:gd name="connsiteY67" fmla="*/ 3201987 h 6858000"/>
              <a:gd name="connsiteX68" fmla="*/ 7546975 w 7569200"/>
              <a:gd name="connsiteY68" fmla="*/ 3248025 h 6858000"/>
              <a:gd name="connsiteX69" fmla="*/ 7558087 w 7569200"/>
              <a:gd name="connsiteY69" fmla="*/ 3300412 h 6858000"/>
              <a:gd name="connsiteX70" fmla="*/ 7566025 w 7569200"/>
              <a:gd name="connsiteY70" fmla="*/ 3360737 h 6858000"/>
              <a:gd name="connsiteX71" fmla="*/ 7569200 w 7569200"/>
              <a:gd name="connsiteY71" fmla="*/ 3427412 h 6858000"/>
              <a:gd name="connsiteX72" fmla="*/ 7566025 w 7569200"/>
              <a:gd name="connsiteY72" fmla="*/ 3497262 h 6858000"/>
              <a:gd name="connsiteX73" fmla="*/ 7558087 w 7569200"/>
              <a:gd name="connsiteY73" fmla="*/ 3557587 h 6858000"/>
              <a:gd name="connsiteX74" fmla="*/ 7546975 w 7569200"/>
              <a:gd name="connsiteY74" fmla="*/ 3609975 h 6858000"/>
              <a:gd name="connsiteX75" fmla="*/ 7532687 w 7569200"/>
              <a:gd name="connsiteY75" fmla="*/ 3656012 h 6858000"/>
              <a:gd name="connsiteX76" fmla="*/ 7516812 w 7569200"/>
              <a:gd name="connsiteY76" fmla="*/ 3697287 h 6858000"/>
              <a:gd name="connsiteX77" fmla="*/ 7497762 w 7569200"/>
              <a:gd name="connsiteY77" fmla="*/ 3736975 h 6858000"/>
              <a:gd name="connsiteX78" fmla="*/ 7459662 w 7569200"/>
              <a:gd name="connsiteY78" fmla="*/ 3811587 h 6858000"/>
              <a:gd name="connsiteX79" fmla="*/ 7442200 w 7569200"/>
              <a:gd name="connsiteY79" fmla="*/ 3848100 h 6858000"/>
              <a:gd name="connsiteX80" fmla="*/ 7424737 w 7569200"/>
              <a:gd name="connsiteY80" fmla="*/ 3890962 h 6858000"/>
              <a:gd name="connsiteX81" fmla="*/ 7410450 w 7569200"/>
              <a:gd name="connsiteY81" fmla="*/ 3935412 h 6858000"/>
              <a:gd name="connsiteX82" fmla="*/ 7400925 w 7569200"/>
              <a:gd name="connsiteY82" fmla="*/ 3987800 h 6858000"/>
              <a:gd name="connsiteX83" fmla="*/ 7391400 w 7569200"/>
              <a:gd name="connsiteY83" fmla="*/ 4048125 h 6858000"/>
              <a:gd name="connsiteX84" fmla="*/ 7389812 w 7569200"/>
              <a:gd name="connsiteY84" fmla="*/ 4116387 h 6858000"/>
              <a:gd name="connsiteX85" fmla="*/ 7391400 w 7569200"/>
              <a:gd name="connsiteY85" fmla="*/ 4186237 h 6858000"/>
              <a:gd name="connsiteX86" fmla="*/ 7400925 w 7569200"/>
              <a:gd name="connsiteY86" fmla="*/ 4244975 h 6858000"/>
              <a:gd name="connsiteX87" fmla="*/ 7410450 w 7569200"/>
              <a:gd name="connsiteY87" fmla="*/ 4297362 h 6858000"/>
              <a:gd name="connsiteX88" fmla="*/ 7424737 w 7569200"/>
              <a:gd name="connsiteY88" fmla="*/ 4343400 h 6858000"/>
              <a:gd name="connsiteX89" fmla="*/ 7442200 w 7569200"/>
              <a:gd name="connsiteY89" fmla="*/ 4386262 h 6858000"/>
              <a:gd name="connsiteX90" fmla="*/ 7459662 w 7569200"/>
              <a:gd name="connsiteY90" fmla="*/ 4424362 h 6858000"/>
              <a:gd name="connsiteX91" fmla="*/ 7497762 w 7569200"/>
              <a:gd name="connsiteY91" fmla="*/ 4498975 h 6858000"/>
              <a:gd name="connsiteX92" fmla="*/ 7516812 w 7569200"/>
              <a:gd name="connsiteY92" fmla="*/ 4537075 h 6858000"/>
              <a:gd name="connsiteX93" fmla="*/ 7532687 w 7569200"/>
              <a:gd name="connsiteY93" fmla="*/ 4579937 h 6858000"/>
              <a:gd name="connsiteX94" fmla="*/ 7546975 w 7569200"/>
              <a:gd name="connsiteY94" fmla="*/ 4625975 h 6858000"/>
              <a:gd name="connsiteX95" fmla="*/ 7558087 w 7569200"/>
              <a:gd name="connsiteY95" fmla="*/ 4678362 h 6858000"/>
              <a:gd name="connsiteX96" fmla="*/ 7566025 w 7569200"/>
              <a:gd name="connsiteY96" fmla="*/ 4738687 h 6858000"/>
              <a:gd name="connsiteX97" fmla="*/ 7569200 w 7569200"/>
              <a:gd name="connsiteY97" fmla="*/ 4806950 h 6858000"/>
              <a:gd name="connsiteX98" fmla="*/ 7566025 w 7569200"/>
              <a:gd name="connsiteY98" fmla="*/ 4875212 h 6858000"/>
              <a:gd name="connsiteX99" fmla="*/ 7558087 w 7569200"/>
              <a:gd name="connsiteY99" fmla="*/ 4935537 h 6858000"/>
              <a:gd name="connsiteX100" fmla="*/ 7546975 w 7569200"/>
              <a:gd name="connsiteY100" fmla="*/ 4987925 h 6858000"/>
              <a:gd name="connsiteX101" fmla="*/ 7532687 w 7569200"/>
              <a:gd name="connsiteY101" fmla="*/ 5033962 h 6858000"/>
              <a:gd name="connsiteX102" fmla="*/ 7516812 w 7569200"/>
              <a:gd name="connsiteY102" fmla="*/ 5075237 h 6858000"/>
              <a:gd name="connsiteX103" fmla="*/ 7497762 w 7569200"/>
              <a:gd name="connsiteY103" fmla="*/ 5114925 h 6858000"/>
              <a:gd name="connsiteX104" fmla="*/ 7478712 w 7569200"/>
              <a:gd name="connsiteY104" fmla="*/ 5149850 h 6858000"/>
              <a:gd name="connsiteX105" fmla="*/ 7459662 w 7569200"/>
              <a:gd name="connsiteY105" fmla="*/ 5186362 h 6858000"/>
              <a:gd name="connsiteX106" fmla="*/ 7442200 w 7569200"/>
              <a:gd name="connsiteY106" fmla="*/ 5226050 h 6858000"/>
              <a:gd name="connsiteX107" fmla="*/ 7424737 w 7569200"/>
              <a:gd name="connsiteY107" fmla="*/ 5268912 h 6858000"/>
              <a:gd name="connsiteX108" fmla="*/ 7410450 w 7569200"/>
              <a:gd name="connsiteY108" fmla="*/ 5313362 h 6858000"/>
              <a:gd name="connsiteX109" fmla="*/ 7400925 w 7569200"/>
              <a:gd name="connsiteY109" fmla="*/ 5365750 h 6858000"/>
              <a:gd name="connsiteX110" fmla="*/ 7391400 w 7569200"/>
              <a:gd name="connsiteY110" fmla="*/ 5426075 h 6858000"/>
              <a:gd name="connsiteX111" fmla="*/ 7389812 w 7569200"/>
              <a:gd name="connsiteY111" fmla="*/ 5494337 h 6858000"/>
              <a:gd name="connsiteX112" fmla="*/ 7391400 w 7569200"/>
              <a:gd name="connsiteY112" fmla="*/ 5562600 h 6858000"/>
              <a:gd name="connsiteX113" fmla="*/ 7400925 w 7569200"/>
              <a:gd name="connsiteY113" fmla="*/ 5622925 h 6858000"/>
              <a:gd name="connsiteX114" fmla="*/ 7410450 w 7569200"/>
              <a:gd name="connsiteY114" fmla="*/ 5675312 h 6858000"/>
              <a:gd name="connsiteX115" fmla="*/ 7424737 w 7569200"/>
              <a:gd name="connsiteY115" fmla="*/ 5721350 h 6858000"/>
              <a:gd name="connsiteX116" fmla="*/ 7442200 w 7569200"/>
              <a:gd name="connsiteY116" fmla="*/ 5762625 h 6858000"/>
              <a:gd name="connsiteX117" fmla="*/ 7459662 w 7569200"/>
              <a:gd name="connsiteY117" fmla="*/ 5802312 h 6858000"/>
              <a:gd name="connsiteX118" fmla="*/ 7478712 w 7569200"/>
              <a:gd name="connsiteY118" fmla="*/ 5840412 h 6858000"/>
              <a:gd name="connsiteX119" fmla="*/ 7497762 w 7569200"/>
              <a:gd name="connsiteY119" fmla="*/ 5876925 h 6858000"/>
              <a:gd name="connsiteX120" fmla="*/ 7516812 w 7569200"/>
              <a:gd name="connsiteY120" fmla="*/ 5915025 h 6858000"/>
              <a:gd name="connsiteX121" fmla="*/ 7532687 w 7569200"/>
              <a:gd name="connsiteY121" fmla="*/ 5956300 h 6858000"/>
              <a:gd name="connsiteX122" fmla="*/ 7546975 w 7569200"/>
              <a:gd name="connsiteY122" fmla="*/ 6003925 h 6858000"/>
              <a:gd name="connsiteX123" fmla="*/ 7558087 w 7569200"/>
              <a:gd name="connsiteY123" fmla="*/ 6056312 h 6858000"/>
              <a:gd name="connsiteX124" fmla="*/ 7566025 w 7569200"/>
              <a:gd name="connsiteY124" fmla="*/ 6113462 h 6858000"/>
              <a:gd name="connsiteX125" fmla="*/ 7569200 w 7569200"/>
              <a:gd name="connsiteY125" fmla="*/ 6183312 h 6858000"/>
              <a:gd name="connsiteX126" fmla="*/ 7566025 w 7569200"/>
              <a:gd name="connsiteY126" fmla="*/ 6251575 h 6858000"/>
              <a:gd name="connsiteX127" fmla="*/ 7558087 w 7569200"/>
              <a:gd name="connsiteY127" fmla="*/ 6311900 h 6858000"/>
              <a:gd name="connsiteX128" fmla="*/ 7546975 w 7569200"/>
              <a:gd name="connsiteY128" fmla="*/ 6361112 h 6858000"/>
              <a:gd name="connsiteX129" fmla="*/ 7532687 w 7569200"/>
              <a:gd name="connsiteY129" fmla="*/ 6407150 h 6858000"/>
              <a:gd name="connsiteX130" fmla="*/ 7516812 w 7569200"/>
              <a:gd name="connsiteY130" fmla="*/ 6448425 h 6858000"/>
              <a:gd name="connsiteX131" fmla="*/ 7499350 w 7569200"/>
              <a:gd name="connsiteY131" fmla="*/ 6488112 h 6858000"/>
              <a:gd name="connsiteX132" fmla="*/ 7481887 w 7569200"/>
              <a:gd name="connsiteY132" fmla="*/ 6523037 h 6858000"/>
              <a:gd name="connsiteX133" fmla="*/ 7462837 w 7569200"/>
              <a:gd name="connsiteY133" fmla="*/ 6561137 h 6858000"/>
              <a:gd name="connsiteX134" fmla="*/ 7443787 w 7569200"/>
              <a:gd name="connsiteY134" fmla="*/ 6597650 h 6858000"/>
              <a:gd name="connsiteX135" fmla="*/ 7427912 w 7569200"/>
              <a:gd name="connsiteY135" fmla="*/ 6640512 h 6858000"/>
              <a:gd name="connsiteX136" fmla="*/ 7412037 w 7569200"/>
              <a:gd name="connsiteY136" fmla="*/ 6683375 h 6858000"/>
              <a:gd name="connsiteX137" fmla="*/ 7402512 w 7569200"/>
              <a:gd name="connsiteY137" fmla="*/ 6735762 h 6858000"/>
              <a:gd name="connsiteX138" fmla="*/ 7394575 w 7569200"/>
              <a:gd name="connsiteY138" fmla="*/ 6791325 h 6858000"/>
              <a:gd name="connsiteX139" fmla="*/ 7389812 w 7569200"/>
              <a:gd name="connsiteY139" fmla="*/ 6858000 h 6858000"/>
              <a:gd name="connsiteX140" fmla="*/ 0 w 7569200"/>
              <a:gd name="connsiteY140" fmla="*/ 6858000 h 6858000"/>
              <a:gd name="connsiteX141" fmla="*/ 0 w 7569200"/>
              <a:gd name="connsiteY141"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7569200" h="6858000">
                <a:moveTo>
                  <a:pt x="0" y="0"/>
                </a:moveTo>
                <a:lnTo>
                  <a:pt x="7389812" y="0"/>
                </a:lnTo>
                <a:lnTo>
                  <a:pt x="7394575" y="66675"/>
                </a:lnTo>
                <a:lnTo>
                  <a:pt x="7402512" y="122237"/>
                </a:lnTo>
                <a:lnTo>
                  <a:pt x="7412037" y="174625"/>
                </a:lnTo>
                <a:lnTo>
                  <a:pt x="7427912" y="217487"/>
                </a:lnTo>
                <a:lnTo>
                  <a:pt x="7443787" y="260350"/>
                </a:lnTo>
                <a:lnTo>
                  <a:pt x="7462837" y="296862"/>
                </a:lnTo>
                <a:lnTo>
                  <a:pt x="7481887" y="334962"/>
                </a:lnTo>
                <a:lnTo>
                  <a:pt x="7499350" y="369887"/>
                </a:lnTo>
                <a:lnTo>
                  <a:pt x="7516812" y="409575"/>
                </a:lnTo>
                <a:lnTo>
                  <a:pt x="7532687" y="450850"/>
                </a:lnTo>
                <a:lnTo>
                  <a:pt x="7546975" y="496887"/>
                </a:lnTo>
                <a:lnTo>
                  <a:pt x="7558087" y="546100"/>
                </a:lnTo>
                <a:lnTo>
                  <a:pt x="7566025" y="606425"/>
                </a:lnTo>
                <a:lnTo>
                  <a:pt x="7569200" y="673100"/>
                </a:lnTo>
                <a:lnTo>
                  <a:pt x="7566025" y="744537"/>
                </a:lnTo>
                <a:lnTo>
                  <a:pt x="7558087" y="801687"/>
                </a:lnTo>
                <a:lnTo>
                  <a:pt x="7546975" y="854075"/>
                </a:lnTo>
                <a:lnTo>
                  <a:pt x="7532687" y="901700"/>
                </a:lnTo>
                <a:lnTo>
                  <a:pt x="7516812" y="942975"/>
                </a:lnTo>
                <a:lnTo>
                  <a:pt x="7497762" y="981075"/>
                </a:lnTo>
                <a:lnTo>
                  <a:pt x="7478712" y="1017587"/>
                </a:lnTo>
                <a:lnTo>
                  <a:pt x="7459662" y="1055687"/>
                </a:lnTo>
                <a:lnTo>
                  <a:pt x="7442200" y="1095375"/>
                </a:lnTo>
                <a:lnTo>
                  <a:pt x="7424737" y="1136650"/>
                </a:lnTo>
                <a:lnTo>
                  <a:pt x="7410450" y="1182687"/>
                </a:lnTo>
                <a:lnTo>
                  <a:pt x="7400925" y="1235075"/>
                </a:lnTo>
                <a:lnTo>
                  <a:pt x="7391400" y="1295400"/>
                </a:lnTo>
                <a:lnTo>
                  <a:pt x="7389812" y="1363662"/>
                </a:lnTo>
                <a:lnTo>
                  <a:pt x="7391400" y="1431925"/>
                </a:lnTo>
                <a:lnTo>
                  <a:pt x="7400925" y="1492250"/>
                </a:lnTo>
                <a:lnTo>
                  <a:pt x="7410450" y="1544637"/>
                </a:lnTo>
                <a:lnTo>
                  <a:pt x="7424737" y="1589087"/>
                </a:lnTo>
                <a:lnTo>
                  <a:pt x="7442200" y="1631950"/>
                </a:lnTo>
                <a:lnTo>
                  <a:pt x="7459662" y="1671637"/>
                </a:lnTo>
                <a:lnTo>
                  <a:pt x="7478712" y="1708150"/>
                </a:lnTo>
                <a:lnTo>
                  <a:pt x="7497762" y="1743075"/>
                </a:lnTo>
                <a:lnTo>
                  <a:pt x="7516812" y="1782762"/>
                </a:lnTo>
                <a:lnTo>
                  <a:pt x="7532687" y="1824037"/>
                </a:lnTo>
                <a:lnTo>
                  <a:pt x="7546975" y="1870075"/>
                </a:lnTo>
                <a:lnTo>
                  <a:pt x="7558087" y="1922462"/>
                </a:lnTo>
                <a:lnTo>
                  <a:pt x="7566025" y="1982787"/>
                </a:lnTo>
                <a:lnTo>
                  <a:pt x="7569200" y="2051050"/>
                </a:lnTo>
                <a:lnTo>
                  <a:pt x="7566025" y="2119312"/>
                </a:lnTo>
                <a:lnTo>
                  <a:pt x="7558087" y="2179637"/>
                </a:lnTo>
                <a:lnTo>
                  <a:pt x="7546975" y="2232025"/>
                </a:lnTo>
                <a:lnTo>
                  <a:pt x="7532687" y="2278062"/>
                </a:lnTo>
                <a:lnTo>
                  <a:pt x="7516812" y="2319337"/>
                </a:lnTo>
                <a:lnTo>
                  <a:pt x="7497762" y="2359025"/>
                </a:lnTo>
                <a:lnTo>
                  <a:pt x="7478712" y="2395537"/>
                </a:lnTo>
                <a:lnTo>
                  <a:pt x="7459662" y="2433637"/>
                </a:lnTo>
                <a:lnTo>
                  <a:pt x="7442200" y="2471737"/>
                </a:lnTo>
                <a:lnTo>
                  <a:pt x="7424737" y="2513012"/>
                </a:lnTo>
                <a:lnTo>
                  <a:pt x="7410450" y="2560637"/>
                </a:lnTo>
                <a:lnTo>
                  <a:pt x="7400925" y="2613025"/>
                </a:lnTo>
                <a:lnTo>
                  <a:pt x="7391400" y="2671762"/>
                </a:lnTo>
                <a:lnTo>
                  <a:pt x="7389812" y="2741612"/>
                </a:lnTo>
                <a:lnTo>
                  <a:pt x="7391400" y="2809875"/>
                </a:lnTo>
                <a:lnTo>
                  <a:pt x="7400925" y="2868612"/>
                </a:lnTo>
                <a:lnTo>
                  <a:pt x="7410450" y="2922587"/>
                </a:lnTo>
                <a:lnTo>
                  <a:pt x="7424737" y="2967037"/>
                </a:lnTo>
                <a:lnTo>
                  <a:pt x="7442200" y="3009900"/>
                </a:lnTo>
                <a:lnTo>
                  <a:pt x="7459662" y="3046412"/>
                </a:lnTo>
                <a:lnTo>
                  <a:pt x="7478712" y="3084512"/>
                </a:lnTo>
                <a:lnTo>
                  <a:pt x="7497762" y="3121025"/>
                </a:lnTo>
                <a:lnTo>
                  <a:pt x="7516812" y="3160712"/>
                </a:lnTo>
                <a:lnTo>
                  <a:pt x="7532687" y="3201987"/>
                </a:lnTo>
                <a:lnTo>
                  <a:pt x="7546975" y="3248025"/>
                </a:lnTo>
                <a:lnTo>
                  <a:pt x="7558087" y="3300412"/>
                </a:lnTo>
                <a:lnTo>
                  <a:pt x="7566025" y="3360737"/>
                </a:lnTo>
                <a:lnTo>
                  <a:pt x="7569200" y="3427412"/>
                </a:lnTo>
                <a:lnTo>
                  <a:pt x="7566025" y="3497262"/>
                </a:lnTo>
                <a:lnTo>
                  <a:pt x="7558087" y="3557587"/>
                </a:lnTo>
                <a:lnTo>
                  <a:pt x="7546975" y="3609975"/>
                </a:lnTo>
                <a:lnTo>
                  <a:pt x="7532687" y="3656012"/>
                </a:lnTo>
                <a:lnTo>
                  <a:pt x="7516812" y="3697287"/>
                </a:lnTo>
                <a:lnTo>
                  <a:pt x="7497762" y="3736975"/>
                </a:lnTo>
                <a:lnTo>
                  <a:pt x="7459662" y="3811587"/>
                </a:lnTo>
                <a:lnTo>
                  <a:pt x="7442200" y="3848100"/>
                </a:lnTo>
                <a:lnTo>
                  <a:pt x="7424737" y="3890962"/>
                </a:lnTo>
                <a:lnTo>
                  <a:pt x="7410450" y="3935412"/>
                </a:lnTo>
                <a:lnTo>
                  <a:pt x="7400925" y="3987800"/>
                </a:lnTo>
                <a:lnTo>
                  <a:pt x="7391400" y="4048125"/>
                </a:lnTo>
                <a:lnTo>
                  <a:pt x="7389812" y="4116387"/>
                </a:lnTo>
                <a:lnTo>
                  <a:pt x="7391400" y="4186237"/>
                </a:lnTo>
                <a:lnTo>
                  <a:pt x="7400925" y="4244975"/>
                </a:lnTo>
                <a:lnTo>
                  <a:pt x="7410450" y="4297362"/>
                </a:lnTo>
                <a:lnTo>
                  <a:pt x="7424737" y="4343400"/>
                </a:lnTo>
                <a:lnTo>
                  <a:pt x="7442200" y="4386262"/>
                </a:lnTo>
                <a:lnTo>
                  <a:pt x="7459662" y="4424362"/>
                </a:lnTo>
                <a:lnTo>
                  <a:pt x="7497762" y="4498975"/>
                </a:lnTo>
                <a:lnTo>
                  <a:pt x="7516812" y="4537075"/>
                </a:lnTo>
                <a:lnTo>
                  <a:pt x="7532687" y="4579937"/>
                </a:lnTo>
                <a:lnTo>
                  <a:pt x="7546975" y="4625975"/>
                </a:lnTo>
                <a:lnTo>
                  <a:pt x="7558087" y="4678362"/>
                </a:lnTo>
                <a:lnTo>
                  <a:pt x="7566025" y="4738687"/>
                </a:lnTo>
                <a:lnTo>
                  <a:pt x="7569200" y="4806950"/>
                </a:lnTo>
                <a:lnTo>
                  <a:pt x="7566025" y="4875212"/>
                </a:lnTo>
                <a:lnTo>
                  <a:pt x="7558087" y="4935537"/>
                </a:lnTo>
                <a:lnTo>
                  <a:pt x="7546975" y="4987925"/>
                </a:lnTo>
                <a:lnTo>
                  <a:pt x="7532687" y="5033962"/>
                </a:lnTo>
                <a:lnTo>
                  <a:pt x="7516812" y="5075237"/>
                </a:lnTo>
                <a:lnTo>
                  <a:pt x="7497762" y="5114925"/>
                </a:lnTo>
                <a:lnTo>
                  <a:pt x="7478712" y="5149850"/>
                </a:lnTo>
                <a:lnTo>
                  <a:pt x="7459662" y="5186362"/>
                </a:lnTo>
                <a:lnTo>
                  <a:pt x="7442200" y="5226050"/>
                </a:lnTo>
                <a:lnTo>
                  <a:pt x="7424737" y="5268912"/>
                </a:lnTo>
                <a:lnTo>
                  <a:pt x="7410450" y="5313362"/>
                </a:lnTo>
                <a:lnTo>
                  <a:pt x="7400925" y="5365750"/>
                </a:lnTo>
                <a:lnTo>
                  <a:pt x="7391400" y="5426075"/>
                </a:lnTo>
                <a:lnTo>
                  <a:pt x="7389812" y="5494337"/>
                </a:lnTo>
                <a:lnTo>
                  <a:pt x="7391400" y="5562600"/>
                </a:lnTo>
                <a:lnTo>
                  <a:pt x="7400925" y="5622925"/>
                </a:lnTo>
                <a:lnTo>
                  <a:pt x="7410450" y="5675312"/>
                </a:lnTo>
                <a:lnTo>
                  <a:pt x="7424737" y="5721350"/>
                </a:lnTo>
                <a:lnTo>
                  <a:pt x="7442200" y="5762625"/>
                </a:lnTo>
                <a:lnTo>
                  <a:pt x="7459662" y="5802312"/>
                </a:lnTo>
                <a:lnTo>
                  <a:pt x="7478712" y="5840412"/>
                </a:lnTo>
                <a:lnTo>
                  <a:pt x="7497762" y="5876925"/>
                </a:lnTo>
                <a:lnTo>
                  <a:pt x="7516812" y="5915025"/>
                </a:lnTo>
                <a:lnTo>
                  <a:pt x="7532687" y="5956300"/>
                </a:lnTo>
                <a:lnTo>
                  <a:pt x="7546975" y="6003925"/>
                </a:lnTo>
                <a:lnTo>
                  <a:pt x="7558087" y="6056312"/>
                </a:lnTo>
                <a:lnTo>
                  <a:pt x="7566025" y="6113462"/>
                </a:lnTo>
                <a:lnTo>
                  <a:pt x="7569200" y="6183312"/>
                </a:lnTo>
                <a:lnTo>
                  <a:pt x="7566025" y="6251575"/>
                </a:lnTo>
                <a:lnTo>
                  <a:pt x="7558087" y="6311900"/>
                </a:lnTo>
                <a:lnTo>
                  <a:pt x="7546975" y="6361112"/>
                </a:lnTo>
                <a:lnTo>
                  <a:pt x="7532687" y="6407150"/>
                </a:lnTo>
                <a:lnTo>
                  <a:pt x="7516812" y="6448425"/>
                </a:lnTo>
                <a:lnTo>
                  <a:pt x="7499350" y="6488112"/>
                </a:lnTo>
                <a:lnTo>
                  <a:pt x="7481887" y="6523037"/>
                </a:lnTo>
                <a:lnTo>
                  <a:pt x="7462837" y="6561137"/>
                </a:lnTo>
                <a:lnTo>
                  <a:pt x="7443787" y="6597650"/>
                </a:lnTo>
                <a:lnTo>
                  <a:pt x="7427912" y="6640512"/>
                </a:lnTo>
                <a:lnTo>
                  <a:pt x="7412037" y="6683375"/>
                </a:lnTo>
                <a:lnTo>
                  <a:pt x="7402512" y="6735762"/>
                </a:lnTo>
                <a:lnTo>
                  <a:pt x="7394575" y="6791325"/>
                </a:lnTo>
                <a:lnTo>
                  <a:pt x="7389812" y="6858000"/>
                </a:lnTo>
                <a:lnTo>
                  <a:pt x="0" y="6858000"/>
                </a:lnTo>
                <a:lnTo>
                  <a:pt x="0" y="0"/>
                </a:lnTo>
                <a:close/>
              </a:path>
            </a:pathLst>
          </a:custGeom>
          <a:solidFill>
            <a:schemeClr val="bg2"/>
          </a:solidFill>
          <a:ln w="0">
            <a:noFill/>
            <a:prstDash val="solid"/>
            <a:round/>
            <a:headEnd/>
            <a:tailEnd/>
          </a:ln>
        </p:spPr>
        <p:txBody>
          <a:bodyPr/>
          <a:lstStyle/>
          <a:p>
            <a:endParaRPr lang="en-IN"/>
          </a:p>
        </p:txBody>
      </p:sp>
      <p:sp>
        <p:nvSpPr>
          <p:cNvPr id="2" name="Title 1">
            <a:extLst>
              <a:ext uri="{FF2B5EF4-FFF2-40B4-BE49-F238E27FC236}">
                <a16:creationId xmlns:a16="http://schemas.microsoft.com/office/drawing/2014/main" id="{C6A3C8CE-E6C6-2122-A49D-747E9EB45DB3}"/>
              </a:ext>
            </a:extLst>
          </p:cNvPr>
          <p:cNvSpPr>
            <a:spLocks noGrp="1"/>
          </p:cNvSpPr>
          <p:nvPr>
            <p:ph type="title"/>
          </p:nvPr>
        </p:nvSpPr>
        <p:spPr>
          <a:xfrm>
            <a:off x="656482" y="382385"/>
            <a:ext cx="6256235" cy="925208"/>
          </a:xfrm>
        </p:spPr>
        <p:txBody>
          <a:bodyPr>
            <a:normAutofit/>
          </a:bodyPr>
          <a:lstStyle/>
          <a:p>
            <a:r>
              <a:rPr lang="en-IN" dirty="0"/>
              <a:t>Strategic Alliances</a:t>
            </a:r>
          </a:p>
        </p:txBody>
      </p:sp>
      <p:sp>
        <p:nvSpPr>
          <p:cNvPr id="12" name="Rectangle 11">
            <a:extLst>
              <a:ext uri="{FF2B5EF4-FFF2-40B4-BE49-F238E27FC236}">
                <a16:creationId xmlns:a16="http://schemas.microsoft.com/office/drawing/2014/main" id="{FA0382D1-1594-4E3D-842E-04E1E5E757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4" name="Rectangle 1">
            <a:extLst>
              <a:ext uri="{FF2B5EF4-FFF2-40B4-BE49-F238E27FC236}">
                <a16:creationId xmlns:a16="http://schemas.microsoft.com/office/drawing/2014/main" id="{71FBCD85-DF01-656E-AB14-26AA092F2EF3}"/>
              </a:ext>
            </a:extLst>
          </p:cNvPr>
          <p:cNvSpPr>
            <a:spLocks noGrp="1" noChangeArrowheads="1"/>
          </p:cNvSpPr>
          <p:nvPr>
            <p:ph idx="1"/>
          </p:nvPr>
        </p:nvSpPr>
        <p:spPr bwMode="auto">
          <a:xfrm>
            <a:off x="600823" y="1307593"/>
            <a:ext cx="6605320" cy="5082321"/>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Autofit/>
          </a:bodyPr>
          <a:lstStyle/>
          <a:p>
            <a:pPr marL="0" marR="0" lvl="0" indent="0" defTabSz="914400" rtl="0" eaLnBrk="0" fontAlgn="base" latinLnBrk="0" hangingPunct="0">
              <a:lnSpc>
                <a:spcPct val="100000"/>
              </a:lnSpc>
              <a:spcBef>
                <a:spcPct val="0"/>
              </a:spcBef>
              <a:spcAft>
                <a:spcPts val="600"/>
              </a:spcAft>
              <a:buClrTx/>
              <a:buSzTx/>
              <a:buFontTx/>
              <a:buNone/>
              <a:tabLst/>
            </a:pPr>
            <a:r>
              <a:rPr kumimoji="0" lang="en-US" altLang="en-US" sz="1600" b="0" i="0" u="none" strike="noStrike" cap="none" normalizeH="0" baseline="0" dirty="0">
                <a:ln>
                  <a:noFill/>
                </a:ln>
                <a:effectLst/>
                <a:latin typeface="Times New Roman" panose="02020603050405020304" pitchFamily="18" charset="0"/>
                <a:cs typeface="Times New Roman" panose="02020603050405020304" pitchFamily="18" charset="0"/>
              </a:rPr>
              <a:t>A </a:t>
            </a:r>
            <a:r>
              <a:rPr kumimoji="0" lang="en-US" altLang="en-US" sz="1600" b="1" i="0" u="none" strike="noStrike" cap="none" normalizeH="0" baseline="0" dirty="0">
                <a:ln>
                  <a:noFill/>
                </a:ln>
                <a:effectLst/>
                <a:latin typeface="Times New Roman" panose="02020603050405020304" pitchFamily="18" charset="0"/>
                <a:cs typeface="Times New Roman" panose="02020603050405020304" pitchFamily="18" charset="0"/>
              </a:rPr>
              <a:t>strategic alliance</a:t>
            </a:r>
            <a:r>
              <a:rPr kumimoji="0" lang="en-US" altLang="en-US" sz="1600" b="0" i="0" u="none" strike="noStrike" cap="none" normalizeH="0" baseline="0" dirty="0">
                <a:ln>
                  <a:noFill/>
                </a:ln>
                <a:effectLst/>
                <a:latin typeface="Times New Roman" panose="02020603050405020304" pitchFamily="18" charset="0"/>
                <a:cs typeface="Times New Roman" panose="02020603050405020304" pitchFamily="18" charset="0"/>
              </a:rPr>
              <a:t> is a cooperative agreement between two or more companies from different countries that work together to achieve common business objectives while remaining independent organizations. In this arrangement, the companies share resources such as technology, knowledge, research, marketing networks, or distribution systems to strengthen their competitive position in the international market.</a:t>
            </a:r>
          </a:p>
          <a:p>
            <a:pPr marL="0" marR="0" lvl="0" indent="0" defTabSz="914400" rtl="0" eaLnBrk="0" fontAlgn="base" latinLnBrk="0" hangingPunct="0">
              <a:lnSpc>
                <a:spcPct val="100000"/>
              </a:lnSpc>
              <a:spcBef>
                <a:spcPct val="0"/>
              </a:spcBef>
              <a:spcAft>
                <a:spcPts val="600"/>
              </a:spcAft>
              <a:buClrTx/>
              <a:buSzTx/>
              <a:buFontTx/>
              <a:buNone/>
              <a:tabLst/>
            </a:pPr>
            <a:r>
              <a:rPr kumimoji="0" lang="en-US" altLang="en-US" sz="1600" b="0" i="0" u="none" strike="noStrike" cap="none" normalizeH="0" baseline="0" dirty="0">
                <a:ln>
                  <a:noFill/>
                </a:ln>
                <a:effectLst/>
                <a:latin typeface="Times New Roman" panose="02020603050405020304" pitchFamily="18" charset="0"/>
                <a:cs typeface="Times New Roman" panose="02020603050405020304" pitchFamily="18" charset="0"/>
              </a:rPr>
              <a:t>Strategic alliances are often formed when companies want to enter new markets, develop new technologies, or reduce business risks without making large financial investments. By collaborating with other companies, organizations can benefit from shared expertise and improve their ability to compete in global markets. However, successful strategic alliances require strong coordination, trust, and clear communication between the partner companies.</a:t>
            </a:r>
          </a:p>
          <a:p>
            <a:pPr marL="0" marR="0" lvl="0" indent="0" defTabSz="914400" rtl="0" eaLnBrk="0" fontAlgn="base" latinLnBrk="0" hangingPunct="0">
              <a:lnSpc>
                <a:spcPct val="100000"/>
              </a:lnSpc>
              <a:spcBef>
                <a:spcPct val="0"/>
              </a:spcBef>
              <a:spcAft>
                <a:spcPts val="600"/>
              </a:spcAft>
              <a:buClrTx/>
              <a:buSzTx/>
              <a:buFontTx/>
              <a:buNone/>
              <a:tabLst/>
            </a:pPr>
            <a:r>
              <a:rPr kumimoji="0" lang="en-US" altLang="en-US" sz="1600" b="1" i="0" u="none" strike="noStrike" cap="none" normalizeH="0" baseline="0" dirty="0">
                <a:ln>
                  <a:noFill/>
                </a:ln>
                <a:effectLst/>
                <a:latin typeface="Times New Roman" panose="02020603050405020304" pitchFamily="18" charset="0"/>
                <a:cs typeface="Times New Roman" panose="02020603050405020304" pitchFamily="18" charset="0"/>
              </a:rPr>
              <a:t>Example:</a:t>
            </a:r>
            <a:br>
              <a:rPr kumimoji="0" lang="en-US" altLang="en-US" sz="1600" b="0" i="0" u="none" strike="noStrike" cap="none" normalizeH="0" baseline="0" dirty="0">
                <a:ln>
                  <a:noFill/>
                </a:ln>
                <a:effectLst/>
                <a:latin typeface="Times New Roman" panose="02020603050405020304" pitchFamily="18" charset="0"/>
                <a:cs typeface="Times New Roman" panose="02020603050405020304" pitchFamily="18" charset="0"/>
              </a:rPr>
            </a:br>
            <a:r>
              <a:rPr kumimoji="0" lang="en-US" altLang="en-US" sz="1600" b="0"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Technology companies often form strategic alliances to develop new products. For instance, automobile companies may partner with technology firms to develop advanced electric vehicles and autonomous driving systems.</a:t>
            </a:r>
          </a:p>
          <a:p>
            <a:pPr marL="0" marR="0" lvl="0" indent="0" defTabSz="914400" rtl="0" eaLnBrk="0" fontAlgn="base" latinLnBrk="0" hangingPunct="0">
              <a:lnSpc>
                <a:spcPct val="100000"/>
              </a:lnSpc>
              <a:spcBef>
                <a:spcPct val="0"/>
              </a:spcBef>
              <a:spcAft>
                <a:spcPts val="600"/>
              </a:spcAft>
              <a:buClrTx/>
              <a:buSzTx/>
              <a:buFontTx/>
              <a:buNone/>
              <a:tabLst/>
            </a:pPr>
            <a:br>
              <a:rPr kumimoji="0" lang="en-US" altLang="en-US" sz="1600" b="0"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br>
            <a:endParaRPr kumimoji="0" lang="en-US" altLang="en-US" sz="1600" b="0"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endParaRPr>
          </a:p>
          <a:p>
            <a:pPr marL="0" marR="0" lvl="0" indent="0" defTabSz="914400" rtl="0" eaLnBrk="0" fontAlgn="base" latinLnBrk="0" hangingPunct="0">
              <a:lnSpc>
                <a:spcPct val="100000"/>
              </a:lnSpc>
              <a:spcBef>
                <a:spcPct val="0"/>
              </a:spcBef>
              <a:spcAft>
                <a:spcPts val="600"/>
              </a:spcAft>
              <a:buClrTx/>
              <a:buSzTx/>
              <a:buFontTx/>
              <a:buNone/>
              <a:tabLst/>
            </a:pPr>
            <a:endParaRPr kumimoji="0" lang="en-US" altLang="en-US" sz="1600" b="0" i="0" u="none" strike="noStrike" cap="none" normalizeH="0" baseline="0" dirty="0">
              <a:ln>
                <a:noFill/>
              </a:ln>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411811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9DBA3C2-C92B-4CEB-868F-52A62295B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52B71AB-AE67-0F4C-1ED5-DB39DAAE1036}"/>
              </a:ext>
            </a:extLst>
          </p:cNvPr>
          <p:cNvSpPr>
            <a:spLocks noGrp="1"/>
          </p:cNvSpPr>
          <p:nvPr>
            <p:ph type="title"/>
          </p:nvPr>
        </p:nvSpPr>
        <p:spPr>
          <a:xfrm>
            <a:off x="761997" y="191193"/>
            <a:ext cx="10668004" cy="1113295"/>
          </a:xfrm>
        </p:spPr>
        <p:txBody>
          <a:bodyPr anchor="b">
            <a:normAutofit/>
          </a:bodyPr>
          <a:lstStyle/>
          <a:p>
            <a:pPr algn="ctr"/>
            <a:r>
              <a:rPr lang="en-IN" dirty="0"/>
              <a:t>Advantages of Strategic Alliances</a:t>
            </a:r>
          </a:p>
        </p:txBody>
      </p:sp>
      <p:sp>
        <p:nvSpPr>
          <p:cNvPr id="4" name="Rectangle 1">
            <a:extLst>
              <a:ext uri="{FF2B5EF4-FFF2-40B4-BE49-F238E27FC236}">
                <a16:creationId xmlns:a16="http://schemas.microsoft.com/office/drawing/2014/main" id="{FE662538-DFE2-9B87-0768-A897A7CEAECB}"/>
              </a:ext>
            </a:extLst>
          </p:cNvPr>
          <p:cNvSpPr>
            <a:spLocks noGrp="1" noChangeArrowheads="1"/>
          </p:cNvSpPr>
          <p:nvPr>
            <p:ph idx="1"/>
          </p:nvPr>
        </p:nvSpPr>
        <p:spPr bwMode="auto">
          <a:xfrm>
            <a:off x="444617" y="1304488"/>
            <a:ext cx="11181326" cy="4464941"/>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L="0" marR="0" lvl="0" indent="0" defTabSz="914400" rtl="0" eaLnBrk="0" fontAlgn="base" latinLnBrk="0" hangingPunct="0">
              <a:lnSpc>
                <a:spcPct val="100000"/>
              </a:lnSpc>
              <a:spcBef>
                <a:spcPct val="0"/>
              </a:spcBef>
              <a:spcAft>
                <a:spcPts val="600"/>
              </a:spcAft>
              <a:buClrTx/>
              <a:buSzTx/>
              <a:buFontTx/>
              <a:buChar char="•"/>
              <a:tabLst/>
            </a:pPr>
            <a:r>
              <a:rPr kumimoji="0" lang="en-US" altLang="en-US" sz="1400" b="1" i="0" u="none" strike="noStrike" cap="none" normalizeH="0" baseline="0" dirty="0">
                <a:ln>
                  <a:noFill/>
                </a:ln>
                <a:effectLst/>
                <a:latin typeface="Times New Roman" panose="02020603050405020304" pitchFamily="18" charset="0"/>
                <a:cs typeface="Times New Roman" panose="02020603050405020304" pitchFamily="18" charset="0"/>
              </a:rPr>
              <a:t>Sharing Resources and Technology</a:t>
            </a:r>
            <a:br>
              <a:rPr kumimoji="0" lang="en-US" altLang="en-US" sz="1400" b="0" i="0" u="none" strike="noStrike" cap="none" normalizeH="0" baseline="0" dirty="0">
                <a:ln>
                  <a:noFill/>
                </a:ln>
                <a:effectLst/>
                <a:latin typeface="Times New Roman" panose="02020603050405020304" pitchFamily="18" charset="0"/>
                <a:cs typeface="Times New Roman" panose="02020603050405020304" pitchFamily="18" charset="0"/>
              </a:rPr>
            </a:br>
            <a:r>
              <a:rPr kumimoji="0" lang="en-US" altLang="en-US" sz="1400" b="0" i="0" u="none" strike="noStrike" cap="none" normalizeH="0" baseline="0" dirty="0">
                <a:ln>
                  <a:noFill/>
                </a:ln>
                <a:effectLst/>
                <a:latin typeface="Times New Roman" panose="02020603050405020304" pitchFamily="18" charset="0"/>
                <a:cs typeface="Times New Roman" panose="02020603050405020304" pitchFamily="18" charset="0"/>
              </a:rPr>
              <a:t>Strategic alliances allow companies to share important resources such as technology, knowledge, and expertise. This helps businesses improve their capabilities and develop better products or services.</a:t>
            </a:r>
            <a:br>
              <a:rPr kumimoji="0" lang="en-US" altLang="en-US" sz="1400" b="0" i="0" u="none" strike="noStrike" cap="none" normalizeH="0" baseline="0" dirty="0">
                <a:ln>
                  <a:noFill/>
                </a:ln>
                <a:effectLst/>
                <a:latin typeface="Times New Roman" panose="02020603050405020304" pitchFamily="18" charset="0"/>
                <a:cs typeface="Times New Roman" panose="02020603050405020304" pitchFamily="18" charset="0"/>
              </a:rPr>
            </a:br>
            <a:r>
              <a:rPr kumimoji="0" lang="en-US" altLang="en-US" sz="1400" b="1" i="0" u="none" strike="noStrike" cap="none" normalizeH="0" baseline="0" dirty="0">
                <a:ln>
                  <a:noFill/>
                </a:ln>
                <a:effectLst/>
                <a:latin typeface="Times New Roman" panose="02020603050405020304" pitchFamily="18" charset="0"/>
                <a:cs typeface="Times New Roman" panose="02020603050405020304" pitchFamily="18" charset="0"/>
              </a:rPr>
              <a:t>Example:</a:t>
            </a:r>
            <a:r>
              <a:rPr kumimoji="0" lang="en-US" altLang="en-US" sz="140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n-US" altLang="en-US" sz="1400" b="0"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Automobile companies may partner with technology firms to develop electric vehicles.</a:t>
            </a:r>
          </a:p>
          <a:p>
            <a:pPr marL="0" marR="0" lvl="0" indent="0" defTabSz="914400" rtl="0" eaLnBrk="0" fontAlgn="base" latinLnBrk="0" hangingPunct="0">
              <a:lnSpc>
                <a:spcPct val="100000"/>
              </a:lnSpc>
              <a:spcBef>
                <a:spcPct val="0"/>
              </a:spcBef>
              <a:spcAft>
                <a:spcPts val="600"/>
              </a:spcAft>
              <a:buClrTx/>
              <a:buSzTx/>
              <a:buFontTx/>
              <a:buChar char="•"/>
              <a:tabLst/>
            </a:pPr>
            <a:r>
              <a:rPr kumimoji="0" lang="en-US" altLang="en-US" sz="1400" b="1" i="0" u="none" strike="noStrike" cap="none" normalizeH="0" baseline="0" dirty="0">
                <a:ln>
                  <a:noFill/>
                </a:ln>
                <a:effectLst/>
                <a:latin typeface="Times New Roman" panose="02020603050405020304" pitchFamily="18" charset="0"/>
                <a:cs typeface="Times New Roman" panose="02020603050405020304" pitchFamily="18" charset="0"/>
              </a:rPr>
              <a:t>Reducing Business Risks</a:t>
            </a:r>
            <a:br>
              <a:rPr kumimoji="0" lang="en-US" altLang="en-US" sz="1400" b="0" i="0" u="none" strike="noStrike" cap="none" normalizeH="0" baseline="0" dirty="0">
                <a:ln>
                  <a:noFill/>
                </a:ln>
                <a:effectLst/>
                <a:latin typeface="Times New Roman" panose="02020603050405020304" pitchFamily="18" charset="0"/>
                <a:cs typeface="Times New Roman" panose="02020603050405020304" pitchFamily="18" charset="0"/>
              </a:rPr>
            </a:br>
            <a:r>
              <a:rPr kumimoji="0" lang="en-US" altLang="en-US" sz="1400" b="0" i="0" u="none" strike="noStrike" cap="none" normalizeH="0" baseline="0" dirty="0">
                <a:ln>
                  <a:noFill/>
                </a:ln>
                <a:effectLst/>
                <a:latin typeface="Times New Roman" panose="02020603050405020304" pitchFamily="18" charset="0"/>
                <a:cs typeface="Times New Roman" panose="02020603050405020304" pitchFamily="18" charset="0"/>
              </a:rPr>
              <a:t>When companies collaborate through alliances, they share the risks associated with entering new markets or developing new technologies. This reduces the financial burden on each partner.</a:t>
            </a:r>
            <a:br>
              <a:rPr kumimoji="0" lang="en-US" altLang="en-US" sz="1400" b="0" i="0" u="none" strike="noStrike" cap="none" normalizeH="0" baseline="0" dirty="0">
                <a:ln>
                  <a:noFill/>
                </a:ln>
                <a:effectLst/>
                <a:latin typeface="Times New Roman" panose="02020603050405020304" pitchFamily="18" charset="0"/>
                <a:cs typeface="Times New Roman" panose="02020603050405020304" pitchFamily="18" charset="0"/>
              </a:rPr>
            </a:br>
            <a:r>
              <a:rPr kumimoji="0" lang="en-US" altLang="en-US" sz="1400" b="1" i="0" u="none" strike="noStrike" cap="none" normalizeH="0" baseline="0" dirty="0">
                <a:ln>
                  <a:noFill/>
                </a:ln>
                <a:effectLst/>
                <a:latin typeface="Times New Roman" panose="02020603050405020304" pitchFamily="18" charset="0"/>
                <a:cs typeface="Times New Roman" panose="02020603050405020304" pitchFamily="18" charset="0"/>
              </a:rPr>
              <a:t>Example:</a:t>
            </a:r>
            <a:r>
              <a:rPr kumimoji="0" lang="en-US" altLang="en-US" sz="140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n-US" altLang="en-US" sz="1400" b="0"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A company entering a new country may partner with a local firm to reduce market risks.</a:t>
            </a:r>
          </a:p>
          <a:p>
            <a:pPr marL="0" marR="0" lvl="0" indent="0" defTabSz="914400" rtl="0" eaLnBrk="0" fontAlgn="base" latinLnBrk="0" hangingPunct="0">
              <a:lnSpc>
                <a:spcPct val="100000"/>
              </a:lnSpc>
              <a:spcBef>
                <a:spcPct val="0"/>
              </a:spcBef>
              <a:spcAft>
                <a:spcPts val="600"/>
              </a:spcAft>
              <a:buClrTx/>
              <a:buSzTx/>
              <a:buFontTx/>
              <a:buChar char="•"/>
              <a:tabLst/>
            </a:pPr>
            <a:r>
              <a:rPr kumimoji="0" lang="en-US" altLang="en-US" sz="1400" b="1" i="0" u="none" strike="noStrike" cap="none" normalizeH="0" baseline="0" dirty="0">
                <a:ln>
                  <a:noFill/>
                </a:ln>
                <a:effectLst/>
                <a:latin typeface="Times New Roman" panose="02020603050405020304" pitchFamily="18" charset="0"/>
                <a:cs typeface="Times New Roman" panose="02020603050405020304" pitchFamily="18" charset="0"/>
              </a:rPr>
              <a:t>Access to New Markets</a:t>
            </a:r>
            <a:br>
              <a:rPr kumimoji="0" lang="en-US" altLang="en-US" sz="1400" b="0" i="0" u="none" strike="noStrike" cap="none" normalizeH="0" baseline="0" dirty="0">
                <a:ln>
                  <a:noFill/>
                </a:ln>
                <a:effectLst/>
                <a:latin typeface="Times New Roman" panose="02020603050405020304" pitchFamily="18" charset="0"/>
                <a:cs typeface="Times New Roman" panose="02020603050405020304" pitchFamily="18" charset="0"/>
              </a:rPr>
            </a:br>
            <a:r>
              <a:rPr kumimoji="0" lang="en-US" altLang="en-US" sz="1400" b="0" i="0" u="none" strike="noStrike" cap="none" normalizeH="0" baseline="0" dirty="0">
                <a:ln>
                  <a:noFill/>
                </a:ln>
                <a:effectLst/>
                <a:latin typeface="Times New Roman" panose="02020603050405020304" pitchFamily="18" charset="0"/>
                <a:cs typeface="Times New Roman" panose="02020603050405020304" pitchFamily="18" charset="0"/>
              </a:rPr>
              <a:t>Strategic alliances help companies enter foreign markets more easily because local partners have knowledge of customer preferences, regulations, and distribution networks.</a:t>
            </a:r>
            <a:br>
              <a:rPr kumimoji="0" lang="en-US" altLang="en-US" sz="1400" b="0" i="0" u="none" strike="noStrike" cap="none" normalizeH="0" baseline="0" dirty="0">
                <a:ln>
                  <a:noFill/>
                </a:ln>
                <a:effectLst/>
                <a:latin typeface="Times New Roman" panose="02020603050405020304" pitchFamily="18" charset="0"/>
                <a:cs typeface="Times New Roman" panose="02020603050405020304" pitchFamily="18" charset="0"/>
              </a:rPr>
            </a:br>
            <a:r>
              <a:rPr kumimoji="0" lang="en-US" altLang="en-US" sz="1400" b="1" i="0" u="none" strike="noStrike" cap="none" normalizeH="0" baseline="0" dirty="0">
                <a:ln>
                  <a:noFill/>
                </a:ln>
                <a:effectLst/>
                <a:latin typeface="Times New Roman" panose="02020603050405020304" pitchFamily="18" charset="0"/>
                <a:cs typeface="Times New Roman" panose="02020603050405020304" pitchFamily="18" charset="0"/>
              </a:rPr>
              <a:t>Example:</a:t>
            </a:r>
            <a:r>
              <a:rPr kumimoji="0" lang="en-US" altLang="en-US" sz="140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n-US" altLang="en-US" sz="1400" b="0"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Starbucks partnered with Tata Group to enter the Indian market.</a:t>
            </a:r>
          </a:p>
          <a:p>
            <a:pPr marL="0" marR="0" lvl="0" indent="0" defTabSz="914400" rtl="0" eaLnBrk="0" fontAlgn="base" latinLnBrk="0" hangingPunct="0">
              <a:lnSpc>
                <a:spcPct val="100000"/>
              </a:lnSpc>
              <a:spcBef>
                <a:spcPct val="0"/>
              </a:spcBef>
              <a:spcAft>
                <a:spcPts val="600"/>
              </a:spcAft>
              <a:buClrTx/>
              <a:buSzTx/>
              <a:buFontTx/>
              <a:buChar char="•"/>
              <a:tabLst/>
            </a:pPr>
            <a:r>
              <a:rPr kumimoji="0" lang="en-US" altLang="en-US" sz="1400" b="1" i="0" u="none" strike="noStrike" cap="none" normalizeH="0" baseline="0" dirty="0">
                <a:ln>
                  <a:noFill/>
                </a:ln>
                <a:effectLst/>
                <a:latin typeface="Times New Roman" panose="02020603050405020304" pitchFamily="18" charset="0"/>
                <a:cs typeface="Times New Roman" panose="02020603050405020304" pitchFamily="18" charset="0"/>
              </a:rPr>
              <a:t>Improving Innovation and Product Development</a:t>
            </a:r>
            <a:br>
              <a:rPr kumimoji="0" lang="en-US" altLang="en-US" sz="1400" b="0" i="0" u="none" strike="noStrike" cap="none" normalizeH="0" baseline="0" dirty="0">
                <a:ln>
                  <a:noFill/>
                </a:ln>
                <a:effectLst/>
                <a:latin typeface="Times New Roman" panose="02020603050405020304" pitchFamily="18" charset="0"/>
                <a:cs typeface="Times New Roman" panose="02020603050405020304" pitchFamily="18" charset="0"/>
              </a:rPr>
            </a:br>
            <a:r>
              <a:rPr kumimoji="0" lang="en-US" altLang="en-US" sz="1400" b="0" i="0" u="none" strike="noStrike" cap="none" normalizeH="0" baseline="0" dirty="0">
                <a:ln>
                  <a:noFill/>
                </a:ln>
                <a:effectLst/>
                <a:latin typeface="Times New Roman" panose="02020603050405020304" pitchFamily="18" charset="0"/>
                <a:cs typeface="Times New Roman" panose="02020603050405020304" pitchFamily="18" charset="0"/>
              </a:rPr>
              <a:t>Collaboration between companies encourages innovation because each partner contributes different skills and ideas. This helps develop advanced products and services.</a:t>
            </a:r>
            <a:br>
              <a:rPr kumimoji="0" lang="en-US" altLang="en-US" sz="1400" b="0" i="0" u="none" strike="noStrike" cap="none" normalizeH="0" baseline="0" dirty="0">
                <a:ln>
                  <a:noFill/>
                </a:ln>
                <a:effectLst/>
                <a:latin typeface="Times New Roman" panose="02020603050405020304" pitchFamily="18" charset="0"/>
                <a:cs typeface="Times New Roman" panose="02020603050405020304" pitchFamily="18" charset="0"/>
              </a:rPr>
            </a:br>
            <a:r>
              <a:rPr kumimoji="0" lang="en-US" altLang="en-US" sz="1400" b="1" i="0" u="none" strike="noStrike" cap="none" normalizeH="0" baseline="0" dirty="0">
                <a:ln>
                  <a:noFill/>
                </a:ln>
                <a:effectLst/>
                <a:latin typeface="Times New Roman" panose="02020603050405020304" pitchFamily="18" charset="0"/>
                <a:cs typeface="Times New Roman" panose="02020603050405020304" pitchFamily="18" charset="0"/>
              </a:rPr>
              <a:t>Example:</a:t>
            </a:r>
            <a:r>
              <a:rPr kumimoji="0" lang="en-US" altLang="en-US" sz="140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n-US" altLang="en-US" sz="1400" b="0"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Technology companies collaborate to develop new software and hardware products</a:t>
            </a:r>
            <a:r>
              <a:rPr kumimoji="0" lang="en-US" altLang="en-US" sz="1400" b="0" i="0" u="none" strike="noStrike" cap="none" normalizeH="0" baseline="0" dirty="0">
                <a:ln>
                  <a:noFill/>
                </a:ln>
                <a:effectLst/>
                <a:latin typeface="Times New Roman" panose="02020603050405020304" pitchFamily="18" charset="0"/>
                <a:cs typeface="Times New Roman" panose="02020603050405020304" pitchFamily="18" charset="0"/>
              </a:rPr>
              <a:t>.</a:t>
            </a:r>
          </a:p>
          <a:p>
            <a:pPr marL="0" marR="0" lvl="0" indent="0" defTabSz="914400" rtl="0" eaLnBrk="0" fontAlgn="base" latinLnBrk="0" hangingPunct="0">
              <a:lnSpc>
                <a:spcPct val="100000"/>
              </a:lnSpc>
              <a:spcBef>
                <a:spcPct val="0"/>
              </a:spcBef>
              <a:spcAft>
                <a:spcPts val="600"/>
              </a:spcAft>
              <a:buClrTx/>
              <a:buSzTx/>
              <a:buFontTx/>
              <a:buChar char="•"/>
              <a:tabLst/>
            </a:pPr>
            <a:r>
              <a:rPr kumimoji="0" lang="en-US" altLang="en-US" sz="1400" b="1" i="0" u="none" strike="noStrike" cap="none" normalizeH="0" baseline="0" dirty="0">
                <a:ln>
                  <a:noFill/>
                </a:ln>
                <a:effectLst/>
                <a:latin typeface="Times New Roman" panose="02020603050405020304" pitchFamily="18" charset="0"/>
                <a:cs typeface="Times New Roman" panose="02020603050405020304" pitchFamily="18" charset="0"/>
              </a:rPr>
              <a:t>Cost Sharing and Efficiency</a:t>
            </a:r>
            <a:br>
              <a:rPr kumimoji="0" lang="en-US" altLang="en-US" sz="1400" b="0" i="0" u="none" strike="noStrike" cap="none" normalizeH="0" baseline="0" dirty="0">
                <a:ln>
                  <a:noFill/>
                </a:ln>
                <a:effectLst/>
                <a:latin typeface="Times New Roman" panose="02020603050405020304" pitchFamily="18" charset="0"/>
                <a:cs typeface="Times New Roman" panose="02020603050405020304" pitchFamily="18" charset="0"/>
              </a:rPr>
            </a:br>
            <a:r>
              <a:rPr kumimoji="0" lang="en-US" altLang="en-US" sz="1400" b="0" i="0" u="none" strike="noStrike" cap="none" normalizeH="0" baseline="0" dirty="0">
                <a:ln>
                  <a:noFill/>
                </a:ln>
                <a:effectLst/>
                <a:latin typeface="Times New Roman" panose="02020603050405020304" pitchFamily="18" charset="0"/>
                <a:cs typeface="Times New Roman" panose="02020603050405020304" pitchFamily="18" charset="0"/>
              </a:rPr>
              <a:t>Strategic alliances allow companies to share costs related to research, development, production, and marketing, which improves operational efficiency.</a:t>
            </a:r>
            <a:br>
              <a:rPr kumimoji="0" lang="en-US" altLang="en-US" sz="1400" b="0" i="0" u="none" strike="noStrike" cap="none" normalizeH="0" baseline="0" dirty="0">
                <a:ln>
                  <a:noFill/>
                </a:ln>
                <a:effectLst/>
                <a:latin typeface="Times New Roman" panose="02020603050405020304" pitchFamily="18" charset="0"/>
                <a:cs typeface="Times New Roman" panose="02020603050405020304" pitchFamily="18" charset="0"/>
              </a:rPr>
            </a:br>
            <a:r>
              <a:rPr kumimoji="0" lang="en-US" altLang="en-US" sz="1400" b="1" i="0" u="none" strike="noStrike" cap="none" normalizeH="0" baseline="0" dirty="0">
                <a:ln>
                  <a:noFill/>
                </a:ln>
                <a:effectLst/>
                <a:latin typeface="Times New Roman" panose="02020603050405020304" pitchFamily="18" charset="0"/>
                <a:cs typeface="Times New Roman" panose="02020603050405020304" pitchFamily="18" charset="0"/>
              </a:rPr>
              <a:t>Example:</a:t>
            </a:r>
            <a:r>
              <a:rPr kumimoji="0" lang="en-US" altLang="en-US" sz="140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n-US" altLang="en-US" sz="1400" b="0"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Pharmaceutical companies often collaborate to share research and development costs for new medicines.</a:t>
            </a:r>
          </a:p>
        </p:txBody>
      </p:sp>
      <p:sp>
        <p:nvSpPr>
          <p:cNvPr id="11" name="Freeform: Shape 10">
            <a:extLst>
              <a:ext uri="{FF2B5EF4-FFF2-40B4-BE49-F238E27FC236}">
                <a16:creationId xmlns:a16="http://schemas.microsoft.com/office/drawing/2014/main" id="{0A5C11C9-65D2-491A-A266-6ADBD2CB44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006736"/>
            <a:ext cx="12191998" cy="851265"/>
          </a:xfrm>
          <a:custGeom>
            <a:avLst/>
            <a:gdLst>
              <a:gd name="connsiteX0" fmla="*/ 619389 w 12191998"/>
              <a:gd name="connsiteY0" fmla="*/ 0 h 851265"/>
              <a:gd name="connsiteX1" fmla="*/ 687652 w 12191998"/>
              <a:gd name="connsiteY1" fmla="*/ 3175 h 851265"/>
              <a:gd name="connsiteX2" fmla="*/ 747977 w 12191998"/>
              <a:gd name="connsiteY2" fmla="*/ 9525 h 851265"/>
              <a:gd name="connsiteX3" fmla="*/ 800364 w 12191998"/>
              <a:gd name="connsiteY3" fmla="*/ 20637 h 851265"/>
              <a:gd name="connsiteX4" fmla="*/ 846402 w 12191998"/>
              <a:gd name="connsiteY4" fmla="*/ 36512 h 851265"/>
              <a:gd name="connsiteX5" fmla="*/ 887677 w 12191998"/>
              <a:gd name="connsiteY5" fmla="*/ 52387 h 851265"/>
              <a:gd name="connsiteX6" fmla="*/ 924189 w 12191998"/>
              <a:gd name="connsiteY6" fmla="*/ 68262 h 851265"/>
              <a:gd name="connsiteX7" fmla="*/ 962289 w 12191998"/>
              <a:gd name="connsiteY7" fmla="*/ 87312 h 851265"/>
              <a:gd name="connsiteX8" fmla="*/ 1000389 w 12191998"/>
              <a:gd name="connsiteY8" fmla="*/ 106362 h 851265"/>
              <a:gd name="connsiteX9" fmla="*/ 1036902 w 12191998"/>
              <a:gd name="connsiteY9" fmla="*/ 125412 h 851265"/>
              <a:gd name="connsiteX10" fmla="*/ 1078177 w 12191998"/>
              <a:gd name="connsiteY10" fmla="*/ 141287 h 851265"/>
              <a:gd name="connsiteX11" fmla="*/ 1124214 w 12191998"/>
              <a:gd name="connsiteY11" fmla="*/ 155575 h 851265"/>
              <a:gd name="connsiteX12" fmla="*/ 1176602 w 12191998"/>
              <a:gd name="connsiteY12" fmla="*/ 166687 h 851265"/>
              <a:gd name="connsiteX13" fmla="*/ 1236927 w 12191998"/>
              <a:gd name="connsiteY13" fmla="*/ 174625 h 851265"/>
              <a:gd name="connsiteX14" fmla="*/ 1305189 w 12191998"/>
              <a:gd name="connsiteY14" fmla="*/ 176212 h 851265"/>
              <a:gd name="connsiteX15" fmla="*/ 1373452 w 12191998"/>
              <a:gd name="connsiteY15" fmla="*/ 174625 h 851265"/>
              <a:gd name="connsiteX16" fmla="*/ 1433777 w 12191998"/>
              <a:gd name="connsiteY16" fmla="*/ 166687 h 851265"/>
              <a:gd name="connsiteX17" fmla="*/ 1486164 w 12191998"/>
              <a:gd name="connsiteY17" fmla="*/ 155575 h 851265"/>
              <a:gd name="connsiteX18" fmla="*/ 1532202 w 12191998"/>
              <a:gd name="connsiteY18" fmla="*/ 141287 h 851265"/>
              <a:gd name="connsiteX19" fmla="*/ 1573477 w 12191998"/>
              <a:gd name="connsiteY19" fmla="*/ 125412 h 851265"/>
              <a:gd name="connsiteX20" fmla="*/ 1609989 w 12191998"/>
              <a:gd name="connsiteY20" fmla="*/ 106362 h 851265"/>
              <a:gd name="connsiteX21" fmla="*/ 1648089 w 12191998"/>
              <a:gd name="connsiteY21" fmla="*/ 87312 h 851265"/>
              <a:gd name="connsiteX22" fmla="*/ 1686189 w 12191998"/>
              <a:gd name="connsiteY22" fmla="*/ 68262 h 851265"/>
              <a:gd name="connsiteX23" fmla="*/ 1722702 w 12191998"/>
              <a:gd name="connsiteY23" fmla="*/ 52387 h 851265"/>
              <a:gd name="connsiteX24" fmla="*/ 1763977 w 12191998"/>
              <a:gd name="connsiteY24" fmla="*/ 36512 h 851265"/>
              <a:gd name="connsiteX25" fmla="*/ 1810014 w 12191998"/>
              <a:gd name="connsiteY25" fmla="*/ 20637 h 851265"/>
              <a:gd name="connsiteX26" fmla="*/ 1862402 w 12191998"/>
              <a:gd name="connsiteY26" fmla="*/ 9525 h 851265"/>
              <a:gd name="connsiteX27" fmla="*/ 1922727 w 12191998"/>
              <a:gd name="connsiteY27" fmla="*/ 3175 h 851265"/>
              <a:gd name="connsiteX28" fmla="*/ 1990989 w 12191998"/>
              <a:gd name="connsiteY28" fmla="*/ 0 h 851265"/>
              <a:gd name="connsiteX29" fmla="*/ 2059252 w 12191998"/>
              <a:gd name="connsiteY29" fmla="*/ 3175 h 851265"/>
              <a:gd name="connsiteX30" fmla="*/ 2119577 w 12191998"/>
              <a:gd name="connsiteY30" fmla="*/ 9525 h 851265"/>
              <a:gd name="connsiteX31" fmla="*/ 2171964 w 12191998"/>
              <a:gd name="connsiteY31" fmla="*/ 20637 h 851265"/>
              <a:gd name="connsiteX32" fmla="*/ 2218002 w 12191998"/>
              <a:gd name="connsiteY32" fmla="*/ 36512 h 851265"/>
              <a:gd name="connsiteX33" fmla="*/ 2259277 w 12191998"/>
              <a:gd name="connsiteY33" fmla="*/ 52387 h 851265"/>
              <a:gd name="connsiteX34" fmla="*/ 2295789 w 12191998"/>
              <a:gd name="connsiteY34" fmla="*/ 68262 h 851265"/>
              <a:gd name="connsiteX35" fmla="*/ 2333889 w 12191998"/>
              <a:gd name="connsiteY35" fmla="*/ 87312 h 851265"/>
              <a:gd name="connsiteX36" fmla="*/ 2371989 w 12191998"/>
              <a:gd name="connsiteY36" fmla="*/ 106362 h 851265"/>
              <a:gd name="connsiteX37" fmla="*/ 2408502 w 12191998"/>
              <a:gd name="connsiteY37" fmla="*/ 125412 h 851265"/>
              <a:gd name="connsiteX38" fmla="*/ 2449777 w 12191998"/>
              <a:gd name="connsiteY38" fmla="*/ 141287 h 851265"/>
              <a:gd name="connsiteX39" fmla="*/ 2495814 w 12191998"/>
              <a:gd name="connsiteY39" fmla="*/ 155575 h 851265"/>
              <a:gd name="connsiteX40" fmla="*/ 2548202 w 12191998"/>
              <a:gd name="connsiteY40" fmla="*/ 166687 h 851265"/>
              <a:gd name="connsiteX41" fmla="*/ 2608527 w 12191998"/>
              <a:gd name="connsiteY41" fmla="*/ 174625 h 851265"/>
              <a:gd name="connsiteX42" fmla="*/ 2676789 w 12191998"/>
              <a:gd name="connsiteY42" fmla="*/ 176212 h 851265"/>
              <a:gd name="connsiteX43" fmla="*/ 2745052 w 12191998"/>
              <a:gd name="connsiteY43" fmla="*/ 174625 h 851265"/>
              <a:gd name="connsiteX44" fmla="*/ 2805377 w 12191998"/>
              <a:gd name="connsiteY44" fmla="*/ 166687 h 851265"/>
              <a:gd name="connsiteX45" fmla="*/ 2857764 w 12191998"/>
              <a:gd name="connsiteY45" fmla="*/ 155575 h 851265"/>
              <a:gd name="connsiteX46" fmla="*/ 2903802 w 12191998"/>
              <a:gd name="connsiteY46" fmla="*/ 141287 h 851265"/>
              <a:gd name="connsiteX47" fmla="*/ 2945077 w 12191998"/>
              <a:gd name="connsiteY47" fmla="*/ 125412 h 851265"/>
              <a:gd name="connsiteX48" fmla="*/ 2981589 w 12191998"/>
              <a:gd name="connsiteY48" fmla="*/ 106362 h 851265"/>
              <a:gd name="connsiteX49" fmla="*/ 3019689 w 12191998"/>
              <a:gd name="connsiteY49" fmla="*/ 87312 h 851265"/>
              <a:gd name="connsiteX50" fmla="*/ 3057789 w 12191998"/>
              <a:gd name="connsiteY50" fmla="*/ 68262 h 851265"/>
              <a:gd name="connsiteX51" fmla="*/ 3094302 w 12191998"/>
              <a:gd name="connsiteY51" fmla="*/ 52387 h 851265"/>
              <a:gd name="connsiteX52" fmla="*/ 3135577 w 12191998"/>
              <a:gd name="connsiteY52" fmla="*/ 36512 h 851265"/>
              <a:gd name="connsiteX53" fmla="*/ 3181614 w 12191998"/>
              <a:gd name="connsiteY53" fmla="*/ 20637 h 851265"/>
              <a:gd name="connsiteX54" fmla="*/ 3234002 w 12191998"/>
              <a:gd name="connsiteY54" fmla="*/ 9525 h 851265"/>
              <a:gd name="connsiteX55" fmla="*/ 3294327 w 12191998"/>
              <a:gd name="connsiteY55" fmla="*/ 3175 h 851265"/>
              <a:gd name="connsiteX56" fmla="*/ 3361002 w 12191998"/>
              <a:gd name="connsiteY56" fmla="*/ 0 h 851265"/>
              <a:gd name="connsiteX57" fmla="*/ 3430852 w 12191998"/>
              <a:gd name="connsiteY57" fmla="*/ 3175 h 851265"/>
              <a:gd name="connsiteX58" fmla="*/ 3491177 w 12191998"/>
              <a:gd name="connsiteY58" fmla="*/ 9525 h 851265"/>
              <a:gd name="connsiteX59" fmla="*/ 3543564 w 12191998"/>
              <a:gd name="connsiteY59" fmla="*/ 20637 h 851265"/>
              <a:gd name="connsiteX60" fmla="*/ 3589602 w 12191998"/>
              <a:gd name="connsiteY60" fmla="*/ 36512 h 851265"/>
              <a:gd name="connsiteX61" fmla="*/ 3630877 w 12191998"/>
              <a:gd name="connsiteY61" fmla="*/ 52387 h 851265"/>
              <a:gd name="connsiteX62" fmla="*/ 3667389 w 12191998"/>
              <a:gd name="connsiteY62" fmla="*/ 68262 h 851265"/>
              <a:gd name="connsiteX63" fmla="*/ 3705489 w 12191998"/>
              <a:gd name="connsiteY63" fmla="*/ 87312 h 851265"/>
              <a:gd name="connsiteX64" fmla="*/ 3743589 w 12191998"/>
              <a:gd name="connsiteY64" fmla="*/ 106362 h 851265"/>
              <a:gd name="connsiteX65" fmla="*/ 3780102 w 12191998"/>
              <a:gd name="connsiteY65" fmla="*/ 125412 h 851265"/>
              <a:gd name="connsiteX66" fmla="*/ 3821377 w 12191998"/>
              <a:gd name="connsiteY66" fmla="*/ 141287 h 851265"/>
              <a:gd name="connsiteX67" fmla="*/ 3867414 w 12191998"/>
              <a:gd name="connsiteY67" fmla="*/ 155575 h 851265"/>
              <a:gd name="connsiteX68" fmla="*/ 3919802 w 12191998"/>
              <a:gd name="connsiteY68" fmla="*/ 166687 h 851265"/>
              <a:gd name="connsiteX69" fmla="*/ 3980127 w 12191998"/>
              <a:gd name="connsiteY69" fmla="*/ 174625 h 851265"/>
              <a:gd name="connsiteX70" fmla="*/ 4048389 w 12191998"/>
              <a:gd name="connsiteY70" fmla="*/ 176212 h 851265"/>
              <a:gd name="connsiteX71" fmla="*/ 4116652 w 12191998"/>
              <a:gd name="connsiteY71" fmla="*/ 174625 h 851265"/>
              <a:gd name="connsiteX72" fmla="*/ 4176977 w 12191998"/>
              <a:gd name="connsiteY72" fmla="*/ 166687 h 851265"/>
              <a:gd name="connsiteX73" fmla="*/ 4229364 w 12191998"/>
              <a:gd name="connsiteY73" fmla="*/ 155575 h 851265"/>
              <a:gd name="connsiteX74" fmla="*/ 4275402 w 12191998"/>
              <a:gd name="connsiteY74" fmla="*/ 141287 h 851265"/>
              <a:gd name="connsiteX75" fmla="*/ 4316677 w 12191998"/>
              <a:gd name="connsiteY75" fmla="*/ 125412 h 851265"/>
              <a:gd name="connsiteX76" fmla="*/ 4353189 w 12191998"/>
              <a:gd name="connsiteY76" fmla="*/ 106362 h 851265"/>
              <a:gd name="connsiteX77" fmla="*/ 4429389 w 12191998"/>
              <a:gd name="connsiteY77" fmla="*/ 68262 h 851265"/>
              <a:gd name="connsiteX78" fmla="*/ 4465902 w 12191998"/>
              <a:gd name="connsiteY78" fmla="*/ 52387 h 851265"/>
              <a:gd name="connsiteX79" fmla="*/ 4507177 w 12191998"/>
              <a:gd name="connsiteY79" fmla="*/ 36512 h 851265"/>
              <a:gd name="connsiteX80" fmla="*/ 4553216 w 12191998"/>
              <a:gd name="connsiteY80" fmla="*/ 20637 h 851265"/>
              <a:gd name="connsiteX81" fmla="*/ 4605602 w 12191998"/>
              <a:gd name="connsiteY81" fmla="*/ 9525 h 851265"/>
              <a:gd name="connsiteX82" fmla="*/ 4665928 w 12191998"/>
              <a:gd name="connsiteY82" fmla="*/ 3175 h 851265"/>
              <a:gd name="connsiteX83" fmla="*/ 4734189 w 12191998"/>
              <a:gd name="connsiteY83" fmla="*/ 0 h 851265"/>
              <a:gd name="connsiteX84" fmla="*/ 4802453 w 12191998"/>
              <a:gd name="connsiteY84" fmla="*/ 3175 h 851265"/>
              <a:gd name="connsiteX85" fmla="*/ 4862777 w 12191998"/>
              <a:gd name="connsiteY85" fmla="*/ 9525 h 851265"/>
              <a:gd name="connsiteX86" fmla="*/ 4915165 w 12191998"/>
              <a:gd name="connsiteY86" fmla="*/ 20637 h 851265"/>
              <a:gd name="connsiteX87" fmla="*/ 4961202 w 12191998"/>
              <a:gd name="connsiteY87" fmla="*/ 36512 h 851265"/>
              <a:gd name="connsiteX88" fmla="*/ 5002478 w 12191998"/>
              <a:gd name="connsiteY88" fmla="*/ 52387 h 851265"/>
              <a:gd name="connsiteX89" fmla="*/ 5038989 w 12191998"/>
              <a:gd name="connsiteY89" fmla="*/ 68262 h 851265"/>
              <a:gd name="connsiteX90" fmla="*/ 5077091 w 12191998"/>
              <a:gd name="connsiteY90" fmla="*/ 87312 h 851265"/>
              <a:gd name="connsiteX91" fmla="*/ 5115189 w 12191998"/>
              <a:gd name="connsiteY91" fmla="*/ 106362 h 851265"/>
              <a:gd name="connsiteX92" fmla="*/ 5151702 w 12191998"/>
              <a:gd name="connsiteY92" fmla="*/ 125412 h 851265"/>
              <a:gd name="connsiteX93" fmla="*/ 5192978 w 12191998"/>
              <a:gd name="connsiteY93" fmla="*/ 141287 h 851265"/>
              <a:gd name="connsiteX94" fmla="*/ 5239014 w 12191998"/>
              <a:gd name="connsiteY94" fmla="*/ 155575 h 851265"/>
              <a:gd name="connsiteX95" fmla="*/ 5291401 w 12191998"/>
              <a:gd name="connsiteY95" fmla="*/ 166687 h 851265"/>
              <a:gd name="connsiteX96" fmla="*/ 5351727 w 12191998"/>
              <a:gd name="connsiteY96" fmla="*/ 174625 h 851265"/>
              <a:gd name="connsiteX97" fmla="*/ 5410199 w 12191998"/>
              <a:gd name="connsiteY97" fmla="*/ 175985 h 851265"/>
              <a:gd name="connsiteX98" fmla="*/ 5468671 w 12191998"/>
              <a:gd name="connsiteY98" fmla="*/ 174625 h 851265"/>
              <a:gd name="connsiteX99" fmla="*/ 5528996 w 12191998"/>
              <a:gd name="connsiteY99" fmla="*/ 166687 h 851265"/>
              <a:gd name="connsiteX100" fmla="*/ 5581383 w 12191998"/>
              <a:gd name="connsiteY100" fmla="*/ 155575 h 851265"/>
              <a:gd name="connsiteX101" fmla="*/ 5627421 w 12191998"/>
              <a:gd name="connsiteY101" fmla="*/ 141287 h 851265"/>
              <a:gd name="connsiteX102" fmla="*/ 5668696 w 12191998"/>
              <a:gd name="connsiteY102" fmla="*/ 125412 h 851265"/>
              <a:gd name="connsiteX103" fmla="*/ 5705210 w 12191998"/>
              <a:gd name="connsiteY103" fmla="*/ 106362 h 851265"/>
              <a:gd name="connsiteX104" fmla="*/ 5743308 w 12191998"/>
              <a:gd name="connsiteY104" fmla="*/ 87312 h 851265"/>
              <a:gd name="connsiteX105" fmla="*/ 5781408 w 12191998"/>
              <a:gd name="connsiteY105" fmla="*/ 68262 h 851265"/>
              <a:gd name="connsiteX106" fmla="*/ 5817921 w 12191998"/>
              <a:gd name="connsiteY106" fmla="*/ 52387 h 851265"/>
              <a:gd name="connsiteX107" fmla="*/ 5859196 w 12191998"/>
              <a:gd name="connsiteY107" fmla="*/ 36512 h 851265"/>
              <a:gd name="connsiteX108" fmla="*/ 5905234 w 12191998"/>
              <a:gd name="connsiteY108" fmla="*/ 20637 h 851265"/>
              <a:gd name="connsiteX109" fmla="*/ 5957621 w 12191998"/>
              <a:gd name="connsiteY109" fmla="*/ 9525 h 851265"/>
              <a:gd name="connsiteX110" fmla="*/ 6017948 w 12191998"/>
              <a:gd name="connsiteY110" fmla="*/ 3175 h 851265"/>
              <a:gd name="connsiteX111" fmla="*/ 6086210 w 12191998"/>
              <a:gd name="connsiteY111" fmla="*/ 0 h 851265"/>
              <a:gd name="connsiteX112" fmla="*/ 6095999 w 12191998"/>
              <a:gd name="connsiteY112" fmla="*/ 455 h 851265"/>
              <a:gd name="connsiteX113" fmla="*/ 6105789 w 12191998"/>
              <a:gd name="connsiteY113" fmla="*/ 0 h 851265"/>
              <a:gd name="connsiteX114" fmla="*/ 6174052 w 12191998"/>
              <a:gd name="connsiteY114" fmla="*/ 3175 h 851265"/>
              <a:gd name="connsiteX115" fmla="*/ 6234377 w 12191998"/>
              <a:gd name="connsiteY115" fmla="*/ 9525 h 851265"/>
              <a:gd name="connsiteX116" fmla="*/ 6286764 w 12191998"/>
              <a:gd name="connsiteY116" fmla="*/ 20637 h 851265"/>
              <a:gd name="connsiteX117" fmla="*/ 6332802 w 12191998"/>
              <a:gd name="connsiteY117" fmla="*/ 36512 h 851265"/>
              <a:gd name="connsiteX118" fmla="*/ 6374077 w 12191998"/>
              <a:gd name="connsiteY118" fmla="*/ 52387 h 851265"/>
              <a:gd name="connsiteX119" fmla="*/ 6410589 w 12191998"/>
              <a:gd name="connsiteY119" fmla="*/ 68262 h 851265"/>
              <a:gd name="connsiteX120" fmla="*/ 6448689 w 12191998"/>
              <a:gd name="connsiteY120" fmla="*/ 87312 h 851265"/>
              <a:gd name="connsiteX121" fmla="*/ 6486789 w 12191998"/>
              <a:gd name="connsiteY121" fmla="*/ 106362 h 851265"/>
              <a:gd name="connsiteX122" fmla="*/ 6523302 w 12191998"/>
              <a:gd name="connsiteY122" fmla="*/ 125412 h 851265"/>
              <a:gd name="connsiteX123" fmla="*/ 6564577 w 12191998"/>
              <a:gd name="connsiteY123" fmla="*/ 141287 h 851265"/>
              <a:gd name="connsiteX124" fmla="*/ 6610614 w 12191998"/>
              <a:gd name="connsiteY124" fmla="*/ 155575 h 851265"/>
              <a:gd name="connsiteX125" fmla="*/ 6663002 w 12191998"/>
              <a:gd name="connsiteY125" fmla="*/ 166687 h 851265"/>
              <a:gd name="connsiteX126" fmla="*/ 6723327 w 12191998"/>
              <a:gd name="connsiteY126" fmla="*/ 174625 h 851265"/>
              <a:gd name="connsiteX127" fmla="*/ 6781799 w 12191998"/>
              <a:gd name="connsiteY127" fmla="*/ 175985 h 851265"/>
              <a:gd name="connsiteX128" fmla="*/ 6840271 w 12191998"/>
              <a:gd name="connsiteY128" fmla="*/ 174625 h 851265"/>
              <a:gd name="connsiteX129" fmla="*/ 6900596 w 12191998"/>
              <a:gd name="connsiteY129" fmla="*/ 166687 h 851265"/>
              <a:gd name="connsiteX130" fmla="*/ 6952983 w 12191998"/>
              <a:gd name="connsiteY130" fmla="*/ 155575 h 851265"/>
              <a:gd name="connsiteX131" fmla="*/ 6999021 w 12191998"/>
              <a:gd name="connsiteY131" fmla="*/ 141287 h 851265"/>
              <a:gd name="connsiteX132" fmla="*/ 7040296 w 12191998"/>
              <a:gd name="connsiteY132" fmla="*/ 125412 h 851265"/>
              <a:gd name="connsiteX133" fmla="*/ 7076808 w 12191998"/>
              <a:gd name="connsiteY133" fmla="*/ 106362 h 851265"/>
              <a:gd name="connsiteX134" fmla="*/ 7114908 w 12191998"/>
              <a:gd name="connsiteY134" fmla="*/ 87312 h 851265"/>
              <a:gd name="connsiteX135" fmla="*/ 7153008 w 12191998"/>
              <a:gd name="connsiteY135" fmla="*/ 68262 h 851265"/>
              <a:gd name="connsiteX136" fmla="*/ 7189521 w 12191998"/>
              <a:gd name="connsiteY136" fmla="*/ 52387 h 851265"/>
              <a:gd name="connsiteX137" fmla="*/ 7230796 w 12191998"/>
              <a:gd name="connsiteY137" fmla="*/ 36512 h 851265"/>
              <a:gd name="connsiteX138" fmla="*/ 7276833 w 12191998"/>
              <a:gd name="connsiteY138" fmla="*/ 20637 h 851265"/>
              <a:gd name="connsiteX139" fmla="*/ 7329221 w 12191998"/>
              <a:gd name="connsiteY139" fmla="*/ 9525 h 851265"/>
              <a:gd name="connsiteX140" fmla="*/ 7389546 w 12191998"/>
              <a:gd name="connsiteY140" fmla="*/ 3175 h 851265"/>
              <a:gd name="connsiteX141" fmla="*/ 7457808 w 12191998"/>
              <a:gd name="connsiteY141" fmla="*/ 0 h 851265"/>
              <a:gd name="connsiteX142" fmla="*/ 7526071 w 12191998"/>
              <a:gd name="connsiteY142" fmla="*/ 3175 h 851265"/>
              <a:gd name="connsiteX143" fmla="*/ 7586396 w 12191998"/>
              <a:gd name="connsiteY143" fmla="*/ 9525 h 851265"/>
              <a:gd name="connsiteX144" fmla="*/ 7638783 w 12191998"/>
              <a:gd name="connsiteY144" fmla="*/ 20637 h 851265"/>
              <a:gd name="connsiteX145" fmla="*/ 7684821 w 12191998"/>
              <a:gd name="connsiteY145" fmla="*/ 36512 h 851265"/>
              <a:gd name="connsiteX146" fmla="*/ 7726096 w 12191998"/>
              <a:gd name="connsiteY146" fmla="*/ 52387 h 851265"/>
              <a:gd name="connsiteX147" fmla="*/ 7762608 w 12191998"/>
              <a:gd name="connsiteY147" fmla="*/ 68262 h 851265"/>
              <a:gd name="connsiteX148" fmla="*/ 7800708 w 12191998"/>
              <a:gd name="connsiteY148" fmla="*/ 87312 h 851265"/>
              <a:gd name="connsiteX149" fmla="*/ 7838808 w 12191998"/>
              <a:gd name="connsiteY149" fmla="*/ 106362 h 851265"/>
              <a:gd name="connsiteX150" fmla="*/ 7875321 w 12191998"/>
              <a:gd name="connsiteY150" fmla="*/ 125412 h 851265"/>
              <a:gd name="connsiteX151" fmla="*/ 7916596 w 12191998"/>
              <a:gd name="connsiteY151" fmla="*/ 141287 h 851265"/>
              <a:gd name="connsiteX152" fmla="*/ 7962633 w 12191998"/>
              <a:gd name="connsiteY152" fmla="*/ 155575 h 851265"/>
              <a:gd name="connsiteX153" fmla="*/ 8015021 w 12191998"/>
              <a:gd name="connsiteY153" fmla="*/ 166687 h 851265"/>
              <a:gd name="connsiteX154" fmla="*/ 8075346 w 12191998"/>
              <a:gd name="connsiteY154" fmla="*/ 174625 h 851265"/>
              <a:gd name="connsiteX155" fmla="*/ 8143608 w 12191998"/>
              <a:gd name="connsiteY155" fmla="*/ 176212 h 851265"/>
              <a:gd name="connsiteX156" fmla="*/ 8211871 w 12191998"/>
              <a:gd name="connsiteY156" fmla="*/ 174625 h 851265"/>
              <a:gd name="connsiteX157" fmla="*/ 8272196 w 12191998"/>
              <a:gd name="connsiteY157" fmla="*/ 166687 h 851265"/>
              <a:gd name="connsiteX158" fmla="*/ 8324583 w 12191998"/>
              <a:gd name="connsiteY158" fmla="*/ 155575 h 851265"/>
              <a:gd name="connsiteX159" fmla="*/ 8370621 w 12191998"/>
              <a:gd name="connsiteY159" fmla="*/ 141287 h 851265"/>
              <a:gd name="connsiteX160" fmla="*/ 8411896 w 12191998"/>
              <a:gd name="connsiteY160" fmla="*/ 125412 h 851265"/>
              <a:gd name="connsiteX161" fmla="*/ 8448408 w 12191998"/>
              <a:gd name="connsiteY161" fmla="*/ 106362 h 851265"/>
              <a:gd name="connsiteX162" fmla="*/ 8486508 w 12191998"/>
              <a:gd name="connsiteY162" fmla="*/ 87312 h 851265"/>
              <a:gd name="connsiteX163" fmla="*/ 8524608 w 12191998"/>
              <a:gd name="connsiteY163" fmla="*/ 68262 h 851265"/>
              <a:gd name="connsiteX164" fmla="*/ 8561120 w 12191998"/>
              <a:gd name="connsiteY164" fmla="*/ 52387 h 851265"/>
              <a:gd name="connsiteX165" fmla="*/ 8602396 w 12191998"/>
              <a:gd name="connsiteY165" fmla="*/ 36512 h 851265"/>
              <a:gd name="connsiteX166" fmla="*/ 8648432 w 12191998"/>
              <a:gd name="connsiteY166" fmla="*/ 20637 h 851265"/>
              <a:gd name="connsiteX167" fmla="*/ 8700820 w 12191998"/>
              <a:gd name="connsiteY167" fmla="*/ 9525 h 851265"/>
              <a:gd name="connsiteX168" fmla="*/ 8761146 w 12191998"/>
              <a:gd name="connsiteY168" fmla="*/ 3175 h 851265"/>
              <a:gd name="connsiteX169" fmla="*/ 8827820 w 12191998"/>
              <a:gd name="connsiteY169" fmla="*/ 0 h 851265"/>
              <a:gd name="connsiteX170" fmla="*/ 8897670 w 12191998"/>
              <a:gd name="connsiteY170" fmla="*/ 3175 h 851265"/>
              <a:gd name="connsiteX171" fmla="*/ 8957996 w 12191998"/>
              <a:gd name="connsiteY171" fmla="*/ 9525 h 851265"/>
              <a:gd name="connsiteX172" fmla="*/ 9010382 w 12191998"/>
              <a:gd name="connsiteY172" fmla="*/ 20637 h 851265"/>
              <a:gd name="connsiteX173" fmla="*/ 9056420 w 12191998"/>
              <a:gd name="connsiteY173" fmla="*/ 36512 h 851265"/>
              <a:gd name="connsiteX174" fmla="*/ 9097696 w 12191998"/>
              <a:gd name="connsiteY174" fmla="*/ 52387 h 851265"/>
              <a:gd name="connsiteX175" fmla="*/ 9134208 w 12191998"/>
              <a:gd name="connsiteY175" fmla="*/ 68262 h 851265"/>
              <a:gd name="connsiteX176" fmla="*/ 9172308 w 12191998"/>
              <a:gd name="connsiteY176" fmla="*/ 87312 h 851265"/>
              <a:gd name="connsiteX177" fmla="*/ 9210408 w 12191998"/>
              <a:gd name="connsiteY177" fmla="*/ 106362 h 851265"/>
              <a:gd name="connsiteX178" fmla="*/ 9246920 w 12191998"/>
              <a:gd name="connsiteY178" fmla="*/ 125412 h 851265"/>
              <a:gd name="connsiteX179" fmla="*/ 9288196 w 12191998"/>
              <a:gd name="connsiteY179" fmla="*/ 141287 h 851265"/>
              <a:gd name="connsiteX180" fmla="*/ 9334232 w 12191998"/>
              <a:gd name="connsiteY180" fmla="*/ 155575 h 851265"/>
              <a:gd name="connsiteX181" fmla="*/ 9386620 w 12191998"/>
              <a:gd name="connsiteY181" fmla="*/ 166687 h 851265"/>
              <a:gd name="connsiteX182" fmla="*/ 9446946 w 12191998"/>
              <a:gd name="connsiteY182" fmla="*/ 174625 h 851265"/>
              <a:gd name="connsiteX183" fmla="*/ 9515208 w 12191998"/>
              <a:gd name="connsiteY183" fmla="*/ 176212 h 851265"/>
              <a:gd name="connsiteX184" fmla="*/ 9583470 w 12191998"/>
              <a:gd name="connsiteY184" fmla="*/ 174625 h 851265"/>
              <a:gd name="connsiteX185" fmla="*/ 9643796 w 12191998"/>
              <a:gd name="connsiteY185" fmla="*/ 166687 h 851265"/>
              <a:gd name="connsiteX186" fmla="*/ 9696182 w 12191998"/>
              <a:gd name="connsiteY186" fmla="*/ 155575 h 851265"/>
              <a:gd name="connsiteX187" fmla="*/ 9742220 w 12191998"/>
              <a:gd name="connsiteY187" fmla="*/ 141287 h 851265"/>
              <a:gd name="connsiteX188" fmla="*/ 9783496 w 12191998"/>
              <a:gd name="connsiteY188" fmla="*/ 125412 h 851265"/>
              <a:gd name="connsiteX189" fmla="*/ 9820008 w 12191998"/>
              <a:gd name="connsiteY189" fmla="*/ 106362 h 851265"/>
              <a:gd name="connsiteX190" fmla="*/ 9896208 w 12191998"/>
              <a:gd name="connsiteY190" fmla="*/ 68262 h 851265"/>
              <a:gd name="connsiteX191" fmla="*/ 9932720 w 12191998"/>
              <a:gd name="connsiteY191" fmla="*/ 52387 h 851265"/>
              <a:gd name="connsiteX192" fmla="*/ 9973996 w 12191998"/>
              <a:gd name="connsiteY192" fmla="*/ 36512 h 851265"/>
              <a:gd name="connsiteX193" fmla="*/ 10020032 w 12191998"/>
              <a:gd name="connsiteY193" fmla="*/ 20637 h 851265"/>
              <a:gd name="connsiteX194" fmla="*/ 10072420 w 12191998"/>
              <a:gd name="connsiteY194" fmla="*/ 9525 h 851265"/>
              <a:gd name="connsiteX195" fmla="*/ 10132746 w 12191998"/>
              <a:gd name="connsiteY195" fmla="*/ 3175 h 851265"/>
              <a:gd name="connsiteX196" fmla="*/ 10201008 w 12191998"/>
              <a:gd name="connsiteY196" fmla="*/ 0 h 851265"/>
              <a:gd name="connsiteX197" fmla="*/ 10269270 w 12191998"/>
              <a:gd name="connsiteY197" fmla="*/ 3175 h 851265"/>
              <a:gd name="connsiteX198" fmla="*/ 10329596 w 12191998"/>
              <a:gd name="connsiteY198" fmla="*/ 9525 h 851265"/>
              <a:gd name="connsiteX199" fmla="*/ 10381982 w 12191998"/>
              <a:gd name="connsiteY199" fmla="*/ 20637 h 851265"/>
              <a:gd name="connsiteX200" fmla="*/ 10428020 w 12191998"/>
              <a:gd name="connsiteY200" fmla="*/ 36512 h 851265"/>
              <a:gd name="connsiteX201" fmla="*/ 10469296 w 12191998"/>
              <a:gd name="connsiteY201" fmla="*/ 52387 h 851265"/>
              <a:gd name="connsiteX202" fmla="*/ 10505808 w 12191998"/>
              <a:gd name="connsiteY202" fmla="*/ 68262 h 851265"/>
              <a:gd name="connsiteX203" fmla="*/ 10543908 w 12191998"/>
              <a:gd name="connsiteY203" fmla="*/ 87312 h 851265"/>
              <a:gd name="connsiteX204" fmla="*/ 10582008 w 12191998"/>
              <a:gd name="connsiteY204" fmla="*/ 106362 h 851265"/>
              <a:gd name="connsiteX205" fmla="*/ 10618520 w 12191998"/>
              <a:gd name="connsiteY205" fmla="*/ 125412 h 851265"/>
              <a:gd name="connsiteX206" fmla="*/ 10659796 w 12191998"/>
              <a:gd name="connsiteY206" fmla="*/ 141287 h 851265"/>
              <a:gd name="connsiteX207" fmla="*/ 10705832 w 12191998"/>
              <a:gd name="connsiteY207" fmla="*/ 155575 h 851265"/>
              <a:gd name="connsiteX208" fmla="*/ 10758220 w 12191998"/>
              <a:gd name="connsiteY208" fmla="*/ 166687 h 851265"/>
              <a:gd name="connsiteX209" fmla="*/ 10818546 w 12191998"/>
              <a:gd name="connsiteY209" fmla="*/ 174625 h 851265"/>
              <a:gd name="connsiteX210" fmla="*/ 10886808 w 12191998"/>
              <a:gd name="connsiteY210" fmla="*/ 176212 h 851265"/>
              <a:gd name="connsiteX211" fmla="*/ 10955070 w 12191998"/>
              <a:gd name="connsiteY211" fmla="*/ 174625 h 851265"/>
              <a:gd name="connsiteX212" fmla="*/ 11015396 w 12191998"/>
              <a:gd name="connsiteY212" fmla="*/ 166687 h 851265"/>
              <a:gd name="connsiteX213" fmla="*/ 11067782 w 12191998"/>
              <a:gd name="connsiteY213" fmla="*/ 155575 h 851265"/>
              <a:gd name="connsiteX214" fmla="*/ 11113820 w 12191998"/>
              <a:gd name="connsiteY214" fmla="*/ 141287 h 851265"/>
              <a:gd name="connsiteX215" fmla="*/ 11155096 w 12191998"/>
              <a:gd name="connsiteY215" fmla="*/ 125412 h 851265"/>
              <a:gd name="connsiteX216" fmla="*/ 11191608 w 12191998"/>
              <a:gd name="connsiteY216" fmla="*/ 106362 h 851265"/>
              <a:gd name="connsiteX217" fmla="*/ 11229708 w 12191998"/>
              <a:gd name="connsiteY217" fmla="*/ 87312 h 851265"/>
              <a:gd name="connsiteX218" fmla="*/ 11267808 w 12191998"/>
              <a:gd name="connsiteY218" fmla="*/ 68262 h 851265"/>
              <a:gd name="connsiteX219" fmla="*/ 11304320 w 12191998"/>
              <a:gd name="connsiteY219" fmla="*/ 52387 h 851265"/>
              <a:gd name="connsiteX220" fmla="*/ 11345596 w 12191998"/>
              <a:gd name="connsiteY220" fmla="*/ 36512 h 851265"/>
              <a:gd name="connsiteX221" fmla="*/ 11391632 w 12191998"/>
              <a:gd name="connsiteY221" fmla="*/ 20637 h 851265"/>
              <a:gd name="connsiteX222" fmla="*/ 11444020 w 12191998"/>
              <a:gd name="connsiteY222" fmla="*/ 9525 h 851265"/>
              <a:gd name="connsiteX223" fmla="*/ 11504346 w 12191998"/>
              <a:gd name="connsiteY223" fmla="*/ 3175 h 851265"/>
              <a:gd name="connsiteX224" fmla="*/ 11572608 w 12191998"/>
              <a:gd name="connsiteY224" fmla="*/ 0 h 851265"/>
              <a:gd name="connsiteX225" fmla="*/ 11640870 w 12191998"/>
              <a:gd name="connsiteY225" fmla="*/ 3175 h 851265"/>
              <a:gd name="connsiteX226" fmla="*/ 11701196 w 12191998"/>
              <a:gd name="connsiteY226" fmla="*/ 9525 h 851265"/>
              <a:gd name="connsiteX227" fmla="*/ 11753582 w 12191998"/>
              <a:gd name="connsiteY227" fmla="*/ 20637 h 851265"/>
              <a:gd name="connsiteX228" fmla="*/ 11799620 w 12191998"/>
              <a:gd name="connsiteY228" fmla="*/ 36512 h 851265"/>
              <a:gd name="connsiteX229" fmla="*/ 11840896 w 12191998"/>
              <a:gd name="connsiteY229" fmla="*/ 52387 h 851265"/>
              <a:gd name="connsiteX230" fmla="*/ 11877408 w 12191998"/>
              <a:gd name="connsiteY230" fmla="*/ 68262 h 851265"/>
              <a:gd name="connsiteX231" fmla="*/ 11915508 w 12191998"/>
              <a:gd name="connsiteY231" fmla="*/ 87312 h 851265"/>
              <a:gd name="connsiteX232" fmla="*/ 11953608 w 12191998"/>
              <a:gd name="connsiteY232" fmla="*/ 106362 h 851265"/>
              <a:gd name="connsiteX233" fmla="*/ 11990120 w 12191998"/>
              <a:gd name="connsiteY233" fmla="*/ 125412 h 851265"/>
              <a:gd name="connsiteX234" fmla="*/ 12031396 w 12191998"/>
              <a:gd name="connsiteY234" fmla="*/ 141287 h 851265"/>
              <a:gd name="connsiteX235" fmla="*/ 12077432 w 12191998"/>
              <a:gd name="connsiteY235" fmla="*/ 155575 h 851265"/>
              <a:gd name="connsiteX236" fmla="*/ 12129820 w 12191998"/>
              <a:gd name="connsiteY236" fmla="*/ 166688 h 851265"/>
              <a:gd name="connsiteX237" fmla="*/ 12190146 w 12191998"/>
              <a:gd name="connsiteY237" fmla="*/ 174625 h 851265"/>
              <a:gd name="connsiteX238" fmla="*/ 12191998 w 12191998"/>
              <a:gd name="connsiteY238" fmla="*/ 174668 h 851265"/>
              <a:gd name="connsiteX239" fmla="*/ 12191998 w 12191998"/>
              <a:gd name="connsiteY239" fmla="*/ 851265 h 851265"/>
              <a:gd name="connsiteX240" fmla="*/ 0 w 12191998"/>
              <a:gd name="connsiteY240" fmla="*/ 851265 h 851265"/>
              <a:gd name="connsiteX241" fmla="*/ 0 w 12191998"/>
              <a:gd name="connsiteY241" fmla="*/ 174668 h 851265"/>
              <a:gd name="connsiteX242" fmla="*/ 1852 w 12191998"/>
              <a:gd name="connsiteY242" fmla="*/ 174625 h 851265"/>
              <a:gd name="connsiteX243" fmla="*/ 62177 w 12191998"/>
              <a:gd name="connsiteY243" fmla="*/ 166687 h 851265"/>
              <a:gd name="connsiteX244" fmla="*/ 114564 w 12191998"/>
              <a:gd name="connsiteY244" fmla="*/ 155575 h 851265"/>
              <a:gd name="connsiteX245" fmla="*/ 160602 w 12191998"/>
              <a:gd name="connsiteY245" fmla="*/ 141287 h 851265"/>
              <a:gd name="connsiteX246" fmla="*/ 201877 w 12191998"/>
              <a:gd name="connsiteY246" fmla="*/ 125412 h 851265"/>
              <a:gd name="connsiteX247" fmla="*/ 238389 w 12191998"/>
              <a:gd name="connsiteY247" fmla="*/ 106362 h 851265"/>
              <a:gd name="connsiteX248" fmla="*/ 276489 w 12191998"/>
              <a:gd name="connsiteY248" fmla="*/ 87312 h 851265"/>
              <a:gd name="connsiteX249" fmla="*/ 314589 w 12191998"/>
              <a:gd name="connsiteY249" fmla="*/ 68262 h 851265"/>
              <a:gd name="connsiteX250" fmla="*/ 351102 w 12191998"/>
              <a:gd name="connsiteY250" fmla="*/ 52387 h 851265"/>
              <a:gd name="connsiteX251" fmla="*/ 392377 w 12191998"/>
              <a:gd name="connsiteY251" fmla="*/ 36512 h 851265"/>
              <a:gd name="connsiteX252" fmla="*/ 438414 w 12191998"/>
              <a:gd name="connsiteY252" fmla="*/ 20637 h 851265"/>
              <a:gd name="connsiteX253" fmla="*/ 490802 w 12191998"/>
              <a:gd name="connsiteY253" fmla="*/ 9525 h 851265"/>
              <a:gd name="connsiteX254" fmla="*/ 551127 w 12191998"/>
              <a:gd name="connsiteY254" fmla="*/ 3175 h 851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Lst>
            <a:rect l="l" t="t" r="r" b="b"/>
            <a:pathLst>
              <a:path w="12191998" h="851265">
                <a:moveTo>
                  <a:pt x="619389" y="0"/>
                </a:moveTo>
                <a:lnTo>
                  <a:pt x="687652" y="3175"/>
                </a:lnTo>
                <a:lnTo>
                  <a:pt x="747977" y="9525"/>
                </a:lnTo>
                <a:lnTo>
                  <a:pt x="800364" y="20637"/>
                </a:lnTo>
                <a:lnTo>
                  <a:pt x="846402" y="36512"/>
                </a:lnTo>
                <a:lnTo>
                  <a:pt x="887677" y="52387"/>
                </a:lnTo>
                <a:lnTo>
                  <a:pt x="924189" y="68262"/>
                </a:lnTo>
                <a:lnTo>
                  <a:pt x="962289" y="87312"/>
                </a:lnTo>
                <a:lnTo>
                  <a:pt x="1000389" y="106362"/>
                </a:lnTo>
                <a:lnTo>
                  <a:pt x="1036902" y="125412"/>
                </a:lnTo>
                <a:lnTo>
                  <a:pt x="1078177" y="141287"/>
                </a:lnTo>
                <a:lnTo>
                  <a:pt x="1124214" y="155575"/>
                </a:lnTo>
                <a:lnTo>
                  <a:pt x="1176602" y="166687"/>
                </a:lnTo>
                <a:lnTo>
                  <a:pt x="1236927" y="174625"/>
                </a:lnTo>
                <a:lnTo>
                  <a:pt x="1305189" y="176212"/>
                </a:lnTo>
                <a:lnTo>
                  <a:pt x="1373452" y="174625"/>
                </a:lnTo>
                <a:lnTo>
                  <a:pt x="1433777" y="166687"/>
                </a:lnTo>
                <a:lnTo>
                  <a:pt x="1486164" y="155575"/>
                </a:lnTo>
                <a:lnTo>
                  <a:pt x="1532202" y="141287"/>
                </a:lnTo>
                <a:lnTo>
                  <a:pt x="1573477" y="125412"/>
                </a:lnTo>
                <a:lnTo>
                  <a:pt x="1609989" y="106362"/>
                </a:lnTo>
                <a:lnTo>
                  <a:pt x="1648089" y="87312"/>
                </a:lnTo>
                <a:lnTo>
                  <a:pt x="1686189" y="68262"/>
                </a:lnTo>
                <a:lnTo>
                  <a:pt x="1722702" y="52387"/>
                </a:lnTo>
                <a:lnTo>
                  <a:pt x="1763977" y="36512"/>
                </a:lnTo>
                <a:lnTo>
                  <a:pt x="1810014" y="20637"/>
                </a:lnTo>
                <a:lnTo>
                  <a:pt x="1862402" y="9525"/>
                </a:lnTo>
                <a:lnTo>
                  <a:pt x="1922727" y="3175"/>
                </a:lnTo>
                <a:lnTo>
                  <a:pt x="1990989" y="0"/>
                </a:lnTo>
                <a:lnTo>
                  <a:pt x="2059252" y="3175"/>
                </a:lnTo>
                <a:lnTo>
                  <a:pt x="2119577" y="9525"/>
                </a:lnTo>
                <a:lnTo>
                  <a:pt x="2171964" y="20637"/>
                </a:lnTo>
                <a:lnTo>
                  <a:pt x="2218002" y="36512"/>
                </a:lnTo>
                <a:lnTo>
                  <a:pt x="2259277" y="52387"/>
                </a:lnTo>
                <a:lnTo>
                  <a:pt x="2295789" y="68262"/>
                </a:lnTo>
                <a:lnTo>
                  <a:pt x="2333889" y="87312"/>
                </a:lnTo>
                <a:lnTo>
                  <a:pt x="2371989" y="106362"/>
                </a:lnTo>
                <a:lnTo>
                  <a:pt x="2408502" y="125412"/>
                </a:lnTo>
                <a:lnTo>
                  <a:pt x="2449777" y="141287"/>
                </a:lnTo>
                <a:lnTo>
                  <a:pt x="2495814" y="155575"/>
                </a:lnTo>
                <a:lnTo>
                  <a:pt x="2548202" y="166687"/>
                </a:lnTo>
                <a:lnTo>
                  <a:pt x="2608527" y="174625"/>
                </a:lnTo>
                <a:lnTo>
                  <a:pt x="2676789" y="176212"/>
                </a:lnTo>
                <a:lnTo>
                  <a:pt x="2745052" y="174625"/>
                </a:lnTo>
                <a:lnTo>
                  <a:pt x="2805377" y="166687"/>
                </a:lnTo>
                <a:lnTo>
                  <a:pt x="2857764" y="155575"/>
                </a:lnTo>
                <a:lnTo>
                  <a:pt x="2903802" y="141287"/>
                </a:lnTo>
                <a:lnTo>
                  <a:pt x="2945077" y="125412"/>
                </a:lnTo>
                <a:lnTo>
                  <a:pt x="2981589" y="106362"/>
                </a:lnTo>
                <a:lnTo>
                  <a:pt x="3019689" y="87312"/>
                </a:lnTo>
                <a:lnTo>
                  <a:pt x="3057789" y="68262"/>
                </a:lnTo>
                <a:lnTo>
                  <a:pt x="3094302" y="52387"/>
                </a:lnTo>
                <a:lnTo>
                  <a:pt x="3135577" y="36512"/>
                </a:lnTo>
                <a:lnTo>
                  <a:pt x="3181614" y="20637"/>
                </a:lnTo>
                <a:lnTo>
                  <a:pt x="3234002" y="9525"/>
                </a:lnTo>
                <a:lnTo>
                  <a:pt x="3294327" y="3175"/>
                </a:lnTo>
                <a:lnTo>
                  <a:pt x="3361002" y="0"/>
                </a:lnTo>
                <a:lnTo>
                  <a:pt x="3430852" y="3175"/>
                </a:lnTo>
                <a:lnTo>
                  <a:pt x="3491177" y="9525"/>
                </a:lnTo>
                <a:lnTo>
                  <a:pt x="3543564" y="20637"/>
                </a:lnTo>
                <a:lnTo>
                  <a:pt x="3589602" y="36512"/>
                </a:lnTo>
                <a:lnTo>
                  <a:pt x="3630877" y="52387"/>
                </a:lnTo>
                <a:lnTo>
                  <a:pt x="3667389" y="68262"/>
                </a:lnTo>
                <a:lnTo>
                  <a:pt x="3705489" y="87312"/>
                </a:lnTo>
                <a:lnTo>
                  <a:pt x="3743589" y="106362"/>
                </a:lnTo>
                <a:lnTo>
                  <a:pt x="3780102" y="125412"/>
                </a:lnTo>
                <a:lnTo>
                  <a:pt x="3821377" y="141287"/>
                </a:lnTo>
                <a:lnTo>
                  <a:pt x="3867414" y="155575"/>
                </a:lnTo>
                <a:lnTo>
                  <a:pt x="3919802" y="166687"/>
                </a:lnTo>
                <a:lnTo>
                  <a:pt x="3980127" y="174625"/>
                </a:lnTo>
                <a:lnTo>
                  <a:pt x="4048389" y="176212"/>
                </a:lnTo>
                <a:lnTo>
                  <a:pt x="4116652" y="174625"/>
                </a:lnTo>
                <a:lnTo>
                  <a:pt x="4176977" y="166687"/>
                </a:lnTo>
                <a:lnTo>
                  <a:pt x="4229364" y="155575"/>
                </a:lnTo>
                <a:lnTo>
                  <a:pt x="4275402" y="141287"/>
                </a:lnTo>
                <a:lnTo>
                  <a:pt x="4316677" y="125412"/>
                </a:lnTo>
                <a:lnTo>
                  <a:pt x="4353189" y="106362"/>
                </a:lnTo>
                <a:lnTo>
                  <a:pt x="4429389" y="68262"/>
                </a:lnTo>
                <a:lnTo>
                  <a:pt x="4465902" y="52387"/>
                </a:lnTo>
                <a:lnTo>
                  <a:pt x="4507177" y="36512"/>
                </a:lnTo>
                <a:lnTo>
                  <a:pt x="4553216" y="20637"/>
                </a:lnTo>
                <a:lnTo>
                  <a:pt x="4605602" y="9525"/>
                </a:lnTo>
                <a:lnTo>
                  <a:pt x="4665928" y="3175"/>
                </a:lnTo>
                <a:lnTo>
                  <a:pt x="4734189" y="0"/>
                </a:lnTo>
                <a:lnTo>
                  <a:pt x="4802453" y="3175"/>
                </a:lnTo>
                <a:lnTo>
                  <a:pt x="4862777" y="9525"/>
                </a:lnTo>
                <a:lnTo>
                  <a:pt x="4915165" y="20637"/>
                </a:lnTo>
                <a:lnTo>
                  <a:pt x="4961202" y="36512"/>
                </a:lnTo>
                <a:lnTo>
                  <a:pt x="5002478" y="52387"/>
                </a:lnTo>
                <a:lnTo>
                  <a:pt x="5038989" y="68262"/>
                </a:lnTo>
                <a:lnTo>
                  <a:pt x="5077091" y="87312"/>
                </a:lnTo>
                <a:lnTo>
                  <a:pt x="5115189" y="106362"/>
                </a:lnTo>
                <a:lnTo>
                  <a:pt x="5151702" y="125412"/>
                </a:lnTo>
                <a:lnTo>
                  <a:pt x="5192978" y="141287"/>
                </a:lnTo>
                <a:lnTo>
                  <a:pt x="5239014" y="155575"/>
                </a:lnTo>
                <a:lnTo>
                  <a:pt x="5291401" y="166687"/>
                </a:lnTo>
                <a:lnTo>
                  <a:pt x="5351727" y="174625"/>
                </a:lnTo>
                <a:lnTo>
                  <a:pt x="5410199" y="175985"/>
                </a:lnTo>
                <a:lnTo>
                  <a:pt x="5468671" y="174625"/>
                </a:lnTo>
                <a:lnTo>
                  <a:pt x="5528996" y="166687"/>
                </a:lnTo>
                <a:lnTo>
                  <a:pt x="5581383" y="155575"/>
                </a:lnTo>
                <a:lnTo>
                  <a:pt x="5627421" y="141287"/>
                </a:lnTo>
                <a:lnTo>
                  <a:pt x="5668696" y="125412"/>
                </a:lnTo>
                <a:lnTo>
                  <a:pt x="5705210" y="106362"/>
                </a:lnTo>
                <a:lnTo>
                  <a:pt x="5743308" y="87312"/>
                </a:lnTo>
                <a:lnTo>
                  <a:pt x="5781408" y="68262"/>
                </a:lnTo>
                <a:lnTo>
                  <a:pt x="5817921" y="52387"/>
                </a:lnTo>
                <a:lnTo>
                  <a:pt x="5859196" y="36512"/>
                </a:lnTo>
                <a:lnTo>
                  <a:pt x="5905234" y="20637"/>
                </a:lnTo>
                <a:lnTo>
                  <a:pt x="5957621" y="9525"/>
                </a:lnTo>
                <a:lnTo>
                  <a:pt x="6017948" y="3175"/>
                </a:lnTo>
                <a:lnTo>
                  <a:pt x="6086210" y="0"/>
                </a:lnTo>
                <a:lnTo>
                  <a:pt x="6095999" y="455"/>
                </a:lnTo>
                <a:lnTo>
                  <a:pt x="6105789" y="0"/>
                </a:lnTo>
                <a:lnTo>
                  <a:pt x="6174052" y="3175"/>
                </a:lnTo>
                <a:lnTo>
                  <a:pt x="6234377" y="9525"/>
                </a:lnTo>
                <a:lnTo>
                  <a:pt x="6286764" y="20637"/>
                </a:lnTo>
                <a:lnTo>
                  <a:pt x="6332802" y="36512"/>
                </a:lnTo>
                <a:lnTo>
                  <a:pt x="6374077" y="52387"/>
                </a:lnTo>
                <a:lnTo>
                  <a:pt x="6410589" y="68262"/>
                </a:lnTo>
                <a:lnTo>
                  <a:pt x="6448689" y="87312"/>
                </a:lnTo>
                <a:lnTo>
                  <a:pt x="6486789" y="106362"/>
                </a:lnTo>
                <a:lnTo>
                  <a:pt x="6523302" y="125412"/>
                </a:lnTo>
                <a:lnTo>
                  <a:pt x="6564577" y="141287"/>
                </a:lnTo>
                <a:lnTo>
                  <a:pt x="6610614" y="155575"/>
                </a:lnTo>
                <a:lnTo>
                  <a:pt x="6663002" y="166687"/>
                </a:lnTo>
                <a:lnTo>
                  <a:pt x="6723327" y="174625"/>
                </a:lnTo>
                <a:lnTo>
                  <a:pt x="6781799" y="175985"/>
                </a:lnTo>
                <a:lnTo>
                  <a:pt x="6840271" y="174625"/>
                </a:lnTo>
                <a:lnTo>
                  <a:pt x="6900596" y="166687"/>
                </a:lnTo>
                <a:lnTo>
                  <a:pt x="6952983" y="155575"/>
                </a:lnTo>
                <a:lnTo>
                  <a:pt x="6999021" y="141287"/>
                </a:lnTo>
                <a:lnTo>
                  <a:pt x="7040296" y="125412"/>
                </a:lnTo>
                <a:lnTo>
                  <a:pt x="7076808" y="106362"/>
                </a:lnTo>
                <a:lnTo>
                  <a:pt x="7114908" y="87312"/>
                </a:lnTo>
                <a:lnTo>
                  <a:pt x="7153008" y="68262"/>
                </a:lnTo>
                <a:lnTo>
                  <a:pt x="7189521" y="52387"/>
                </a:lnTo>
                <a:lnTo>
                  <a:pt x="7230796" y="36512"/>
                </a:lnTo>
                <a:lnTo>
                  <a:pt x="7276833" y="20637"/>
                </a:lnTo>
                <a:lnTo>
                  <a:pt x="7329221" y="9525"/>
                </a:lnTo>
                <a:lnTo>
                  <a:pt x="7389546" y="3175"/>
                </a:lnTo>
                <a:lnTo>
                  <a:pt x="7457808" y="0"/>
                </a:lnTo>
                <a:lnTo>
                  <a:pt x="7526071" y="3175"/>
                </a:lnTo>
                <a:lnTo>
                  <a:pt x="7586396" y="9525"/>
                </a:lnTo>
                <a:lnTo>
                  <a:pt x="7638783" y="20637"/>
                </a:lnTo>
                <a:lnTo>
                  <a:pt x="7684821" y="36512"/>
                </a:lnTo>
                <a:lnTo>
                  <a:pt x="7726096" y="52387"/>
                </a:lnTo>
                <a:lnTo>
                  <a:pt x="7762608" y="68262"/>
                </a:lnTo>
                <a:lnTo>
                  <a:pt x="7800708" y="87312"/>
                </a:lnTo>
                <a:lnTo>
                  <a:pt x="7838808" y="106362"/>
                </a:lnTo>
                <a:lnTo>
                  <a:pt x="7875321" y="125412"/>
                </a:lnTo>
                <a:lnTo>
                  <a:pt x="7916596" y="141287"/>
                </a:lnTo>
                <a:lnTo>
                  <a:pt x="7962633" y="155575"/>
                </a:lnTo>
                <a:lnTo>
                  <a:pt x="8015021" y="166687"/>
                </a:lnTo>
                <a:lnTo>
                  <a:pt x="8075346" y="174625"/>
                </a:lnTo>
                <a:lnTo>
                  <a:pt x="8143608" y="176212"/>
                </a:lnTo>
                <a:lnTo>
                  <a:pt x="8211871" y="174625"/>
                </a:lnTo>
                <a:lnTo>
                  <a:pt x="8272196" y="166687"/>
                </a:lnTo>
                <a:lnTo>
                  <a:pt x="8324583" y="155575"/>
                </a:lnTo>
                <a:lnTo>
                  <a:pt x="8370621" y="141287"/>
                </a:lnTo>
                <a:lnTo>
                  <a:pt x="8411896" y="125412"/>
                </a:lnTo>
                <a:lnTo>
                  <a:pt x="8448408" y="106362"/>
                </a:lnTo>
                <a:lnTo>
                  <a:pt x="8486508" y="87312"/>
                </a:lnTo>
                <a:lnTo>
                  <a:pt x="8524608" y="68262"/>
                </a:lnTo>
                <a:lnTo>
                  <a:pt x="8561120" y="52387"/>
                </a:lnTo>
                <a:lnTo>
                  <a:pt x="8602396" y="36512"/>
                </a:lnTo>
                <a:lnTo>
                  <a:pt x="8648432" y="20637"/>
                </a:lnTo>
                <a:lnTo>
                  <a:pt x="8700820" y="9525"/>
                </a:lnTo>
                <a:lnTo>
                  <a:pt x="8761146" y="3175"/>
                </a:lnTo>
                <a:lnTo>
                  <a:pt x="8827820" y="0"/>
                </a:lnTo>
                <a:lnTo>
                  <a:pt x="8897670" y="3175"/>
                </a:lnTo>
                <a:lnTo>
                  <a:pt x="8957996" y="9525"/>
                </a:lnTo>
                <a:lnTo>
                  <a:pt x="9010382" y="20637"/>
                </a:lnTo>
                <a:lnTo>
                  <a:pt x="9056420" y="36512"/>
                </a:lnTo>
                <a:lnTo>
                  <a:pt x="9097696" y="52387"/>
                </a:lnTo>
                <a:lnTo>
                  <a:pt x="9134208" y="68262"/>
                </a:lnTo>
                <a:lnTo>
                  <a:pt x="9172308" y="87312"/>
                </a:lnTo>
                <a:lnTo>
                  <a:pt x="9210408" y="106362"/>
                </a:lnTo>
                <a:lnTo>
                  <a:pt x="9246920" y="125412"/>
                </a:lnTo>
                <a:lnTo>
                  <a:pt x="9288196" y="141287"/>
                </a:lnTo>
                <a:lnTo>
                  <a:pt x="9334232" y="155575"/>
                </a:lnTo>
                <a:lnTo>
                  <a:pt x="9386620" y="166687"/>
                </a:lnTo>
                <a:lnTo>
                  <a:pt x="9446946" y="174625"/>
                </a:lnTo>
                <a:lnTo>
                  <a:pt x="9515208" y="176212"/>
                </a:lnTo>
                <a:lnTo>
                  <a:pt x="9583470" y="174625"/>
                </a:lnTo>
                <a:lnTo>
                  <a:pt x="9643796" y="166687"/>
                </a:lnTo>
                <a:lnTo>
                  <a:pt x="9696182" y="155575"/>
                </a:lnTo>
                <a:lnTo>
                  <a:pt x="9742220" y="141287"/>
                </a:lnTo>
                <a:lnTo>
                  <a:pt x="9783496" y="125412"/>
                </a:lnTo>
                <a:lnTo>
                  <a:pt x="9820008" y="106362"/>
                </a:lnTo>
                <a:lnTo>
                  <a:pt x="9896208" y="68262"/>
                </a:lnTo>
                <a:lnTo>
                  <a:pt x="9932720" y="52387"/>
                </a:lnTo>
                <a:lnTo>
                  <a:pt x="9973996" y="36512"/>
                </a:lnTo>
                <a:lnTo>
                  <a:pt x="10020032" y="20637"/>
                </a:lnTo>
                <a:lnTo>
                  <a:pt x="10072420" y="9525"/>
                </a:lnTo>
                <a:lnTo>
                  <a:pt x="10132746" y="3175"/>
                </a:lnTo>
                <a:lnTo>
                  <a:pt x="10201008" y="0"/>
                </a:lnTo>
                <a:lnTo>
                  <a:pt x="10269270" y="3175"/>
                </a:lnTo>
                <a:lnTo>
                  <a:pt x="10329596" y="9525"/>
                </a:lnTo>
                <a:lnTo>
                  <a:pt x="10381982" y="20637"/>
                </a:lnTo>
                <a:lnTo>
                  <a:pt x="10428020" y="36512"/>
                </a:lnTo>
                <a:lnTo>
                  <a:pt x="10469296" y="52387"/>
                </a:lnTo>
                <a:lnTo>
                  <a:pt x="10505808" y="68262"/>
                </a:lnTo>
                <a:lnTo>
                  <a:pt x="10543908" y="87312"/>
                </a:lnTo>
                <a:lnTo>
                  <a:pt x="10582008" y="106362"/>
                </a:lnTo>
                <a:lnTo>
                  <a:pt x="10618520" y="125412"/>
                </a:lnTo>
                <a:lnTo>
                  <a:pt x="10659796" y="141287"/>
                </a:lnTo>
                <a:lnTo>
                  <a:pt x="10705832" y="155575"/>
                </a:lnTo>
                <a:lnTo>
                  <a:pt x="10758220" y="166687"/>
                </a:lnTo>
                <a:lnTo>
                  <a:pt x="10818546" y="174625"/>
                </a:lnTo>
                <a:lnTo>
                  <a:pt x="10886808" y="176212"/>
                </a:lnTo>
                <a:lnTo>
                  <a:pt x="10955070" y="174625"/>
                </a:lnTo>
                <a:lnTo>
                  <a:pt x="11015396" y="166687"/>
                </a:lnTo>
                <a:lnTo>
                  <a:pt x="11067782" y="155575"/>
                </a:lnTo>
                <a:lnTo>
                  <a:pt x="11113820" y="141287"/>
                </a:lnTo>
                <a:lnTo>
                  <a:pt x="11155096" y="125412"/>
                </a:lnTo>
                <a:lnTo>
                  <a:pt x="11191608" y="106362"/>
                </a:lnTo>
                <a:lnTo>
                  <a:pt x="11229708" y="87312"/>
                </a:lnTo>
                <a:lnTo>
                  <a:pt x="11267808" y="68262"/>
                </a:lnTo>
                <a:lnTo>
                  <a:pt x="11304320" y="52387"/>
                </a:lnTo>
                <a:lnTo>
                  <a:pt x="11345596" y="36512"/>
                </a:lnTo>
                <a:lnTo>
                  <a:pt x="11391632" y="20637"/>
                </a:lnTo>
                <a:lnTo>
                  <a:pt x="11444020" y="9525"/>
                </a:lnTo>
                <a:lnTo>
                  <a:pt x="11504346" y="3175"/>
                </a:lnTo>
                <a:lnTo>
                  <a:pt x="11572608" y="0"/>
                </a:lnTo>
                <a:lnTo>
                  <a:pt x="11640870" y="3175"/>
                </a:lnTo>
                <a:lnTo>
                  <a:pt x="11701196" y="9525"/>
                </a:lnTo>
                <a:lnTo>
                  <a:pt x="11753582" y="20637"/>
                </a:lnTo>
                <a:lnTo>
                  <a:pt x="11799620" y="36512"/>
                </a:lnTo>
                <a:lnTo>
                  <a:pt x="11840896" y="52387"/>
                </a:lnTo>
                <a:lnTo>
                  <a:pt x="11877408" y="68262"/>
                </a:lnTo>
                <a:lnTo>
                  <a:pt x="11915508" y="87312"/>
                </a:lnTo>
                <a:lnTo>
                  <a:pt x="11953608" y="106362"/>
                </a:lnTo>
                <a:lnTo>
                  <a:pt x="11990120" y="125412"/>
                </a:lnTo>
                <a:lnTo>
                  <a:pt x="12031396" y="141287"/>
                </a:lnTo>
                <a:lnTo>
                  <a:pt x="12077432" y="155575"/>
                </a:lnTo>
                <a:lnTo>
                  <a:pt x="12129820" y="166688"/>
                </a:lnTo>
                <a:lnTo>
                  <a:pt x="12190146" y="174625"/>
                </a:lnTo>
                <a:lnTo>
                  <a:pt x="12191998" y="174668"/>
                </a:lnTo>
                <a:lnTo>
                  <a:pt x="12191998" y="851265"/>
                </a:lnTo>
                <a:lnTo>
                  <a:pt x="0" y="851265"/>
                </a:lnTo>
                <a:lnTo>
                  <a:pt x="0" y="174668"/>
                </a:lnTo>
                <a:lnTo>
                  <a:pt x="1852" y="174625"/>
                </a:lnTo>
                <a:lnTo>
                  <a:pt x="62177" y="166687"/>
                </a:lnTo>
                <a:lnTo>
                  <a:pt x="114564" y="155575"/>
                </a:lnTo>
                <a:lnTo>
                  <a:pt x="160602" y="141287"/>
                </a:lnTo>
                <a:lnTo>
                  <a:pt x="201877" y="125412"/>
                </a:lnTo>
                <a:lnTo>
                  <a:pt x="238389" y="106362"/>
                </a:lnTo>
                <a:lnTo>
                  <a:pt x="276489" y="87312"/>
                </a:lnTo>
                <a:lnTo>
                  <a:pt x="314589" y="68262"/>
                </a:lnTo>
                <a:lnTo>
                  <a:pt x="351102" y="52387"/>
                </a:lnTo>
                <a:lnTo>
                  <a:pt x="392377" y="36512"/>
                </a:lnTo>
                <a:lnTo>
                  <a:pt x="438414" y="20637"/>
                </a:lnTo>
                <a:lnTo>
                  <a:pt x="490802" y="9525"/>
                </a:lnTo>
                <a:lnTo>
                  <a:pt x="551127" y="3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8381076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ABDDC2-3C04-FD9E-BB42-61B41FB5A195}"/>
              </a:ext>
            </a:extLst>
          </p:cNvPr>
          <p:cNvSpPr>
            <a:spLocks noGrp="1"/>
          </p:cNvSpPr>
          <p:nvPr>
            <p:ph type="title"/>
          </p:nvPr>
        </p:nvSpPr>
        <p:spPr>
          <a:xfrm>
            <a:off x="1251678" y="382386"/>
            <a:ext cx="10178322" cy="724962"/>
          </a:xfrm>
        </p:spPr>
        <p:txBody>
          <a:bodyPr>
            <a:noAutofit/>
          </a:bodyPr>
          <a:lstStyle/>
          <a:p>
            <a:r>
              <a:rPr lang="en-IN" sz="4000" dirty="0"/>
              <a:t>Organization of International Business</a:t>
            </a:r>
          </a:p>
        </p:txBody>
      </p:sp>
      <p:sp>
        <p:nvSpPr>
          <p:cNvPr id="3" name="Content Placeholder 2">
            <a:extLst>
              <a:ext uri="{FF2B5EF4-FFF2-40B4-BE49-F238E27FC236}">
                <a16:creationId xmlns:a16="http://schemas.microsoft.com/office/drawing/2014/main" id="{BBECF8C1-CFFF-14A5-289D-BA574AC49BCE}"/>
              </a:ext>
            </a:extLst>
          </p:cNvPr>
          <p:cNvSpPr>
            <a:spLocks noGrp="1"/>
          </p:cNvSpPr>
          <p:nvPr>
            <p:ph idx="1"/>
          </p:nvPr>
        </p:nvSpPr>
        <p:spPr>
          <a:xfrm>
            <a:off x="1251678" y="1214167"/>
            <a:ext cx="10178322" cy="5261447"/>
          </a:xfrm>
        </p:spPr>
        <p:txBody>
          <a:bodyPr>
            <a:normAutofit lnSpcReduction="10000"/>
          </a:bodyPr>
          <a:lstStyle/>
          <a:p>
            <a:r>
              <a:rPr lang="en-US" dirty="0">
                <a:latin typeface="Times New Roman" panose="02020603050405020304" pitchFamily="18" charset="0"/>
                <a:cs typeface="Times New Roman" panose="02020603050405020304" pitchFamily="18" charset="0"/>
              </a:rPr>
              <a:t>The </a:t>
            </a:r>
            <a:r>
              <a:rPr lang="en-US" b="1" dirty="0">
                <a:latin typeface="Times New Roman" panose="02020603050405020304" pitchFamily="18" charset="0"/>
                <a:cs typeface="Times New Roman" panose="02020603050405020304" pitchFamily="18" charset="0"/>
              </a:rPr>
              <a:t>organization of international business</a:t>
            </a:r>
            <a:r>
              <a:rPr lang="en-US" dirty="0">
                <a:latin typeface="Times New Roman" panose="02020603050405020304" pitchFamily="18" charset="0"/>
                <a:cs typeface="Times New Roman" panose="02020603050405020304" pitchFamily="18" charset="0"/>
              </a:rPr>
              <a:t> refers to the way multinational companies structure and manage their operations across different countries. When companies expand into international markets, they need an effective organizational structure to coordinate activities such as production, marketing, finance, and human resources across various regions. A well-designed structure helps organizations manage their global operations efficiently and ensures smooth communication between headquarters and foreign subsidiaries.</a:t>
            </a:r>
          </a:p>
          <a:p>
            <a:r>
              <a:rPr lang="en-US" dirty="0">
                <a:latin typeface="Times New Roman" panose="02020603050405020304" pitchFamily="18" charset="0"/>
                <a:cs typeface="Times New Roman" panose="02020603050405020304" pitchFamily="18" charset="0"/>
              </a:rPr>
              <a:t>An appropriate organizational structure allows multinational companies to make better decisions, allocate resources effectively, and respond quickly to changes in global markets. It also helps companies manage cultural differences, government regulations, and market conditions in different countries. By organizing international operations properly, businesses can improve coordination, increase efficiency, and maintain consistency in their products and services worldwide.</a:t>
            </a:r>
          </a:p>
          <a:p>
            <a:r>
              <a:rPr lang="en-US" b="1" dirty="0">
                <a:latin typeface="Times New Roman" panose="02020603050405020304" pitchFamily="18" charset="0"/>
                <a:cs typeface="Times New Roman" panose="02020603050405020304" pitchFamily="18" charset="0"/>
              </a:rPr>
              <a:t>Example: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A multinational automobile company may organize its global operations into regional divisions such as </a:t>
            </a:r>
            <a:r>
              <a:rPr lang="en-US" b="1" dirty="0">
                <a:latin typeface="Times New Roman" panose="02020603050405020304" pitchFamily="18" charset="0"/>
                <a:cs typeface="Times New Roman" panose="02020603050405020304" pitchFamily="18" charset="0"/>
              </a:rPr>
              <a:t>Asia-Pacific, Europe, and North America</a:t>
            </a:r>
            <a:r>
              <a:rPr lang="en-US" dirty="0">
                <a:latin typeface="Times New Roman" panose="02020603050405020304" pitchFamily="18" charset="0"/>
                <a:cs typeface="Times New Roman" panose="02020603050405020304" pitchFamily="18" charset="0"/>
              </a:rPr>
              <a:t> to manage production, marketing, and sales activities more effectively in each region.</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4283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FC012A5-170D-4B0F-A916-A8EE2C6CE9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7F40654-5E8C-468A-9596-50927AF198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34598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9AE271F-3625-0AC4-FFA5-14D596CB9846}"/>
              </a:ext>
            </a:extLst>
          </p:cNvPr>
          <p:cNvSpPr>
            <a:spLocks noGrp="1"/>
          </p:cNvSpPr>
          <p:nvPr>
            <p:ph type="title"/>
          </p:nvPr>
        </p:nvSpPr>
        <p:spPr>
          <a:xfrm>
            <a:off x="699711" y="1354945"/>
            <a:ext cx="2665018" cy="4148110"/>
          </a:xfrm>
        </p:spPr>
        <p:txBody>
          <a:bodyPr anchor="ctr">
            <a:normAutofit/>
          </a:bodyPr>
          <a:lstStyle/>
          <a:p>
            <a:r>
              <a:rPr lang="en-IN" sz="2400" dirty="0">
                <a:solidFill>
                  <a:srgbClr val="2A1A00"/>
                </a:solidFill>
              </a:rPr>
              <a:t>Importance of Organizational Structure</a:t>
            </a:r>
          </a:p>
        </p:txBody>
      </p:sp>
      <p:sp>
        <p:nvSpPr>
          <p:cNvPr id="13" name="Rectangle 12">
            <a:extLst>
              <a:ext uri="{FF2B5EF4-FFF2-40B4-BE49-F238E27FC236}">
                <a16:creationId xmlns:a16="http://schemas.microsoft.com/office/drawing/2014/main" id="{50B1BD4A-8DE6-4266-9C27-59260F938E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43467" cy="6858000"/>
          </a:xfrm>
          <a:prstGeom prst="rect">
            <a:avLst/>
          </a:prstGeom>
          <a:solidFill>
            <a:schemeClr val="accent1">
              <a:lumMod val="75000"/>
            </a:schemeClr>
          </a:solidFill>
          <a:ln>
            <a:noFill/>
          </a:ln>
        </p:spPr>
        <p:style>
          <a:lnRef idx="2">
            <a:schemeClr val="accent1">
              <a:shade val="50000"/>
            </a:schemeClr>
          </a:lnRef>
          <a:fillRef idx="1003">
            <a:schemeClr val="l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4" name="Rectangle 1">
            <a:extLst>
              <a:ext uri="{FF2B5EF4-FFF2-40B4-BE49-F238E27FC236}">
                <a16:creationId xmlns:a16="http://schemas.microsoft.com/office/drawing/2014/main" id="{B52869F1-8808-3E0E-5830-D8D868206266}"/>
              </a:ext>
            </a:extLst>
          </p:cNvPr>
          <p:cNvSpPr>
            <a:spLocks noGrp="1" noChangeArrowheads="1"/>
          </p:cNvSpPr>
          <p:nvPr>
            <p:ph idx="1"/>
          </p:nvPr>
        </p:nvSpPr>
        <p:spPr bwMode="auto">
          <a:xfrm>
            <a:off x="3667715" y="468086"/>
            <a:ext cx="8165055" cy="5932714"/>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 anchorCtr="0" compatLnSpc="1">
            <a:prstTxWarp prst="textNoShape">
              <a:avLst/>
            </a:prstTxWarp>
            <a:noAutofit/>
          </a:bodyPr>
          <a:lstStyle/>
          <a:p>
            <a:pPr marL="0" marR="0" lvl="0" indent="0" defTabSz="914400" rtl="0" eaLnBrk="0" fontAlgn="base" latinLnBrk="0" hangingPunct="0">
              <a:lnSpc>
                <a:spcPct val="100000"/>
              </a:lnSpc>
              <a:spcBef>
                <a:spcPct val="0"/>
              </a:spcBef>
              <a:spcAft>
                <a:spcPts val="600"/>
              </a:spcAft>
              <a:buClrTx/>
              <a:buSzTx/>
              <a:buFontTx/>
              <a:buChar char="•"/>
              <a:tabLst/>
            </a:pPr>
            <a:r>
              <a:rPr kumimoji="0" lang="en-US" altLang="en-US" sz="1400" b="1" i="0" u="none" strike="noStrike" cap="none" normalizeH="0" baseline="0" dirty="0">
                <a:ln>
                  <a:noFill/>
                </a:ln>
                <a:effectLst/>
                <a:latin typeface="Arial" panose="020B0604020202020204" pitchFamily="34" charset="0"/>
              </a:rPr>
              <a:t>Improves Coordination and Communication</a:t>
            </a:r>
            <a:br>
              <a:rPr kumimoji="0" lang="en-US" altLang="en-US" sz="1400" b="0" i="0" u="none" strike="noStrike" cap="none" normalizeH="0" baseline="0" dirty="0">
                <a:ln>
                  <a:noFill/>
                </a:ln>
                <a:effectLst/>
                <a:latin typeface="Arial" panose="020B0604020202020204" pitchFamily="34" charset="0"/>
              </a:rPr>
            </a:br>
            <a:r>
              <a:rPr kumimoji="0" lang="en-US" altLang="en-US" sz="1400" b="0" i="0" u="none" strike="noStrike" cap="none" normalizeH="0" baseline="0" dirty="0">
                <a:ln>
                  <a:noFill/>
                </a:ln>
                <a:effectLst/>
                <a:latin typeface="Arial" panose="020B0604020202020204" pitchFamily="34" charset="0"/>
              </a:rPr>
              <a:t>A clear organizational structure helps coordinate activities between different departments and ensures smooth communication among employees and management across various locations.</a:t>
            </a:r>
            <a:br>
              <a:rPr kumimoji="0" lang="en-US" altLang="en-US" sz="1400" b="0" i="0" u="none" strike="noStrike" cap="none" normalizeH="0" baseline="0" dirty="0">
                <a:ln>
                  <a:noFill/>
                </a:ln>
                <a:effectLst/>
                <a:latin typeface="Arial" panose="020B0604020202020204" pitchFamily="34" charset="0"/>
              </a:rPr>
            </a:br>
            <a:r>
              <a:rPr kumimoji="0" lang="en-US" altLang="en-US" sz="1400" b="1" i="0" u="none" strike="noStrike" cap="none" normalizeH="0" baseline="0" dirty="0">
                <a:ln>
                  <a:noFill/>
                </a:ln>
                <a:effectLst/>
                <a:latin typeface="Arial" panose="020B0604020202020204" pitchFamily="34" charset="0"/>
              </a:rPr>
              <a:t>Example:</a:t>
            </a:r>
            <a:r>
              <a:rPr kumimoji="0" lang="en-US" altLang="en-US" sz="1400" b="0" i="0" u="none" strike="noStrike" cap="none" normalizeH="0" baseline="0" dirty="0">
                <a:ln>
                  <a:noFill/>
                </a:ln>
                <a:effectLst/>
                <a:latin typeface="Arial" panose="020B0604020202020204" pitchFamily="34" charset="0"/>
              </a:rPr>
              <a:t> </a:t>
            </a:r>
            <a:r>
              <a:rPr kumimoji="0" lang="en-US" altLang="en-US" sz="1400" b="0" i="0" u="none" strike="noStrike" cap="none" normalizeH="0" baseline="0" dirty="0">
                <a:ln>
                  <a:noFill/>
                </a:ln>
                <a:solidFill>
                  <a:schemeClr val="tx1"/>
                </a:solidFill>
                <a:effectLst/>
                <a:latin typeface="Arial" panose="020B0604020202020204" pitchFamily="34" charset="0"/>
              </a:rPr>
              <a:t>In multinational companies, headquarters communicate with regional offices to manage global operations effectively.</a:t>
            </a:r>
          </a:p>
          <a:p>
            <a:pPr marL="0" marR="0" lvl="0" indent="0" defTabSz="914400" rtl="0" eaLnBrk="0" fontAlgn="base" latinLnBrk="0" hangingPunct="0">
              <a:lnSpc>
                <a:spcPct val="100000"/>
              </a:lnSpc>
              <a:spcBef>
                <a:spcPct val="0"/>
              </a:spcBef>
              <a:spcAft>
                <a:spcPts val="600"/>
              </a:spcAft>
              <a:buClrTx/>
              <a:buSzTx/>
              <a:buFontTx/>
              <a:buChar char="•"/>
              <a:tabLst/>
            </a:pPr>
            <a:r>
              <a:rPr kumimoji="0" lang="en-US" altLang="en-US" sz="1400" b="1" i="0" u="none" strike="noStrike" cap="none" normalizeH="0" baseline="0" dirty="0">
                <a:ln>
                  <a:noFill/>
                </a:ln>
                <a:effectLst/>
                <a:latin typeface="Arial" panose="020B0604020202020204" pitchFamily="34" charset="0"/>
              </a:rPr>
              <a:t>Clarifies Roles and Responsibilities</a:t>
            </a:r>
            <a:br>
              <a:rPr kumimoji="0" lang="en-US" altLang="en-US" sz="1400" b="0" i="0" u="none" strike="noStrike" cap="none" normalizeH="0" baseline="0" dirty="0">
                <a:ln>
                  <a:noFill/>
                </a:ln>
                <a:effectLst/>
                <a:latin typeface="Arial" panose="020B0604020202020204" pitchFamily="34" charset="0"/>
              </a:rPr>
            </a:br>
            <a:r>
              <a:rPr kumimoji="0" lang="en-US" altLang="en-US" sz="1400" b="0" i="0" u="none" strike="noStrike" cap="none" normalizeH="0" baseline="0" dirty="0">
                <a:ln>
                  <a:noFill/>
                </a:ln>
                <a:effectLst/>
                <a:latin typeface="Arial" panose="020B0604020202020204" pitchFamily="34" charset="0"/>
              </a:rPr>
              <a:t>Organizational structure defines the duties, authority, and responsibilities of employees, which helps avoid confusion and improves work efficiency.</a:t>
            </a:r>
            <a:br>
              <a:rPr kumimoji="0" lang="en-US" altLang="en-US" sz="1400" b="0" i="0" u="none" strike="noStrike" cap="none" normalizeH="0" baseline="0" dirty="0">
                <a:ln>
                  <a:noFill/>
                </a:ln>
                <a:effectLst/>
                <a:latin typeface="Arial" panose="020B0604020202020204" pitchFamily="34" charset="0"/>
              </a:rPr>
            </a:br>
            <a:r>
              <a:rPr kumimoji="0" lang="en-US" altLang="en-US" sz="1400" b="1" i="0" u="none" strike="noStrike" cap="none" normalizeH="0" baseline="0" dirty="0">
                <a:ln>
                  <a:noFill/>
                </a:ln>
                <a:effectLst/>
                <a:latin typeface="Arial" panose="020B0604020202020204" pitchFamily="34" charset="0"/>
              </a:rPr>
              <a:t>Example:</a:t>
            </a:r>
            <a:r>
              <a:rPr kumimoji="0" lang="en-US" altLang="en-US" sz="1400" b="0" i="0" u="none" strike="noStrike" cap="none" normalizeH="0" baseline="0" dirty="0">
                <a:ln>
                  <a:noFill/>
                </a:ln>
                <a:effectLst/>
                <a:latin typeface="Arial" panose="020B0604020202020204" pitchFamily="34" charset="0"/>
              </a:rPr>
              <a:t> In a multinational company, managers, supervisors, and employees have clearly defined roles in different departments.</a:t>
            </a:r>
          </a:p>
          <a:p>
            <a:pPr marL="0" marR="0" lvl="0" indent="0" defTabSz="914400" rtl="0" eaLnBrk="0" fontAlgn="base" latinLnBrk="0" hangingPunct="0">
              <a:lnSpc>
                <a:spcPct val="100000"/>
              </a:lnSpc>
              <a:spcBef>
                <a:spcPct val="0"/>
              </a:spcBef>
              <a:spcAft>
                <a:spcPts val="600"/>
              </a:spcAft>
              <a:buClrTx/>
              <a:buSzTx/>
              <a:buFontTx/>
              <a:buChar char="•"/>
              <a:tabLst/>
            </a:pPr>
            <a:r>
              <a:rPr kumimoji="0" lang="en-US" altLang="en-US" sz="1400" b="1" i="0" u="none" strike="noStrike" cap="none" normalizeH="0" baseline="0" dirty="0">
                <a:ln>
                  <a:noFill/>
                </a:ln>
                <a:effectLst/>
                <a:latin typeface="Arial" panose="020B0604020202020204" pitchFamily="34" charset="0"/>
              </a:rPr>
              <a:t>Supports Effective Decision-Making</a:t>
            </a:r>
            <a:br>
              <a:rPr kumimoji="0" lang="en-US" altLang="en-US" sz="1400" b="0" i="0" u="none" strike="noStrike" cap="none" normalizeH="0" baseline="0" dirty="0">
                <a:ln>
                  <a:noFill/>
                </a:ln>
                <a:effectLst/>
                <a:latin typeface="Arial" panose="020B0604020202020204" pitchFamily="34" charset="0"/>
              </a:rPr>
            </a:br>
            <a:r>
              <a:rPr kumimoji="0" lang="en-US" altLang="en-US" sz="1400" b="0" i="0" u="none" strike="noStrike" cap="none" normalizeH="0" baseline="0" dirty="0">
                <a:ln>
                  <a:noFill/>
                </a:ln>
                <a:effectLst/>
                <a:latin typeface="Arial" panose="020B0604020202020204" pitchFamily="34" charset="0"/>
              </a:rPr>
              <a:t>A well-designed structure allows managers to make quick and effective decisions because responsibilities and reporting relationships are clearly defined.</a:t>
            </a:r>
            <a:br>
              <a:rPr kumimoji="0" lang="en-US" altLang="en-US" sz="1400" b="0" i="0" u="none" strike="noStrike" cap="none" normalizeH="0" baseline="0" dirty="0">
                <a:ln>
                  <a:noFill/>
                </a:ln>
                <a:effectLst/>
                <a:latin typeface="Arial" panose="020B0604020202020204" pitchFamily="34" charset="0"/>
              </a:rPr>
            </a:br>
            <a:r>
              <a:rPr kumimoji="0" lang="en-US" altLang="en-US" sz="1400" b="1" i="0" u="none" strike="noStrike" cap="none" normalizeH="0" baseline="0" dirty="0">
                <a:ln>
                  <a:noFill/>
                </a:ln>
                <a:effectLst/>
                <a:latin typeface="Arial" panose="020B0604020202020204" pitchFamily="34" charset="0"/>
              </a:rPr>
              <a:t>Example:</a:t>
            </a:r>
            <a:r>
              <a:rPr kumimoji="0" lang="en-US" altLang="en-US" sz="1400" b="0" i="0" u="none" strike="noStrike" cap="none" normalizeH="0" baseline="0" dirty="0">
                <a:ln>
                  <a:noFill/>
                </a:ln>
                <a:effectLst/>
                <a:latin typeface="Arial" panose="020B0604020202020204" pitchFamily="34" charset="0"/>
              </a:rPr>
              <a:t> Regional managers may make decisions about marketing strategies in their specific markets.</a:t>
            </a:r>
          </a:p>
          <a:p>
            <a:pPr marL="0" marR="0" lvl="0" indent="0" defTabSz="914400" rtl="0" eaLnBrk="0" fontAlgn="base" latinLnBrk="0" hangingPunct="0">
              <a:lnSpc>
                <a:spcPct val="100000"/>
              </a:lnSpc>
              <a:spcBef>
                <a:spcPct val="0"/>
              </a:spcBef>
              <a:spcAft>
                <a:spcPts val="600"/>
              </a:spcAft>
              <a:buClrTx/>
              <a:buSzTx/>
              <a:buFontTx/>
              <a:buChar char="•"/>
              <a:tabLst/>
            </a:pPr>
            <a:r>
              <a:rPr kumimoji="0" lang="en-US" altLang="en-US" sz="1400" b="1" i="0" u="none" strike="noStrike" cap="none" normalizeH="0" baseline="0" dirty="0">
                <a:ln>
                  <a:noFill/>
                </a:ln>
                <a:effectLst/>
                <a:latin typeface="Arial" panose="020B0604020202020204" pitchFamily="34" charset="0"/>
              </a:rPr>
              <a:t>Helps Manage Global Operations Efficiently</a:t>
            </a:r>
            <a:br>
              <a:rPr kumimoji="0" lang="en-US" altLang="en-US" sz="1400" b="0" i="0" u="none" strike="noStrike" cap="none" normalizeH="0" baseline="0" dirty="0">
                <a:ln>
                  <a:noFill/>
                </a:ln>
                <a:effectLst/>
                <a:latin typeface="Arial" panose="020B0604020202020204" pitchFamily="34" charset="0"/>
              </a:rPr>
            </a:br>
            <a:r>
              <a:rPr kumimoji="0" lang="en-US" altLang="en-US" sz="1400" b="0" i="0" u="none" strike="noStrike" cap="none" normalizeH="0" baseline="0" dirty="0">
                <a:ln>
                  <a:noFill/>
                </a:ln>
                <a:effectLst/>
                <a:latin typeface="Arial" panose="020B0604020202020204" pitchFamily="34" charset="0"/>
              </a:rPr>
              <a:t>International businesses operate in multiple countries, and a structured organization helps manage activities such as production, distribution, and marketing across different regions.</a:t>
            </a:r>
            <a:br>
              <a:rPr kumimoji="0" lang="en-US" altLang="en-US" sz="1400" b="0" i="0" u="none" strike="noStrike" cap="none" normalizeH="0" baseline="0" dirty="0">
                <a:ln>
                  <a:noFill/>
                </a:ln>
                <a:effectLst/>
                <a:latin typeface="Arial" panose="020B0604020202020204" pitchFamily="34" charset="0"/>
              </a:rPr>
            </a:br>
            <a:r>
              <a:rPr kumimoji="0" lang="en-US" altLang="en-US" sz="1400" b="1" i="0" u="none" strike="noStrike" cap="none" normalizeH="0" baseline="0" dirty="0">
                <a:ln>
                  <a:noFill/>
                </a:ln>
                <a:effectLst/>
                <a:latin typeface="Arial" panose="020B0604020202020204" pitchFamily="34" charset="0"/>
              </a:rPr>
              <a:t>Example:</a:t>
            </a:r>
            <a:r>
              <a:rPr kumimoji="0" lang="en-US" altLang="en-US" sz="1400" b="0" i="0" u="none" strike="noStrike" cap="none" normalizeH="0" baseline="0" dirty="0">
                <a:ln>
                  <a:noFill/>
                </a:ln>
                <a:effectLst/>
                <a:latin typeface="Arial" panose="020B0604020202020204" pitchFamily="34" charset="0"/>
              </a:rPr>
              <a:t> A company may establish regional divisions for Asia, Europe, and North America.</a:t>
            </a:r>
          </a:p>
          <a:p>
            <a:pPr marL="0" marR="0" lvl="0" indent="0" defTabSz="914400" rtl="0" eaLnBrk="0" fontAlgn="base" latinLnBrk="0" hangingPunct="0">
              <a:lnSpc>
                <a:spcPct val="100000"/>
              </a:lnSpc>
              <a:spcBef>
                <a:spcPct val="0"/>
              </a:spcBef>
              <a:spcAft>
                <a:spcPts val="600"/>
              </a:spcAft>
              <a:buClrTx/>
              <a:buSzTx/>
              <a:buFontTx/>
              <a:buChar char="•"/>
              <a:tabLst/>
            </a:pPr>
            <a:r>
              <a:rPr kumimoji="0" lang="en-US" altLang="en-US" sz="1400" b="1" i="0" u="none" strike="noStrike" cap="none" normalizeH="0" baseline="0" dirty="0">
                <a:ln>
                  <a:noFill/>
                </a:ln>
                <a:effectLst/>
                <a:latin typeface="Arial" panose="020B0604020202020204" pitchFamily="34" charset="0"/>
              </a:rPr>
              <a:t>Improves Organizational Efficiency and Productivity</a:t>
            </a:r>
            <a:br>
              <a:rPr kumimoji="0" lang="en-US" altLang="en-US" sz="1400" b="0" i="0" u="none" strike="noStrike" cap="none" normalizeH="0" baseline="0" dirty="0">
                <a:ln>
                  <a:noFill/>
                </a:ln>
                <a:effectLst/>
                <a:latin typeface="Arial" panose="020B0604020202020204" pitchFamily="34" charset="0"/>
              </a:rPr>
            </a:br>
            <a:r>
              <a:rPr kumimoji="0" lang="en-US" altLang="en-US" sz="1400" b="0" i="0" u="none" strike="noStrike" cap="none" normalizeH="0" baseline="0" dirty="0">
                <a:ln>
                  <a:noFill/>
                </a:ln>
                <a:effectLst/>
                <a:latin typeface="Arial" panose="020B0604020202020204" pitchFamily="34" charset="0"/>
              </a:rPr>
              <a:t>When tasks and responsibilities are properly organized, employees can perform their work more efficiently, which improves overall productivity.</a:t>
            </a:r>
            <a:br>
              <a:rPr kumimoji="0" lang="en-US" altLang="en-US" sz="1400" b="0" i="0" u="none" strike="noStrike" cap="none" normalizeH="0" baseline="0" dirty="0">
                <a:ln>
                  <a:noFill/>
                </a:ln>
                <a:effectLst/>
                <a:latin typeface="Arial" panose="020B0604020202020204" pitchFamily="34" charset="0"/>
              </a:rPr>
            </a:br>
            <a:r>
              <a:rPr kumimoji="0" lang="en-US" altLang="en-US" sz="1400" b="1" i="0" u="none" strike="noStrike" cap="none" normalizeH="0" baseline="0" dirty="0">
                <a:ln>
                  <a:noFill/>
                </a:ln>
                <a:effectLst/>
                <a:latin typeface="Arial" panose="020B0604020202020204" pitchFamily="34" charset="0"/>
              </a:rPr>
              <a:t>Example:</a:t>
            </a:r>
            <a:r>
              <a:rPr kumimoji="0" lang="en-US" altLang="en-US" sz="1400" b="0" i="0" u="none" strike="noStrike" cap="none" normalizeH="0" baseline="0" dirty="0">
                <a:ln>
                  <a:noFill/>
                </a:ln>
                <a:effectLst/>
                <a:latin typeface="Arial" panose="020B0604020202020204" pitchFamily="34" charset="0"/>
              </a:rPr>
              <a:t> Global companies organize teams according to product lines or regions to improve performance.</a:t>
            </a:r>
          </a:p>
        </p:txBody>
      </p:sp>
    </p:spTree>
    <p:extLst>
      <p:ext uri="{BB962C8B-B14F-4D97-AF65-F5344CB8AC3E}">
        <p14:creationId xmlns:p14="http://schemas.microsoft.com/office/powerpoint/2010/main" val="4142812085"/>
      </p:ext>
    </p:extLst>
  </p:cSld>
  <p:clrMapOvr>
    <a:overrideClrMapping bg1="dk1" tx1="lt1" bg2="dk2" tx2="lt2" accent1="accent1" accent2="accent2" accent3="accent3" accent4="accent4" accent5="accent5" accent6="accent6" hlink="hlink" folHlink="folHlink"/>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74BD3A9-25D1-4691-BE05-149182EC4C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2" name="Freeform 10">
            <a:extLst>
              <a:ext uri="{FF2B5EF4-FFF2-40B4-BE49-F238E27FC236}">
                <a16:creationId xmlns:a16="http://schemas.microsoft.com/office/drawing/2014/main" id="{8D49CF1A-01DD-4115-A6BB-CFA8F70453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0" y="0"/>
            <a:ext cx="7569200" cy="6858000"/>
          </a:xfrm>
          <a:custGeom>
            <a:avLst/>
            <a:gdLst>
              <a:gd name="connsiteX0" fmla="*/ 0 w 7569200"/>
              <a:gd name="connsiteY0" fmla="*/ 0 h 6858000"/>
              <a:gd name="connsiteX1" fmla="*/ 7389812 w 7569200"/>
              <a:gd name="connsiteY1" fmla="*/ 0 h 6858000"/>
              <a:gd name="connsiteX2" fmla="*/ 7394575 w 7569200"/>
              <a:gd name="connsiteY2" fmla="*/ 66675 h 6858000"/>
              <a:gd name="connsiteX3" fmla="*/ 7402512 w 7569200"/>
              <a:gd name="connsiteY3" fmla="*/ 122237 h 6858000"/>
              <a:gd name="connsiteX4" fmla="*/ 7412037 w 7569200"/>
              <a:gd name="connsiteY4" fmla="*/ 174625 h 6858000"/>
              <a:gd name="connsiteX5" fmla="*/ 7427912 w 7569200"/>
              <a:gd name="connsiteY5" fmla="*/ 217487 h 6858000"/>
              <a:gd name="connsiteX6" fmla="*/ 7443787 w 7569200"/>
              <a:gd name="connsiteY6" fmla="*/ 260350 h 6858000"/>
              <a:gd name="connsiteX7" fmla="*/ 7462837 w 7569200"/>
              <a:gd name="connsiteY7" fmla="*/ 296862 h 6858000"/>
              <a:gd name="connsiteX8" fmla="*/ 7481887 w 7569200"/>
              <a:gd name="connsiteY8" fmla="*/ 334962 h 6858000"/>
              <a:gd name="connsiteX9" fmla="*/ 7499350 w 7569200"/>
              <a:gd name="connsiteY9" fmla="*/ 369887 h 6858000"/>
              <a:gd name="connsiteX10" fmla="*/ 7516812 w 7569200"/>
              <a:gd name="connsiteY10" fmla="*/ 409575 h 6858000"/>
              <a:gd name="connsiteX11" fmla="*/ 7532687 w 7569200"/>
              <a:gd name="connsiteY11" fmla="*/ 450850 h 6858000"/>
              <a:gd name="connsiteX12" fmla="*/ 7546975 w 7569200"/>
              <a:gd name="connsiteY12" fmla="*/ 496887 h 6858000"/>
              <a:gd name="connsiteX13" fmla="*/ 7558087 w 7569200"/>
              <a:gd name="connsiteY13" fmla="*/ 546100 h 6858000"/>
              <a:gd name="connsiteX14" fmla="*/ 7566025 w 7569200"/>
              <a:gd name="connsiteY14" fmla="*/ 606425 h 6858000"/>
              <a:gd name="connsiteX15" fmla="*/ 7569200 w 7569200"/>
              <a:gd name="connsiteY15" fmla="*/ 673100 h 6858000"/>
              <a:gd name="connsiteX16" fmla="*/ 7566025 w 7569200"/>
              <a:gd name="connsiteY16" fmla="*/ 744537 h 6858000"/>
              <a:gd name="connsiteX17" fmla="*/ 7558087 w 7569200"/>
              <a:gd name="connsiteY17" fmla="*/ 801687 h 6858000"/>
              <a:gd name="connsiteX18" fmla="*/ 7546975 w 7569200"/>
              <a:gd name="connsiteY18" fmla="*/ 854075 h 6858000"/>
              <a:gd name="connsiteX19" fmla="*/ 7532687 w 7569200"/>
              <a:gd name="connsiteY19" fmla="*/ 901700 h 6858000"/>
              <a:gd name="connsiteX20" fmla="*/ 7516812 w 7569200"/>
              <a:gd name="connsiteY20" fmla="*/ 942975 h 6858000"/>
              <a:gd name="connsiteX21" fmla="*/ 7497762 w 7569200"/>
              <a:gd name="connsiteY21" fmla="*/ 981075 h 6858000"/>
              <a:gd name="connsiteX22" fmla="*/ 7478712 w 7569200"/>
              <a:gd name="connsiteY22" fmla="*/ 1017587 h 6858000"/>
              <a:gd name="connsiteX23" fmla="*/ 7459662 w 7569200"/>
              <a:gd name="connsiteY23" fmla="*/ 1055687 h 6858000"/>
              <a:gd name="connsiteX24" fmla="*/ 7442200 w 7569200"/>
              <a:gd name="connsiteY24" fmla="*/ 1095375 h 6858000"/>
              <a:gd name="connsiteX25" fmla="*/ 7424737 w 7569200"/>
              <a:gd name="connsiteY25" fmla="*/ 1136650 h 6858000"/>
              <a:gd name="connsiteX26" fmla="*/ 7410450 w 7569200"/>
              <a:gd name="connsiteY26" fmla="*/ 1182687 h 6858000"/>
              <a:gd name="connsiteX27" fmla="*/ 7400925 w 7569200"/>
              <a:gd name="connsiteY27" fmla="*/ 1235075 h 6858000"/>
              <a:gd name="connsiteX28" fmla="*/ 7391400 w 7569200"/>
              <a:gd name="connsiteY28" fmla="*/ 1295400 h 6858000"/>
              <a:gd name="connsiteX29" fmla="*/ 7389812 w 7569200"/>
              <a:gd name="connsiteY29" fmla="*/ 1363662 h 6858000"/>
              <a:gd name="connsiteX30" fmla="*/ 7391400 w 7569200"/>
              <a:gd name="connsiteY30" fmla="*/ 1431925 h 6858000"/>
              <a:gd name="connsiteX31" fmla="*/ 7400925 w 7569200"/>
              <a:gd name="connsiteY31" fmla="*/ 1492250 h 6858000"/>
              <a:gd name="connsiteX32" fmla="*/ 7410450 w 7569200"/>
              <a:gd name="connsiteY32" fmla="*/ 1544637 h 6858000"/>
              <a:gd name="connsiteX33" fmla="*/ 7424737 w 7569200"/>
              <a:gd name="connsiteY33" fmla="*/ 1589087 h 6858000"/>
              <a:gd name="connsiteX34" fmla="*/ 7442200 w 7569200"/>
              <a:gd name="connsiteY34" fmla="*/ 1631950 h 6858000"/>
              <a:gd name="connsiteX35" fmla="*/ 7459662 w 7569200"/>
              <a:gd name="connsiteY35" fmla="*/ 1671637 h 6858000"/>
              <a:gd name="connsiteX36" fmla="*/ 7478712 w 7569200"/>
              <a:gd name="connsiteY36" fmla="*/ 1708150 h 6858000"/>
              <a:gd name="connsiteX37" fmla="*/ 7497762 w 7569200"/>
              <a:gd name="connsiteY37" fmla="*/ 1743075 h 6858000"/>
              <a:gd name="connsiteX38" fmla="*/ 7516812 w 7569200"/>
              <a:gd name="connsiteY38" fmla="*/ 1782762 h 6858000"/>
              <a:gd name="connsiteX39" fmla="*/ 7532687 w 7569200"/>
              <a:gd name="connsiteY39" fmla="*/ 1824037 h 6858000"/>
              <a:gd name="connsiteX40" fmla="*/ 7546975 w 7569200"/>
              <a:gd name="connsiteY40" fmla="*/ 1870075 h 6858000"/>
              <a:gd name="connsiteX41" fmla="*/ 7558087 w 7569200"/>
              <a:gd name="connsiteY41" fmla="*/ 1922462 h 6858000"/>
              <a:gd name="connsiteX42" fmla="*/ 7566025 w 7569200"/>
              <a:gd name="connsiteY42" fmla="*/ 1982787 h 6858000"/>
              <a:gd name="connsiteX43" fmla="*/ 7569200 w 7569200"/>
              <a:gd name="connsiteY43" fmla="*/ 2051050 h 6858000"/>
              <a:gd name="connsiteX44" fmla="*/ 7566025 w 7569200"/>
              <a:gd name="connsiteY44" fmla="*/ 2119312 h 6858000"/>
              <a:gd name="connsiteX45" fmla="*/ 7558087 w 7569200"/>
              <a:gd name="connsiteY45" fmla="*/ 2179637 h 6858000"/>
              <a:gd name="connsiteX46" fmla="*/ 7546975 w 7569200"/>
              <a:gd name="connsiteY46" fmla="*/ 2232025 h 6858000"/>
              <a:gd name="connsiteX47" fmla="*/ 7532687 w 7569200"/>
              <a:gd name="connsiteY47" fmla="*/ 2278062 h 6858000"/>
              <a:gd name="connsiteX48" fmla="*/ 7516812 w 7569200"/>
              <a:gd name="connsiteY48" fmla="*/ 2319337 h 6858000"/>
              <a:gd name="connsiteX49" fmla="*/ 7497762 w 7569200"/>
              <a:gd name="connsiteY49" fmla="*/ 2359025 h 6858000"/>
              <a:gd name="connsiteX50" fmla="*/ 7478712 w 7569200"/>
              <a:gd name="connsiteY50" fmla="*/ 2395537 h 6858000"/>
              <a:gd name="connsiteX51" fmla="*/ 7459662 w 7569200"/>
              <a:gd name="connsiteY51" fmla="*/ 2433637 h 6858000"/>
              <a:gd name="connsiteX52" fmla="*/ 7442200 w 7569200"/>
              <a:gd name="connsiteY52" fmla="*/ 2471737 h 6858000"/>
              <a:gd name="connsiteX53" fmla="*/ 7424737 w 7569200"/>
              <a:gd name="connsiteY53" fmla="*/ 2513012 h 6858000"/>
              <a:gd name="connsiteX54" fmla="*/ 7410450 w 7569200"/>
              <a:gd name="connsiteY54" fmla="*/ 2560637 h 6858000"/>
              <a:gd name="connsiteX55" fmla="*/ 7400925 w 7569200"/>
              <a:gd name="connsiteY55" fmla="*/ 2613025 h 6858000"/>
              <a:gd name="connsiteX56" fmla="*/ 7391400 w 7569200"/>
              <a:gd name="connsiteY56" fmla="*/ 2671762 h 6858000"/>
              <a:gd name="connsiteX57" fmla="*/ 7389812 w 7569200"/>
              <a:gd name="connsiteY57" fmla="*/ 2741612 h 6858000"/>
              <a:gd name="connsiteX58" fmla="*/ 7391400 w 7569200"/>
              <a:gd name="connsiteY58" fmla="*/ 2809875 h 6858000"/>
              <a:gd name="connsiteX59" fmla="*/ 7400925 w 7569200"/>
              <a:gd name="connsiteY59" fmla="*/ 2868612 h 6858000"/>
              <a:gd name="connsiteX60" fmla="*/ 7410450 w 7569200"/>
              <a:gd name="connsiteY60" fmla="*/ 2922587 h 6858000"/>
              <a:gd name="connsiteX61" fmla="*/ 7424737 w 7569200"/>
              <a:gd name="connsiteY61" fmla="*/ 2967037 h 6858000"/>
              <a:gd name="connsiteX62" fmla="*/ 7442200 w 7569200"/>
              <a:gd name="connsiteY62" fmla="*/ 3009900 h 6858000"/>
              <a:gd name="connsiteX63" fmla="*/ 7459662 w 7569200"/>
              <a:gd name="connsiteY63" fmla="*/ 3046412 h 6858000"/>
              <a:gd name="connsiteX64" fmla="*/ 7478712 w 7569200"/>
              <a:gd name="connsiteY64" fmla="*/ 3084512 h 6858000"/>
              <a:gd name="connsiteX65" fmla="*/ 7497762 w 7569200"/>
              <a:gd name="connsiteY65" fmla="*/ 3121025 h 6858000"/>
              <a:gd name="connsiteX66" fmla="*/ 7516812 w 7569200"/>
              <a:gd name="connsiteY66" fmla="*/ 3160712 h 6858000"/>
              <a:gd name="connsiteX67" fmla="*/ 7532687 w 7569200"/>
              <a:gd name="connsiteY67" fmla="*/ 3201987 h 6858000"/>
              <a:gd name="connsiteX68" fmla="*/ 7546975 w 7569200"/>
              <a:gd name="connsiteY68" fmla="*/ 3248025 h 6858000"/>
              <a:gd name="connsiteX69" fmla="*/ 7558087 w 7569200"/>
              <a:gd name="connsiteY69" fmla="*/ 3300412 h 6858000"/>
              <a:gd name="connsiteX70" fmla="*/ 7566025 w 7569200"/>
              <a:gd name="connsiteY70" fmla="*/ 3360737 h 6858000"/>
              <a:gd name="connsiteX71" fmla="*/ 7569200 w 7569200"/>
              <a:gd name="connsiteY71" fmla="*/ 3427412 h 6858000"/>
              <a:gd name="connsiteX72" fmla="*/ 7566025 w 7569200"/>
              <a:gd name="connsiteY72" fmla="*/ 3497262 h 6858000"/>
              <a:gd name="connsiteX73" fmla="*/ 7558087 w 7569200"/>
              <a:gd name="connsiteY73" fmla="*/ 3557587 h 6858000"/>
              <a:gd name="connsiteX74" fmla="*/ 7546975 w 7569200"/>
              <a:gd name="connsiteY74" fmla="*/ 3609975 h 6858000"/>
              <a:gd name="connsiteX75" fmla="*/ 7532687 w 7569200"/>
              <a:gd name="connsiteY75" fmla="*/ 3656012 h 6858000"/>
              <a:gd name="connsiteX76" fmla="*/ 7516812 w 7569200"/>
              <a:gd name="connsiteY76" fmla="*/ 3697287 h 6858000"/>
              <a:gd name="connsiteX77" fmla="*/ 7497762 w 7569200"/>
              <a:gd name="connsiteY77" fmla="*/ 3736975 h 6858000"/>
              <a:gd name="connsiteX78" fmla="*/ 7459662 w 7569200"/>
              <a:gd name="connsiteY78" fmla="*/ 3811587 h 6858000"/>
              <a:gd name="connsiteX79" fmla="*/ 7442200 w 7569200"/>
              <a:gd name="connsiteY79" fmla="*/ 3848100 h 6858000"/>
              <a:gd name="connsiteX80" fmla="*/ 7424737 w 7569200"/>
              <a:gd name="connsiteY80" fmla="*/ 3890962 h 6858000"/>
              <a:gd name="connsiteX81" fmla="*/ 7410450 w 7569200"/>
              <a:gd name="connsiteY81" fmla="*/ 3935412 h 6858000"/>
              <a:gd name="connsiteX82" fmla="*/ 7400925 w 7569200"/>
              <a:gd name="connsiteY82" fmla="*/ 3987800 h 6858000"/>
              <a:gd name="connsiteX83" fmla="*/ 7391400 w 7569200"/>
              <a:gd name="connsiteY83" fmla="*/ 4048125 h 6858000"/>
              <a:gd name="connsiteX84" fmla="*/ 7389812 w 7569200"/>
              <a:gd name="connsiteY84" fmla="*/ 4116387 h 6858000"/>
              <a:gd name="connsiteX85" fmla="*/ 7391400 w 7569200"/>
              <a:gd name="connsiteY85" fmla="*/ 4186237 h 6858000"/>
              <a:gd name="connsiteX86" fmla="*/ 7400925 w 7569200"/>
              <a:gd name="connsiteY86" fmla="*/ 4244975 h 6858000"/>
              <a:gd name="connsiteX87" fmla="*/ 7410450 w 7569200"/>
              <a:gd name="connsiteY87" fmla="*/ 4297362 h 6858000"/>
              <a:gd name="connsiteX88" fmla="*/ 7424737 w 7569200"/>
              <a:gd name="connsiteY88" fmla="*/ 4343400 h 6858000"/>
              <a:gd name="connsiteX89" fmla="*/ 7442200 w 7569200"/>
              <a:gd name="connsiteY89" fmla="*/ 4386262 h 6858000"/>
              <a:gd name="connsiteX90" fmla="*/ 7459662 w 7569200"/>
              <a:gd name="connsiteY90" fmla="*/ 4424362 h 6858000"/>
              <a:gd name="connsiteX91" fmla="*/ 7497762 w 7569200"/>
              <a:gd name="connsiteY91" fmla="*/ 4498975 h 6858000"/>
              <a:gd name="connsiteX92" fmla="*/ 7516812 w 7569200"/>
              <a:gd name="connsiteY92" fmla="*/ 4537075 h 6858000"/>
              <a:gd name="connsiteX93" fmla="*/ 7532687 w 7569200"/>
              <a:gd name="connsiteY93" fmla="*/ 4579937 h 6858000"/>
              <a:gd name="connsiteX94" fmla="*/ 7546975 w 7569200"/>
              <a:gd name="connsiteY94" fmla="*/ 4625975 h 6858000"/>
              <a:gd name="connsiteX95" fmla="*/ 7558087 w 7569200"/>
              <a:gd name="connsiteY95" fmla="*/ 4678362 h 6858000"/>
              <a:gd name="connsiteX96" fmla="*/ 7566025 w 7569200"/>
              <a:gd name="connsiteY96" fmla="*/ 4738687 h 6858000"/>
              <a:gd name="connsiteX97" fmla="*/ 7569200 w 7569200"/>
              <a:gd name="connsiteY97" fmla="*/ 4806950 h 6858000"/>
              <a:gd name="connsiteX98" fmla="*/ 7566025 w 7569200"/>
              <a:gd name="connsiteY98" fmla="*/ 4875212 h 6858000"/>
              <a:gd name="connsiteX99" fmla="*/ 7558087 w 7569200"/>
              <a:gd name="connsiteY99" fmla="*/ 4935537 h 6858000"/>
              <a:gd name="connsiteX100" fmla="*/ 7546975 w 7569200"/>
              <a:gd name="connsiteY100" fmla="*/ 4987925 h 6858000"/>
              <a:gd name="connsiteX101" fmla="*/ 7532687 w 7569200"/>
              <a:gd name="connsiteY101" fmla="*/ 5033962 h 6858000"/>
              <a:gd name="connsiteX102" fmla="*/ 7516812 w 7569200"/>
              <a:gd name="connsiteY102" fmla="*/ 5075237 h 6858000"/>
              <a:gd name="connsiteX103" fmla="*/ 7497762 w 7569200"/>
              <a:gd name="connsiteY103" fmla="*/ 5114925 h 6858000"/>
              <a:gd name="connsiteX104" fmla="*/ 7478712 w 7569200"/>
              <a:gd name="connsiteY104" fmla="*/ 5149850 h 6858000"/>
              <a:gd name="connsiteX105" fmla="*/ 7459662 w 7569200"/>
              <a:gd name="connsiteY105" fmla="*/ 5186362 h 6858000"/>
              <a:gd name="connsiteX106" fmla="*/ 7442200 w 7569200"/>
              <a:gd name="connsiteY106" fmla="*/ 5226050 h 6858000"/>
              <a:gd name="connsiteX107" fmla="*/ 7424737 w 7569200"/>
              <a:gd name="connsiteY107" fmla="*/ 5268912 h 6858000"/>
              <a:gd name="connsiteX108" fmla="*/ 7410450 w 7569200"/>
              <a:gd name="connsiteY108" fmla="*/ 5313362 h 6858000"/>
              <a:gd name="connsiteX109" fmla="*/ 7400925 w 7569200"/>
              <a:gd name="connsiteY109" fmla="*/ 5365750 h 6858000"/>
              <a:gd name="connsiteX110" fmla="*/ 7391400 w 7569200"/>
              <a:gd name="connsiteY110" fmla="*/ 5426075 h 6858000"/>
              <a:gd name="connsiteX111" fmla="*/ 7389812 w 7569200"/>
              <a:gd name="connsiteY111" fmla="*/ 5494337 h 6858000"/>
              <a:gd name="connsiteX112" fmla="*/ 7391400 w 7569200"/>
              <a:gd name="connsiteY112" fmla="*/ 5562600 h 6858000"/>
              <a:gd name="connsiteX113" fmla="*/ 7400925 w 7569200"/>
              <a:gd name="connsiteY113" fmla="*/ 5622925 h 6858000"/>
              <a:gd name="connsiteX114" fmla="*/ 7410450 w 7569200"/>
              <a:gd name="connsiteY114" fmla="*/ 5675312 h 6858000"/>
              <a:gd name="connsiteX115" fmla="*/ 7424737 w 7569200"/>
              <a:gd name="connsiteY115" fmla="*/ 5721350 h 6858000"/>
              <a:gd name="connsiteX116" fmla="*/ 7442200 w 7569200"/>
              <a:gd name="connsiteY116" fmla="*/ 5762625 h 6858000"/>
              <a:gd name="connsiteX117" fmla="*/ 7459662 w 7569200"/>
              <a:gd name="connsiteY117" fmla="*/ 5802312 h 6858000"/>
              <a:gd name="connsiteX118" fmla="*/ 7478712 w 7569200"/>
              <a:gd name="connsiteY118" fmla="*/ 5840412 h 6858000"/>
              <a:gd name="connsiteX119" fmla="*/ 7497762 w 7569200"/>
              <a:gd name="connsiteY119" fmla="*/ 5876925 h 6858000"/>
              <a:gd name="connsiteX120" fmla="*/ 7516812 w 7569200"/>
              <a:gd name="connsiteY120" fmla="*/ 5915025 h 6858000"/>
              <a:gd name="connsiteX121" fmla="*/ 7532687 w 7569200"/>
              <a:gd name="connsiteY121" fmla="*/ 5956300 h 6858000"/>
              <a:gd name="connsiteX122" fmla="*/ 7546975 w 7569200"/>
              <a:gd name="connsiteY122" fmla="*/ 6003925 h 6858000"/>
              <a:gd name="connsiteX123" fmla="*/ 7558087 w 7569200"/>
              <a:gd name="connsiteY123" fmla="*/ 6056312 h 6858000"/>
              <a:gd name="connsiteX124" fmla="*/ 7566025 w 7569200"/>
              <a:gd name="connsiteY124" fmla="*/ 6113462 h 6858000"/>
              <a:gd name="connsiteX125" fmla="*/ 7569200 w 7569200"/>
              <a:gd name="connsiteY125" fmla="*/ 6183312 h 6858000"/>
              <a:gd name="connsiteX126" fmla="*/ 7566025 w 7569200"/>
              <a:gd name="connsiteY126" fmla="*/ 6251575 h 6858000"/>
              <a:gd name="connsiteX127" fmla="*/ 7558087 w 7569200"/>
              <a:gd name="connsiteY127" fmla="*/ 6311900 h 6858000"/>
              <a:gd name="connsiteX128" fmla="*/ 7546975 w 7569200"/>
              <a:gd name="connsiteY128" fmla="*/ 6361112 h 6858000"/>
              <a:gd name="connsiteX129" fmla="*/ 7532687 w 7569200"/>
              <a:gd name="connsiteY129" fmla="*/ 6407150 h 6858000"/>
              <a:gd name="connsiteX130" fmla="*/ 7516812 w 7569200"/>
              <a:gd name="connsiteY130" fmla="*/ 6448425 h 6858000"/>
              <a:gd name="connsiteX131" fmla="*/ 7499350 w 7569200"/>
              <a:gd name="connsiteY131" fmla="*/ 6488112 h 6858000"/>
              <a:gd name="connsiteX132" fmla="*/ 7481887 w 7569200"/>
              <a:gd name="connsiteY132" fmla="*/ 6523037 h 6858000"/>
              <a:gd name="connsiteX133" fmla="*/ 7462837 w 7569200"/>
              <a:gd name="connsiteY133" fmla="*/ 6561137 h 6858000"/>
              <a:gd name="connsiteX134" fmla="*/ 7443787 w 7569200"/>
              <a:gd name="connsiteY134" fmla="*/ 6597650 h 6858000"/>
              <a:gd name="connsiteX135" fmla="*/ 7427912 w 7569200"/>
              <a:gd name="connsiteY135" fmla="*/ 6640512 h 6858000"/>
              <a:gd name="connsiteX136" fmla="*/ 7412037 w 7569200"/>
              <a:gd name="connsiteY136" fmla="*/ 6683375 h 6858000"/>
              <a:gd name="connsiteX137" fmla="*/ 7402512 w 7569200"/>
              <a:gd name="connsiteY137" fmla="*/ 6735762 h 6858000"/>
              <a:gd name="connsiteX138" fmla="*/ 7394575 w 7569200"/>
              <a:gd name="connsiteY138" fmla="*/ 6791325 h 6858000"/>
              <a:gd name="connsiteX139" fmla="*/ 7389812 w 7569200"/>
              <a:gd name="connsiteY139" fmla="*/ 6858000 h 6858000"/>
              <a:gd name="connsiteX140" fmla="*/ 0 w 7569200"/>
              <a:gd name="connsiteY140" fmla="*/ 6858000 h 6858000"/>
              <a:gd name="connsiteX141" fmla="*/ 0 w 7569200"/>
              <a:gd name="connsiteY141"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7569200" h="6858000">
                <a:moveTo>
                  <a:pt x="0" y="0"/>
                </a:moveTo>
                <a:lnTo>
                  <a:pt x="7389812" y="0"/>
                </a:lnTo>
                <a:lnTo>
                  <a:pt x="7394575" y="66675"/>
                </a:lnTo>
                <a:lnTo>
                  <a:pt x="7402512" y="122237"/>
                </a:lnTo>
                <a:lnTo>
                  <a:pt x="7412037" y="174625"/>
                </a:lnTo>
                <a:lnTo>
                  <a:pt x="7427912" y="217487"/>
                </a:lnTo>
                <a:lnTo>
                  <a:pt x="7443787" y="260350"/>
                </a:lnTo>
                <a:lnTo>
                  <a:pt x="7462837" y="296862"/>
                </a:lnTo>
                <a:lnTo>
                  <a:pt x="7481887" y="334962"/>
                </a:lnTo>
                <a:lnTo>
                  <a:pt x="7499350" y="369887"/>
                </a:lnTo>
                <a:lnTo>
                  <a:pt x="7516812" y="409575"/>
                </a:lnTo>
                <a:lnTo>
                  <a:pt x="7532687" y="450850"/>
                </a:lnTo>
                <a:lnTo>
                  <a:pt x="7546975" y="496887"/>
                </a:lnTo>
                <a:lnTo>
                  <a:pt x="7558087" y="546100"/>
                </a:lnTo>
                <a:lnTo>
                  <a:pt x="7566025" y="606425"/>
                </a:lnTo>
                <a:lnTo>
                  <a:pt x="7569200" y="673100"/>
                </a:lnTo>
                <a:lnTo>
                  <a:pt x="7566025" y="744537"/>
                </a:lnTo>
                <a:lnTo>
                  <a:pt x="7558087" y="801687"/>
                </a:lnTo>
                <a:lnTo>
                  <a:pt x="7546975" y="854075"/>
                </a:lnTo>
                <a:lnTo>
                  <a:pt x="7532687" y="901700"/>
                </a:lnTo>
                <a:lnTo>
                  <a:pt x="7516812" y="942975"/>
                </a:lnTo>
                <a:lnTo>
                  <a:pt x="7497762" y="981075"/>
                </a:lnTo>
                <a:lnTo>
                  <a:pt x="7478712" y="1017587"/>
                </a:lnTo>
                <a:lnTo>
                  <a:pt x="7459662" y="1055687"/>
                </a:lnTo>
                <a:lnTo>
                  <a:pt x="7442200" y="1095375"/>
                </a:lnTo>
                <a:lnTo>
                  <a:pt x="7424737" y="1136650"/>
                </a:lnTo>
                <a:lnTo>
                  <a:pt x="7410450" y="1182687"/>
                </a:lnTo>
                <a:lnTo>
                  <a:pt x="7400925" y="1235075"/>
                </a:lnTo>
                <a:lnTo>
                  <a:pt x="7391400" y="1295400"/>
                </a:lnTo>
                <a:lnTo>
                  <a:pt x="7389812" y="1363662"/>
                </a:lnTo>
                <a:lnTo>
                  <a:pt x="7391400" y="1431925"/>
                </a:lnTo>
                <a:lnTo>
                  <a:pt x="7400925" y="1492250"/>
                </a:lnTo>
                <a:lnTo>
                  <a:pt x="7410450" y="1544637"/>
                </a:lnTo>
                <a:lnTo>
                  <a:pt x="7424737" y="1589087"/>
                </a:lnTo>
                <a:lnTo>
                  <a:pt x="7442200" y="1631950"/>
                </a:lnTo>
                <a:lnTo>
                  <a:pt x="7459662" y="1671637"/>
                </a:lnTo>
                <a:lnTo>
                  <a:pt x="7478712" y="1708150"/>
                </a:lnTo>
                <a:lnTo>
                  <a:pt x="7497762" y="1743075"/>
                </a:lnTo>
                <a:lnTo>
                  <a:pt x="7516812" y="1782762"/>
                </a:lnTo>
                <a:lnTo>
                  <a:pt x="7532687" y="1824037"/>
                </a:lnTo>
                <a:lnTo>
                  <a:pt x="7546975" y="1870075"/>
                </a:lnTo>
                <a:lnTo>
                  <a:pt x="7558087" y="1922462"/>
                </a:lnTo>
                <a:lnTo>
                  <a:pt x="7566025" y="1982787"/>
                </a:lnTo>
                <a:lnTo>
                  <a:pt x="7569200" y="2051050"/>
                </a:lnTo>
                <a:lnTo>
                  <a:pt x="7566025" y="2119312"/>
                </a:lnTo>
                <a:lnTo>
                  <a:pt x="7558087" y="2179637"/>
                </a:lnTo>
                <a:lnTo>
                  <a:pt x="7546975" y="2232025"/>
                </a:lnTo>
                <a:lnTo>
                  <a:pt x="7532687" y="2278062"/>
                </a:lnTo>
                <a:lnTo>
                  <a:pt x="7516812" y="2319337"/>
                </a:lnTo>
                <a:lnTo>
                  <a:pt x="7497762" y="2359025"/>
                </a:lnTo>
                <a:lnTo>
                  <a:pt x="7478712" y="2395537"/>
                </a:lnTo>
                <a:lnTo>
                  <a:pt x="7459662" y="2433637"/>
                </a:lnTo>
                <a:lnTo>
                  <a:pt x="7442200" y="2471737"/>
                </a:lnTo>
                <a:lnTo>
                  <a:pt x="7424737" y="2513012"/>
                </a:lnTo>
                <a:lnTo>
                  <a:pt x="7410450" y="2560637"/>
                </a:lnTo>
                <a:lnTo>
                  <a:pt x="7400925" y="2613025"/>
                </a:lnTo>
                <a:lnTo>
                  <a:pt x="7391400" y="2671762"/>
                </a:lnTo>
                <a:lnTo>
                  <a:pt x="7389812" y="2741612"/>
                </a:lnTo>
                <a:lnTo>
                  <a:pt x="7391400" y="2809875"/>
                </a:lnTo>
                <a:lnTo>
                  <a:pt x="7400925" y="2868612"/>
                </a:lnTo>
                <a:lnTo>
                  <a:pt x="7410450" y="2922587"/>
                </a:lnTo>
                <a:lnTo>
                  <a:pt x="7424737" y="2967037"/>
                </a:lnTo>
                <a:lnTo>
                  <a:pt x="7442200" y="3009900"/>
                </a:lnTo>
                <a:lnTo>
                  <a:pt x="7459662" y="3046412"/>
                </a:lnTo>
                <a:lnTo>
                  <a:pt x="7478712" y="3084512"/>
                </a:lnTo>
                <a:lnTo>
                  <a:pt x="7497762" y="3121025"/>
                </a:lnTo>
                <a:lnTo>
                  <a:pt x="7516812" y="3160712"/>
                </a:lnTo>
                <a:lnTo>
                  <a:pt x="7532687" y="3201987"/>
                </a:lnTo>
                <a:lnTo>
                  <a:pt x="7546975" y="3248025"/>
                </a:lnTo>
                <a:lnTo>
                  <a:pt x="7558087" y="3300412"/>
                </a:lnTo>
                <a:lnTo>
                  <a:pt x="7566025" y="3360737"/>
                </a:lnTo>
                <a:lnTo>
                  <a:pt x="7569200" y="3427412"/>
                </a:lnTo>
                <a:lnTo>
                  <a:pt x="7566025" y="3497262"/>
                </a:lnTo>
                <a:lnTo>
                  <a:pt x="7558087" y="3557587"/>
                </a:lnTo>
                <a:lnTo>
                  <a:pt x="7546975" y="3609975"/>
                </a:lnTo>
                <a:lnTo>
                  <a:pt x="7532687" y="3656012"/>
                </a:lnTo>
                <a:lnTo>
                  <a:pt x="7516812" y="3697287"/>
                </a:lnTo>
                <a:lnTo>
                  <a:pt x="7497762" y="3736975"/>
                </a:lnTo>
                <a:lnTo>
                  <a:pt x="7459662" y="3811587"/>
                </a:lnTo>
                <a:lnTo>
                  <a:pt x="7442200" y="3848100"/>
                </a:lnTo>
                <a:lnTo>
                  <a:pt x="7424737" y="3890962"/>
                </a:lnTo>
                <a:lnTo>
                  <a:pt x="7410450" y="3935412"/>
                </a:lnTo>
                <a:lnTo>
                  <a:pt x="7400925" y="3987800"/>
                </a:lnTo>
                <a:lnTo>
                  <a:pt x="7391400" y="4048125"/>
                </a:lnTo>
                <a:lnTo>
                  <a:pt x="7389812" y="4116387"/>
                </a:lnTo>
                <a:lnTo>
                  <a:pt x="7391400" y="4186237"/>
                </a:lnTo>
                <a:lnTo>
                  <a:pt x="7400925" y="4244975"/>
                </a:lnTo>
                <a:lnTo>
                  <a:pt x="7410450" y="4297362"/>
                </a:lnTo>
                <a:lnTo>
                  <a:pt x="7424737" y="4343400"/>
                </a:lnTo>
                <a:lnTo>
                  <a:pt x="7442200" y="4386262"/>
                </a:lnTo>
                <a:lnTo>
                  <a:pt x="7459662" y="4424362"/>
                </a:lnTo>
                <a:lnTo>
                  <a:pt x="7497762" y="4498975"/>
                </a:lnTo>
                <a:lnTo>
                  <a:pt x="7516812" y="4537075"/>
                </a:lnTo>
                <a:lnTo>
                  <a:pt x="7532687" y="4579937"/>
                </a:lnTo>
                <a:lnTo>
                  <a:pt x="7546975" y="4625975"/>
                </a:lnTo>
                <a:lnTo>
                  <a:pt x="7558087" y="4678362"/>
                </a:lnTo>
                <a:lnTo>
                  <a:pt x="7566025" y="4738687"/>
                </a:lnTo>
                <a:lnTo>
                  <a:pt x="7569200" y="4806950"/>
                </a:lnTo>
                <a:lnTo>
                  <a:pt x="7566025" y="4875212"/>
                </a:lnTo>
                <a:lnTo>
                  <a:pt x="7558087" y="4935537"/>
                </a:lnTo>
                <a:lnTo>
                  <a:pt x="7546975" y="4987925"/>
                </a:lnTo>
                <a:lnTo>
                  <a:pt x="7532687" y="5033962"/>
                </a:lnTo>
                <a:lnTo>
                  <a:pt x="7516812" y="5075237"/>
                </a:lnTo>
                <a:lnTo>
                  <a:pt x="7497762" y="5114925"/>
                </a:lnTo>
                <a:lnTo>
                  <a:pt x="7478712" y="5149850"/>
                </a:lnTo>
                <a:lnTo>
                  <a:pt x="7459662" y="5186362"/>
                </a:lnTo>
                <a:lnTo>
                  <a:pt x="7442200" y="5226050"/>
                </a:lnTo>
                <a:lnTo>
                  <a:pt x="7424737" y="5268912"/>
                </a:lnTo>
                <a:lnTo>
                  <a:pt x="7410450" y="5313362"/>
                </a:lnTo>
                <a:lnTo>
                  <a:pt x="7400925" y="5365750"/>
                </a:lnTo>
                <a:lnTo>
                  <a:pt x="7391400" y="5426075"/>
                </a:lnTo>
                <a:lnTo>
                  <a:pt x="7389812" y="5494337"/>
                </a:lnTo>
                <a:lnTo>
                  <a:pt x="7391400" y="5562600"/>
                </a:lnTo>
                <a:lnTo>
                  <a:pt x="7400925" y="5622925"/>
                </a:lnTo>
                <a:lnTo>
                  <a:pt x="7410450" y="5675312"/>
                </a:lnTo>
                <a:lnTo>
                  <a:pt x="7424737" y="5721350"/>
                </a:lnTo>
                <a:lnTo>
                  <a:pt x="7442200" y="5762625"/>
                </a:lnTo>
                <a:lnTo>
                  <a:pt x="7459662" y="5802312"/>
                </a:lnTo>
                <a:lnTo>
                  <a:pt x="7478712" y="5840412"/>
                </a:lnTo>
                <a:lnTo>
                  <a:pt x="7497762" y="5876925"/>
                </a:lnTo>
                <a:lnTo>
                  <a:pt x="7516812" y="5915025"/>
                </a:lnTo>
                <a:lnTo>
                  <a:pt x="7532687" y="5956300"/>
                </a:lnTo>
                <a:lnTo>
                  <a:pt x="7546975" y="6003925"/>
                </a:lnTo>
                <a:lnTo>
                  <a:pt x="7558087" y="6056312"/>
                </a:lnTo>
                <a:lnTo>
                  <a:pt x="7566025" y="6113462"/>
                </a:lnTo>
                <a:lnTo>
                  <a:pt x="7569200" y="6183312"/>
                </a:lnTo>
                <a:lnTo>
                  <a:pt x="7566025" y="6251575"/>
                </a:lnTo>
                <a:lnTo>
                  <a:pt x="7558087" y="6311900"/>
                </a:lnTo>
                <a:lnTo>
                  <a:pt x="7546975" y="6361112"/>
                </a:lnTo>
                <a:lnTo>
                  <a:pt x="7532687" y="6407150"/>
                </a:lnTo>
                <a:lnTo>
                  <a:pt x="7516812" y="6448425"/>
                </a:lnTo>
                <a:lnTo>
                  <a:pt x="7499350" y="6488112"/>
                </a:lnTo>
                <a:lnTo>
                  <a:pt x="7481887" y="6523037"/>
                </a:lnTo>
                <a:lnTo>
                  <a:pt x="7462837" y="6561137"/>
                </a:lnTo>
                <a:lnTo>
                  <a:pt x="7443787" y="6597650"/>
                </a:lnTo>
                <a:lnTo>
                  <a:pt x="7427912" y="6640512"/>
                </a:lnTo>
                <a:lnTo>
                  <a:pt x="7412037" y="6683375"/>
                </a:lnTo>
                <a:lnTo>
                  <a:pt x="7402512" y="6735762"/>
                </a:lnTo>
                <a:lnTo>
                  <a:pt x="7394575" y="6791325"/>
                </a:lnTo>
                <a:lnTo>
                  <a:pt x="7389812" y="6858000"/>
                </a:lnTo>
                <a:lnTo>
                  <a:pt x="0" y="6858000"/>
                </a:lnTo>
                <a:lnTo>
                  <a:pt x="0" y="0"/>
                </a:lnTo>
                <a:close/>
              </a:path>
            </a:pathLst>
          </a:custGeom>
          <a:solidFill>
            <a:schemeClr val="bg2">
              <a:lumMod val="90000"/>
            </a:schemeClr>
          </a:solidFill>
          <a:ln w="0">
            <a:noFill/>
            <a:prstDash val="solid"/>
            <a:round/>
            <a:headEnd/>
            <a:tailEnd/>
          </a:ln>
        </p:spPr>
        <p:txBody>
          <a:bodyPr/>
          <a:lstStyle/>
          <a:p>
            <a:endParaRPr lang="en-IN"/>
          </a:p>
        </p:txBody>
      </p:sp>
      <p:sp>
        <p:nvSpPr>
          <p:cNvPr id="2" name="Title 1">
            <a:extLst>
              <a:ext uri="{FF2B5EF4-FFF2-40B4-BE49-F238E27FC236}">
                <a16:creationId xmlns:a16="http://schemas.microsoft.com/office/drawing/2014/main" id="{54BDD8EC-4E12-EC5E-01C4-AD13B8268114}"/>
              </a:ext>
            </a:extLst>
          </p:cNvPr>
          <p:cNvSpPr>
            <a:spLocks noGrp="1"/>
          </p:cNvSpPr>
          <p:nvPr>
            <p:ph type="title"/>
          </p:nvPr>
        </p:nvSpPr>
        <p:spPr>
          <a:xfrm>
            <a:off x="754144" y="484631"/>
            <a:ext cx="6340519" cy="1638469"/>
          </a:xfrm>
        </p:spPr>
        <p:txBody>
          <a:bodyPr>
            <a:normAutofit/>
          </a:bodyPr>
          <a:lstStyle/>
          <a:p>
            <a:r>
              <a:rPr lang="en-IN" sz="4000"/>
              <a:t>Types of Organizational Structure</a:t>
            </a:r>
          </a:p>
        </p:txBody>
      </p:sp>
      <p:sp>
        <p:nvSpPr>
          <p:cNvPr id="14" name="Rectangle 13">
            <a:extLst>
              <a:ext uri="{FF2B5EF4-FFF2-40B4-BE49-F238E27FC236}">
                <a16:creationId xmlns:a16="http://schemas.microsoft.com/office/drawing/2014/main" id="{5FDAFA16-9D2D-4BEC-89D0-B4EABEE911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3" name="Content Placeholder 2">
            <a:extLst>
              <a:ext uri="{FF2B5EF4-FFF2-40B4-BE49-F238E27FC236}">
                <a16:creationId xmlns:a16="http://schemas.microsoft.com/office/drawing/2014/main" id="{208C6C61-5131-F8B4-2FEE-D574BD5D1C95}"/>
              </a:ext>
            </a:extLst>
          </p:cNvPr>
          <p:cNvSpPr>
            <a:spLocks noGrp="1"/>
          </p:cNvSpPr>
          <p:nvPr>
            <p:ph idx="1"/>
          </p:nvPr>
        </p:nvSpPr>
        <p:spPr>
          <a:xfrm>
            <a:off x="484632" y="2068671"/>
            <a:ext cx="6776139" cy="4789329"/>
          </a:xfrm>
        </p:spPr>
        <p:txBody>
          <a:bodyPr>
            <a:normAutofit/>
          </a:bodyPr>
          <a:lstStyle/>
          <a:p>
            <a:pPr>
              <a:lnSpc>
                <a:spcPct val="100000"/>
              </a:lnSpc>
            </a:pPr>
            <a:r>
              <a:rPr lang="en-US" b="1" dirty="0">
                <a:solidFill>
                  <a:schemeClr val="tx1"/>
                </a:solidFill>
              </a:rPr>
              <a:t>Functional Structure</a:t>
            </a:r>
            <a:r>
              <a:rPr lang="en-US" dirty="0">
                <a:solidFill>
                  <a:schemeClr val="tx1"/>
                </a:solidFill>
              </a:rPr>
              <a:t> – Based on functions like Marketing, Finance, HR</a:t>
            </a:r>
          </a:p>
          <a:p>
            <a:pPr>
              <a:lnSpc>
                <a:spcPct val="100000"/>
              </a:lnSpc>
            </a:pPr>
            <a:r>
              <a:rPr lang="en-US" b="1" dirty="0">
                <a:solidFill>
                  <a:schemeClr val="tx1"/>
                </a:solidFill>
              </a:rPr>
              <a:t>Divisional Structure</a:t>
            </a:r>
            <a:r>
              <a:rPr lang="en-US" dirty="0">
                <a:solidFill>
                  <a:schemeClr val="tx1"/>
                </a:solidFill>
              </a:rPr>
              <a:t> – Based on products, services, or regions</a:t>
            </a:r>
          </a:p>
          <a:p>
            <a:pPr>
              <a:lnSpc>
                <a:spcPct val="100000"/>
              </a:lnSpc>
            </a:pPr>
            <a:r>
              <a:rPr lang="en-US" b="1" dirty="0">
                <a:solidFill>
                  <a:schemeClr val="tx1"/>
                </a:solidFill>
              </a:rPr>
              <a:t>Matrix Structure</a:t>
            </a:r>
            <a:r>
              <a:rPr lang="en-US" dirty="0">
                <a:solidFill>
                  <a:schemeClr val="tx1"/>
                </a:solidFill>
              </a:rPr>
              <a:t> – Combination of functional and divisional (dual reporting)</a:t>
            </a:r>
          </a:p>
          <a:p>
            <a:pPr>
              <a:lnSpc>
                <a:spcPct val="100000"/>
              </a:lnSpc>
            </a:pPr>
            <a:r>
              <a:rPr lang="en-US" b="1" dirty="0">
                <a:solidFill>
                  <a:schemeClr val="tx1"/>
                </a:solidFill>
              </a:rPr>
              <a:t>Line Structure</a:t>
            </a:r>
            <a:r>
              <a:rPr lang="en-US" dirty="0">
                <a:solidFill>
                  <a:schemeClr val="tx1"/>
                </a:solidFill>
              </a:rPr>
              <a:t> – Simple hierarchy with clear chain of command</a:t>
            </a:r>
          </a:p>
          <a:p>
            <a:pPr>
              <a:lnSpc>
                <a:spcPct val="100000"/>
              </a:lnSpc>
            </a:pPr>
            <a:r>
              <a:rPr lang="en-US" b="1" dirty="0">
                <a:solidFill>
                  <a:schemeClr val="tx1"/>
                </a:solidFill>
              </a:rPr>
              <a:t>Line &amp; Staff Structure</a:t>
            </a:r>
            <a:r>
              <a:rPr lang="en-US" dirty="0">
                <a:solidFill>
                  <a:schemeClr val="tx1"/>
                </a:solidFill>
              </a:rPr>
              <a:t> – Line managers + expert advisors</a:t>
            </a:r>
          </a:p>
          <a:p>
            <a:pPr>
              <a:lnSpc>
                <a:spcPct val="100000"/>
              </a:lnSpc>
            </a:pPr>
            <a:r>
              <a:rPr lang="en-US" b="1" dirty="0">
                <a:solidFill>
                  <a:schemeClr val="tx1"/>
                </a:solidFill>
              </a:rPr>
              <a:t>Flat Structure</a:t>
            </a:r>
            <a:r>
              <a:rPr lang="en-US" dirty="0">
                <a:solidFill>
                  <a:schemeClr val="tx1"/>
                </a:solidFill>
              </a:rPr>
              <a:t> – Fewer levels, more employee involvement</a:t>
            </a:r>
          </a:p>
          <a:p>
            <a:pPr>
              <a:lnSpc>
                <a:spcPct val="100000"/>
              </a:lnSpc>
            </a:pPr>
            <a:r>
              <a:rPr lang="en-US" b="1" dirty="0">
                <a:solidFill>
                  <a:schemeClr val="tx1"/>
                </a:solidFill>
              </a:rPr>
              <a:t>Network Structure</a:t>
            </a:r>
            <a:r>
              <a:rPr lang="en-US" dirty="0">
                <a:solidFill>
                  <a:schemeClr val="tx1"/>
                </a:solidFill>
              </a:rPr>
              <a:t> – Core company + outsourced functions</a:t>
            </a:r>
          </a:p>
          <a:p>
            <a:pPr>
              <a:lnSpc>
                <a:spcPct val="100000"/>
              </a:lnSpc>
            </a:pPr>
            <a:endParaRPr lang="en-IN" dirty="0">
              <a:solidFill>
                <a:schemeClr val="tx1"/>
              </a:solidFill>
            </a:endParaRPr>
          </a:p>
        </p:txBody>
      </p:sp>
      <p:pic>
        <p:nvPicPr>
          <p:cNvPr id="7" name="Graphic 6" descr="Hierarchy">
            <a:extLst>
              <a:ext uri="{FF2B5EF4-FFF2-40B4-BE49-F238E27FC236}">
                <a16:creationId xmlns:a16="http://schemas.microsoft.com/office/drawing/2014/main" id="{025677C7-0338-E6EF-3BB6-CB41734A159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8050787" y="1600709"/>
            <a:ext cx="3656581" cy="3656581"/>
          </a:xfrm>
          <a:prstGeom prst="rect">
            <a:avLst/>
          </a:prstGeom>
        </p:spPr>
      </p:pic>
    </p:spTree>
    <p:extLst>
      <p:ext uri="{BB962C8B-B14F-4D97-AF65-F5344CB8AC3E}">
        <p14:creationId xmlns:p14="http://schemas.microsoft.com/office/powerpoint/2010/main" val="16832509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60067" y="293615"/>
            <a:ext cx="9981181" cy="704676"/>
          </a:xfrm>
        </p:spPr>
        <p:txBody>
          <a:bodyPr>
            <a:noAutofit/>
          </a:bodyPr>
          <a:lstStyle/>
          <a:p>
            <a:r>
              <a:rPr lang="en-US" sz="4000" dirty="0"/>
              <a:t>Case Study: Starbucks’ International Expansion Strategy</a:t>
            </a:r>
            <a:endParaRPr sz="4000" dirty="0"/>
          </a:p>
        </p:txBody>
      </p:sp>
      <p:sp>
        <p:nvSpPr>
          <p:cNvPr id="3" name="Content Placeholder 2"/>
          <p:cNvSpPr>
            <a:spLocks noGrp="1"/>
          </p:cNvSpPr>
          <p:nvPr>
            <p:ph idx="1"/>
          </p:nvPr>
        </p:nvSpPr>
        <p:spPr>
          <a:xfrm>
            <a:off x="1192955" y="1633173"/>
            <a:ext cx="10046196" cy="4931212"/>
          </a:xfrm>
        </p:spPr>
        <p:txBody>
          <a:bodyPr>
            <a:normAutofit fontScale="92500" lnSpcReduction="20000"/>
          </a:bodyPr>
          <a:lstStyle/>
          <a:p>
            <a:r>
              <a:rPr lang="en-US" dirty="0">
                <a:latin typeface="Times New Roman" panose="02020603050405020304" pitchFamily="18" charset="0"/>
                <a:cs typeface="Times New Roman" panose="02020603050405020304" pitchFamily="18" charset="0"/>
              </a:rPr>
              <a:t>Starbucks, one of the world’s leading coffeehouse chains, has successfully expanded its business into many international markets. When Starbucks decided to enter the Indian market, the company realized that it needed a strong local partner who understood the country’s culture, consumer preferences, and business environment. Instead of entering the market alone, Starbucks formed a </a:t>
            </a:r>
            <a:r>
              <a:rPr lang="en-US" b="1" dirty="0">
                <a:latin typeface="Times New Roman" panose="02020603050405020304" pitchFamily="18" charset="0"/>
                <a:cs typeface="Times New Roman" panose="02020603050405020304" pitchFamily="18" charset="0"/>
              </a:rPr>
              <a:t>strategic alliance with Tata Group</a:t>
            </a:r>
            <a:r>
              <a:rPr lang="en-US" dirty="0">
                <a:latin typeface="Times New Roman" panose="02020603050405020304" pitchFamily="18" charset="0"/>
                <a:cs typeface="Times New Roman" panose="02020603050405020304" pitchFamily="18" charset="0"/>
              </a:rPr>
              <a:t>, one of India’s largest and most respected business conglomerates.</a:t>
            </a:r>
          </a:p>
          <a:p>
            <a:r>
              <a:rPr lang="en-US" dirty="0">
                <a:latin typeface="Times New Roman" panose="02020603050405020304" pitchFamily="18" charset="0"/>
                <a:cs typeface="Times New Roman" panose="02020603050405020304" pitchFamily="18" charset="0"/>
              </a:rPr>
              <a:t>The partnership was established through a </a:t>
            </a:r>
            <a:r>
              <a:rPr lang="en-US" b="1" dirty="0">
                <a:latin typeface="Times New Roman" panose="02020603050405020304" pitchFamily="18" charset="0"/>
                <a:cs typeface="Times New Roman" panose="02020603050405020304" pitchFamily="18" charset="0"/>
              </a:rPr>
              <a:t>joint venture called Tata Starbucks Private Limited</a:t>
            </a:r>
            <a:r>
              <a:rPr lang="en-US" dirty="0">
                <a:latin typeface="Times New Roman" panose="02020603050405020304" pitchFamily="18" charset="0"/>
                <a:cs typeface="Times New Roman" panose="02020603050405020304" pitchFamily="18" charset="0"/>
              </a:rPr>
              <a:t>. Tata Group provided knowledge about the Indian market, local supply chains, and regulatory environment, while Starbucks contributed its global brand, coffee expertise, and international business strategy. This collaboration allowed Starbucks to expand its operations quickly and efficiently in India.</a:t>
            </a:r>
          </a:p>
          <a:p>
            <a:r>
              <a:rPr lang="en-US" dirty="0">
                <a:latin typeface="Times New Roman" panose="02020603050405020304" pitchFamily="18" charset="0"/>
                <a:cs typeface="Times New Roman" panose="02020603050405020304" pitchFamily="18" charset="0"/>
              </a:rPr>
              <a:t>Through this strategic alliance, Starbucks was able to adapt its products to suit Indian customers while maintaining its global brand identity. The company introduced menu items that matched local tastes and used Tata’s expertise to expand its store network across major Indian cities.</a:t>
            </a:r>
          </a:p>
          <a:p>
            <a:r>
              <a:rPr lang="en-US" dirty="0">
                <a:latin typeface="Times New Roman" panose="02020603050405020304" pitchFamily="18" charset="0"/>
                <a:cs typeface="Times New Roman" panose="02020603050405020304" pitchFamily="18" charset="0"/>
              </a:rPr>
              <a:t>This case highlights how </a:t>
            </a:r>
            <a:r>
              <a:rPr lang="en-US" b="1" dirty="0">
                <a:latin typeface="Times New Roman" panose="02020603050405020304" pitchFamily="18" charset="0"/>
                <a:cs typeface="Times New Roman" panose="02020603050405020304" pitchFamily="18" charset="0"/>
              </a:rPr>
              <a:t>strategic alliances and joint ventures</a:t>
            </a:r>
            <a:r>
              <a:rPr lang="en-US" dirty="0">
                <a:latin typeface="Times New Roman" panose="02020603050405020304" pitchFamily="18" charset="0"/>
                <a:cs typeface="Times New Roman" panose="02020603050405020304" pitchFamily="18" charset="0"/>
              </a:rPr>
              <a:t> can help multinational companies enter foreign markets successfully. By partnering with a local company, Starbucks reduced risks, gained market knowledge, and strengthened its international business strategy.</a:t>
            </a:r>
          </a:p>
          <a:p>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3AB152-AEB7-E0DF-F5D9-A6FD27771B6B}"/>
              </a:ext>
            </a:extLst>
          </p:cNvPr>
          <p:cNvSpPr>
            <a:spLocks noGrp="1"/>
          </p:cNvSpPr>
          <p:nvPr>
            <p:ph type="title"/>
          </p:nvPr>
        </p:nvSpPr>
        <p:spPr>
          <a:xfrm>
            <a:off x="1251678" y="738076"/>
            <a:ext cx="8774065" cy="1492132"/>
          </a:xfrm>
        </p:spPr>
        <p:txBody>
          <a:bodyPr>
            <a:normAutofit/>
          </a:bodyPr>
          <a:lstStyle/>
          <a:p>
            <a:r>
              <a:rPr lang="en-IN" sz="6000" dirty="0"/>
              <a:t>Discussion question</a:t>
            </a:r>
          </a:p>
        </p:txBody>
      </p:sp>
      <p:sp>
        <p:nvSpPr>
          <p:cNvPr id="3" name="Rectangle 1">
            <a:extLst>
              <a:ext uri="{FF2B5EF4-FFF2-40B4-BE49-F238E27FC236}">
                <a16:creationId xmlns:a16="http://schemas.microsoft.com/office/drawing/2014/main" id="{24439558-23CF-622F-3149-83A8C3A1318B}"/>
              </a:ext>
            </a:extLst>
          </p:cNvPr>
          <p:cNvSpPr>
            <a:spLocks noGrp="1" noChangeArrowheads="1"/>
          </p:cNvSpPr>
          <p:nvPr>
            <p:ph idx="1"/>
          </p:nvPr>
        </p:nvSpPr>
        <p:spPr bwMode="auto">
          <a:xfrm>
            <a:off x="1251678" y="2286001"/>
            <a:ext cx="5984274" cy="408505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L="457200" marR="0" lvl="0" indent="-457200" defTabSz="914400" rtl="0" eaLnBrk="0" fontAlgn="base" latinLnBrk="0" hangingPunct="0">
              <a:spcBef>
                <a:spcPct val="0"/>
              </a:spcBef>
              <a:spcAft>
                <a:spcPts val="600"/>
              </a:spcAft>
              <a:buClrTx/>
              <a:buSzTx/>
              <a:buFont typeface="+mj-lt"/>
              <a:buAutoNum type="arabicPeriod"/>
              <a:tabLst/>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Why did Starbucks choose a strategic alliance with Tata Group to enter the Indian market?</a:t>
            </a:r>
          </a:p>
          <a:p>
            <a:pPr marL="457200" marR="0" lvl="0" indent="-457200" defTabSz="914400" rtl="0" eaLnBrk="0" fontAlgn="base" latinLnBrk="0" hangingPunct="0">
              <a:spcBef>
                <a:spcPct val="0"/>
              </a:spcBef>
              <a:spcAft>
                <a:spcPts val="600"/>
              </a:spcAft>
              <a:buClrTx/>
              <a:buSzTx/>
              <a:buFont typeface="+mj-lt"/>
              <a:buAutoNum type="arabicPeriod"/>
              <a:tabLst/>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What advantages did Starbucks gain by forming a joint venture instead of entering the market independently?</a:t>
            </a:r>
          </a:p>
          <a:p>
            <a:pPr marL="457200" marR="0" lvl="0" indent="-457200" defTabSz="914400" rtl="0" eaLnBrk="0" fontAlgn="base" latinLnBrk="0" hangingPunct="0">
              <a:spcBef>
                <a:spcPct val="0"/>
              </a:spcBef>
              <a:spcAft>
                <a:spcPts val="600"/>
              </a:spcAft>
              <a:buClrTx/>
              <a:buSzTx/>
              <a:buFont typeface="+mj-lt"/>
              <a:buAutoNum type="arabicPeriod"/>
              <a:tabLst/>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How do strategic alliances help multinational companies expand into foreign markets?</a:t>
            </a:r>
          </a:p>
          <a:p>
            <a:pPr marL="457200" marR="0" lvl="0" indent="-457200" defTabSz="914400" rtl="0" eaLnBrk="0" fontAlgn="base" latinLnBrk="0" hangingPunct="0">
              <a:spcBef>
                <a:spcPct val="0"/>
              </a:spcBef>
              <a:spcAft>
                <a:spcPts val="600"/>
              </a:spcAft>
              <a:buClrTx/>
              <a:buSzTx/>
              <a:buFont typeface="+mj-lt"/>
              <a:buAutoNum type="arabicPeriod"/>
              <a:tabLst/>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What challenges might companies face when forming international partnerships?</a:t>
            </a:r>
          </a:p>
        </p:txBody>
      </p:sp>
      <p:pic>
        <p:nvPicPr>
          <p:cNvPr id="8" name="Graphic 7" descr="Users">
            <a:extLst>
              <a:ext uri="{FF2B5EF4-FFF2-40B4-BE49-F238E27FC236}">
                <a16:creationId xmlns:a16="http://schemas.microsoft.com/office/drawing/2014/main" id="{6982B1F3-5B72-B661-4643-31A0EE3C5A3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534220" y="2217342"/>
            <a:ext cx="3902582" cy="3902582"/>
          </a:xfrm>
          <a:prstGeom prst="rect">
            <a:avLst/>
          </a:prstGeom>
        </p:spPr>
      </p:pic>
    </p:spTree>
    <p:extLst>
      <p:ext uri="{BB962C8B-B14F-4D97-AF65-F5344CB8AC3E}">
        <p14:creationId xmlns:p14="http://schemas.microsoft.com/office/powerpoint/2010/main" val="22696684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0" name="Freeform 6">
            <a:extLst>
              <a:ext uri="{FF2B5EF4-FFF2-40B4-BE49-F238E27FC236}">
                <a16:creationId xmlns:a16="http://schemas.microsoft.com/office/drawing/2014/main" id="{DD0AEE21-CF4B-4395-A100-EFB0EB9951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tx2"/>
          </a:solidFill>
          <a:ln w="0">
            <a:noFill/>
            <a:prstDash val="solid"/>
            <a:round/>
            <a:headEnd/>
            <a:tailEnd/>
          </a:ln>
        </p:spPr>
        <p:txBody>
          <a:bodyPr/>
          <a:lstStyle/>
          <a:p>
            <a:endParaRPr lang="en-IN"/>
          </a:p>
        </p:txBody>
      </p:sp>
      <p:sp>
        <p:nvSpPr>
          <p:cNvPr id="22" name="Rectangle 21">
            <a:extLst>
              <a:ext uri="{FF2B5EF4-FFF2-40B4-BE49-F238E27FC236}">
                <a16:creationId xmlns:a16="http://schemas.microsoft.com/office/drawing/2014/main" id="{9F8DBD9A-1B56-4D4B-856B-89CC682C6B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908536"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4" name="Rectangle 23">
            <a:extLst>
              <a:ext uri="{FF2B5EF4-FFF2-40B4-BE49-F238E27FC236}">
                <a16:creationId xmlns:a16="http://schemas.microsoft.com/office/drawing/2014/main" id="{662570FE-8E1C-4A25-8827-8928189FAD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440B24BC-917F-49C2-B8AA-C569A400B9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466" y="643468"/>
            <a:ext cx="10905067" cy="557106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Freeform 6">
            <a:extLst>
              <a:ext uri="{FF2B5EF4-FFF2-40B4-BE49-F238E27FC236}">
                <a16:creationId xmlns:a16="http://schemas.microsoft.com/office/drawing/2014/main" id="{39F7F083-7C2B-4120-9960-D77AB2863B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bg1">
              <a:lumMod val="75000"/>
            </a:schemeClr>
          </a:solidFill>
          <a:ln w="0">
            <a:noFill/>
            <a:prstDash val="solid"/>
            <a:round/>
            <a:headEnd/>
            <a:tailEnd/>
          </a:ln>
        </p:spPr>
        <p:txBody>
          <a:bodyPr/>
          <a:lstStyle/>
          <a:p>
            <a:endParaRPr lang="en-IN"/>
          </a:p>
        </p:txBody>
      </p:sp>
      <p:pic>
        <p:nvPicPr>
          <p:cNvPr id="4" name="Content Placeholder 4">
            <a:extLst>
              <a:ext uri="{FF2B5EF4-FFF2-40B4-BE49-F238E27FC236}">
                <a16:creationId xmlns:a16="http://schemas.microsoft.com/office/drawing/2014/main" id="{57091A5B-F734-8CEC-3B91-143818352C55}"/>
              </a:ext>
            </a:extLst>
          </p:cNvPr>
          <p:cNvPicPr>
            <a:picLocks noChangeAspect="1"/>
          </p:cNvPicPr>
          <p:nvPr/>
        </p:nvPicPr>
        <p:blipFill>
          <a:blip r:embed="rId2"/>
          <a:srcRect t="6192" b="7501"/>
          <a:stretch>
            <a:fillRect/>
          </a:stretch>
        </p:blipFill>
        <p:spPr>
          <a:xfrm>
            <a:off x="1941111" y="1123526"/>
            <a:ext cx="8309777" cy="4841045"/>
          </a:xfrm>
          <a:prstGeom prst="rect">
            <a:avLst/>
          </a:prstGeom>
        </p:spPr>
      </p:pic>
    </p:spTree>
    <p:extLst>
      <p:ext uri="{BB962C8B-B14F-4D97-AF65-F5344CB8AC3E}">
        <p14:creationId xmlns:p14="http://schemas.microsoft.com/office/powerpoint/2010/main" val="227404329"/>
      </p:ext>
    </p:extLst>
  </p:cSld>
  <p:clrMapOvr>
    <a:masterClrMapping/>
  </p:clrMapOvr>
</p:sld>
</file>

<file path=ppt/theme/theme1.xml><?xml version="1.0" encoding="utf-8"?>
<a:theme xmlns:a="http://schemas.openxmlformats.org/drawingml/2006/main" name="Badge">
  <a:themeElements>
    <a:clrScheme name="Badge">
      <a:dk1>
        <a:sysClr val="windowText" lastClr="000000"/>
      </a:dk1>
      <a:lt1>
        <a:sysClr val="window" lastClr="FFFFFF"/>
      </a:lt1>
      <a:dk2>
        <a:srgbClr val="2A1A00"/>
      </a:dk2>
      <a:lt2>
        <a:srgbClr val="F3F3F2"/>
      </a:lt2>
      <a:accent1>
        <a:srgbClr val="F8B323"/>
      </a:accent1>
      <a:accent2>
        <a:srgbClr val="656A59"/>
      </a:accent2>
      <a:accent3>
        <a:srgbClr val="46B2B5"/>
      </a:accent3>
      <a:accent4>
        <a:srgbClr val="8CAA7E"/>
      </a:accent4>
      <a:accent5>
        <a:srgbClr val="D36F68"/>
      </a:accent5>
      <a:accent6>
        <a:srgbClr val="826276"/>
      </a:accent6>
      <a:hlink>
        <a:srgbClr val="46B2B5"/>
      </a:hlink>
      <a:folHlink>
        <a:srgbClr val="A46694"/>
      </a:folHlink>
    </a:clrScheme>
    <a:fontScheme name="Badge">
      <a:majorFont>
        <a:latin typeface="Impact" panose="020B080603090205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ill Sans MT" panose="020B0502020104020203"/>
        <a:ea typeface=""/>
        <a:cs typeface=""/>
        <a:font script="Grek" typeface="Corbel"/>
        <a:font script="Cyrl" typeface="Corbel"/>
        <a:font script="Jpan" typeface="メイリオ"/>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Badg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12700" cap="flat" cmpd="sng" algn="in">
          <a:solidFill>
            <a:schemeClr val="phClr"/>
          </a:solidFill>
          <a:prstDash val="solid"/>
        </a:ln>
        <a:ln w="50800" cap="flat" cmpd="sng" algn="in">
          <a:solidFill>
            <a:schemeClr val="phClr"/>
          </a:solidFill>
          <a:prstDash val="solid"/>
        </a:ln>
      </a:lnStyleLst>
      <a:effectStyleLst>
        <a:effectStyle>
          <a:effectLst/>
        </a:effectStyle>
        <a:effectStyle>
          <a:effectLst/>
        </a:effectStyle>
        <a:effectStyle>
          <a:effectLst>
            <a:outerShdw blurRad="38100" dist="25400" dir="5400000" algn="ctr" rotWithShape="0">
              <a:srgbClr val="000000">
                <a:alpha val="2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adge" id="{71A07785-5930-41D4-9A83-E23602B48E98}" vid="{771EA782-DFA6-45B1-AEA3-661F1715B31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Badge</Template>
  <TotalTime>1437</TotalTime>
  <Words>3261</Words>
  <Application>Microsoft Office PowerPoint</Application>
  <PresentationFormat>Widescreen</PresentationFormat>
  <Paragraphs>95</Paragraphs>
  <Slides>20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Arial</vt:lpstr>
      <vt:lpstr>Calibri</vt:lpstr>
      <vt:lpstr>Gill Sans MT</vt:lpstr>
      <vt:lpstr>Impact</vt:lpstr>
      <vt:lpstr>Times New Roman</vt:lpstr>
      <vt:lpstr>Badge</vt:lpstr>
      <vt:lpstr>Strategy and Structure of International Business</vt:lpstr>
      <vt:lpstr>Strategy and Structure of International Business</vt:lpstr>
      <vt:lpstr>Strategy of International Business</vt:lpstr>
      <vt:lpstr>Objectives of International Business Strategy</vt:lpstr>
      <vt:lpstr>Importance of International Business Strate</vt:lpstr>
      <vt:lpstr>Entry Strategy</vt:lpstr>
      <vt:lpstr>Types of Entry Strategies</vt:lpstr>
      <vt:lpstr>Exporting</vt:lpstr>
      <vt:lpstr>Licensing</vt:lpstr>
      <vt:lpstr>Franchising</vt:lpstr>
      <vt:lpstr>Wholly Owned Subsidiary</vt:lpstr>
      <vt:lpstr>Joint Venture</vt:lpstr>
      <vt:lpstr>Strategic Alliances</vt:lpstr>
      <vt:lpstr>Advantages of Strategic Alliances</vt:lpstr>
      <vt:lpstr>Organization of International Business</vt:lpstr>
      <vt:lpstr>Importance of Organizational Structure</vt:lpstr>
      <vt:lpstr>Types of Organizational Structure</vt:lpstr>
      <vt:lpstr>Case Study: Starbucks’ International Expansion Strategy</vt:lpstr>
      <vt:lpstr>Discussion question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Shiva Thakur</dc:creator>
  <cp:lastModifiedBy>Vishwan Bharathan</cp:lastModifiedBy>
  <cp:revision>11</cp:revision>
  <dcterms:created xsi:type="dcterms:W3CDTF">2025-01-14T08:37:19Z</dcterms:created>
  <dcterms:modified xsi:type="dcterms:W3CDTF">2026-03-17T14:36:16Z</dcterms:modified>
</cp:coreProperties>
</file>